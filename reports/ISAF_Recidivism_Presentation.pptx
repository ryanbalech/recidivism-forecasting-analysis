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B8500"/>
                </a:solidFill>
                <a:latin typeface="Aptos"/>
              </a:defRPr>
            </a:pPr>
            <a:r>
              <a:t>TRUSTWORTHY AI / RECIDIVISM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73152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Forecasting risk,</a:t>
            </a:r>
            <a:br/>
            <a:r>
              <a:t>examining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063240"/>
            <a:ext cx="6035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0F4F8"/>
                </a:solidFill>
                <a:latin typeface="Aptos"/>
              </a:defRPr>
            </a:pPr>
            <a:r>
              <a:t>For a risk-assessment software vendor: which three-year re-arrest model to ship, judged on performance, interpretability, stability and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6053328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28FA0"/>
                </a:solidFill>
                <a:latin typeface="Aptos"/>
              </a:defRPr>
            </a:pPr>
            <a:r>
              <a:t>Team 11 · HEC Paris · Fall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822960"/>
            <a:ext cx="3337560" cy="5257800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09728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0.60 → 0.73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10512"/>
            <a:ext cx="26974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Incumbent score vs our models (ROC AUC)</a:t>
            </a:r>
            <a:br/>
            <a:br/>
            <a:r>
              <a:t>3 model families</a:t>
            </a:r>
            <a:br/>
            <a:br/>
            <a:r>
              <a:t>1 deployment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01 ·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Our client, and the decision they sell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Client: a vendor selling risk-assessment tools to US state community-supervision agencies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Deliverable: a three-year re-arrest score to allocate limited, voluntary re-entry support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Used only to expand help — never sanctions, detention or surveillance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Judged as a trustworthy AI system, not on accuracy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02 · 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Original split, with explicit validation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18,028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7B2CBF"/>
                </a:solidFill>
                <a:latin typeface="Aptos"/>
              </a:defRPr>
            </a:pPr>
            <a:r>
              <a:t>7,807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BASELINE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7B2CBF"/>
                </a:solidFill>
                <a:latin typeface="Aptos"/>
              </a:defRPr>
            </a:pPr>
            <a:r>
              <a:t>57.4%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TEST TARGET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10128"/>
            <a:ext cx="106984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Post-release variables excluded; race, gender and geography retained only for audit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Found and fixed a representation leak: missing gang affiliation exactly marked women; mode-fill plus a regression audit now blocks it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Evaluation data were repeatedly inspected during development; fresh validation is still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03 · 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Three model families, one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429000" cy="3291840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79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B8500"/>
                </a:solidFill>
                <a:latin typeface="Aptos"/>
              </a:defRPr>
            </a:pPr>
            <a:r>
              <a:t>LOGISTIC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724912"/>
            <a:ext cx="27889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White-box anchor</a:t>
            </a:r>
            <a:br/>
            <a:br/>
            <a:r>
              <a:t>CV-tuned L1, C=0.2154</a:t>
            </a:r>
            <a:br/>
            <a:br/>
            <a:r>
              <a:t>Signed, inspectable effects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29000" cy="3291840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011679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B4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724912"/>
            <a:ext cx="27889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Nonlinear workhorse</a:t>
            </a:r>
            <a:br/>
            <a:br/>
            <a:r>
              <a:t>Ordinal counts + 5-fold CV tuning</a:t>
            </a:r>
            <a:br/>
            <a:br/>
            <a:r>
              <a:t>Fast operational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429000" cy="3291840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79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TABICLv2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24912"/>
            <a:ext cx="27889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Foundation model</a:t>
            </a:r>
            <a:br/>
            <a:br/>
            <a:r>
              <a:t>16-member GPU ensemble</a:t>
            </a:r>
            <a:br/>
            <a:br/>
            <a:r>
              <a:t>Training-only size sweep; no native attribution 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687568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B8500"/>
                </a:solidFill>
                <a:latin typeface="Aptos"/>
              </a:defRPr>
            </a:pPr>
            <a:r>
              <a:t>Same eligible fields · Same held-out people · Same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04 · THE CLIENT'S REAL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Comparison with the historical recorded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cumbent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8321040" cy="23048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1540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2512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64343"/>
                </a:solidFill>
                <a:latin typeface="Aptos"/>
              </a:defRPr>
            </a:pPr>
            <a:r>
              <a:t>0.60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12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INCUMBENT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320040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5128" y="333756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B4"/>
                </a:solidFill>
                <a:latin typeface="Aptos"/>
              </a:defRPr>
            </a:pPr>
            <a:r>
              <a:t>0.73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5128" y="38587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OUR MODELS 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466344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28" y="48006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+$2.3M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5321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NET VALUE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563270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recommended logistic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This historical comparison does not establish superiority to current agency products. Dollar gains are scenarios.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05 · PREDICTIVE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Compare ranking, probability loss and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ormanc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72768"/>
            <a:ext cx="7360920" cy="27820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6792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7B2CBF"/>
                </a:solidFill>
                <a:latin typeface="Aptos"/>
              </a:defRPr>
            </a:pPr>
            <a:r>
              <a:t>0.7328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92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AUC · TABICL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20040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333756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7B2CBF"/>
                </a:solidFill>
                <a:latin typeface="Aptos"/>
              </a:defRPr>
            </a:pPr>
            <a:r>
              <a:t>0.2044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38587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BRIER · TABICL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66344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48006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+0.0025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5321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AUC GAP · XGB − LOGIT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563270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paired bootstrap: significant, 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828FA0"/>
                </a:solidFill>
                <a:latin typeface="Aptos"/>
              </a:defRPr>
            </a:pPr>
            <a:r>
              <a:t>All three models are within ~0.003 AUC; ECE differences are not significant. Performance alone cannot pick the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06 · SUBGROUP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Fairness at the proposed allocation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airness_support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772400" cy="421667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7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64343"/>
                </a:solidFill>
                <a:latin typeface="Aptos"/>
              </a:defRPr>
            </a:pPr>
            <a:r>
              <a:t>-0.10 to -0.12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7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GENDER FNR GAP (M − 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7" y="270662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women miss support more · all significant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20040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7" y="333756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B4"/>
                </a:solidFill>
                <a:latin typeface="Aptos"/>
              </a:defRPr>
            </a:pPr>
            <a:r>
              <a:t>3 / 3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38587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RACE: EQUIVALENT ±5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416966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TOST on errors · AUC Black 0.72 vs White 0.75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66344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48006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-0.23 to -0.24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7" y="5321807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AGE FNR GAP (&lt;33 − 33+)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7" y="563270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persists with age fixed: carried by prior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Selection = support offered, so the harm is a missed offer: FNR is primary. Not significant ≠ fair; we test equivalence.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07 · FAIRNESS, SHARPENED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Fairness: probability scores and allocation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297680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B4"/>
                </a:solidFill>
                <a:latin typeface="Aptos"/>
              </a:defRPr>
            </a:pPr>
            <a:r>
              <a:t>SCORE CALIBRATION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79192"/>
            <a:ext cx="46177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Women are over-predicted by every model: mean score 0.52 vs observed 0.45</a:t>
            </a:r>
            <a:br/>
            <a:br/>
            <a:r>
              <a:t>Yet they are selected less at the top 20%</a:t>
            </a:r>
            <a:br/>
            <a:br/>
            <a:r>
              <a:t>For support, over-prediction helps women: recalibrating would widen the FNR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57800" cy="4297680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D64343"/>
                </a:solidFill>
                <a:latin typeface="Aptos"/>
              </a:defRPr>
            </a:pPr>
            <a:r>
              <a:t>ALLOCATION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79192"/>
            <a:ext cx="46177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FPR, TPR and selection rates depend on policy</a:t>
            </a:r>
            <a:br/>
            <a:br/>
            <a:r>
              <a:t>Changing thresholds leaves probabilities unchanged</a:t>
            </a:r>
            <a:br/>
            <a:br/>
            <a:r>
              <a:t>Our threshold frontier uses evaluation labels: illustrative, not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08 · FAIRNESS INTERPRETABILITY (FPDP)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Where does the gender gap come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pdp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7680960" cy="47439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08760"/>
            <a:ext cx="3611880" cy="4572000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78308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D64343"/>
                </a:solidFill>
                <a:latin typeface="Aptos"/>
              </a:defRPr>
            </a:pPr>
            <a:r>
              <a:t>CANDIDATE: 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96312"/>
            <a:ext cx="29718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Never recorded for women; imputed as "No"</a:t>
            </a:r>
            <a:br/>
            <a:br/>
            <a:r>
              <a:t>Drop + re-estimate (logistic): FNR gap -0.096 → +0.000</a:t>
            </a:r>
            <a:br/>
            <a:br/>
            <a:r>
              <a:t>Women FNR 0.80 → 0.72; men 0.70 → 0.72</a:t>
            </a:r>
            <a:br/>
            <a:br/>
            <a:r>
              <a:t>AUC −0.014; 27 fewer re-arrests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Logistic FPDP is flat under a top-20% rule (a constant shifts every score equally), so it measures removing the feature, not a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09 · MITIGATION,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Selecting and testing the fix on different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297680"/>
          </a:xfrm>
          <a:prstGeom prst="roundRect">
            <a:avLst/>
          </a:prstGeom>
          <a:solidFill>
            <a:srgbClr val="143058"/>
          </a:solidFill>
          <a:ln>
            <a:solidFill>
              <a:srgbClr val="82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828FA0"/>
                </a:solidFill>
                <a:latin typeface="Aptos"/>
              </a:defRPr>
            </a:pPr>
            <a:r>
              <a:t>IN-SAMPLE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79192"/>
            <a:ext cx="46177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Candidate chosen AND scored on the same cohort</a:t>
            </a:r>
            <a:br/>
            <a:br/>
            <a:r>
              <a:t>Equal-opportunity p 0.000 → 1.00</a:t>
            </a:r>
            <a:br/>
            <a:br/>
            <a:r>
              <a:t>An upper bound, not evidence of generalisation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257800" cy="4297680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00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B4"/>
                </a:solidFill>
                <a:latin typeface="Aptos"/>
              </a:defRPr>
            </a:pPr>
            <a:r>
              <a:t>OUT-OF-FOLD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79192"/>
            <a:ext cx="461772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Candidate re-selected inside each training fold, scored on held-out folds</a:t>
            </a:r>
            <a:br/>
            <a:br/>
            <a:r>
              <a:t>Same variable selected in 100% of folds</a:t>
            </a:r>
            <a:br/>
            <a:br/>
            <a:r>
              <a:t>Gender FNR gap -0.122 → -0.035  ·  AUC -0.010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The evaluation cohort is never touched. About 70% of the gap closes out of fold, for roughly one AUC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10 · TRADE-OFFS ACROSS FOUR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Which model should the client deploy?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deoff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94" y="1481328"/>
            <a:ext cx="6399331" cy="4782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11 ·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Pilot logistic regression; run XGBoost as the challenger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4251960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B4B4"/>
                </a:solidFill>
                <a:latin typeface="Aptos"/>
              </a:defRPr>
            </a:pPr>
            <a:r>
              <a:t>WHY LOGISTIC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633472"/>
            <a:ext cx="2880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Native, coefficient-level explanations</a:t>
            </a:r>
            <a:br/>
            <a:br/>
            <a:r>
              <a:t>Lowest refit drift</a:t>
            </a:r>
            <a:br/>
            <a:br/>
            <a:r>
              <a:t>Smaller gender FNR gap (-0.096 vs -0.112)</a:t>
            </a:r>
            <a:br/>
            <a:br/>
            <a:r>
              <a:t>No significant race gap · fastest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4251960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D64343"/>
                </a:solidFill>
                <a:latin typeface="Aptos"/>
              </a:defRPr>
            </a:pPr>
            <a:r>
              <a:t>WHAT WE GIVE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33472"/>
            <a:ext cx="2880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XGBoost AUC edge +0.0025</a:t>
            </a:r>
            <a:br/>
            <a:br/>
            <a:r>
              <a:t>Best calibration (ECE 0.011 vs 0.013)</a:t>
            </a:r>
            <a:br/>
            <a:br/>
            <a:r>
              <a:t>+12 captured re-arrests per 1,561 offers</a:t>
            </a:r>
            <a:br/>
            <a:br/>
            <a:r>
              <a:t>Detectable, operationally small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20440" cy="4251960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WHAT REVERSES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33472"/>
            <a:ext cx="2880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The score is quoted numerically to supervisees</a:t>
            </a:r>
            <a:br/>
            <a:br/>
            <a:r>
              <a:t>Capacity large enough that +12 offers matters</a:t>
            </a:r>
            <a:br/>
            <a:br/>
            <a:r>
              <a:t>A feature set that widens the margin</a:t>
            </a:r>
            <a:br/>
            <a:br/>
            <a:r>
              <a:t>Then: promote the challenger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The gap the mitigation closes (0.08) dwarfs the gap between the two models (0.016): disparity is a feature-set property, not an estimator choice.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12 · CLIENT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The application makes every trade-off testable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572768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B8500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87752"/>
            <a:ext cx="45720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Score one person, all 3 models + SHAP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12080" cy="1572768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587752"/>
            <a:ext cx="45720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Race, gender, age at the deployed point + FPDP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5212080" cy="1572768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B8500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45720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Incumbent, learning curve, matrix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74720"/>
            <a:ext cx="5212080" cy="1572768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3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462272"/>
            <a:ext cx="45720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Costs, capacity,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715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0F4F8"/>
                </a:solidFill>
                <a:latin typeface="Consolas"/>
              </a:defRPr>
            </a:pPr>
            <a:r>
              <a:t>streamlit run app.py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28FA0"/>
                </a:solidFill>
                <a:latin typeface="Aptos"/>
              </a:defRPr>
            </a:pPr>
            <a:r>
              <a:t>HEC Paris · ISAF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28FA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3774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B8500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880360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Supporting evidence</a:t>
            </a:r>
            <a:br/>
            <a:r>
              <a:t>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452628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Aptos"/>
              </a:defRPr>
            </a:pPr>
            <a:r>
              <a:t>Learning curve · economic sensitivity · interpretability methods · explanation disagreement · LIME fidelity · stability · process 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A1 · LEARNING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Which model for which agency size?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022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B8500"/>
                </a:solidFill>
                <a:latin typeface="Aptos"/>
              </a:defRPr>
            </a:pPr>
            <a:r>
              <a:t>Subsamples of one Georgia cohort test sample-size sensitivity; they do not validate transfer to other agencies.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A2 · ECONOMIC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Model value is a scenario, stress-tested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SERVICE CAPACITY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B4"/>
                </a:solidFill>
                <a:latin typeface="Aptos"/>
              </a:defRPr>
            </a:pPr>
            <a:r>
              <a:t>$5.04M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LOGISTIC 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70662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XGBoost $5.17M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D6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D64343"/>
                </a:solidFill>
                <a:latin typeface="Aptos"/>
              </a:defRPr>
            </a:pPr>
            <a:r>
              <a:t>$2.73M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INCUMBENT 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82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828FA0"/>
                </a:solidFill>
                <a:latin typeface="Aptos"/>
              </a:defRPr>
            </a:pPr>
            <a:r>
              <a:t>$1.46M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RANDOM 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$5,000 support cost · $50,000 event cost · 20% assumed effectiveness — all editable in the app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Models beat the incumbent at every capacity from 5% to 50% (sensitivity sweep)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A randomized or quasi-experimental pilot must estimate real intervention impact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A3 ·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explanations and their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indiv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589520" cy="28696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54480"/>
            <a:ext cx="3566160" cy="4480560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828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542032"/>
            <a:ext cx="292608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SHAP + LIME (local)</a:t>
            </a:r>
            <a:br/>
            <a:br/>
            <a:r>
              <a:t>XPER on AUC (Pérignon)</a:t>
            </a:r>
            <a:br/>
            <a:br/>
            <a:r>
              <a:t>Global surrogate: imperfect fidelity</a:t>
            </a:r>
            <a:br/>
            <a:br/>
            <a:r>
              <a:t>PDP/ICE for all three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64343"/>
                </a:solidFill>
                <a:latin typeface="Aptos"/>
              </a:defRPr>
            </a:pPr>
            <a:r>
              <a:t>TabICLv2 has no native explanation path — a real deployment cost, covered only by model-agnostic PDP/ICE.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A4 · EXPLANATION DISAGREEMENT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SHAP, permutation importance and XPER rank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planation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680960" cy="384651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554480"/>
            <a:ext cx="3474720" cy="4480560"/>
          </a:xfrm>
          <a:prstGeom prst="roundRect">
            <a:avLst/>
          </a:prstGeom>
          <a:solidFill>
            <a:srgbClr val="143058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828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7B2CBF"/>
                </a:solidFill>
                <a:latin typeface="Aptos"/>
              </a:defRPr>
            </a:pPr>
            <a: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542032"/>
            <a:ext cx="2834639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Aptos"/>
              </a:defRPr>
            </a:pPr>
            <a:r>
              <a:t>SHAP explains the prediction</a:t>
            </a:r>
            <a:br/>
            <a:br/>
            <a:r>
              <a:t>Permutation importance explains loss</a:t>
            </a:r>
            <a:br/>
            <a:br/>
            <a:r>
              <a:t>XPER decomposes AUC</a:t>
            </a:r>
            <a:br/>
            <a:br/>
            <a:r>
              <a:t>Different questions, so different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Top-10 sets largely coincide; ordering is method-dependent. Quote the set, not the rank.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A5 · LIME FIDELITY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Is the local explanation faithful?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me_indiv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11430000" cy="3780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B8500"/>
                </a:solidFill>
                <a:latin typeface="Aptos"/>
              </a:defRPr>
            </a:pPr>
            <a:r>
              <a:t>Category-aware perturbation raised local fidelity from R² 0.25 to ≈0.41. Three fixed cases × three seeds; every condition keeps its sign.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A6 ·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Structural stability across refits on resampled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uctural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589520" cy="19922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73736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FB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7" y="1874519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B8500"/>
                </a:solidFill>
                <a:latin typeface="Aptos"/>
              </a:defRPr>
            </a:pPr>
            <a:r>
              <a:t>0.032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7" y="239572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SCORE DRIFT · LOGISTIC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7" y="270662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lowest · XGB 0.035 · TabICL 0.035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200400"/>
            <a:ext cx="2423160" cy="1261872"/>
          </a:xfrm>
          <a:prstGeom prst="roundRect">
            <a:avLst/>
          </a:prstGeom>
          <a:solidFill>
            <a:srgbClr val="14305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7" y="333756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B4B4"/>
                </a:solidFill>
                <a:latin typeface="Aptos"/>
              </a:defRPr>
            </a:pPr>
            <a:r>
              <a:t>75%–78%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385876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TOP-20% JACCARD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416966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F0F4F8"/>
                </a:solidFill>
                <a:latin typeface="Aptos"/>
              </a:defRPr>
            </a:pPr>
            <a:r>
              <a:t>logit 0.772 · XGB 0.747 · TabICL 0.776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828FA0"/>
                </a:solidFill>
                <a:latin typeface="Aptos"/>
              </a:defRPr>
            </a:pPr>
            <a:r>
              <a:t>Jaccard is intersection / union, not the share of people switching. Refit sensitivity is not temporal validation.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8500"/>
                </a:solidFill>
                <a:latin typeface="Aptos"/>
              </a:defRPr>
            </a:pPr>
            <a:r>
              <a:t>A7 ·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How we got here: what we tried, where we landed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provement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11155680" cy="4030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B8500"/>
                </a:solidFill>
                <a:latin typeface="Aptos"/>
              </a:defRPr>
            </a:pPr>
            <a:r>
              <a:t>Full log in JOURNEY.md — every step measured, including the attempts we rejected.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