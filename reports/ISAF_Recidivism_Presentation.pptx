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303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B8500"/>
                </a:solidFill>
                <a:latin typeface="Aptos"/>
              </a:defRPr>
            </a:pPr>
            <a:r>
              <a:t>TRUSTWORTHY AI / RECIDIVISM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731520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</a:defRPr>
            </a:pPr>
            <a:r>
              <a:t>Forecasting risk,</a:t>
            </a:r>
            <a:br/>
            <a:r>
              <a:t>examining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3063240"/>
            <a:ext cx="6035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F0F4F8"/>
                </a:solidFill>
                <a:latin typeface="Aptos"/>
              </a:defRPr>
            </a:pPr>
            <a:r>
              <a:t>For a risk-assessment software vendor: which three-year re-arrest model to ship, judged on performance, interpretability, stability and fairness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6053328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28FA0"/>
                </a:solidFill>
                <a:latin typeface="Aptos"/>
              </a:defRPr>
            </a:pPr>
            <a:r>
              <a:t>Team 11 · HEC Paris · Fall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822960"/>
            <a:ext cx="3337560" cy="525780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09728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0.60 → 0.73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10512"/>
            <a:ext cx="2697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 score vs our models (ROC AUC)</a:t>
            </a:r>
            <a:br/>
            <a:br/>
            <a:r>
              <a:t>3 model families</a:t>
            </a:r>
            <a:br/>
            <a:br/>
            <a:r>
              <a:t>1 deployment recommendation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01 · 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Our client, and the decision they sell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Client: a vendor selling risk-assessment tools to US state community-supervision agencies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Deliverable: a three-year re-arrest score to allocate limited, voluntary re-entry support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Used only to expand help — never sanctions, detention or surveillance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Judged as a trustworthy AI system, not on accuracy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02 · DATA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Original split, with explicit validation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18,028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7,807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BASELINE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57.4%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TEST TARGET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8"/>
            <a:ext cx="1069848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Post-release variables excluded; race, gender and geography retained only for audit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Found and fixed a representation leak: missing gang affiliation exactly marked women; mode-fill plus a regression audit now blocks 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Evaluation data were repeatedly inspected during development; fresh validation is still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03 · MODEL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Three model families, one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White-box anchor</a:t>
            </a:r>
            <a:br/>
            <a:br/>
            <a:r>
              <a:t>CV-tuned L1, C=0.2154</a:t>
            </a:r>
            <a:br/>
            <a:br/>
            <a:r>
              <a:t>Signed, inspectable effects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XGBOOST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Nonlinear workhorse</a:t>
            </a:r>
            <a:br/>
            <a:br/>
            <a:r>
              <a:t>Ordinal counts + 5-fold CV tuning</a:t>
            </a:r>
            <a:br/>
            <a:br/>
            <a:r>
              <a:t>Fast operational scoring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TABICLv2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Foundation model</a:t>
            </a:r>
            <a:br/>
            <a:br/>
            <a:r>
              <a:t>16-member GPU ensemble</a:t>
            </a:r>
            <a:br/>
            <a:br/>
            <a:r>
              <a:t>Training-only size sweep; no native attribution implemented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687568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B8500"/>
                </a:solidFill>
                <a:latin typeface="Aptos"/>
              </a:defRPr>
            </a:pPr>
            <a:r>
              <a:t>Same eligible fields · Same held-out people · Same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04 · THE CLIENT'S REAL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Comparison with the historical recorded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cumben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8321040" cy="23048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9154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251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51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OUR MODELS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+$2.4M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NET VALUE 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This historical comparison does not establish superiority to current agency products. Dollar gains are scenarios.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05 · PREDICTIVE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Compare ranking, probability loss and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72768"/>
            <a:ext cx="7360920" cy="27820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582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79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0.7328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9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0.2044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BRIER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79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+0.0025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GAP · XGB − LOGIT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67928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paired bootstrap: significant,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All three models are within ~0.003 AUC; ECE differences are not significant. Performance alone cannot pick the model.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06 · LEARNING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for which agency size?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0228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B8500"/>
                </a:solidFill>
                <a:latin typeface="Aptos"/>
              </a:defRPr>
            </a:pPr>
            <a:r>
              <a:t>Subsamples of one Georgia cohort test sample-size sensitivity; they do not validate transfer to other agencies.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07 · ECONOMIC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Model value is a scenario, stress-tested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SERVICE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$5.17M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XGBOOST NET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$2.73M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NET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828FA0"/>
                </a:solidFill>
                <a:latin typeface="Aptos"/>
              </a:defRPr>
            </a:pPr>
            <a:r>
              <a:t>$1.46M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RANDOM 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01568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$5,000 support cost · $50,000 event cost · 20% assumed effectiveness — all editable in the app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Models beat the incumbent at every capacity from 5% to 50% (sensitivity sweep)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A randomized or quasi-experimental pilot must estimate real intervention 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08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Prediction explanations and their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ap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28696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54480"/>
            <a:ext cx="356616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8288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542032"/>
            <a:ext cx="292608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+ LIME (local)</a:t>
            </a:r>
            <a:br/>
            <a:br/>
            <a:r>
              <a:t>XPER on AUC (Pérignon)</a:t>
            </a:r>
            <a:br/>
            <a:br/>
            <a:r>
              <a:t>Global surrogate: imperfect fidelity</a:t>
            </a:r>
            <a:br/>
            <a:br/>
            <a:r>
              <a:t>PDP/ICE for all three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D64343"/>
                </a:solidFill>
                <a:latin typeface="Aptos"/>
              </a:defRPr>
            </a:pPr>
            <a:r>
              <a:t>TabICLv2 has no native explanation path — a real deployment cost, covered only by model-agnostic PDP/ICE.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09 ·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Structural stability across refits on resampled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uctur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589520" cy="19922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0.036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SCORE DRIFT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77.0%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TABICL JACCARD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Jaccard is intersection / union, not the share of people switching. Refit sensitivity is not temporal validation.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10 · SUBGROUP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 at the proposed allocation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ness_support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772400" cy="421667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-0.10 to -0.12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FNR GAP (M − 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367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women miss support more · all significant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3 / 3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RACE: EQUIVALENT ±5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7" y="416966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TOST on selection, FNR, FPR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59367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-0.23 to -0.24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7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AGE FNR GAP (&lt;33 − 33+)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7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age is an input: needs a stated justification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Selection = support offered, so the harm is a missed offer: FNR is primary. Not significant ≠ fair; we test equivalence.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11 · FAIRNESS, SHARPENED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Fairness: probability scores and allocation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SCORE CALIBRATION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Women are over-predicted by every model: mean score 0.52 vs observed 0.45</a:t>
            </a:r>
            <a:br/>
            <a:br/>
            <a:r>
              <a:t>Yet they are selected less at the top 20%</a:t>
            </a:r>
            <a:br/>
            <a:br/>
            <a:r>
              <a:t>Changing decision thresholds leaves probabilities unchanged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ALLOCATION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FPR, TPR and selection rates depend on policy</a:t>
            </a:r>
            <a:br/>
            <a:br/>
            <a:r>
              <a:t>Equal FPR alone is not equalized odds</a:t>
            </a:r>
            <a:br/>
            <a:br/>
            <a:r>
              <a:t>Our threshold frontier uses evaluation labels: illustrative, not 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12 · FAIRNESS INTERPRETABILITY (FPDP)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Where does the gender gap come from?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pdp_g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7680960" cy="474393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611880" cy="457200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78308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CANDIDATE: GANG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496312"/>
            <a:ext cx="2971800" cy="3337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Never recorded for women; imputed as "No"</a:t>
            </a:r>
            <a:br/>
            <a:br/>
            <a:r>
              <a:t>Drop + re-estimate: equal-opportunity p 0.000 → 0.995 (logistic)</a:t>
            </a:r>
            <a:br/>
            <a:br/>
            <a:r>
              <a:t>AUC cost ≈ 0.014, ~6× the XGB − logistic gap</a:t>
            </a:r>
            <a:br/>
            <a:br/>
            <a:r>
              <a:t>Statistical parity still rejected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FPDP identifies candidate variables (association, not causation). Mitigation is evaluated on the same labels: illustrative.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13 ·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How we got here: what we tried, where we landed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provement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11155680" cy="4030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Full log in JOURNEY.md — every step measured, including the attempts we rejected.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14 · TRADE-OFFS ACROSS FOUR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should the client deploy?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deoff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3596" y="1481328"/>
            <a:ext cx="6394327" cy="4782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15 ·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Pilot XGBoost; retain logistic as a transparent challenger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WHY XGBOOST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33472"/>
            <a:ext cx="4617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Competitive probability loss</a:t>
            </a:r>
            <a:br/>
            <a:br/>
            <a:r>
              <a:t>Audit subgroup errors</a:t>
            </a:r>
            <a:br/>
            <a:br/>
            <a:r>
              <a:t>SHAP explanations available</a:t>
            </a:r>
            <a:br/>
            <a:br/>
            <a:r>
              <a:t>Low inference cost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5780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CONDITIONS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633472"/>
            <a:ext cx="4617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Benefit-only allocation</a:t>
            </a:r>
            <a:br/>
            <a:br/>
            <a:r>
              <a:t>Logistic as transparent challenger</a:t>
            </a:r>
            <a:br/>
            <a:br/>
            <a:r>
              <a:t>Prospective shadow validation</a:t>
            </a:r>
            <a:br/>
            <a:br/>
            <a:r>
              <a:t>Appeal route, logs, quarterly audits, stop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16 · CLIENT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The application makes every trade-off testable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Score one person, all 3 models + SHAP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Race, gender, age at the deployed point + FPDP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Incumbent, learning curve, matrix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SIMULATE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Costs, capacity, sensitivity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7150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0F4F8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