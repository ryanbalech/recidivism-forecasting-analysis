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40s] Three families, as the brief requires, each tuned by cross-validation on training data only. Logistic with L1, C chosen by grid search. XGBoost with a 60-draw random search; deeper trees overfit and were rejected. TabICL with 16 ensemble members; gains level off near 8. Five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3:40 · 45s] Finding one: performance cannot pick the model. The three ROC curves lie on top of each other: AUC 0.730 to 0.733. Is 0.73 good? Reviews of US recidivism tools call an AUC above 0.71 "excellent"; the historical Georgia score, at 0.60, is only "fair". XGBoost beats logistic by 0.0025 on a paired bootstrap: real, but small. Brier, the score NIJ used for this challenge, agrees: about 16% better than predicting the base rate, for all three. It also checks calibration, whether a predicted 70% means 70%: logistic and XGBoost pass; TabICL is slightly overconfident.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4:25 · 65s] The client's real question: is this worth paying for, compared with the score they already have? The scenario: 20% capacity, 1,561 offers. Support costs $5,000 a person, a re-arrest costs $50,000, and we ASSUME support prevents 20% of re-arrests. So net value is the number of offered people later re-arrested, times $10,000, minus $7.8M of programme cost. The cost is identical for every ranking, so only precision matters: 82% of our offers reach someone later re-arrested, against 67% for the historical score. That turns $2.7M into $5.0M. Put differently: with our ranking the programme breaks even if it prevents 12% of re-arrests; with the historical score it needs 15%. The dollars are a scenario, not a causal estimate: the data cannot tell us whether support works.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Age at release, gang affiliation and prior record, in both models. In probability points: moving from age 23-27 to 48+ lowers predicted risk by about 27 points; a recorded gang affiliation raises it by about 17.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It is an option for the client, not applied to our recommended model.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benchmark.png"/>
          <p:cNvPicPr>
            <a:picLocks noChangeAspect="1"/>
          </p:cNvPicPr>
          <p:nvPr/>
        </p:nvPicPr>
        <p:blipFill>
          <a:blip r:embed="rId2"/>
          <a:stretch>
            <a:fillRect/>
          </a:stretch>
        </p:blipFill>
        <p:spPr>
          <a:xfrm>
            <a:off x="411480" y="1572768"/>
            <a:ext cx="7818120" cy="3075072"/>
          </a:xfrm>
          <a:prstGeom prst="rect">
            <a:avLst/>
          </a:prstGeom>
        </p:spPr>
      </p:pic>
      <p:sp>
        <p:nvSpPr>
          <p:cNvPr id="6" name="TextBox 5"/>
          <p:cNvSpPr txBox="1"/>
          <p:nvPr/>
        </p:nvSpPr>
        <p:spPr>
          <a:xfrm>
            <a:off x="548640" y="4846320"/>
            <a:ext cx="7589520" cy="1188720"/>
          </a:xfrm>
          <a:prstGeom prst="rect">
            <a:avLst/>
          </a:prstGeom>
          <a:noFill/>
        </p:spPr>
        <p:txBody>
          <a:bodyPr wrap="square" anchor="t">
            <a:spAutoFit/>
          </a:bodyPr>
          <a:lstStyle/>
          <a:p>
            <a:pPr algn="l">
              <a:defRPr sz="1300" b="0">
                <a:solidFill>
                  <a:srgbClr val="F0F4F8"/>
                </a:solidFill>
                <a:latin typeface="Aptos"/>
              </a:defRPr>
            </a:pPr>
            <a:r>
              <a:t>Brier = mean of (predicted probability − outcome)², lower is better: it scores the probability itself, and it is the accuracy score NIJ used for this challenge. Predicting the 58% base rate for everyone gives 0.245. Brier also rewards calibration (a predicted 70% should mean 70% re-arrested): logistic and XGBoost pass (Cox slope 1.00 / 1.00); TabICL's probabilities are slightly too extreme (0.91).</a:t>
            </a:r>
          </a:p>
        </p:txBody>
      </p:sp>
      <p:sp>
        <p:nvSpPr>
          <p:cNvPr id="7" name="Rounded Rectangle 6"/>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9" name="TextBox 8"/>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10" name="TextBox 9"/>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'excellent' band (≥ .71) for US tools</a:t>
            </a:r>
          </a:p>
        </p:txBody>
      </p:sp>
      <p:sp>
        <p:nvSpPr>
          <p:cNvPr id="11" name="Rounded Rectangle 10"/>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3" name="TextBox 12"/>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4" name="TextBox 13"/>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5" name="Rounded Rectangle 14"/>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0.205 / 0.204 / 0.204</a:t>
            </a:r>
          </a:p>
        </p:txBody>
      </p:sp>
      <p:sp>
        <p:nvSpPr>
          <p:cNvPr id="17" name="TextBox 16"/>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BRIER LOSS</a:t>
            </a:r>
          </a:p>
        </p:txBody>
      </p:sp>
      <p:sp>
        <p:nvSpPr>
          <p:cNvPr id="18" name="TextBox 17"/>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16% better than the base-rate forecast</a:t>
            </a:r>
          </a:p>
        </p:txBody>
      </p:sp>
      <p:sp>
        <p:nvSpPr>
          <p:cNvPr id="19" name="TextBox 18"/>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and ~0.001 Brier. Performance alone cannot pick the model.</a:t>
            </a:r>
          </a:p>
        </p:txBody>
      </p:sp>
      <p:sp>
        <p:nvSpPr>
          <p:cNvPr id="20" name="TextBox 1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1" name="TextBox 2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ECONOMIC VALUE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 in dollars?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3657600" cy="233172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3200400" cy="365760"/>
          </a:xfrm>
          <a:prstGeom prst="rect">
            <a:avLst/>
          </a:prstGeom>
          <a:noFill/>
        </p:spPr>
        <p:txBody>
          <a:bodyPr wrap="square" anchor="t">
            <a:spAutoFit/>
          </a:bodyPr>
          <a:lstStyle/>
          <a:p>
            <a:pPr algn="ctr">
              <a:defRPr sz="2000" b="1">
                <a:solidFill>
                  <a:srgbClr val="7B2CBF"/>
                </a:solidFill>
                <a:latin typeface="Aptos"/>
              </a:defRPr>
            </a:pPr>
            <a:r>
              <a:t>SCENARIO (ASSUMED)</a:t>
            </a:r>
          </a:p>
        </p:txBody>
      </p:sp>
      <p:sp>
        <p:nvSpPr>
          <p:cNvPr id="7" name="TextBox 6"/>
          <p:cNvSpPr txBox="1"/>
          <p:nvPr/>
        </p:nvSpPr>
        <p:spPr>
          <a:xfrm>
            <a:off x="960119" y="2542032"/>
            <a:ext cx="3017520" cy="1097279"/>
          </a:xfrm>
          <a:prstGeom prst="rect">
            <a:avLst/>
          </a:prstGeom>
          <a:noFill/>
        </p:spPr>
        <p:txBody>
          <a:bodyPr wrap="square" anchor="t">
            <a:spAutoFit/>
          </a:bodyPr>
          <a:lstStyle/>
          <a:p>
            <a:pPr algn="ctr">
              <a:defRPr sz="1500" b="0">
                <a:solidFill>
                  <a:srgbClr val="F0F4F8"/>
                </a:solidFill>
                <a:latin typeface="Aptos"/>
              </a:defRPr>
            </a:pPr>
            <a:r>
              <a:t>20% capacity = 1,561 offers</a:t>
            </a:r>
            <a:br/>
            <a:r>
              <a:t>Support costs $5,000 per person</a:t>
            </a:r>
            <a:br/>
            <a:r>
              <a:t>A re-arrest costs $50,000</a:t>
            </a:r>
            <a:br/>
            <a:r>
              <a:t>Support prevents 20% of re-arrests</a:t>
            </a:r>
          </a:p>
        </p:txBody>
      </p:sp>
      <p:sp>
        <p:nvSpPr>
          <p:cNvPr id="8" name="Rounded Rectangle 7"/>
          <p:cNvSpPr/>
          <p:nvPr/>
        </p:nvSpPr>
        <p:spPr>
          <a:xfrm>
            <a:off x="4480560" y="1554480"/>
            <a:ext cx="7086600" cy="233172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60" y="1828800"/>
            <a:ext cx="6629400" cy="365760"/>
          </a:xfrm>
          <a:prstGeom prst="rect">
            <a:avLst/>
          </a:prstGeom>
          <a:noFill/>
        </p:spPr>
        <p:txBody>
          <a:bodyPr wrap="square" anchor="t">
            <a:spAutoFit/>
          </a:bodyPr>
          <a:lstStyle/>
          <a:p>
            <a:pPr algn="ctr">
              <a:defRPr sz="2000" b="1">
                <a:solidFill>
                  <a:srgbClr val="FB8500"/>
                </a:solidFill>
                <a:latin typeface="Aptos"/>
              </a:defRPr>
            </a:pPr>
            <a:r>
              <a:t>NET VALUE</a:t>
            </a:r>
          </a:p>
        </p:txBody>
      </p:sp>
      <p:sp>
        <p:nvSpPr>
          <p:cNvPr id="10" name="TextBox 9"/>
          <p:cNvSpPr txBox="1"/>
          <p:nvPr/>
        </p:nvSpPr>
        <p:spPr>
          <a:xfrm>
            <a:off x="4800600" y="2542032"/>
            <a:ext cx="6446520" cy="1097279"/>
          </a:xfrm>
          <a:prstGeom prst="rect">
            <a:avLst/>
          </a:prstGeom>
          <a:noFill/>
        </p:spPr>
        <p:txBody>
          <a:bodyPr wrap="square" anchor="t">
            <a:spAutoFit/>
          </a:bodyPr>
          <a:lstStyle/>
          <a:p>
            <a:pPr algn="ctr">
              <a:defRPr sz="1600" b="0">
                <a:solidFill>
                  <a:srgbClr val="F0F4F8"/>
                </a:solidFill>
                <a:latin typeface="Aptos"/>
              </a:defRPr>
            </a:pPr>
            <a:r>
              <a:t>re-arrested among offers × $50,000 × 20%   −   offers × $5,000</a:t>
            </a:r>
            <a:br/>
            <a:br/>
            <a:r>
              <a:t>Logistic:  1,285 × $10,000  −  1,561 × $5,000  =  $5.045M</a:t>
            </a:r>
            <a:br/>
            <a:br/>
            <a:r>
              <a:t>Same cost for every ranking: only precision differs</a:t>
            </a:r>
          </a:p>
        </p:txBody>
      </p:sp>
      <p:graphicFrame>
        <p:nvGraphicFramePr>
          <p:cNvPr id="11" name="Table 10"/>
          <p:cNvGraphicFramePr>
            <a:graphicFrameLocks noGrp="1"/>
          </p:cNvGraphicFramePr>
          <p:nvPr/>
        </p:nvGraphicFramePr>
        <p:xfrm>
          <a:off x="640080" y="4069080"/>
          <a:ext cx="7726680" cy="1975104"/>
        </p:xfrm>
        <a:graphic>
          <a:graphicData uri="http://schemas.openxmlformats.org/drawingml/2006/table">
            <a:tbl>
              <a:tblPr firstRow="1" bandRow="1">
                <a:tableStyleId>{5C22544A-7EE6-4342-B048-85BDC9FD1C3A}</a:tableStyleId>
              </a:tblPr>
              <a:tblGrid>
                <a:gridCol w="2606040"/>
                <a:gridCol w="822960"/>
                <a:gridCol w="1920240"/>
                <a:gridCol w="1143000"/>
                <a:gridCol w="1234440"/>
              </a:tblGrid>
              <a:tr h="329184">
                <a:tc>
                  <a:txBody>
                    <a:bodyPr/>
                    <a:lstStyle/>
                    <a:p>
                      <a:pPr algn="l">
                        <a:defRPr sz="1300" b="1">
                          <a:solidFill>
                            <a:srgbClr val="0A1F44"/>
                          </a:solidFill>
                          <a:latin typeface="Aptos"/>
                        </a:defRPr>
                      </a:pPr>
                      <a:r>
                        <a:t>Ranking</a:t>
                      </a:r>
                    </a:p>
                  </a:txBody>
                  <a:tcPr anchor="ctr">
                    <a:solidFill>
                      <a:srgbClr val="FB8500"/>
                    </a:solidFill>
                  </a:tcPr>
                </a:tc>
                <a:tc>
                  <a:txBody>
                    <a:bodyPr/>
                    <a:lstStyle/>
                    <a:p>
                      <a:pPr algn="r">
                        <a:defRPr sz="1300" b="1">
                          <a:solidFill>
                            <a:srgbClr val="0A1F44"/>
                          </a:solidFill>
                          <a:latin typeface="Aptos"/>
                        </a:defRPr>
                      </a:pPr>
                      <a:r>
                        <a:t>AUC</a:t>
                      </a:r>
                    </a:p>
                  </a:txBody>
                  <a:tcPr anchor="ctr">
                    <a:solidFill>
                      <a:srgbClr val="FB8500"/>
                    </a:solidFill>
                  </a:tcPr>
                </a:tc>
                <a:tc>
                  <a:txBody>
                    <a:bodyPr/>
                    <a:lstStyle/>
                    <a:p>
                      <a:pPr algn="r">
                        <a:defRPr sz="1300" b="1">
                          <a:solidFill>
                            <a:srgbClr val="0A1F44"/>
                          </a:solidFill>
                          <a:latin typeface="Aptos"/>
                        </a:defRPr>
                      </a:pPr>
                      <a:r>
                        <a:t>Re-arrested / offers</a:t>
                      </a:r>
                    </a:p>
                  </a:txBody>
                  <a:tcPr anchor="ctr">
                    <a:solidFill>
                      <a:srgbClr val="FB8500"/>
                    </a:solidFill>
                  </a:tcPr>
                </a:tc>
                <a:tc>
                  <a:txBody>
                    <a:bodyPr/>
                    <a:lstStyle/>
                    <a:p>
                      <a:pPr algn="r">
                        <a:defRPr sz="1300" b="1">
                          <a:solidFill>
                            <a:srgbClr val="0A1F44"/>
                          </a:solidFill>
                          <a:latin typeface="Aptos"/>
                        </a:defRPr>
                      </a:pPr>
                      <a:r>
                        <a:t>Precision</a:t>
                      </a:r>
                    </a:p>
                  </a:txBody>
                  <a:tcPr anchor="ctr">
                    <a:solidFill>
                      <a:srgbClr val="FB8500"/>
                    </a:solidFill>
                  </a:tcPr>
                </a:tc>
                <a:tc>
                  <a:txBody>
                    <a:bodyPr/>
                    <a:lstStyle/>
                    <a:p>
                      <a:pPr algn="r">
                        <a:defRPr sz="1300" b="1">
                          <a:solidFill>
                            <a:srgbClr val="0A1F44"/>
                          </a:solidFill>
                          <a:latin typeface="Aptos"/>
                        </a:defRPr>
                      </a:pPr>
                      <a:r>
                        <a:t>Net value</a:t>
                      </a:r>
                    </a:p>
                  </a:txBody>
                  <a:tcPr anchor="ctr">
                    <a:solidFill>
                      <a:srgbClr val="FB8500"/>
                    </a:solidFill>
                  </a:tcPr>
                </a:tc>
              </a:tr>
              <a:tr h="329184">
                <a:tc>
                  <a:txBody>
                    <a:bodyPr/>
                    <a:lstStyle/>
                    <a:p>
                      <a:pPr algn="l">
                        <a:defRPr sz="1300" b="0">
                          <a:solidFill>
                            <a:srgbClr val="FFFFFF"/>
                          </a:solidFill>
                          <a:latin typeface="Aptos"/>
                        </a:defRPr>
                      </a:pPr>
                      <a:r>
                        <a:t>Random</a:t>
                      </a:r>
                    </a:p>
                  </a:txBody>
                  <a:tcPr anchor="ctr">
                    <a:solidFill>
                      <a:srgbClr val="143058"/>
                    </a:solidFill>
                  </a:tcPr>
                </a:tc>
                <a:tc>
                  <a:txBody>
                    <a:bodyPr/>
                    <a:lstStyle/>
                    <a:p>
                      <a:pPr algn="r">
                        <a:defRPr sz="1300" b="0">
                          <a:solidFill>
                            <a:srgbClr val="FFFFFF"/>
                          </a:solidFill>
                          <a:latin typeface="Aptos"/>
                        </a:defRPr>
                      </a:pPr>
                      <a:r>
                        <a:t>0.51</a:t>
                      </a:r>
                    </a:p>
                  </a:txBody>
                  <a:tcPr anchor="ctr">
                    <a:solidFill>
                      <a:srgbClr val="143058"/>
                    </a:solidFill>
                  </a:tcPr>
                </a:tc>
                <a:tc>
                  <a:txBody>
                    <a:bodyPr/>
                    <a:lstStyle/>
                    <a:p>
                      <a:pPr algn="r">
                        <a:defRPr sz="1300" b="0">
                          <a:solidFill>
                            <a:srgbClr val="FFFFFF"/>
                          </a:solidFill>
                          <a:latin typeface="Aptos"/>
                        </a:defRPr>
                      </a:pPr>
                      <a:r>
                        <a:t>926 / 1,561</a:t>
                      </a:r>
                    </a:p>
                  </a:txBody>
                  <a:tcPr anchor="ctr">
                    <a:solidFill>
                      <a:srgbClr val="143058"/>
                    </a:solidFill>
                  </a:tcPr>
                </a:tc>
                <a:tc>
                  <a:txBody>
                    <a:bodyPr/>
                    <a:lstStyle/>
                    <a:p>
                      <a:pPr algn="r">
                        <a:defRPr sz="1300" b="0">
                          <a:solidFill>
                            <a:srgbClr val="FFFFFF"/>
                          </a:solidFill>
                          <a:latin typeface="Aptos"/>
                        </a:defRPr>
                      </a:pPr>
                      <a:r>
                        <a:t>0.59</a:t>
                      </a:r>
                    </a:p>
                  </a:txBody>
                  <a:tcPr anchor="ctr">
                    <a:solidFill>
                      <a:srgbClr val="143058"/>
                    </a:solidFill>
                  </a:tcPr>
                </a:tc>
                <a:tc>
                  <a:txBody>
                    <a:bodyPr/>
                    <a:lstStyle/>
                    <a:p>
                      <a:pPr algn="r">
                        <a:defRPr sz="1300" b="0">
                          <a:solidFill>
                            <a:srgbClr val="FFFFFF"/>
                          </a:solidFill>
                          <a:latin typeface="Aptos"/>
                        </a:defRPr>
                      </a:pPr>
                      <a:r>
                        <a:t>$1.455M</a:t>
                      </a:r>
                    </a:p>
                  </a:txBody>
                  <a:tcPr anchor="ctr">
                    <a:solidFill>
                      <a:srgbClr val="143058"/>
                    </a:solidFill>
                  </a:tcPr>
                </a:tc>
              </a:tr>
              <a:tr h="329184">
                <a:tc>
                  <a:txBody>
                    <a:bodyPr/>
                    <a:lstStyle/>
                    <a:p>
                      <a:pPr algn="l">
                        <a:defRPr sz="1300" b="0">
                          <a:solidFill>
                            <a:srgbClr val="FFFFFF"/>
                          </a:solidFill>
                          <a:latin typeface="Aptos"/>
                        </a:defRPr>
                      </a:pPr>
                      <a:r>
                        <a:t>Historical Georgia score</a:t>
                      </a:r>
                    </a:p>
                  </a:txBody>
                  <a:tcPr anchor="ctr">
                    <a:solidFill>
                      <a:srgbClr val="143058"/>
                    </a:solidFill>
                  </a:tcPr>
                </a:tc>
                <a:tc>
                  <a:txBody>
                    <a:bodyPr/>
                    <a:lstStyle/>
                    <a:p>
                      <a:pPr algn="r">
                        <a:defRPr sz="1300" b="0">
                          <a:solidFill>
                            <a:srgbClr val="FFFFFF"/>
                          </a:solidFill>
                          <a:latin typeface="Aptos"/>
                        </a:defRPr>
                      </a:pPr>
                      <a:r>
                        <a:t>0.60</a:t>
                      </a:r>
                    </a:p>
                  </a:txBody>
                  <a:tcPr anchor="ctr">
                    <a:solidFill>
                      <a:srgbClr val="143058"/>
                    </a:solidFill>
                  </a:tcPr>
                </a:tc>
                <a:tc>
                  <a:txBody>
                    <a:bodyPr/>
                    <a:lstStyle/>
                    <a:p>
                      <a:pPr algn="r">
                        <a:defRPr sz="1300" b="0">
                          <a:solidFill>
                            <a:srgbClr val="FFFFFF"/>
                          </a:solidFill>
                          <a:latin typeface="Aptos"/>
                        </a:defRPr>
                      </a:pPr>
                      <a:r>
                        <a:t>1,053 / 1,561</a:t>
                      </a:r>
                    </a:p>
                  </a:txBody>
                  <a:tcPr anchor="ctr">
                    <a:solidFill>
                      <a:srgbClr val="143058"/>
                    </a:solidFill>
                  </a:tcPr>
                </a:tc>
                <a:tc>
                  <a:txBody>
                    <a:bodyPr/>
                    <a:lstStyle/>
                    <a:p>
                      <a:pPr algn="r">
                        <a:defRPr sz="1300" b="0">
                          <a:solidFill>
                            <a:srgbClr val="FFFFFF"/>
                          </a:solidFill>
                          <a:latin typeface="Aptos"/>
                        </a:defRPr>
                      </a:pPr>
                      <a:r>
                        <a:t>0.67</a:t>
                      </a:r>
                    </a:p>
                  </a:txBody>
                  <a:tcPr anchor="ctr">
                    <a:solidFill>
                      <a:srgbClr val="143058"/>
                    </a:solidFill>
                  </a:tcPr>
                </a:tc>
                <a:tc>
                  <a:txBody>
                    <a:bodyPr/>
                    <a:lstStyle/>
                    <a:p>
                      <a:pPr algn="r">
                        <a:defRPr sz="1300" b="0">
                          <a:solidFill>
                            <a:srgbClr val="FFFFFF"/>
                          </a:solidFill>
                          <a:latin typeface="Aptos"/>
                        </a:defRPr>
                      </a:pPr>
                      <a:r>
                        <a:t>$2.725M</a:t>
                      </a:r>
                    </a:p>
                  </a:txBody>
                  <a:tcPr anchor="ctr">
                    <a:solidFill>
                      <a:srgbClr val="143058"/>
                    </a:solidFill>
                  </a:tcPr>
                </a:tc>
              </a:tr>
              <a:tr h="329184">
                <a:tc>
                  <a:txBody>
                    <a:bodyPr/>
                    <a:lstStyle/>
                    <a:p>
                      <a:pPr algn="l">
                        <a:defRPr sz="1300" b="1">
                          <a:solidFill>
                            <a:srgbClr val="00B4B4"/>
                          </a:solidFill>
                          <a:latin typeface="Aptos"/>
                        </a:defRPr>
                      </a:pPr>
                      <a:r>
                        <a:t>Logistic</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1,285 / 1,561</a:t>
                      </a:r>
                    </a:p>
                  </a:txBody>
                  <a:tcPr anchor="ctr">
                    <a:solidFill>
                      <a:srgbClr val="143058"/>
                    </a:solidFill>
                  </a:tcPr>
                </a:tc>
                <a:tc>
                  <a:txBody>
                    <a:bodyPr/>
                    <a:lstStyle/>
                    <a:p>
                      <a:pPr algn="r">
                        <a:defRPr sz="1300" b="1">
                          <a:solidFill>
                            <a:srgbClr val="00B4B4"/>
                          </a:solidFill>
                          <a:latin typeface="Aptos"/>
                        </a:defRPr>
                      </a:pPr>
                      <a:r>
                        <a:t>0.82</a:t>
                      </a:r>
                    </a:p>
                  </a:txBody>
                  <a:tcPr anchor="ctr">
                    <a:solidFill>
                      <a:srgbClr val="143058"/>
                    </a:solidFill>
                  </a:tcPr>
                </a:tc>
                <a:tc>
                  <a:txBody>
                    <a:bodyPr/>
                    <a:lstStyle/>
                    <a:p>
                      <a:pPr algn="r">
                        <a:defRPr sz="1300" b="1">
                          <a:solidFill>
                            <a:srgbClr val="00B4B4"/>
                          </a:solidFill>
                          <a:latin typeface="Aptos"/>
                        </a:defRPr>
                      </a:pPr>
                      <a:r>
                        <a:t>$5.045M</a:t>
                      </a:r>
                    </a:p>
                  </a:txBody>
                  <a:tcPr anchor="ctr">
                    <a:solidFill>
                      <a:srgbClr val="143058"/>
                    </a:solidFill>
                  </a:tcPr>
                </a:tc>
              </a:tr>
              <a:tr h="329184">
                <a:tc>
                  <a:txBody>
                    <a:bodyPr/>
                    <a:lstStyle/>
                    <a:p>
                      <a:pPr algn="l">
                        <a:defRPr sz="1300" b="1">
                          <a:solidFill>
                            <a:srgbClr val="00B4B4"/>
                          </a:solidFill>
                          <a:latin typeface="Aptos"/>
                        </a:defRPr>
                      </a:pPr>
                      <a:r>
                        <a:t>XGBoost</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1,297 / 1,561</a:t>
                      </a:r>
                    </a:p>
                  </a:txBody>
                  <a:tcPr anchor="ctr">
                    <a:solidFill>
                      <a:srgbClr val="143058"/>
                    </a:solidFill>
                  </a:tcPr>
                </a:tc>
                <a:tc>
                  <a:txBody>
                    <a:bodyPr/>
                    <a:lstStyle/>
                    <a:p>
                      <a:pPr algn="r">
                        <a:defRPr sz="1300" b="1">
                          <a:solidFill>
                            <a:srgbClr val="00B4B4"/>
                          </a:solidFill>
                          <a:latin typeface="Aptos"/>
                        </a:defRPr>
                      </a:pPr>
                      <a:r>
                        <a:t>0.83</a:t>
                      </a:r>
                    </a:p>
                  </a:txBody>
                  <a:tcPr anchor="ctr">
                    <a:solidFill>
                      <a:srgbClr val="143058"/>
                    </a:solidFill>
                  </a:tcPr>
                </a:tc>
                <a:tc>
                  <a:txBody>
                    <a:bodyPr/>
                    <a:lstStyle/>
                    <a:p>
                      <a:pPr algn="r">
                        <a:defRPr sz="1300" b="1">
                          <a:solidFill>
                            <a:srgbClr val="00B4B4"/>
                          </a:solidFill>
                          <a:latin typeface="Aptos"/>
                        </a:defRPr>
                      </a:pPr>
                      <a:r>
                        <a:t>$5.165M</a:t>
                      </a:r>
                    </a:p>
                  </a:txBody>
                  <a:tcPr anchor="ctr">
                    <a:solidFill>
                      <a:srgbClr val="143058"/>
                    </a:solidFill>
                  </a:tcPr>
                </a:tc>
              </a:tr>
              <a:tr h="329184">
                <a:tc>
                  <a:txBody>
                    <a:bodyPr/>
                    <a:lstStyle/>
                    <a:p>
                      <a:pPr algn="l">
                        <a:defRPr sz="1300" b="1">
                          <a:solidFill>
                            <a:srgbClr val="00B4B4"/>
                          </a:solidFill>
                          <a:latin typeface="Aptos"/>
                        </a:defRPr>
                      </a:pPr>
                      <a:r>
                        <a:t>TabICLv2</a:t>
                      </a:r>
                    </a:p>
                  </a:txBody>
                  <a:tcPr anchor="ctr">
                    <a:solidFill>
                      <a:srgbClr val="143058"/>
                    </a:solidFill>
                  </a:tcPr>
                </a:tc>
                <a:tc>
                  <a:txBody>
                    <a:bodyPr/>
                    <a:lstStyle/>
                    <a:p>
                      <a:pPr algn="r">
                        <a:defRPr sz="1300" b="1">
                          <a:solidFill>
                            <a:srgbClr val="00B4B4"/>
                          </a:solidFill>
                          <a:latin typeface="Aptos"/>
                        </a:defRPr>
                      </a:pPr>
                      <a:r>
                        <a:t>0.73</a:t>
                      </a:r>
                    </a:p>
                  </a:txBody>
                  <a:tcPr anchor="ctr">
                    <a:solidFill>
                      <a:srgbClr val="143058"/>
                    </a:solidFill>
                  </a:tcPr>
                </a:tc>
                <a:tc>
                  <a:txBody>
                    <a:bodyPr/>
                    <a:lstStyle/>
                    <a:p>
                      <a:pPr algn="r">
                        <a:defRPr sz="1300" b="1">
                          <a:solidFill>
                            <a:srgbClr val="00B4B4"/>
                          </a:solidFill>
                          <a:latin typeface="Aptos"/>
                        </a:defRPr>
                      </a:pPr>
                      <a:r>
                        <a:t>1,292 / 1,561</a:t>
                      </a:r>
                    </a:p>
                  </a:txBody>
                  <a:tcPr anchor="ctr">
                    <a:solidFill>
                      <a:srgbClr val="143058"/>
                    </a:solidFill>
                  </a:tcPr>
                </a:tc>
                <a:tc>
                  <a:txBody>
                    <a:bodyPr/>
                    <a:lstStyle/>
                    <a:p>
                      <a:pPr algn="r">
                        <a:defRPr sz="1300" b="1">
                          <a:solidFill>
                            <a:srgbClr val="00B4B4"/>
                          </a:solidFill>
                          <a:latin typeface="Aptos"/>
                        </a:defRPr>
                      </a:pPr>
                      <a:r>
                        <a:t>0.83</a:t>
                      </a:r>
                    </a:p>
                  </a:txBody>
                  <a:tcPr anchor="ctr">
                    <a:solidFill>
                      <a:srgbClr val="143058"/>
                    </a:solidFill>
                  </a:tcPr>
                </a:tc>
                <a:tc>
                  <a:txBody>
                    <a:bodyPr/>
                    <a:lstStyle/>
                    <a:p>
                      <a:pPr algn="r">
                        <a:defRPr sz="1300" b="1">
                          <a:solidFill>
                            <a:srgbClr val="00B4B4"/>
                          </a:solidFill>
                          <a:latin typeface="Aptos"/>
                        </a:defRPr>
                      </a:pPr>
                      <a:r>
                        <a:t>$5.115M</a:t>
                      </a:r>
                    </a:p>
                  </a:txBody>
                  <a:tcPr anchor="ctr">
                    <a:solidFill>
                      <a:srgbClr val="143058"/>
                    </a:solidFill>
                  </a:tcPr>
                </a:tc>
              </a:tr>
            </a:tbl>
          </a:graphicData>
        </a:graphic>
      </p:graphicFrame>
      <p:sp>
        <p:nvSpPr>
          <p:cNvPr id="12" name="Rounded Rectangle 11"/>
          <p:cNvSpPr/>
          <p:nvPr/>
        </p:nvSpPr>
        <p:spPr>
          <a:xfrm>
            <a:off x="9098280" y="406908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08007" y="4206240"/>
            <a:ext cx="2194560" cy="438912"/>
          </a:xfrm>
          <a:prstGeom prst="rect">
            <a:avLst/>
          </a:prstGeom>
          <a:noFill/>
        </p:spPr>
        <p:txBody>
          <a:bodyPr wrap="square" anchor="t">
            <a:spAutoFit/>
          </a:bodyPr>
          <a:lstStyle/>
          <a:p>
            <a:pPr algn="ctr">
              <a:defRPr sz="2200" b="1">
                <a:solidFill>
                  <a:srgbClr val="00B4B4"/>
                </a:solidFill>
                <a:latin typeface="Aptos"/>
              </a:defRPr>
            </a:pPr>
            <a:r>
              <a:t>12% vs 15%</a:t>
            </a:r>
          </a:p>
        </p:txBody>
      </p:sp>
      <p:sp>
        <p:nvSpPr>
          <p:cNvPr id="14" name="TextBox 13"/>
          <p:cNvSpPr txBox="1"/>
          <p:nvPr/>
        </p:nvSpPr>
        <p:spPr>
          <a:xfrm>
            <a:off x="9208007" y="4727448"/>
            <a:ext cx="2194560" cy="274320"/>
          </a:xfrm>
          <a:prstGeom prst="rect">
            <a:avLst/>
          </a:prstGeom>
          <a:noFill/>
        </p:spPr>
        <p:txBody>
          <a:bodyPr wrap="square" anchor="t">
            <a:spAutoFit/>
          </a:bodyPr>
          <a:lstStyle/>
          <a:p>
            <a:pPr algn="ctr">
              <a:defRPr sz="1100" b="1">
                <a:solidFill>
                  <a:srgbClr val="FFFFFF"/>
                </a:solidFill>
                <a:latin typeface="Aptos"/>
              </a:defRPr>
            </a:pPr>
            <a:r>
              <a:t>BREAK-EVEN EFFECT</a:t>
            </a:r>
          </a:p>
        </p:txBody>
      </p:sp>
      <p:sp>
        <p:nvSpPr>
          <p:cNvPr id="15" name="TextBox 14"/>
          <p:cNvSpPr txBox="1"/>
          <p:nvPr/>
        </p:nvSpPr>
        <p:spPr>
          <a:xfrm>
            <a:off x="9208007" y="5038344"/>
            <a:ext cx="2194560" cy="164592"/>
          </a:xfrm>
          <a:prstGeom prst="rect">
            <a:avLst/>
          </a:prstGeom>
          <a:noFill/>
        </p:spPr>
        <p:txBody>
          <a:bodyPr wrap="square" anchor="t">
            <a:spAutoFit/>
          </a:bodyPr>
          <a:lstStyle/>
          <a:p>
            <a:pPr algn="ctr">
              <a:defRPr sz="800" b="0">
                <a:solidFill>
                  <a:srgbClr val="F0F4F8"/>
                </a:solidFill>
                <a:latin typeface="Aptos"/>
              </a:defRPr>
            </a:pPr>
            <a:r>
              <a:t>logistic vs historical score</a:t>
            </a:r>
          </a:p>
        </p:txBody>
      </p:sp>
      <p:sp>
        <p:nvSpPr>
          <p:cNvPr id="16" name="TextBox 15"/>
          <p:cNvSpPr txBox="1"/>
          <p:nvPr/>
        </p:nvSpPr>
        <p:spPr>
          <a:xfrm>
            <a:off x="9098280" y="5440680"/>
            <a:ext cx="2423160" cy="640080"/>
          </a:xfrm>
          <a:prstGeom prst="rect">
            <a:avLst/>
          </a:prstGeom>
          <a:noFill/>
        </p:spPr>
        <p:txBody>
          <a:bodyPr wrap="square" anchor="t">
            <a:spAutoFit/>
          </a:bodyPr>
          <a:lstStyle/>
          <a:p>
            <a:pPr algn="l">
              <a:defRPr sz="1100" b="0">
                <a:solidFill>
                  <a:srgbClr val="F0F4F8"/>
                </a:solidFill>
                <a:latin typeface="Aptos"/>
              </a:defRPr>
            </a:pPr>
            <a:r>
              <a:t>Support must prevent at least this share of re-arrests to pay for itself.</a:t>
            </a:r>
          </a:p>
        </p:txBody>
      </p:sp>
      <p:sp>
        <p:nvSpPr>
          <p:cNvPr id="17" name="TextBox 16"/>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from 5% to 50% (A2). Dollars are a scenario, not a causal estimate.</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global.png"/>
          <p:cNvPicPr>
            <a:picLocks noChangeAspect="1"/>
          </p:cNvPicPr>
          <p:nvPr/>
        </p:nvPicPr>
        <p:blipFill>
          <a:blip r:embed="rId2"/>
          <a:stretch>
            <a:fillRect/>
          </a:stretch>
        </p:blipFill>
        <p:spPr>
          <a:xfrm>
            <a:off x="365760" y="1554480"/>
            <a:ext cx="7863840" cy="3342410"/>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2400" b="1">
                <a:solidFill>
                  <a:srgbClr val="00B4B4"/>
                </a:solidFill>
                <a:latin typeface="Aptos"/>
              </a:defRPr>
            </a:pPr>
            <a:r>
              <a:t>-27 pts</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average probability change</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2400" b="1">
                <a:solidFill>
                  <a:srgbClr val="D64343"/>
                </a:solidFill>
                <a:latin typeface="Aptos"/>
              </a:defRPr>
            </a:pPr>
            <a:r>
              <a:t>+17 pts</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GANG AFFILIATION</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recorded 'Yes' vs 'No'</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Marginal effects in probability points, not log-odds: the unit a caseworker understands.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A mitigation option for the client, not applied to the recommended model.</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Shadow pilot first: no temporal/external validation yet, and no evidence the support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 sensitivity · explanation disagreement · global surrogate · threshold frontier · age · process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$5.045M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$5.165M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$2.725M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$1.455M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pic>
        <p:nvPicPr>
          <p:cNvPr id="18" name="Picture 17" descr="incumbent_benchmark.png"/>
          <p:cNvPicPr>
            <a:picLocks noChangeAspect="1"/>
          </p:cNvPicPr>
          <p:nvPr/>
        </p:nvPicPr>
        <p:blipFill>
          <a:blip r:embed="rId2"/>
          <a:stretch>
            <a:fillRect/>
          </a:stretch>
        </p:blipFill>
        <p:spPr>
          <a:xfrm>
            <a:off x="731520" y="3246120"/>
            <a:ext cx="10698480" cy="2963400"/>
          </a:xfrm>
          <a:prstGeom prst="rect">
            <a:avLst/>
          </a:prstGeom>
        </p:spPr>
      </p:pic>
      <p:sp>
        <p:nvSpPr>
          <p:cNvPr id="19" name="TextBox 1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Right panel: models beat the historical score at every capacity from 5% to 50%. A randomized or quasi-experimental pilot must estimate the real intervention effect.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