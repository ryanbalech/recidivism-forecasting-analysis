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0:00 · 20s] Team 11. Our client sells risk-assessment tools to US community-supervision agencies. Their question: which three-year re-arrest model should they ship? We judged four dimensions — performance, interpretability, stability, fairness — not accuracy alone.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0:20 · 30s] The score prioritises VOLUNTARY re-entry support: employment, housing, treatment. Never sanctions or detention. Everything later depends on this: being selected means being offered help. Our target is recorded re-arrest, which is only a proxy for need.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0:50 · 40s] NIJ's own split: 18,028 training, 7,807 evaluation, Georgia 2013-2015. About 58% are re-arrested. Black and White men have almost the same rate; women are lower. On the right, missing values: the gang field is missing for EVERY woman and no man. The missingness is structured — over to [P2].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1:30 · 40s] We only use what is known when supervision starts: 29 fields. Race, gender and residence are never inputs; we keep them to audit who gets support. Everything recorded after release is excluded — and we proved why: adding those fields lifts AUC from 0.73 to 0.81, because they leak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2:10 · 50s] The leak we found. Gang affiliation is missing for every woman. If missingness is kept, gender is recovered from our own inputs at AUC 1.00 — perfectly. TabICL treats a missing value as its own category, so it effectively saw gender. We fixed it with mode-filling and a regression test. But even after the fix, gender is still recoverable at 0.78: excluding an attribute is not removing it. [P5] picks this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3:00 · 40s] Three families, as the brief requires, each tuned by cross-validation on training data only. Logistic with L1, C chosen by grid search. XGBoost with a 60-draw random search; deeper trees overfit and were rejected. TabICL with 16 ensemble members; gains level off near 8. Five other ML models all land in the same narrow AUC band.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3:40 · 45s] Finding one: performance cannot pick the model. The three ROC curves lie on top of each other: AUC 0.730 to 0.733. Is 0.73 good? Reviews of US recidivism tools call an AUC above 0.71 "excellent"; the historical Georgia score, at 0.60, is only "fair". XGBoost beats logistic by 0.0025 on a paired bootstrap: real, but small. Brier, the score NIJ used for this challenge, agrees: about 16% better than predicting the base rate, for all three. It also checks calibration, whether a predicted 70% means 70%: logistic and XGBoost pass; TabICL is slightly overconfident.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4:25 · 65s] The client's real question: is this worth paying for, compared with the score they already have? The scenario: 20% capacity, 1,561 offers. Support costs $5,000 a person, a re-arrest costs $50,000, and we ASSUME support prevents 20% of re-arrests. So net value is the number of offered people later re-arrested, times $10,000, minus $7.8M of programme cost. The cost is identical for every ranking, so only precision matters: 82% of our offers reach someone later re-arrested, against 67% for the historical score. That turns $2.7M into $5.0M. Put differently: with our ranking the programme breaks even if it prevents 12% of re-arrests; with the historical score it needs 15%. The dollars are a scenario, not a causal estimate: the data cannot tell us whether support works. Over to [P4].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5:30 · 40s] What drives the score. This is a SHAP summary for all 7,807 people: each dot is a person, red means a high value of that field, and dots to the right raise risk. Age comes first in both models - young people (blue) sit on the right - then gang affiliation and prior record. Logistic draws straight bars because it is linear; XGBoost spreads out because it picks up interactions. The cards turn this into probability points with partial dependence, for all three models: set everyone to age 23-27, then to 48+, and the average predicted risk falls by 26 to 29 points; switching gang affiliation from No to Yes raises it by 16 to 17. The three models agree - including TabICL, which SHAP cannot reach. For logistic regression this PDP difference is exactly the course's average marginal effect.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6:10 · 40s] Now from the outside, without opening the model. Partial dependence shows the average effect of one feature; the faint individual curves show each person. All three models agree that risk falls with age. This is the only way we can look inside TabICL at all: it has no native attribution. XGBoost can be summarised by a small surrogate tree, but that tree reproduces only 61% of it. Logistic needs none of this: its coefficients are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6:50 · 40s] One person, explained by both models. Red raises risk, green lowers it — this is what an appeal would contest. We checked faithfulness: LIME on raw features fits locally about twice as well as before, and all 63 conditions keep their sign across seeds. We quote LIME for direction and SHAP for size.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7:30 · 40s] Last, explaining PERFORMANCE rather than predictions — XPER, from this course. It splits the AUC itself into contributions: an uninformative model gets about 0.47, and each feature adds its share; age alone adds about 0.09. Compared with SHAP and permutation importance, the three methods agree on WHICH features matter but not on their order, because they answer different questions: prediction, loss, performance. So we quote the set, not the rank. Over to [P5].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8:10 · 45s] Fairness. Our primary metric is FNR: people later re-arrested but not offered support — the real harm here. Race first, the question everyone expects after COMPAS. Base rates are almost equal, so the data does not force a gap. Excluding race guarantees twins get the same score, but race is still recoverable at 0.71 through criminal history. So we audit outcomes, not inputs.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8:55 · 45s] The outcome audit: every race gap is within five points by an equivalence test, and none survives Holm correction. Three caveats: the small gap runs toward MORE support for Black people; the label is recorded arrest, which may carry policing bias; and prediction quality is lower for Black people, AUC 0.72 vs 0.75.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9:40 · 45s] Gender is where we found a problem. Re-arrested women miss support 10 to 12 points more often, in all three models — so it comes from the features. Every model over-predicts women, yet selects them less: with different base rates, calibration and equal FNR cannot both hold. Age shows an even larger gap, but by design — age is a validated risk factor — so it is the client's policy choice; details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10:25 · 45s] We located the cause with the course's FPDP: gang affiliation, never recorded for women. Dropping it, selected in every one of five training folds, closes about 70% of the gap out of sample for about one AUC point — at the cost of men's FNR rising two points. We then re-evaluated the fix on all four dimensions (appendix A11): the gender gap closes, stability and the main drivers barely move, race stays within tolerance, and it costs about 0.014 AUC. So we propose it as a second pilot arm rather than deciding it for the client. Over to [P6].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11:10 · 40s] Stability, in the course's sense: two samples from the same population should give the same model. Eight bootstrap refits, same resamples for all three models. Logistic drifts less than XGBoost on all 28 pairs. Jaccard around 0.77 means about 13% of the selected people change per refit.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11:50 · 50s] At the level of one person, about one decision in seven flips across refits. Referring contested cases to a human raises precision — but WIDENS the gender gap, because women sit at the margin more often. Abstention is not fairness-neutral.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12:40 · 60s] Reading across the four dimensions: performance is a tie; interpretability and stability favour logistic; fairness gaps are shared by all three. So: logistic for a shadow pilot, XGBoost as challenger. The two select 85% of the same people and the difference in captured re-arrests includes zero. We do NOT claim logistic is fairer or better calibrated. It reverses if the client quotes scores numerically, or operates at a scale where a dozen extra offers matter. And the pilot runs a second arm without gang affiliation, the field never recorded for women; appendix A11 shows it on all four dimensions.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13:40 · 45s] Demo one person: scores from all three models, the explanation, how many of eight refits select them, then edit an input and watch the score move. If the app fails, switch to the screenshots.</a:t>
            </a:r>
          </a:p>
          <a:p/>
          <a:p>
            <a:r>
              <a:t>[APPENDIX CUES] A1 learning curve · A2 economics · A3 explanation disagreement · A4 global surrogate · A5 threshold frontier · A6 age · A7 process · A8 LIME · A9 permutation importance · A10 method overview · A11 no-gang pilot arm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658368" y="530352"/>
            <a:ext cx="7315200" cy="274320"/>
          </a:xfrm>
          <a:prstGeom prst="rect">
            <a:avLst/>
          </a:prstGeom>
          <a:noFill/>
        </p:spPr>
        <p:txBody>
          <a:bodyPr wrap="square" anchor="t">
            <a:spAutoFit/>
          </a:bodyPr>
          <a:lstStyle/>
          <a:p>
            <a:pPr algn="l">
              <a:defRPr sz="1200" b="1">
                <a:solidFill>
                  <a:srgbClr val="FB8500"/>
                </a:solidFill>
                <a:latin typeface="Aptos"/>
              </a:defRPr>
            </a:pPr>
            <a:r>
              <a:t>TRUSTWORTHY AI / RECIDIVISM</a:t>
            </a:r>
          </a:p>
        </p:txBody>
      </p:sp>
      <p:sp>
        <p:nvSpPr>
          <p:cNvPr id="3" name="TextBox 2"/>
          <p:cNvSpPr txBox="1"/>
          <p:nvPr/>
        </p:nvSpPr>
        <p:spPr>
          <a:xfrm>
            <a:off x="658368" y="1298448"/>
            <a:ext cx="7315200" cy="1508760"/>
          </a:xfrm>
          <a:prstGeom prst="rect">
            <a:avLst/>
          </a:prstGeom>
          <a:noFill/>
        </p:spPr>
        <p:txBody>
          <a:bodyPr wrap="square" anchor="t">
            <a:spAutoFit/>
          </a:bodyPr>
          <a:lstStyle/>
          <a:p>
            <a:pPr algn="l">
              <a:defRPr sz="3600" b="1">
                <a:solidFill>
                  <a:srgbClr val="FFFFFF"/>
                </a:solidFill>
                <a:latin typeface="Aptos"/>
              </a:defRPr>
            </a:pPr>
            <a:r>
              <a:t>Forecasting risk,</a:t>
            </a:r>
            <a:br/>
            <a:r>
              <a:t>examining trade-offs</a:t>
            </a:r>
          </a:p>
        </p:txBody>
      </p:sp>
      <p:sp>
        <p:nvSpPr>
          <p:cNvPr id="4" name="TextBox 3"/>
          <p:cNvSpPr txBox="1"/>
          <p:nvPr/>
        </p:nvSpPr>
        <p:spPr>
          <a:xfrm>
            <a:off x="694944" y="3063240"/>
            <a:ext cx="6035040" cy="1280160"/>
          </a:xfrm>
          <a:prstGeom prst="rect">
            <a:avLst/>
          </a:prstGeom>
          <a:noFill/>
        </p:spPr>
        <p:txBody>
          <a:bodyPr wrap="square" anchor="t">
            <a:spAutoFit/>
          </a:bodyPr>
          <a:lstStyle/>
          <a:p>
            <a:pPr algn="l">
              <a:defRPr sz="1700" b="0">
                <a:solidFill>
                  <a:srgbClr val="F0F4F8"/>
                </a:solidFill>
                <a:latin typeface="Aptos"/>
              </a:defRPr>
            </a:pPr>
            <a:r>
              <a:t>For a risk-assessment software vendor: which three-year re-arrest model to ship, judged on performance, interpretability, stability and fairness</a:t>
            </a:r>
          </a:p>
        </p:txBody>
      </p:sp>
      <p:sp>
        <p:nvSpPr>
          <p:cNvPr id="5" name="TextBox 4"/>
          <p:cNvSpPr txBox="1"/>
          <p:nvPr/>
        </p:nvSpPr>
        <p:spPr>
          <a:xfrm>
            <a:off x="694944" y="6053328"/>
            <a:ext cx="6400800" cy="274320"/>
          </a:xfrm>
          <a:prstGeom prst="rect">
            <a:avLst/>
          </a:prstGeom>
          <a:noFill/>
        </p:spPr>
        <p:txBody>
          <a:bodyPr wrap="square" anchor="t">
            <a:spAutoFit/>
          </a:bodyPr>
          <a:lstStyle/>
          <a:p>
            <a:pPr algn="l">
              <a:defRPr sz="1100" b="0">
                <a:solidFill>
                  <a:srgbClr val="828FA0"/>
                </a:solidFill>
                <a:latin typeface="Aptos"/>
              </a:defRPr>
            </a:pPr>
            <a:r>
              <a:t>Team 11 · HEC Paris · Fall 2026</a:t>
            </a:r>
          </a:p>
        </p:txBody>
      </p:sp>
      <p:sp>
        <p:nvSpPr>
          <p:cNvPr id="6" name="Rounded Rectangle 5"/>
          <p:cNvSpPr/>
          <p:nvPr/>
        </p:nvSpPr>
        <p:spPr>
          <a:xfrm>
            <a:off x="7818120" y="822960"/>
            <a:ext cx="3337560" cy="5257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1097280"/>
            <a:ext cx="2880360" cy="365760"/>
          </a:xfrm>
          <a:prstGeom prst="rect">
            <a:avLst/>
          </a:prstGeom>
          <a:noFill/>
        </p:spPr>
        <p:txBody>
          <a:bodyPr wrap="square" anchor="t">
            <a:spAutoFit/>
          </a:bodyPr>
          <a:lstStyle/>
          <a:p>
            <a:pPr algn="ctr">
              <a:defRPr sz="2000" b="1">
                <a:solidFill>
                  <a:srgbClr val="7B2CBF"/>
                </a:solidFill>
                <a:latin typeface="Aptos"/>
              </a:defRPr>
            </a:pPr>
            <a:r>
              <a:t>0.60 → 0.73</a:t>
            </a:r>
          </a:p>
        </p:txBody>
      </p:sp>
      <p:sp>
        <p:nvSpPr>
          <p:cNvPr id="8" name="TextBox 7"/>
          <p:cNvSpPr txBox="1"/>
          <p:nvPr/>
        </p:nvSpPr>
        <p:spPr>
          <a:xfrm>
            <a:off x="8138160" y="1810512"/>
            <a:ext cx="2697480" cy="4023360"/>
          </a:xfrm>
          <a:prstGeom prst="rect">
            <a:avLst/>
          </a:prstGeom>
          <a:noFill/>
        </p:spPr>
        <p:txBody>
          <a:bodyPr wrap="square" anchor="t">
            <a:spAutoFit/>
          </a:bodyPr>
          <a:lstStyle/>
          <a:p>
            <a:pPr algn="ctr">
              <a:defRPr sz="1500" b="0">
                <a:solidFill>
                  <a:srgbClr val="F0F4F8"/>
                </a:solidFill>
                <a:latin typeface="Aptos"/>
              </a:defRPr>
            </a:pPr>
            <a:r>
              <a:t>Historical score vs our models (ROC AUC)</a:t>
            </a:r>
            <a:br/>
            <a:br/>
            <a:r>
              <a:t>3 model families</a:t>
            </a:r>
            <a:br/>
            <a:br/>
            <a:r>
              <a:t>1 recommendation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INTRO · CLIENT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Our client, and the decision they sell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91640"/>
            <a:ext cx="10698480" cy="4389120"/>
          </a:xfrm>
          <a:prstGeom prst="rect">
            <a:avLst/>
          </a:prstGeom>
          <a:noFill/>
        </p:spPr>
        <p:txBody>
          <a:bodyPr wrap="square">
            <a:spAutoFit/>
          </a:bodyPr>
          <a:lstStyle/>
          <a:p>
            <a:pPr>
              <a:spcAft>
                <a:spcPts val="1200"/>
              </a:spcAft>
              <a:defRPr sz="2100">
                <a:solidFill>
                  <a:srgbClr val="FFFFFF"/>
                </a:solidFill>
                <a:latin typeface="Aptos"/>
              </a:defRPr>
            </a:pPr>
            <a:r>
              <a:t>•  Client: a vendor selling risk tools to US community-supervision agencies</a:t>
            </a:r>
          </a:p>
          <a:p>
            <a:pPr>
              <a:spcAft>
                <a:spcPts val="1200"/>
              </a:spcAft>
              <a:defRPr sz="2100">
                <a:solidFill>
                  <a:srgbClr val="FFFFFF"/>
                </a:solidFill>
                <a:latin typeface="Aptos"/>
              </a:defRPr>
            </a:pPr>
            <a:r>
              <a:t>•  Decision: rank people at supervision start; the top 20% are offered voluntary re-entry support</a:t>
            </a:r>
          </a:p>
          <a:p>
            <a:pPr>
              <a:spcAft>
                <a:spcPts val="1200"/>
              </a:spcAft>
              <a:defRPr sz="2100">
                <a:solidFill>
                  <a:srgbClr val="FFFFFF"/>
                </a:solidFill>
                <a:latin typeface="Aptos"/>
              </a:defRPr>
            </a:pPr>
            <a:r>
              <a:t>•  Scope: support allocation only — never sanctions, detention or surveillance</a:t>
            </a:r>
          </a:p>
          <a:p>
            <a:pPr>
              <a:spcAft>
                <a:spcPts val="1200"/>
              </a:spcAft>
              <a:defRPr sz="2100">
                <a:solidFill>
                  <a:srgbClr val="FFFFFF"/>
                </a:solidFill>
                <a:latin typeface="Aptos"/>
              </a:defRPr>
            </a:pPr>
            <a:r>
              <a:t>•  Target: recorded re-arrest within 3 years — a proxy for need, not for offending</a:t>
            </a:r>
          </a:p>
        </p:txBody>
      </p:sp>
      <p:sp>
        <p:nvSpPr>
          <p:cNvPr id="6" name="TextBox 5"/>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7" name="TextBox 6"/>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INTRO · DATA</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Georgia parolees, official split, training-only EDA</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da_overview.png"/>
          <p:cNvPicPr>
            <a:picLocks noChangeAspect="1"/>
          </p:cNvPicPr>
          <p:nvPr/>
        </p:nvPicPr>
        <p:blipFill>
          <a:blip r:embed="rId2"/>
          <a:stretch>
            <a:fillRect/>
          </a:stretch>
        </p:blipFill>
        <p:spPr>
          <a:xfrm>
            <a:off x="365760" y="1554480"/>
            <a:ext cx="8229600" cy="3020700"/>
          </a:xfrm>
          <a:prstGeom prst="rect">
            <a:avLst/>
          </a:prstGeom>
        </p:spPr>
      </p:pic>
      <p:sp>
        <p:nvSpPr>
          <p:cNvPr id="6" name="Rounded Rectangle 5"/>
          <p:cNvSpPr/>
          <p:nvPr/>
        </p:nvSpPr>
        <p:spPr>
          <a:xfrm>
            <a:off x="9098280" y="164592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08007" y="1783080"/>
            <a:ext cx="2194560" cy="438912"/>
          </a:xfrm>
          <a:prstGeom prst="rect">
            <a:avLst/>
          </a:prstGeom>
          <a:noFill/>
        </p:spPr>
        <p:txBody>
          <a:bodyPr wrap="square" anchor="t">
            <a:spAutoFit/>
          </a:bodyPr>
          <a:lstStyle/>
          <a:p>
            <a:pPr algn="ctr">
              <a:defRPr sz="2400" b="1">
                <a:solidFill>
                  <a:srgbClr val="FB8500"/>
                </a:solidFill>
                <a:latin typeface="Aptos"/>
              </a:defRPr>
            </a:pPr>
            <a:r>
              <a:t>57.8%</a:t>
            </a:r>
          </a:p>
        </p:txBody>
      </p:sp>
      <p:sp>
        <p:nvSpPr>
          <p:cNvPr id="8" name="TextBox 7"/>
          <p:cNvSpPr txBox="1"/>
          <p:nvPr/>
        </p:nvSpPr>
        <p:spPr>
          <a:xfrm>
            <a:off x="9208007" y="2304288"/>
            <a:ext cx="2194560" cy="274320"/>
          </a:xfrm>
          <a:prstGeom prst="rect">
            <a:avLst/>
          </a:prstGeom>
          <a:noFill/>
        </p:spPr>
        <p:txBody>
          <a:bodyPr wrap="square" anchor="t">
            <a:spAutoFit/>
          </a:bodyPr>
          <a:lstStyle/>
          <a:p>
            <a:pPr algn="ctr">
              <a:defRPr sz="1100" b="1">
                <a:solidFill>
                  <a:srgbClr val="FFFFFF"/>
                </a:solidFill>
                <a:latin typeface="Aptos"/>
              </a:defRPr>
            </a:pPr>
            <a:r>
              <a:t>RE-ARRESTED IN 3 YEARS</a:t>
            </a:r>
          </a:p>
        </p:txBody>
      </p:sp>
      <p:sp>
        <p:nvSpPr>
          <p:cNvPr id="9" name="TextBox 8"/>
          <p:cNvSpPr txBox="1"/>
          <p:nvPr/>
        </p:nvSpPr>
        <p:spPr>
          <a:xfrm>
            <a:off x="9208007" y="2615184"/>
            <a:ext cx="2194560" cy="164592"/>
          </a:xfrm>
          <a:prstGeom prst="rect">
            <a:avLst/>
          </a:prstGeom>
          <a:noFill/>
        </p:spPr>
        <p:txBody>
          <a:bodyPr wrap="square" anchor="t">
            <a:spAutoFit/>
          </a:bodyPr>
          <a:lstStyle/>
          <a:p>
            <a:pPr algn="ctr">
              <a:defRPr sz="800" b="0">
                <a:solidFill>
                  <a:srgbClr val="F0F4F8"/>
                </a:solidFill>
                <a:latin typeface="Aptos"/>
              </a:defRPr>
            </a:pPr>
            <a:r>
              <a:t>training data, as in the chart</a:t>
            </a:r>
          </a:p>
        </p:txBody>
      </p:sp>
      <p:sp>
        <p:nvSpPr>
          <p:cNvPr id="10" name="Rounded Rectangle 9"/>
          <p:cNvSpPr/>
          <p:nvPr/>
        </p:nvSpPr>
        <p:spPr>
          <a:xfrm>
            <a:off x="9098280" y="31089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08007" y="3246120"/>
            <a:ext cx="2194560" cy="438912"/>
          </a:xfrm>
          <a:prstGeom prst="rect">
            <a:avLst/>
          </a:prstGeom>
          <a:noFill/>
        </p:spPr>
        <p:txBody>
          <a:bodyPr wrap="square" anchor="t">
            <a:spAutoFit/>
          </a:bodyPr>
          <a:lstStyle/>
          <a:p>
            <a:pPr algn="ctr">
              <a:defRPr sz="1800" b="1">
                <a:solidFill>
                  <a:srgbClr val="00B4B4"/>
                </a:solidFill>
                <a:latin typeface="Aptos"/>
              </a:defRPr>
            </a:pPr>
            <a:r>
              <a:t>18,028 / 7,807</a:t>
            </a:r>
          </a:p>
        </p:txBody>
      </p:sp>
      <p:sp>
        <p:nvSpPr>
          <p:cNvPr id="12" name="TextBox 11"/>
          <p:cNvSpPr txBox="1"/>
          <p:nvPr/>
        </p:nvSpPr>
        <p:spPr>
          <a:xfrm>
            <a:off x="9208007" y="3767328"/>
            <a:ext cx="2194560" cy="274320"/>
          </a:xfrm>
          <a:prstGeom prst="rect">
            <a:avLst/>
          </a:prstGeom>
          <a:noFill/>
        </p:spPr>
        <p:txBody>
          <a:bodyPr wrap="square" anchor="t">
            <a:spAutoFit/>
          </a:bodyPr>
          <a:lstStyle/>
          <a:p>
            <a:pPr algn="ctr">
              <a:defRPr sz="1100" b="1">
                <a:solidFill>
                  <a:srgbClr val="FFFFFF"/>
                </a:solidFill>
                <a:latin typeface="Aptos"/>
              </a:defRPr>
            </a:pPr>
            <a:r>
              <a:t>OFFICIAL SPLIT</a:t>
            </a:r>
          </a:p>
        </p:txBody>
      </p:sp>
      <p:sp>
        <p:nvSpPr>
          <p:cNvPr id="13" name="TextBox 12"/>
          <p:cNvSpPr txBox="1"/>
          <p:nvPr/>
        </p:nvSpPr>
        <p:spPr>
          <a:xfrm>
            <a:off x="9208007" y="4078224"/>
            <a:ext cx="2194560" cy="164592"/>
          </a:xfrm>
          <a:prstGeom prst="rect">
            <a:avLst/>
          </a:prstGeom>
          <a:noFill/>
        </p:spPr>
        <p:txBody>
          <a:bodyPr wrap="square" anchor="t">
            <a:spAutoFit/>
          </a:bodyPr>
          <a:lstStyle/>
          <a:p>
            <a:pPr algn="ctr">
              <a:defRPr sz="800" b="0">
                <a:solidFill>
                  <a:srgbClr val="F0F4F8"/>
                </a:solidFill>
                <a:latin typeface="Aptos"/>
              </a:defRPr>
            </a:pPr>
            <a:r>
              <a:t>train / evaluation · NIJ flag</a:t>
            </a:r>
          </a:p>
        </p:txBody>
      </p:sp>
      <p:sp>
        <p:nvSpPr>
          <p:cNvPr id="14" name="Rounded Rectangle 13"/>
          <p:cNvSpPr/>
          <p:nvPr/>
        </p:nvSpPr>
        <p:spPr>
          <a:xfrm>
            <a:off x="9098280" y="457200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08007" y="4709160"/>
            <a:ext cx="2194560" cy="438912"/>
          </a:xfrm>
          <a:prstGeom prst="rect">
            <a:avLst/>
          </a:prstGeom>
          <a:noFill/>
        </p:spPr>
        <p:txBody>
          <a:bodyPr wrap="square" anchor="t">
            <a:spAutoFit/>
          </a:bodyPr>
          <a:lstStyle/>
          <a:p>
            <a:pPr algn="ctr">
              <a:defRPr sz="2000" b="1">
                <a:solidFill>
                  <a:srgbClr val="D64343"/>
                </a:solidFill>
                <a:latin typeface="Aptos"/>
              </a:defRPr>
            </a:pPr>
            <a:r>
              <a:t>100% of women</a:t>
            </a:r>
          </a:p>
        </p:txBody>
      </p:sp>
      <p:sp>
        <p:nvSpPr>
          <p:cNvPr id="16" name="TextBox 15"/>
          <p:cNvSpPr txBox="1"/>
          <p:nvPr/>
        </p:nvSpPr>
        <p:spPr>
          <a:xfrm>
            <a:off x="9208007" y="5230368"/>
            <a:ext cx="2194560" cy="274320"/>
          </a:xfrm>
          <a:prstGeom prst="rect">
            <a:avLst/>
          </a:prstGeom>
          <a:noFill/>
        </p:spPr>
        <p:txBody>
          <a:bodyPr wrap="square" anchor="t">
            <a:spAutoFit/>
          </a:bodyPr>
          <a:lstStyle/>
          <a:p>
            <a:pPr algn="ctr">
              <a:defRPr sz="1100" b="1">
                <a:solidFill>
                  <a:srgbClr val="FFFFFF"/>
                </a:solidFill>
                <a:latin typeface="Aptos"/>
              </a:defRPr>
            </a:pPr>
            <a:r>
              <a:t>GANG FIELD MISSING</a:t>
            </a:r>
          </a:p>
        </p:txBody>
      </p:sp>
      <p:sp>
        <p:nvSpPr>
          <p:cNvPr id="17" name="TextBox 16"/>
          <p:cNvSpPr txBox="1"/>
          <p:nvPr/>
        </p:nvSpPr>
        <p:spPr>
          <a:xfrm>
            <a:off x="9208007" y="5541264"/>
            <a:ext cx="2194560" cy="164592"/>
          </a:xfrm>
          <a:prstGeom prst="rect">
            <a:avLst/>
          </a:prstGeom>
          <a:noFill/>
        </p:spPr>
        <p:txBody>
          <a:bodyPr wrap="square" anchor="t">
            <a:spAutoFit/>
          </a:bodyPr>
          <a:lstStyle/>
          <a:p>
            <a:pPr algn="ctr">
              <a:defRPr sz="800" b="0">
                <a:solidFill>
                  <a:srgbClr val="F0F4F8"/>
                </a:solidFill>
                <a:latin typeface="Aptos"/>
              </a:defRPr>
            </a:pPr>
            <a:r>
              <a:t>and 0% of men → next part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Cumulative 3-year target: not comparable with NIJ's annual leaderboard. The missingness is structured.</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FEATURES · ELIGIBILITY</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Only information known when supervision starts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29768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IN THE MODEL</a:t>
            </a:r>
          </a:p>
        </p:txBody>
      </p:sp>
      <p:sp>
        <p:nvSpPr>
          <p:cNvPr id="7" name="TextBox 6"/>
          <p:cNvSpPr txBox="1"/>
          <p:nvPr/>
        </p:nvSpPr>
        <p:spPr>
          <a:xfrm>
            <a:off x="960119" y="2633472"/>
            <a:ext cx="2880360" cy="3063240"/>
          </a:xfrm>
          <a:prstGeom prst="rect">
            <a:avLst/>
          </a:prstGeom>
          <a:noFill/>
        </p:spPr>
        <p:txBody>
          <a:bodyPr wrap="square" anchor="t">
            <a:spAutoFit/>
          </a:bodyPr>
          <a:lstStyle/>
          <a:p>
            <a:pPr algn="ctr">
              <a:defRPr sz="1500" b="0">
                <a:solidFill>
                  <a:srgbClr val="F0F4F8"/>
                </a:solidFill>
                <a:latin typeface="Aptos"/>
              </a:defRPr>
            </a:pPr>
            <a:r>
              <a:t>29 baseline fields</a:t>
            </a:r>
            <a:br/>
            <a:br/>
            <a:r>
              <a:t>Age, prior arrests and convictions, offence, prison years, supervision level, Georgia's risk score</a:t>
            </a:r>
          </a:p>
        </p:txBody>
      </p:sp>
      <p:sp>
        <p:nvSpPr>
          <p:cNvPr id="8" name="Rounded Rectangle 7"/>
          <p:cNvSpPr/>
          <p:nvPr/>
        </p:nvSpPr>
        <p:spPr>
          <a:xfrm>
            <a:off x="4343400" y="1645920"/>
            <a:ext cx="3520440" cy="429768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7B2CBF"/>
                </a:solidFill>
                <a:latin typeface="Aptos"/>
              </a:defRPr>
            </a:pPr>
            <a:r>
              <a:t>AUDIT ONLY</a:t>
            </a:r>
          </a:p>
        </p:txBody>
      </p:sp>
      <p:sp>
        <p:nvSpPr>
          <p:cNvPr id="10" name="TextBox 9"/>
          <p:cNvSpPr txBox="1"/>
          <p:nvPr/>
        </p:nvSpPr>
        <p:spPr>
          <a:xfrm>
            <a:off x="4663440" y="2633472"/>
            <a:ext cx="2880360" cy="3063240"/>
          </a:xfrm>
          <a:prstGeom prst="rect">
            <a:avLst/>
          </a:prstGeom>
          <a:noFill/>
        </p:spPr>
        <p:txBody>
          <a:bodyPr wrap="square" anchor="t">
            <a:spAutoFit/>
          </a:bodyPr>
          <a:lstStyle/>
          <a:p>
            <a:pPr algn="ctr">
              <a:defRPr sz="1500" b="0">
                <a:solidFill>
                  <a:srgbClr val="F0F4F8"/>
                </a:solidFill>
                <a:latin typeface="Aptos"/>
              </a:defRPr>
            </a:pPr>
            <a:r>
              <a:t>Race, gender, residence (PUMA)</a:t>
            </a:r>
            <a:br/>
            <a:br/>
            <a:r>
              <a:t>Never model inputs — kept to measure who gets support</a:t>
            </a:r>
          </a:p>
        </p:txBody>
      </p:sp>
      <p:sp>
        <p:nvSpPr>
          <p:cNvPr id="11" name="Rounded Rectangle 10"/>
          <p:cNvSpPr/>
          <p:nvPr/>
        </p:nvSpPr>
        <p:spPr>
          <a:xfrm>
            <a:off x="8046720" y="1645920"/>
            <a:ext cx="3520440" cy="429768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D64343"/>
                </a:solidFill>
                <a:latin typeface="Aptos"/>
              </a:defRPr>
            </a:pPr>
            <a:r>
              <a:t>EXCLUDED</a:t>
            </a:r>
          </a:p>
        </p:txBody>
      </p:sp>
      <p:sp>
        <p:nvSpPr>
          <p:cNvPr id="13" name="TextBox 12"/>
          <p:cNvSpPr txBox="1"/>
          <p:nvPr/>
        </p:nvSpPr>
        <p:spPr>
          <a:xfrm>
            <a:off x="8366760" y="2633472"/>
            <a:ext cx="2880360" cy="3063240"/>
          </a:xfrm>
          <a:prstGeom prst="rect">
            <a:avLst/>
          </a:prstGeom>
          <a:noFill/>
        </p:spPr>
        <p:txBody>
          <a:bodyPr wrap="square" anchor="t">
            <a:spAutoFit/>
          </a:bodyPr>
          <a:lstStyle/>
          <a:p>
            <a:pPr algn="ctr">
              <a:defRPr sz="1500" b="0">
                <a:solidFill>
                  <a:srgbClr val="F0F4F8"/>
                </a:solidFill>
                <a:latin typeface="Aptos"/>
              </a:defRPr>
            </a:pPr>
            <a:r>
              <a:t>Everything after release: employment, drug tests, violations</a:t>
            </a:r>
            <a:br/>
            <a:br/>
            <a:r>
              <a:t>Positive control: adding them lifts AUC 0.729 → 0.813 — they leak the outcome</a:t>
            </a:r>
          </a:p>
        </p:txBody>
      </p:sp>
      <p:sp>
        <p:nvSpPr>
          <p:cNvPr id="14" name="TextBox 13"/>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5" name="TextBox 14"/>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FEATURES · LEAKAGE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leak we found: gender was encoded in missingness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roxy_recovery.png"/>
          <p:cNvPicPr>
            <a:picLocks noChangeAspect="1"/>
          </p:cNvPicPr>
          <p:nvPr/>
        </p:nvPicPr>
        <p:blipFill>
          <a:blip r:embed="rId2"/>
          <a:stretch>
            <a:fillRect/>
          </a:stretch>
        </p:blipFill>
        <p:spPr>
          <a:xfrm>
            <a:off x="365760" y="1554480"/>
            <a:ext cx="7680960" cy="2746265"/>
          </a:xfrm>
          <a:prstGeom prst="rect">
            <a:avLst/>
          </a:prstGeom>
        </p:spPr>
      </p:pic>
      <p:sp>
        <p:nvSpPr>
          <p:cNvPr id="6" name="Rounded Rectangle 5"/>
          <p:cNvSpPr/>
          <p:nvPr/>
        </p:nvSpPr>
        <p:spPr>
          <a:xfrm>
            <a:off x="8321040" y="1554480"/>
            <a:ext cx="3474720" cy="448056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828800"/>
            <a:ext cx="3017520" cy="365760"/>
          </a:xfrm>
          <a:prstGeom prst="rect">
            <a:avLst/>
          </a:prstGeom>
          <a:noFill/>
        </p:spPr>
        <p:txBody>
          <a:bodyPr wrap="square" anchor="t">
            <a:spAutoFit/>
          </a:bodyPr>
          <a:lstStyle/>
          <a:p>
            <a:pPr algn="ctr">
              <a:defRPr sz="2000" b="1">
                <a:solidFill>
                  <a:srgbClr val="D64343"/>
                </a:solidFill>
                <a:latin typeface="Aptos"/>
              </a:defRPr>
            </a:pPr>
            <a:r>
              <a:t>WHAT HAPPENED</a:t>
            </a:r>
          </a:p>
        </p:txBody>
      </p:sp>
      <p:sp>
        <p:nvSpPr>
          <p:cNvPr id="8" name="TextBox 7"/>
          <p:cNvSpPr txBox="1"/>
          <p:nvPr/>
        </p:nvSpPr>
        <p:spPr>
          <a:xfrm>
            <a:off x="8641080" y="2542032"/>
            <a:ext cx="2834639" cy="3246120"/>
          </a:xfrm>
          <a:prstGeom prst="rect">
            <a:avLst/>
          </a:prstGeom>
          <a:noFill/>
        </p:spPr>
        <p:txBody>
          <a:bodyPr wrap="square" anchor="t">
            <a:spAutoFit/>
          </a:bodyPr>
          <a:lstStyle/>
          <a:p>
            <a:pPr algn="ctr">
              <a:defRPr sz="1500" b="0">
                <a:solidFill>
                  <a:srgbClr val="F0F4F8"/>
                </a:solidFill>
                <a:latin typeface="Aptos"/>
              </a:defRPr>
            </a:pPr>
            <a:r>
              <a:t>Gang affiliation: missing for every woman, no man</a:t>
            </a:r>
            <a:br/>
            <a:br/>
            <a:r>
              <a:t>Keep missingness → gender recovered at AUC 1.000</a:t>
            </a:r>
            <a:br/>
            <a:br/>
            <a:r>
              <a:t>TabICL treated NaN as a category: it saw gender</a:t>
            </a:r>
            <a:br/>
            <a:br/>
            <a:r>
              <a:t>Fix: mode-fill + regression test. After: AUC 0.78</a:t>
            </a:r>
          </a:p>
        </p:txBody>
      </p:sp>
      <p:sp>
        <p:nvSpPr>
          <p:cNvPr id="9" name="TextBox 8"/>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Excluding an attribute is not removing it: part of it survives in legitimate features. Fairness picks this up.</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DESIGN</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Three model families, each tuned by cross-validation</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1148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LOGISTIC (L1)</a:t>
            </a:r>
          </a:p>
        </p:txBody>
      </p:sp>
      <p:sp>
        <p:nvSpPr>
          <p:cNvPr id="7" name="TextBox 6"/>
          <p:cNvSpPr txBox="1"/>
          <p:nvPr/>
        </p:nvSpPr>
        <p:spPr>
          <a:xfrm>
            <a:off x="960119" y="2633472"/>
            <a:ext cx="2880360" cy="2880360"/>
          </a:xfrm>
          <a:prstGeom prst="rect">
            <a:avLst/>
          </a:prstGeom>
          <a:noFill/>
        </p:spPr>
        <p:txBody>
          <a:bodyPr wrap="square" anchor="t">
            <a:spAutoFit/>
          </a:bodyPr>
          <a:lstStyle/>
          <a:p>
            <a:pPr algn="ctr">
              <a:defRPr sz="1500" b="0">
                <a:solidFill>
                  <a:srgbClr val="F0F4F8"/>
                </a:solidFill>
                <a:latin typeface="Aptos"/>
              </a:defRPr>
            </a:pPr>
            <a:r>
              <a:t>White box</a:t>
            </a:r>
            <a:br/>
            <a:br/>
            <a:r>
              <a:t>One-hot encoding</a:t>
            </a:r>
            <a:br/>
            <a:br/>
            <a:r>
              <a:t>5-fold grid search</a:t>
            </a:r>
            <a:br/>
            <a:r>
              <a:t>C = 0.2154</a:t>
            </a:r>
            <a:br/>
            <a:br/>
            <a:r>
              <a:t>Curve flat for C in [0.05, 1]</a:t>
            </a:r>
          </a:p>
        </p:txBody>
      </p:sp>
      <p:sp>
        <p:nvSpPr>
          <p:cNvPr id="8" name="Rounded Rectangle 7"/>
          <p:cNvSpPr/>
          <p:nvPr/>
        </p:nvSpPr>
        <p:spPr>
          <a:xfrm>
            <a:off x="4343400" y="1645920"/>
            <a:ext cx="3520440" cy="411480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FB8500"/>
                </a:solidFill>
                <a:latin typeface="Aptos"/>
              </a:defRPr>
            </a:pPr>
            <a:r>
              <a:t>XGBOOST</a:t>
            </a:r>
          </a:p>
        </p:txBody>
      </p:sp>
      <p:sp>
        <p:nvSpPr>
          <p:cNvPr id="10" name="TextBox 9"/>
          <p:cNvSpPr txBox="1"/>
          <p:nvPr/>
        </p:nvSpPr>
        <p:spPr>
          <a:xfrm>
            <a:off x="4663440" y="2633472"/>
            <a:ext cx="2880360" cy="2880360"/>
          </a:xfrm>
          <a:prstGeom prst="rect">
            <a:avLst/>
          </a:prstGeom>
          <a:noFill/>
        </p:spPr>
        <p:txBody>
          <a:bodyPr wrap="square" anchor="t">
            <a:spAutoFit/>
          </a:bodyPr>
          <a:lstStyle/>
          <a:p>
            <a:pPr algn="ctr">
              <a:defRPr sz="1500" b="0">
                <a:solidFill>
                  <a:srgbClr val="F0F4F8"/>
                </a:solidFill>
                <a:latin typeface="Aptos"/>
              </a:defRPr>
            </a:pPr>
            <a:r>
              <a:t>Machine learning</a:t>
            </a:r>
            <a:br/>
            <a:br/>
            <a:r>
              <a:t>Ordinal counts</a:t>
            </a:r>
            <a:br/>
            <a:br/>
            <a:r>
              <a:t>5-fold random search, 60 draws</a:t>
            </a:r>
            <a:br/>
            <a:br/>
            <a:r>
              <a:t>Deeper trees overfit: rejected</a:t>
            </a:r>
          </a:p>
        </p:txBody>
      </p:sp>
      <p:sp>
        <p:nvSpPr>
          <p:cNvPr id="11" name="Rounded Rectangle 10"/>
          <p:cNvSpPr/>
          <p:nvPr/>
        </p:nvSpPr>
        <p:spPr>
          <a:xfrm>
            <a:off x="8046720" y="1645920"/>
            <a:ext cx="3520440" cy="4114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7B2CBF"/>
                </a:solidFill>
                <a:latin typeface="Aptos"/>
              </a:defRPr>
            </a:pPr>
            <a:r>
              <a:t>TABICLv2</a:t>
            </a:r>
          </a:p>
        </p:txBody>
      </p:sp>
      <p:sp>
        <p:nvSpPr>
          <p:cNvPr id="13" name="TextBox 12"/>
          <p:cNvSpPr txBox="1"/>
          <p:nvPr/>
        </p:nvSpPr>
        <p:spPr>
          <a:xfrm>
            <a:off x="8366760" y="2633472"/>
            <a:ext cx="2880360" cy="2880360"/>
          </a:xfrm>
          <a:prstGeom prst="rect">
            <a:avLst/>
          </a:prstGeom>
          <a:noFill/>
        </p:spPr>
        <p:txBody>
          <a:bodyPr wrap="square" anchor="t">
            <a:spAutoFit/>
          </a:bodyPr>
          <a:lstStyle/>
          <a:p>
            <a:pPr algn="ctr">
              <a:defRPr sz="1500" b="0">
                <a:solidFill>
                  <a:srgbClr val="F0F4F8"/>
                </a:solidFill>
                <a:latin typeface="Aptos"/>
              </a:defRPr>
            </a:pPr>
            <a:r>
              <a:t>Foundation model</a:t>
            </a:r>
            <a:br/>
            <a:br/>
            <a:r>
              <a:t>Mixed types, mode-filled</a:t>
            </a:r>
            <a:br/>
            <a:br/>
            <a:r>
              <a:t>16-member ensemble</a:t>
            </a:r>
            <a:br/>
            <a:br/>
            <a:r>
              <a:t>Gains level off near 8</a:t>
            </a:r>
          </a:p>
        </p:txBody>
      </p:sp>
      <p:sp>
        <p:nvSpPr>
          <p:cNvPr id="14" name="TextBox 13"/>
          <p:cNvSpPr txBox="1"/>
          <p:nvPr/>
        </p:nvSpPr>
        <p:spPr>
          <a:xfrm>
            <a:off x="914400" y="6053328"/>
            <a:ext cx="10058400" cy="274320"/>
          </a:xfrm>
          <a:prstGeom prst="rect">
            <a:avLst/>
          </a:prstGeom>
          <a:noFill/>
        </p:spPr>
        <p:txBody>
          <a:bodyPr wrap="square" anchor="t">
            <a:spAutoFit/>
          </a:bodyPr>
          <a:lstStyle/>
          <a:p>
            <a:pPr algn="ctr">
              <a:defRPr sz="1300" b="1">
                <a:solidFill>
                  <a:srgbClr val="FB8500"/>
                </a:solidFill>
                <a:latin typeface="Aptos"/>
              </a:defRPr>
            </a:pPr>
            <a:r>
              <a:t>5 other ML candidates (CatBoost, LightGBM, EBM, …) all land at test AUC 0.729–0.733.</a:t>
            </a:r>
          </a:p>
        </p:txBody>
      </p:sp>
      <p:sp>
        <p:nvSpPr>
          <p:cNvPr id="15" name="TextBox 14"/>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6" name="TextBox 15"/>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PERFORMANCE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Statistical performance: effectively a tie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formance_benchmark.png"/>
          <p:cNvPicPr>
            <a:picLocks noChangeAspect="1"/>
          </p:cNvPicPr>
          <p:nvPr/>
        </p:nvPicPr>
        <p:blipFill>
          <a:blip r:embed="rId2"/>
          <a:stretch>
            <a:fillRect/>
          </a:stretch>
        </p:blipFill>
        <p:spPr>
          <a:xfrm>
            <a:off x="411480" y="1572768"/>
            <a:ext cx="7818120" cy="3075072"/>
          </a:xfrm>
          <a:prstGeom prst="rect">
            <a:avLst/>
          </a:prstGeom>
        </p:spPr>
      </p:pic>
      <p:sp>
        <p:nvSpPr>
          <p:cNvPr id="6" name="TextBox 5"/>
          <p:cNvSpPr txBox="1"/>
          <p:nvPr/>
        </p:nvSpPr>
        <p:spPr>
          <a:xfrm>
            <a:off x="548640" y="4846320"/>
            <a:ext cx="7589520" cy="1188720"/>
          </a:xfrm>
          <a:prstGeom prst="rect">
            <a:avLst/>
          </a:prstGeom>
          <a:noFill/>
        </p:spPr>
        <p:txBody>
          <a:bodyPr wrap="square" anchor="t">
            <a:spAutoFit/>
          </a:bodyPr>
          <a:lstStyle/>
          <a:p>
            <a:pPr algn="l">
              <a:defRPr sz="1300" b="0">
                <a:solidFill>
                  <a:srgbClr val="F0F4F8"/>
                </a:solidFill>
                <a:latin typeface="Aptos"/>
              </a:defRPr>
            </a:pPr>
            <a:r>
              <a:t>Brier = mean of (predicted probability − outcome)², lower is better: it scores the probability itself, and it is the accuracy score NIJ used for this challenge. Predicting the 58% base rate for everyone gives 0.245. Brier also rewards calibration (a predicted 70% should mean 70% re-arrested): logistic and XGBoost pass (Cox slope 1.00 / 1.00); TabICL's probabilities are slightly too extreme (0.91).</a:t>
            </a:r>
          </a:p>
        </p:txBody>
      </p:sp>
      <p:sp>
        <p:nvSpPr>
          <p:cNvPr id="7" name="Rounded Rectangle 6"/>
          <p:cNvSpPr/>
          <p:nvPr/>
        </p:nvSpPr>
        <p:spPr>
          <a:xfrm>
            <a:off x="845820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874519"/>
            <a:ext cx="2194560" cy="438912"/>
          </a:xfrm>
          <a:prstGeom prst="rect">
            <a:avLst/>
          </a:prstGeom>
          <a:noFill/>
        </p:spPr>
        <p:txBody>
          <a:bodyPr wrap="square" anchor="t">
            <a:spAutoFit/>
          </a:bodyPr>
          <a:lstStyle/>
          <a:p>
            <a:pPr algn="ctr">
              <a:defRPr sz="1500" b="1">
                <a:solidFill>
                  <a:srgbClr val="FB8500"/>
                </a:solidFill>
                <a:latin typeface="Aptos"/>
              </a:defRPr>
            </a:pPr>
            <a:r>
              <a:t>0.730 / 0.732 / 0.733</a:t>
            </a:r>
          </a:p>
        </p:txBody>
      </p:sp>
      <p:sp>
        <p:nvSpPr>
          <p:cNvPr id="9" name="TextBox 8"/>
          <p:cNvSpPr txBox="1"/>
          <p:nvPr/>
        </p:nvSpPr>
        <p:spPr>
          <a:xfrm>
            <a:off x="8567928" y="2395728"/>
            <a:ext cx="2194560" cy="274320"/>
          </a:xfrm>
          <a:prstGeom prst="rect">
            <a:avLst/>
          </a:prstGeom>
          <a:noFill/>
        </p:spPr>
        <p:txBody>
          <a:bodyPr wrap="square" anchor="t">
            <a:spAutoFit/>
          </a:bodyPr>
          <a:lstStyle/>
          <a:p>
            <a:pPr algn="ctr">
              <a:defRPr sz="1100" b="1">
                <a:solidFill>
                  <a:srgbClr val="FFFFFF"/>
                </a:solidFill>
                <a:latin typeface="Aptos"/>
              </a:defRPr>
            </a:pPr>
            <a:r>
              <a:t>AUC</a:t>
            </a:r>
          </a:p>
        </p:txBody>
      </p:sp>
      <p:sp>
        <p:nvSpPr>
          <p:cNvPr id="10" name="TextBox 9"/>
          <p:cNvSpPr txBox="1"/>
          <p:nvPr/>
        </p:nvSpPr>
        <p:spPr>
          <a:xfrm>
            <a:off x="8567928" y="2706624"/>
            <a:ext cx="2194560" cy="164592"/>
          </a:xfrm>
          <a:prstGeom prst="rect">
            <a:avLst/>
          </a:prstGeom>
          <a:noFill/>
        </p:spPr>
        <p:txBody>
          <a:bodyPr wrap="square" anchor="t">
            <a:spAutoFit/>
          </a:bodyPr>
          <a:lstStyle/>
          <a:p>
            <a:pPr algn="ctr">
              <a:defRPr sz="800" b="0">
                <a:solidFill>
                  <a:srgbClr val="F0F4F8"/>
                </a:solidFill>
                <a:latin typeface="Aptos"/>
              </a:defRPr>
            </a:pPr>
            <a:r>
              <a:t>'excellent' band (≥ .71) for US tools</a:t>
            </a:r>
          </a:p>
        </p:txBody>
      </p:sp>
      <p:sp>
        <p:nvSpPr>
          <p:cNvPr id="11" name="Rounded Rectangle 10"/>
          <p:cNvSpPr/>
          <p:nvPr/>
        </p:nvSpPr>
        <p:spPr>
          <a:xfrm>
            <a:off x="845820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67928" y="3337560"/>
            <a:ext cx="2194560" cy="438912"/>
          </a:xfrm>
          <a:prstGeom prst="rect">
            <a:avLst/>
          </a:prstGeom>
          <a:noFill/>
        </p:spPr>
        <p:txBody>
          <a:bodyPr wrap="square" anchor="t">
            <a:spAutoFit/>
          </a:bodyPr>
          <a:lstStyle/>
          <a:p>
            <a:pPr algn="ctr">
              <a:defRPr sz="2400" b="1">
                <a:solidFill>
                  <a:srgbClr val="00B4B4"/>
                </a:solidFill>
                <a:latin typeface="Aptos"/>
              </a:defRPr>
            </a:pPr>
            <a:r>
              <a:t>+0.0025</a:t>
            </a:r>
          </a:p>
        </p:txBody>
      </p:sp>
      <p:sp>
        <p:nvSpPr>
          <p:cNvPr id="13" name="TextBox 12"/>
          <p:cNvSpPr txBox="1"/>
          <p:nvPr/>
        </p:nvSpPr>
        <p:spPr>
          <a:xfrm>
            <a:off x="8567928" y="3858768"/>
            <a:ext cx="2194560" cy="274320"/>
          </a:xfrm>
          <a:prstGeom prst="rect">
            <a:avLst/>
          </a:prstGeom>
          <a:noFill/>
        </p:spPr>
        <p:txBody>
          <a:bodyPr wrap="square" anchor="t">
            <a:spAutoFit/>
          </a:bodyPr>
          <a:lstStyle/>
          <a:p>
            <a:pPr algn="ctr">
              <a:defRPr sz="1100" b="1">
                <a:solidFill>
                  <a:srgbClr val="FFFFFF"/>
                </a:solidFill>
                <a:latin typeface="Aptos"/>
              </a:defRPr>
            </a:pPr>
            <a:r>
              <a:t>AUC GAP · XGB − LOGIT</a:t>
            </a:r>
          </a:p>
        </p:txBody>
      </p:sp>
      <p:sp>
        <p:nvSpPr>
          <p:cNvPr id="14" name="TextBox 13"/>
          <p:cNvSpPr txBox="1"/>
          <p:nvPr/>
        </p:nvSpPr>
        <p:spPr>
          <a:xfrm>
            <a:off x="8567928" y="4169664"/>
            <a:ext cx="2194560" cy="164592"/>
          </a:xfrm>
          <a:prstGeom prst="rect">
            <a:avLst/>
          </a:prstGeom>
          <a:noFill/>
        </p:spPr>
        <p:txBody>
          <a:bodyPr wrap="square" anchor="t">
            <a:spAutoFit/>
          </a:bodyPr>
          <a:lstStyle/>
          <a:p>
            <a:pPr algn="ctr">
              <a:defRPr sz="800" b="0">
                <a:solidFill>
                  <a:srgbClr val="F0F4F8"/>
                </a:solidFill>
                <a:latin typeface="Aptos"/>
              </a:defRPr>
            </a:pPr>
            <a:r>
              <a:t>paired bootstrap: real, but small</a:t>
            </a:r>
          </a:p>
        </p:txBody>
      </p:sp>
      <p:sp>
        <p:nvSpPr>
          <p:cNvPr id="15" name="Rounded Rectangle 14"/>
          <p:cNvSpPr/>
          <p:nvPr/>
        </p:nvSpPr>
        <p:spPr>
          <a:xfrm>
            <a:off x="8458200" y="4663440"/>
            <a:ext cx="2423160" cy="1261872"/>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67928" y="4800600"/>
            <a:ext cx="2194560" cy="438912"/>
          </a:xfrm>
          <a:prstGeom prst="rect">
            <a:avLst/>
          </a:prstGeom>
          <a:noFill/>
        </p:spPr>
        <p:txBody>
          <a:bodyPr wrap="square" anchor="t">
            <a:spAutoFit/>
          </a:bodyPr>
          <a:lstStyle/>
          <a:p>
            <a:pPr algn="ctr">
              <a:defRPr sz="1600" b="1">
                <a:solidFill>
                  <a:srgbClr val="7B2CBF"/>
                </a:solidFill>
                <a:latin typeface="Aptos"/>
              </a:defRPr>
            </a:pPr>
            <a:r>
              <a:t>0.205 / 0.204 / 0.204</a:t>
            </a:r>
          </a:p>
        </p:txBody>
      </p:sp>
      <p:sp>
        <p:nvSpPr>
          <p:cNvPr id="17" name="TextBox 16"/>
          <p:cNvSpPr txBox="1"/>
          <p:nvPr/>
        </p:nvSpPr>
        <p:spPr>
          <a:xfrm>
            <a:off x="8567928" y="5321807"/>
            <a:ext cx="2194560" cy="274320"/>
          </a:xfrm>
          <a:prstGeom prst="rect">
            <a:avLst/>
          </a:prstGeom>
          <a:noFill/>
        </p:spPr>
        <p:txBody>
          <a:bodyPr wrap="square" anchor="t">
            <a:spAutoFit/>
          </a:bodyPr>
          <a:lstStyle/>
          <a:p>
            <a:pPr algn="ctr">
              <a:defRPr sz="1100" b="1">
                <a:solidFill>
                  <a:srgbClr val="FFFFFF"/>
                </a:solidFill>
                <a:latin typeface="Aptos"/>
              </a:defRPr>
            </a:pPr>
            <a:r>
              <a:t>BRIER LOSS</a:t>
            </a:r>
          </a:p>
        </p:txBody>
      </p:sp>
      <p:sp>
        <p:nvSpPr>
          <p:cNvPr id="18" name="TextBox 17"/>
          <p:cNvSpPr txBox="1"/>
          <p:nvPr/>
        </p:nvSpPr>
        <p:spPr>
          <a:xfrm>
            <a:off x="8567928" y="5632704"/>
            <a:ext cx="2194560" cy="164592"/>
          </a:xfrm>
          <a:prstGeom prst="rect">
            <a:avLst/>
          </a:prstGeom>
          <a:noFill/>
        </p:spPr>
        <p:txBody>
          <a:bodyPr wrap="square" anchor="t">
            <a:spAutoFit/>
          </a:bodyPr>
          <a:lstStyle/>
          <a:p>
            <a:pPr algn="ctr">
              <a:defRPr sz="800" b="0">
                <a:solidFill>
                  <a:srgbClr val="F0F4F8"/>
                </a:solidFill>
                <a:latin typeface="Aptos"/>
              </a:defRPr>
            </a:pPr>
            <a:r>
              <a:t>16% better than the base-rate forecast</a:t>
            </a:r>
          </a:p>
        </p:txBody>
      </p:sp>
      <p:sp>
        <p:nvSpPr>
          <p:cNvPr id="19" name="TextBox 18"/>
          <p:cNvSpPr txBox="1"/>
          <p:nvPr/>
        </p:nvSpPr>
        <p:spPr>
          <a:xfrm>
            <a:off x="914400" y="6263640"/>
            <a:ext cx="10058400" cy="274320"/>
          </a:xfrm>
          <a:prstGeom prst="rect">
            <a:avLst/>
          </a:prstGeom>
          <a:noFill/>
        </p:spPr>
        <p:txBody>
          <a:bodyPr wrap="square" anchor="t">
            <a:spAutoFit/>
          </a:bodyPr>
          <a:lstStyle/>
          <a:p>
            <a:pPr algn="ctr">
              <a:defRPr sz="1100" b="1">
                <a:solidFill>
                  <a:srgbClr val="828FA0"/>
                </a:solidFill>
                <a:latin typeface="Aptos"/>
              </a:defRPr>
            </a:pPr>
            <a:r>
              <a:t>All three within ~0.003 AUC and ~0.001 Brier. Performance alone cannot pick the model.</a:t>
            </a:r>
          </a:p>
        </p:txBody>
      </p:sp>
      <p:sp>
        <p:nvSpPr>
          <p:cNvPr id="20" name="TextBox 1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1" name="TextBox 2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ECONOMIC VALUE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client's real question: better than today's score, in dollars?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3657600" cy="233172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28800"/>
            <a:ext cx="3200400" cy="365760"/>
          </a:xfrm>
          <a:prstGeom prst="rect">
            <a:avLst/>
          </a:prstGeom>
          <a:noFill/>
        </p:spPr>
        <p:txBody>
          <a:bodyPr wrap="square" anchor="t">
            <a:spAutoFit/>
          </a:bodyPr>
          <a:lstStyle/>
          <a:p>
            <a:pPr algn="ctr">
              <a:defRPr sz="2000" b="1">
                <a:solidFill>
                  <a:srgbClr val="7B2CBF"/>
                </a:solidFill>
                <a:latin typeface="Aptos"/>
              </a:defRPr>
            </a:pPr>
            <a:r>
              <a:t>SCENARIO (ASSUMED)</a:t>
            </a:r>
          </a:p>
        </p:txBody>
      </p:sp>
      <p:sp>
        <p:nvSpPr>
          <p:cNvPr id="7" name="TextBox 6"/>
          <p:cNvSpPr txBox="1"/>
          <p:nvPr/>
        </p:nvSpPr>
        <p:spPr>
          <a:xfrm>
            <a:off x="960119" y="2542032"/>
            <a:ext cx="3017520" cy="1097279"/>
          </a:xfrm>
          <a:prstGeom prst="rect">
            <a:avLst/>
          </a:prstGeom>
          <a:noFill/>
        </p:spPr>
        <p:txBody>
          <a:bodyPr wrap="square" anchor="t">
            <a:spAutoFit/>
          </a:bodyPr>
          <a:lstStyle/>
          <a:p>
            <a:pPr algn="ctr">
              <a:defRPr sz="1500" b="0">
                <a:solidFill>
                  <a:srgbClr val="F0F4F8"/>
                </a:solidFill>
                <a:latin typeface="Aptos"/>
              </a:defRPr>
            </a:pPr>
            <a:r>
              <a:t>20% capacity = 1,561 offers</a:t>
            </a:r>
            <a:br/>
            <a:r>
              <a:t>Support costs $5,000 per person</a:t>
            </a:r>
            <a:br/>
            <a:r>
              <a:t>A re-arrest costs $50,000</a:t>
            </a:r>
            <a:br/>
            <a:r>
              <a:t>Support prevents 20% of re-arrests</a:t>
            </a:r>
          </a:p>
        </p:txBody>
      </p:sp>
      <p:sp>
        <p:nvSpPr>
          <p:cNvPr id="8" name="Rounded Rectangle 7"/>
          <p:cNvSpPr/>
          <p:nvPr/>
        </p:nvSpPr>
        <p:spPr>
          <a:xfrm>
            <a:off x="4480560" y="1554480"/>
            <a:ext cx="7086600" cy="233172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09160" y="1828800"/>
            <a:ext cx="6629400" cy="365760"/>
          </a:xfrm>
          <a:prstGeom prst="rect">
            <a:avLst/>
          </a:prstGeom>
          <a:noFill/>
        </p:spPr>
        <p:txBody>
          <a:bodyPr wrap="square" anchor="t">
            <a:spAutoFit/>
          </a:bodyPr>
          <a:lstStyle/>
          <a:p>
            <a:pPr algn="ctr">
              <a:defRPr sz="2000" b="1">
                <a:solidFill>
                  <a:srgbClr val="FB8500"/>
                </a:solidFill>
                <a:latin typeface="Aptos"/>
              </a:defRPr>
            </a:pPr>
            <a:r>
              <a:t>NET VALUE</a:t>
            </a:r>
          </a:p>
        </p:txBody>
      </p:sp>
      <p:sp>
        <p:nvSpPr>
          <p:cNvPr id="10" name="TextBox 9"/>
          <p:cNvSpPr txBox="1"/>
          <p:nvPr/>
        </p:nvSpPr>
        <p:spPr>
          <a:xfrm>
            <a:off x="4800600" y="2542032"/>
            <a:ext cx="6446520" cy="1097279"/>
          </a:xfrm>
          <a:prstGeom prst="rect">
            <a:avLst/>
          </a:prstGeom>
          <a:noFill/>
        </p:spPr>
        <p:txBody>
          <a:bodyPr wrap="square" anchor="t">
            <a:spAutoFit/>
          </a:bodyPr>
          <a:lstStyle/>
          <a:p>
            <a:pPr algn="ctr">
              <a:defRPr sz="1600" b="0">
                <a:solidFill>
                  <a:srgbClr val="F0F4F8"/>
                </a:solidFill>
                <a:latin typeface="Aptos"/>
              </a:defRPr>
            </a:pPr>
            <a:r>
              <a:t>re-arrested among offers × $50,000 × 20%   −   offers × $5,000</a:t>
            </a:r>
            <a:br/>
            <a:br/>
            <a:r>
              <a:t>Logistic:  1,285 × $10,000  −  1,561 × $5,000  =  $5.045M</a:t>
            </a:r>
            <a:br/>
            <a:br/>
            <a:r>
              <a:t>Same cost for every ranking: only precision differs</a:t>
            </a:r>
          </a:p>
        </p:txBody>
      </p:sp>
      <p:graphicFrame>
        <p:nvGraphicFramePr>
          <p:cNvPr id="11" name="Table 10"/>
          <p:cNvGraphicFramePr>
            <a:graphicFrameLocks noGrp="1"/>
          </p:cNvGraphicFramePr>
          <p:nvPr/>
        </p:nvGraphicFramePr>
        <p:xfrm>
          <a:off x="640080" y="4069080"/>
          <a:ext cx="7726680" cy="1975104"/>
        </p:xfrm>
        <a:graphic>
          <a:graphicData uri="http://schemas.openxmlformats.org/drawingml/2006/table">
            <a:tbl>
              <a:tblPr firstRow="1" bandRow="1">
                <a:tableStyleId>{5C22544A-7EE6-4342-B048-85BDC9FD1C3A}</a:tableStyleId>
              </a:tblPr>
              <a:tblGrid>
                <a:gridCol w="2606040"/>
                <a:gridCol w="822960"/>
                <a:gridCol w="1920240"/>
                <a:gridCol w="1143000"/>
                <a:gridCol w="1234440"/>
              </a:tblGrid>
              <a:tr h="329184">
                <a:tc>
                  <a:txBody>
                    <a:bodyPr/>
                    <a:lstStyle/>
                    <a:p>
                      <a:pPr algn="l">
                        <a:defRPr sz="1300" b="1">
                          <a:solidFill>
                            <a:srgbClr val="0A1F44"/>
                          </a:solidFill>
                          <a:latin typeface="Aptos"/>
                        </a:defRPr>
                      </a:pPr>
                      <a:r>
                        <a:t>Ranking</a:t>
                      </a:r>
                    </a:p>
                  </a:txBody>
                  <a:tcPr anchor="ctr">
                    <a:solidFill>
                      <a:srgbClr val="FB8500"/>
                    </a:solidFill>
                  </a:tcPr>
                </a:tc>
                <a:tc>
                  <a:txBody>
                    <a:bodyPr/>
                    <a:lstStyle/>
                    <a:p>
                      <a:pPr algn="r">
                        <a:defRPr sz="1300" b="1">
                          <a:solidFill>
                            <a:srgbClr val="0A1F44"/>
                          </a:solidFill>
                          <a:latin typeface="Aptos"/>
                        </a:defRPr>
                      </a:pPr>
                      <a:r>
                        <a:t>AUC</a:t>
                      </a:r>
                    </a:p>
                  </a:txBody>
                  <a:tcPr anchor="ctr">
                    <a:solidFill>
                      <a:srgbClr val="FB8500"/>
                    </a:solidFill>
                  </a:tcPr>
                </a:tc>
                <a:tc>
                  <a:txBody>
                    <a:bodyPr/>
                    <a:lstStyle/>
                    <a:p>
                      <a:pPr algn="r">
                        <a:defRPr sz="1300" b="1">
                          <a:solidFill>
                            <a:srgbClr val="0A1F44"/>
                          </a:solidFill>
                          <a:latin typeface="Aptos"/>
                        </a:defRPr>
                      </a:pPr>
                      <a:r>
                        <a:t>Re-arrested / offers</a:t>
                      </a:r>
                    </a:p>
                  </a:txBody>
                  <a:tcPr anchor="ctr">
                    <a:solidFill>
                      <a:srgbClr val="FB8500"/>
                    </a:solidFill>
                  </a:tcPr>
                </a:tc>
                <a:tc>
                  <a:txBody>
                    <a:bodyPr/>
                    <a:lstStyle/>
                    <a:p>
                      <a:pPr algn="r">
                        <a:defRPr sz="1300" b="1">
                          <a:solidFill>
                            <a:srgbClr val="0A1F44"/>
                          </a:solidFill>
                          <a:latin typeface="Aptos"/>
                        </a:defRPr>
                      </a:pPr>
                      <a:r>
                        <a:t>Precision</a:t>
                      </a:r>
                    </a:p>
                  </a:txBody>
                  <a:tcPr anchor="ctr">
                    <a:solidFill>
                      <a:srgbClr val="FB8500"/>
                    </a:solidFill>
                  </a:tcPr>
                </a:tc>
                <a:tc>
                  <a:txBody>
                    <a:bodyPr/>
                    <a:lstStyle/>
                    <a:p>
                      <a:pPr algn="r">
                        <a:defRPr sz="1300" b="1">
                          <a:solidFill>
                            <a:srgbClr val="0A1F44"/>
                          </a:solidFill>
                          <a:latin typeface="Aptos"/>
                        </a:defRPr>
                      </a:pPr>
                      <a:r>
                        <a:t>Net value</a:t>
                      </a:r>
                    </a:p>
                  </a:txBody>
                  <a:tcPr anchor="ctr">
                    <a:solidFill>
                      <a:srgbClr val="FB8500"/>
                    </a:solidFill>
                  </a:tcPr>
                </a:tc>
              </a:tr>
              <a:tr h="329184">
                <a:tc>
                  <a:txBody>
                    <a:bodyPr/>
                    <a:lstStyle/>
                    <a:p>
                      <a:pPr algn="l">
                        <a:defRPr sz="1300" b="0">
                          <a:solidFill>
                            <a:srgbClr val="FFFFFF"/>
                          </a:solidFill>
                          <a:latin typeface="Aptos"/>
                        </a:defRPr>
                      </a:pPr>
                      <a:r>
                        <a:t>Random</a:t>
                      </a:r>
                    </a:p>
                  </a:txBody>
                  <a:tcPr anchor="ctr">
                    <a:solidFill>
                      <a:srgbClr val="143058"/>
                    </a:solidFill>
                  </a:tcPr>
                </a:tc>
                <a:tc>
                  <a:txBody>
                    <a:bodyPr/>
                    <a:lstStyle/>
                    <a:p>
                      <a:pPr algn="r">
                        <a:defRPr sz="1300" b="0">
                          <a:solidFill>
                            <a:srgbClr val="FFFFFF"/>
                          </a:solidFill>
                          <a:latin typeface="Aptos"/>
                        </a:defRPr>
                      </a:pPr>
                      <a:r>
                        <a:t>0.51</a:t>
                      </a:r>
                    </a:p>
                  </a:txBody>
                  <a:tcPr anchor="ctr">
                    <a:solidFill>
                      <a:srgbClr val="143058"/>
                    </a:solidFill>
                  </a:tcPr>
                </a:tc>
                <a:tc>
                  <a:txBody>
                    <a:bodyPr/>
                    <a:lstStyle/>
                    <a:p>
                      <a:pPr algn="r">
                        <a:defRPr sz="1300" b="0">
                          <a:solidFill>
                            <a:srgbClr val="FFFFFF"/>
                          </a:solidFill>
                          <a:latin typeface="Aptos"/>
                        </a:defRPr>
                      </a:pPr>
                      <a:r>
                        <a:t>926 / 1,561</a:t>
                      </a:r>
                    </a:p>
                  </a:txBody>
                  <a:tcPr anchor="ctr">
                    <a:solidFill>
                      <a:srgbClr val="143058"/>
                    </a:solidFill>
                  </a:tcPr>
                </a:tc>
                <a:tc>
                  <a:txBody>
                    <a:bodyPr/>
                    <a:lstStyle/>
                    <a:p>
                      <a:pPr algn="r">
                        <a:defRPr sz="1300" b="0">
                          <a:solidFill>
                            <a:srgbClr val="FFFFFF"/>
                          </a:solidFill>
                          <a:latin typeface="Aptos"/>
                        </a:defRPr>
                      </a:pPr>
                      <a:r>
                        <a:t>0.59</a:t>
                      </a:r>
                    </a:p>
                  </a:txBody>
                  <a:tcPr anchor="ctr">
                    <a:solidFill>
                      <a:srgbClr val="143058"/>
                    </a:solidFill>
                  </a:tcPr>
                </a:tc>
                <a:tc>
                  <a:txBody>
                    <a:bodyPr/>
                    <a:lstStyle/>
                    <a:p>
                      <a:pPr algn="r">
                        <a:defRPr sz="1300" b="0">
                          <a:solidFill>
                            <a:srgbClr val="FFFFFF"/>
                          </a:solidFill>
                          <a:latin typeface="Aptos"/>
                        </a:defRPr>
                      </a:pPr>
                      <a:r>
                        <a:t>$1.455M</a:t>
                      </a:r>
                    </a:p>
                  </a:txBody>
                  <a:tcPr anchor="ctr">
                    <a:solidFill>
                      <a:srgbClr val="143058"/>
                    </a:solidFill>
                  </a:tcPr>
                </a:tc>
              </a:tr>
              <a:tr h="329184">
                <a:tc>
                  <a:txBody>
                    <a:bodyPr/>
                    <a:lstStyle/>
                    <a:p>
                      <a:pPr algn="l">
                        <a:defRPr sz="1300" b="0">
                          <a:solidFill>
                            <a:srgbClr val="FFFFFF"/>
                          </a:solidFill>
                          <a:latin typeface="Aptos"/>
                        </a:defRPr>
                      </a:pPr>
                      <a:r>
                        <a:t>Historical Georgia score</a:t>
                      </a:r>
                    </a:p>
                  </a:txBody>
                  <a:tcPr anchor="ctr">
                    <a:solidFill>
                      <a:srgbClr val="143058"/>
                    </a:solidFill>
                  </a:tcPr>
                </a:tc>
                <a:tc>
                  <a:txBody>
                    <a:bodyPr/>
                    <a:lstStyle/>
                    <a:p>
                      <a:pPr algn="r">
                        <a:defRPr sz="1300" b="0">
                          <a:solidFill>
                            <a:srgbClr val="FFFFFF"/>
                          </a:solidFill>
                          <a:latin typeface="Aptos"/>
                        </a:defRPr>
                      </a:pPr>
                      <a:r>
                        <a:t>0.60</a:t>
                      </a:r>
                    </a:p>
                  </a:txBody>
                  <a:tcPr anchor="ctr">
                    <a:solidFill>
                      <a:srgbClr val="143058"/>
                    </a:solidFill>
                  </a:tcPr>
                </a:tc>
                <a:tc>
                  <a:txBody>
                    <a:bodyPr/>
                    <a:lstStyle/>
                    <a:p>
                      <a:pPr algn="r">
                        <a:defRPr sz="1300" b="0">
                          <a:solidFill>
                            <a:srgbClr val="FFFFFF"/>
                          </a:solidFill>
                          <a:latin typeface="Aptos"/>
                        </a:defRPr>
                      </a:pPr>
                      <a:r>
                        <a:t>1,053 / 1,561</a:t>
                      </a:r>
                    </a:p>
                  </a:txBody>
                  <a:tcPr anchor="ctr">
                    <a:solidFill>
                      <a:srgbClr val="143058"/>
                    </a:solidFill>
                  </a:tcPr>
                </a:tc>
                <a:tc>
                  <a:txBody>
                    <a:bodyPr/>
                    <a:lstStyle/>
                    <a:p>
                      <a:pPr algn="r">
                        <a:defRPr sz="1300" b="0">
                          <a:solidFill>
                            <a:srgbClr val="FFFFFF"/>
                          </a:solidFill>
                          <a:latin typeface="Aptos"/>
                        </a:defRPr>
                      </a:pPr>
                      <a:r>
                        <a:t>0.67</a:t>
                      </a:r>
                    </a:p>
                  </a:txBody>
                  <a:tcPr anchor="ctr">
                    <a:solidFill>
                      <a:srgbClr val="143058"/>
                    </a:solidFill>
                  </a:tcPr>
                </a:tc>
                <a:tc>
                  <a:txBody>
                    <a:bodyPr/>
                    <a:lstStyle/>
                    <a:p>
                      <a:pPr algn="r">
                        <a:defRPr sz="1300" b="0">
                          <a:solidFill>
                            <a:srgbClr val="FFFFFF"/>
                          </a:solidFill>
                          <a:latin typeface="Aptos"/>
                        </a:defRPr>
                      </a:pPr>
                      <a:r>
                        <a:t>$2.725M</a:t>
                      </a:r>
                    </a:p>
                  </a:txBody>
                  <a:tcPr anchor="ctr">
                    <a:solidFill>
                      <a:srgbClr val="143058"/>
                    </a:solidFill>
                  </a:tcPr>
                </a:tc>
              </a:tr>
              <a:tr h="329184">
                <a:tc>
                  <a:txBody>
                    <a:bodyPr/>
                    <a:lstStyle/>
                    <a:p>
                      <a:pPr algn="l">
                        <a:defRPr sz="1300" b="1">
                          <a:solidFill>
                            <a:srgbClr val="00B4B4"/>
                          </a:solidFill>
                          <a:latin typeface="Aptos"/>
                        </a:defRPr>
                      </a:pPr>
                      <a:r>
                        <a:t>Logistic</a:t>
                      </a:r>
                    </a:p>
                  </a:txBody>
                  <a:tcPr anchor="ctr">
                    <a:solidFill>
                      <a:srgbClr val="143058"/>
                    </a:solidFill>
                  </a:tcPr>
                </a:tc>
                <a:tc>
                  <a:txBody>
                    <a:bodyPr/>
                    <a:lstStyle/>
                    <a:p>
                      <a:pPr algn="r">
                        <a:defRPr sz="1300" b="1">
                          <a:solidFill>
                            <a:srgbClr val="00B4B4"/>
                          </a:solidFill>
                          <a:latin typeface="Aptos"/>
                        </a:defRPr>
                      </a:pPr>
                      <a:r>
                        <a:t>0.73</a:t>
                      </a:r>
                    </a:p>
                  </a:txBody>
                  <a:tcPr anchor="ctr">
                    <a:solidFill>
                      <a:srgbClr val="143058"/>
                    </a:solidFill>
                  </a:tcPr>
                </a:tc>
                <a:tc>
                  <a:txBody>
                    <a:bodyPr/>
                    <a:lstStyle/>
                    <a:p>
                      <a:pPr algn="r">
                        <a:defRPr sz="1300" b="1">
                          <a:solidFill>
                            <a:srgbClr val="00B4B4"/>
                          </a:solidFill>
                          <a:latin typeface="Aptos"/>
                        </a:defRPr>
                      </a:pPr>
                      <a:r>
                        <a:t>1,285 / 1,561</a:t>
                      </a:r>
                    </a:p>
                  </a:txBody>
                  <a:tcPr anchor="ctr">
                    <a:solidFill>
                      <a:srgbClr val="143058"/>
                    </a:solidFill>
                  </a:tcPr>
                </a:tc>
                <a:tc>
                  <a:txBody>
                    <a:bodyPr/>
                    <a:lstStyle/>
                    <a:p>
                      <a:pPr algn="r">
                        <a:defRPr sz="1300" b="1">
                          <a:solidFill>
                            <a:srgbClr val="00B4B4"/>
                          </a:solidFill>
                          <a:latin typeface="Aptos"/>
                        </a:defRPr>
                      </a:pPr>
                      <a:r>
                        <a:t>0.82</a:t>
                      </a:r>
                    </a:p>
                  </a:txBody>
                  <a:tcPr anchor="ctr">
                    <a:solidFill>
                      <a:srgbClr val="143058"/>
                    </a:solidFill>
                  </a:tcPr>
                </a:tc>
                <a:tc>
                  <a:txBody>
                    <a:bodyPr/>
                    <a:lstStyle/>
                    <a:p>
                      <a:pPr algn="r">
                        <a:defRPr sz="1300" b="1">
                          <a:solidFill>
                            <a:srgbClr val="00B4B4"/>
                          </a:solidFill>
                          <a:latin typeface="Aptos"/>
                        </a:defRPr>
                      </a:pPr>
                      <a:r>
                        <a:t>$5.045M</a:t>
                      </a:r>
                    </a:p>
                  </a:txBody>
                  <a:tcPr anchor="ctr">
                    <a:solidFill>
                      <a:srgbClr val="143058"/>
                    </a:solidFill>
                  </a:tcPr>
                </a:tc>
              </a:tr>
              <a:tr h="329184">
                <a:tc>
                  <a:txBody>
                    <a:bodyPr/>
                    <a:lstStyle/>
                    <a:p>
                      <a:pPr algn="l">
                        <a:defRPr sz="1300" b="1">
                          <a:solidFill>
                            <a:srgbClr val="00B4B4"/>
                          </a:solidFill>
                          <a:latin typeface="Aptos"/>
                        </a:defRPr>
                      </a:pPr>
                      <a:r>
                        <a:t>XGBoost</a:t>
                      </a:r>
                    </a:p>
                  </a:txBody>
                  <a:tcPr anchor="ctr">
                    <a:solidFill>
                      <a:srgbClr val="143058"/>
                    </a:solidFill>
                  </a:tcPr>
                </a:tc>
                <a:tc>
                  <a:txBody>
                    <a:bodyPr/>
                    <a:lstStyle/>
                    <a:p>
                      <a:pPr algn="r">
                        <a:defRPr sz="1300" b="1">
                          <a:solidFill>
                            <a:srgbClr val="00B4B4"/>
                          </a:solidFill>
                          <a:latin typeface="Aptos"/>
                        </a:defRPr>
                      </a:pPr>
                      <a:r>
                        <a:t>0.73</a:t>
                      </a:r>
                    </a:p>
                  </a:txBody>
                  <a:tcPr anchor="ctr">
                    <a:solidFill>
                      <a:srgbClr val="143058"/>
                    </a:solidFill>
                  </a:tcPr>
                </a:tc>
                <a:tc>
                  <a:txBody>
                    <a:bodyPr/>
                    <a:lstStyle/>
                    <a:p>
                      <a:pPr algn="r">
                        <a:defRPr sz="1300" b="1">
                          <a:solidFill>
                            <a:srgbClr val="00B4B4"/>
                          </a:solidFill>
                          <a:latin typeface="Aptos"/>
                        </a:defRPr>
                      </a:pPr>
                      <a:r>
                        <a:t>1,297 / 1,561</a:t>
                      </a:r>
                    </a:p>
                  </a:txBody>
                  <a:tcPr anchor="ctr">
                    <a:solidFill>
                      <a:srgbClr val="143058"/>
                    </a:solidFill>
                  </a:tcPr>
                </a:tc>
                <a:tc>
                  <a:txBody>
                    <a:bodyPr/>
                    <a:lstStyle/>
                    <a:p>
                      <a:pPr algn="r">
                        <a:defRPr sz="1300" b="1">
                          <a:solidFill>
                            <a:srgbClr val="00B4B4"/>
                          </a:solidFill>
                          <a:latin typeface="Aptos"/>
                        </a:defRPr>
                      </a:pPr>
                      <a:r>
                        <a:t>0.83</a:t>
                      </a:r>
                    </a:p>
                  </a:txBody>
                  <a:tcPr anchor="ctr">
                    <a:solidFill>
                      <a:srgbClr val="143058"/>
                    </a:solidFill>
                  </a:tcPr>
                </a:tc>
                <a:tc>
                  <a:txBody>
                    <a:bodyPr/>
                    <a:lstStyle/>
                    <a:p>
                      <a:pPr algn="r">
                        <a:defRPr sz="1300" b="1">
                          <a:solidFill>
                            <a:srgbClr val="00B4B4"/>
                          </a:solidFill>
                          <a:latin typeface="Aptos"/>
                        </a:defRPr>
                      </a:pPr>
                      <a:r>
                        <a:t>$5.165M</a:t>
                      </a:r>
                    </a:p>
                  </a:txBody>
                  <a:tcPr anchor="ctr">
                    <a:solidFill>
                      <a:srgbClr val="143058"/>
                    </a:solidFill>
                  </a:tcPr>
                </a:tc>
              </a:tr>
              <a:tr h="329184">
                <a:tc>
                  <a:txBody>
                    <a:bodyPr/>
                    <a:lstStyle/>
                    <a:p>
                      <a:pPr algn="l">
                        <a:defRPr sz="1300" b="1">
                          <a:solidFill>
                            <a:srgbClr val="00B4B4"/>
                          </a:solidFill>
                          <a:latin typeface="Aptos"/>
                        </a:defRPr>
                      </a:pPr>
                      <a:r>
                        <a:t>TabICLv2</a:t>
                      </a:r>
                    </a:p>
                  </a:txBody>
                  <a:tcPr anchor="ctr">
                    <a:solidFill>
                      <a:srgbClr val="143058"/>
                    </a:solidFill>
                  </a:tcPr>
                </a:tc>
                <a:tc>
                  <a:txBody>
                    <a:bodyPr/>
                    <a:lstStyle/>
                    <a:p>
                      <a:pPr algn="r">
                        <a:defRPr sz="1300" b="1">
                          <a:solidFill>
                            <a:srgbClr val="00B4B4"/>
                          </a:solidFill>
                          <a:latin typeface="Aptos"/>
                        </a:defRPr>
                      </a:pPr>
                      <a:r>
                        <a:t>0.73</a:t>
                      </a:r>
                    </a:p>
                  </a:txBody>
                  <a:tcPr anchor="ctr">
                    <a:solidFill>
                      <a:srgbClr val="143058"/>
                    </a:solidFill>
                  </a:tcPr>
                </a:tc>
                <a:tc>
                  <a:txBody>
                    <a:bodyPr/>
                    <a:lstStyle/>
                    <a:p>
                      <a:pPr algn="r">
                        <a:defRPr sz="1300" b="1">
                          <a:solidFill>
                            <a:srgbClr val="00B4B4"/>
                          </a:solidFill>
                          <a:latin typeface="Aptos"/>
                        </a:defRPr>
                      </a:pPr>
                      <a:r>
                        <a:t>1,292 / 1,561</a:t>
                      </a:r>
                    </a:p>
                  </a:txBody>
                  <a:tcPr anchor="ctr">
                    <a:solidFill>
                      <a:srgbClr val="143058"/>
                    </a:solidFill>
                  </a:tcPr>
                </a:tc>
                <a:tc>
                  <a:txBody>
                    <a:bodyPr/>
                    <a:lstStyle/>
                    <a:p>
                      <a:pPr algn="r">
                        <a:defRPr sz="1300" b="1">
                          <a:solidFill>
                            <a:srgbClr val="00B4B4"/>
                          </a:solidFill>
                          <a:latin typeface="Aptos"/>
                        </a:defRPr>
                      </a:pPr>
                      <a:r>
                        <a:t>0.83</a:t>
                      </a:r>
                    </a:p>
                  </a:txBody>
                  <a:tcPr anchor="ctr">
                    <a:solidFill>
                      <a:srgbClr val="143058"/>
                    </a:solidFill>
                  </a:tcPr>
                </a:tc>
                <a:tc>
                  <a:txBody>
                    <a:bodyPr/>
                    <a:lstStyle/>
                    <a:p>
                      <a:pPr algn="r">
                        <a:defRPr sz="1300" b="1">
                          <a:solidFill>
                            <a:srgbClr val="00B4B4"/>
                          </a:solidFill>
                          <a:latin typeface="Aptos"/>
                        </a:defRPr>
                      </a:pPr>
                      <a:r>
                        <a:t>$5.115M</a:t>
                      </a:r>
                    </a:p>
                  </a:txBody>
                  <a:tcPr anchor="ctr">
                    <a:solidFill>
                      <a:srgbClr val="143058"/>
                    </a:solidFill>
                  </a:tcPr>
                </a:tc>
              </a:tr>
            </a:tbl>
          </a:graphicData>
        </a:graphic>
      </p:graphicFrame>
      <p:sp>
        <p:nvSpPr>
          <p:cNvPr id="12" name="Rounded Rectangle 11"/>
          <p:cNvSpPr/>
          <p:nvPr/>
        </p:nvSpPr>
        <p:spPr>
          <a:xfrm>
            <a:off x="9098280" y="406908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08007" y="4206240"/>
            <a:ext cx="2194560" cy="438912"/>
          </a:xfrm>
          <a:prstGeom prst="rect">
            <a:avLst/>
          </a:prstGeom>
          <a:noFill/>
        </p:spPr>
        <p:txBody>
          <a:bodyPr wrap="square" anchor="t">
            <a:spAutoFit/>
          </a:bodyPr>
          <a:lstStyle/>
          <a:p>
            <a:pPr algn="ctr">
              <a:defRPr sz="2200" b="1">
                <a:solidFill>
                  <a:srgbClr val="00B4B4"/>
                </a:solidFill>
                <a:latin typeface="Aptos"/>
              </a:defRPr>
            </a:pPr>
            <a:r>
              <a:t>12% vs 15%</a:t>
            </a:r>
          </a:p>
        </p:txBody>
      </p:sp>
      <p:sp>
        <p:nvSpPr>
          <p:cNvPr id="14" name="TextBox 13"/>
          <p:cNvSpPr txBox="1"/>
          <p:nvPr/>
        </p:nvSpPr>
        <p:spPr>
          <a:xfrm>
            <a:off x="9208007" y="4727448"/>
            <a:ext cx="2194560" cy="274320"/>
          </a:xfrm>
          <a:prstGeom prst="rect">
            <a:avLst/>
          </a:prstGeom>
          <a:noFill/>
        </p:spPr>
        <p:txBody>
          <a:bodyPr wrap="square" anchor="t">
            <a:spAutoFit/>
          </a:bodyPr>
          <a:lstStyle/>
          <a:p>
            <a:pPr algn="ctr">
              <a:defRPr sz="1100" b="1">
                <a:solidFill>
                  <a:srgbClr val="FFFFFF"/>
                </a:solidFill>
                <a:latin typeface="Aptos"/>
              </a:defRPr>
            </a:pPr>
            <a:r>
              <a:t>BREAK-EVEN EFFECT</a:t>
            </a:r>
          </a:p>
        </p:txBody>
      </p:sp>
      <p:sp>
        <p:nvSpPr>
          <p:cNvPr id="15" name="TextBox 14"/>
          <p:cNvSpPr txBox="1"/>
          <p:nvPr/>
        </p:nvSpPr>
        <p:spPr>
          <a:xfrm>
            <a:off x="9208007" y="5038344"/>
            <a:ext cx="2194560" cy="164592"/>
          </a:xfrm>
          <a:prstGeom prst="rect">
            <a:avLst/>
          </a:prstGeom>
          <a:noFill/>
        </p:spPr>
        <p:txBody>
          <a:bodyPr wrap="square" anchor="t">
            <a:spAutoFit/>
          </a:bodyPr>
          <a:lstStyle/>
          <a:p>
            <a:pPr algn="ctr">
              <a:defRPr sz="800" b="0">
                <a:solidFill>
                  <a:srgbClr val="F0F4F8"/>
                </a:solidFill>
                <a:latin typeface="Aptos"/>
              </a:defRPr>
            </a:pPr>
            <a:r>
              <a:t>logistic vs historical score</a:t>
            </a:r>
          </a:p>
        </p:txBody>
      </p:sp>
      <p:sp>
        <p:nvSpPr>
          <p:cNvPr id="16" name="TextBox 15"/>
          <p:cNvSpPr txBox="1"/>
          <p:nvPr/>
        </p:nvSpPr>
        <p:spPr>
          <a:xfrm>
            <a:off x="9098280" y="5440680"/>
            <a:ext cx="2423160" cy="640080"/>
          </a:xfrm>
          <a:prstGeom prst="rect">
            <a:avLst/>
          </a:prstGeom>
          <a:noFill/>
        </p:spPr>
        <p:txBody>
          <a:bodyPr wrap="square" anchor="t">
            <a:spAutoFit/>
          </a:bodyPr>
          <a:lstStyle/>
          <a:p>
            <a:pPr algn="l">
              <a:defRPr sz="1100" b="0">
                <a:solidFill>
                  <a:srgbClr val="F0F4F8"/>
                </a:solidFill>
                <a:latin typeface="Aptos"/>
              </a:defRPr>
            </a:pPr>
            <a:r>
              <a:t>Support must prevent at least this share of re-arrests to pay for itself.</a:t>
            </a:r>
          </a:p>
        </p:txBody>
      </p:sp>
      <p:sp>
        <p:nvSpPr>
          <p:cNvPr id="17" name="TextBox 16"/>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Models beat the historical score at every capacity from 5% to 50% (A2). Dollars are a scenario, not a causal estimate.</a:t>
            </a:r>
          </a:p>
        </p:txBody>
      </p:sp>
      <p:sp>
        <p:nvSpPr>
          <p:cNvPr id="18" name="TextBox 17"/>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9" name="TextBox 18"/>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GLOBAL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What drives the score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p_summary.png"/>
          <p:cNvPicPr>
            <a:picLocks noChangeAspect="1"/>
          </p:cNvPicPr>
          <p:nvPr/>
        </p:nvPicPr>
        <p:blipFill>
          <a:blip r:embed="rId2"/>
          <a:stretch>
            <a:fillRect/>
          </a:stretch>
        </p:blipFill>
        <p:spPr>
          <a:xfrm>
            <a:off x="274320" y="1600200"/>
            <a:ext cx="8046720" cy="4022045"/>
          </a:xfrm>
          <a:prstGeom prst="rect">
            <a:avLst/>
          </a:prstGeom>
        </p:spPr>
      </p:pic>
      <p:sp>
        <p:nvSpPr>
          <p:cNvPr id="6" name="Rounded Rectangle 5"/>
          <p:cNvSpPr/>
          <p:nvPr/>
        </p:nvSpPr>
        <p:spPr>
          <a:xfrm>
            <a:off x="8549640" y="17373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59367" y="1874519"/>
            <a:ext cx="2194560" cy="438912"/>
          </a:xfrm>
          <a:prstGeom prst="rect">
            <a:avLst/>
          </a:prstGeom>
          <a:noFill/>
        </p:spPr>
        <p:txBody>
          <a:bodyPr wrap="square" anchor="t">
            <a:spAutoFit/>
          </a:bodyPr>
          <a:lstStyle/>
          <a:p>
            <a:pPr algn="ctr">
              <a:defRPr sz="1700" b="1">
                <a:solidFill>
                  <a:srgbClr val="00B4B4"/>
                </a:solidFill>
                <a:latin typeface="Aptos"/>
              </a:defRPr>
            </a:pPr>
            <a:r>
              <a:t>-27 / -26 / -29</a:t>
            </a:r>
          </a:p>
        </p:txBody>
      </p:sp>
      <p:sp>
        <p:nvSpPr>
          <p:cNvPr id="8" name="TextBox 7"/>
          <p:cNvSpPr txBox="1"/>
          <p:nvPr/>
        </p:nvSpPr>
        <p:spPr>
          <a:xfrm>
            <a:off x="8659367" y="2395728"/>
            <a:ext cx="2194560" cy="274320"/>
          </a:xfrm>
          <a:prstGeom prst="rect">
            <a:avLst/>
          </a:prstGeom>
          <a:noFill/>
        </p:spPr>
        <p:txBody>
          <a:bodyPr wrap="square" anchor="t">
            <a:spAutoFit/>
          </a:bodyPr>
          <a:lstStyle/>
          <a:p>
            <a:pPr algn="ctr">
              <a:defRPr sz="1100" b="1">
                <a:solidFill>
                  <a:srgbClr val="FFFFFF"/>
                </a:solidFill>
                <a:latin typeface="Aptos"/>
              </a:defRPr>
            </a:pPr>
            <a:r>
              <a:t>PDP · AGE 23–27 → 48+</a:t>
            </a:r>
          </a:p>
        </p:txBody>
      </p:sp>
      <p:sp>
        <p:nvSpPr>
          <p:cNvPr id="9" name="TextBox 8"/>
          <p:cNvSpPr txBox="1"/>
          <p:nvPr/>
        </p:nvSpPr>
        <p:spPr>
          <a:xfrm>
            <a:off x="8659367" y="2706624"/>
            <a:ext cx="2194560" cy="164592"/>
          </a:xfrm>
          <a:prstGeom prst="rect">
            <a:avLst/>
          </a:prstGeom>
          <a:noFill/>
        </p:spPr>
        <p:txBody>
          <a:bodyPr wrap="square" anchor="t">
            <a:spAutoFit/>
          </a:bodyPr>
          <a:lstStyle/>
          <a:p>
            <a:pPr algn="ctr">
              <a:defRPr sz="800" b="0">
                <a:solidFill>
                  <a:srgbClr val="F0F4F8"/>
                </a:solidFill>
                <a:latin typeface="Aptos"/>
              </a:defRPr>
            </a:pPr>
            <a:r>
              <a:t>pts · logistic / XGBoost / TabICL</a:t>
            </a:r>
          </a:p>
        </p:txBody>
      </p:sp>
      <p:sp>
        <p:nvSpPr>
          <p:cNvPr id="10" name="Rounded Rectangle 9"/>
          <p:cNvSpPr/>
          <p:nvPr/>
        </p:nvSpPr>
        <p:spPr>
          <a:xfrm>
            <a:off x="8549640" y="320040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59367" y="3337560"/>
            <a:ext cx="2194560" cy="438912"/>
          </a:xfrm>
          <a:prstGeom prst="rect">
            <a:avLst/>
          </a:prstGeom>
          <a:noFill/>
        </p:spPr>
        <p:txBody>
          <a:bodyPr wrap="square" anchor="t">
            <a:spAutoFit/>
          </a:bodyPr>
          <a:lstStyle/>
          <a:p>
            <a:pPr algn="ctr">
              <a:defRPr sz="1700" b="1">
                <a:solidFill>
                  <a:srgbClr val="D64343"/>
                </a:solidFill>
                <a:latin typeface="Aptos"/>
              </a:defRPr>
            </a:pPr>
            <a:r>
              <a:t>+17 / +16 / +17</a:t>
            </a:r>
          </a:p>
        </p:txBody>
      </p:sp>
      <p:sp>
        <p:nvSpPr>
          <p:cNvPr id="12" name="TextBox 11"/>
          <p:cNvSpPr txBox="1"/>
          <p:nvPr/>
        </p:nvSpPr>
        <p:spPr>
          <a:xfrm>
            <a:off x="8659367" y="3858768"/>
            <a:ext cx="2194560" cy="274320"/>
          </a:xfrm>
          <a:prstGeom prst="rect">
            <a:avLst/>
          </a:prstGeom>
          <a:noFill/>
        </p:spPr>
        <p:txBody>
          <a:bodyPr wrap="square" anchor="t">
            <a:spAutoFit/>
          </a:bodyPr>
          <a:lstStyle/>
          <a:p>
            <a:pPr algn="ctr">
              <a:defRPr sz="1100" b="1">
                <a:solidFill>
                  <a:srgbClr val="FFFFFF"/>
                </a:solidFill>
                <a:latin typeface="Aptos"/>
              </a:defRPr>
            </a:pPr>
            <a:r>
              <a:t>PDP · GANG NO → YES</a:t>
            </a:r>
          </a:p>
        </p:txBody>
      </p:sp>
      <p:sp>
        <p:nvSpPr>
          <p:cNvPr id="13" name="TextBox 12"/>
          <p:cNvSpPr txBox="1"/>
          <p:nvPr/>
        </p:nvSpPr>
        <p:spPr>
          <a:xfrm>
            <a:off x="8659367" y="4169664"/>
            <a:ext cx="2194560" cy="164592"/>
          </a:xfrm>
          <a:prstGeom prst="rect">
            <a:avLst/>
          </a:prstGeom>
          <a:noFill/>
        </p:spPr>
        <p:txBody>
          <a:bodyPr wrap="square" anchor="t">
            <a:spAutoFit/>
          </a:bodyPr>
          <a:lstStyle/>
          <a:p>
            <a:pPr algn="ctr">
              <a:defRPr sz="800" b="0">
                <a:solidFill>
                  <a:srgbClr val="F0F4F8"/>
                </a:solidFill>
                <a:latin typeface="Aptos"/>
              </a:defRPr>
            </a:pPr>
            <a:r>
              <a:t>pts · logistic / XGBoost / TabICL</a:t>
            </a:r>
          </a:p>
        </p:txBody>
      </p:sp>
      <p:sp>
        <p:nvSpPr>
          <p:cNvPr id="14" name="Rounded Rectangle 13"/>
          <p:cNvSpPr/>
          <p:nvPr/>
        </p:nvSpPr>
        <p:spPr>
          <a:xfrm>
            <a:off x="8549640" y="466344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59367" y="4800600"/>
            <a:ext cx="2194560" cy="438912"/>
          </a:xfrm>
          <a:prstGeom prst="rect">
            <a:avLst/>
          </a:prstGeom>
          <a:noFill/>
        </p:spPr>
        <p:txBody>
          <a:bodyPr wrap="square" anchor="t">
            <a:spAutoFit/>
          </a:bodyPr>
          <a:lstStyle/>
          <a:p>
            <a:pPr algn="ctr">
              <a:defRPr sz="1700" b="1">
                <a:solidFill>
                  <a:srgbClr val="FB8500"/>
                </a:solidFill>
                <a:latin typeface="Aptos"/>
              </a:defRPr>
            </a:pPr>
            <a:r>
              <a:t>Age · gang · priors</a:t>
            </a:r>
          </a:p>
        </p:txBody>
      </p:sp>
      <p:sp>
        <p:nvSpPr>
          <p:cNvPr id="16" name="TextBox 15"/>
          <p:cNvSpPr txBox="1"/>
          <p:nvPr/>
        </p:nvSpPr>
        <p:spPr>
          <a:xfrm>
            <a:off x="8659367" y="5321807"/>
            <a:ext cx="2194560" cy="274320"/>
          </a:xfrm>
          <a:prstGeom prst="rect">
            <a:avLst/>
          </a:prstGeom>
          <a:noFill/>
        </p:spPr>
        <p:txBody>
          <a:bodyPr wrap="square" anchor="t">
            <a:spAutoFit/>
          </a:bodyPr>
          <a:lstStyle/>
          <a:p>
            <a:pPr algn="ctr">
              <a:defRPr sz="1100" b="1">
                <a:solidFill>
                  <a:srgbClr val="FFFFFF"/>
                </a:solidFill>
                <a:latin typeface="Aptos"/>
              </a:defRPr>
            </a:pPr>
            <a:r>
              <a:t>TOP DRIVERS</a:t>
            </a:r>
          </a:p>
        </p:txBody>
      </p:sp>
      <p:sp>
        <p:nvSpPr>
          <p:cNvPr id="17" name="TextBox 16"/>
          <p:cNvSpPr txBox="1"/>
          <p:nvPr/>
        </p:nvSpPr>
        <p:spPr>
          <a:xfrm>
            <a:off x="8659367" y="5632704"/>
            <a:ext cx="2194560" cy="164592"/>
          </a:xfrm>
          <a:prstGeom prst="rect">
            <a:avLst/>
          </a:prstGeom>
          <a:noFill/>
        </p:spPr>
        <p:txBody>
          <a:bodyPr wrap="square" anchor="t">
            <a:spAutoFit/>
          </a:bodyPr>
          <a:lstStyle/>
          <a:p>
            <a:pPr algn="ctr">
              <a:defRPr sz="800" b="0">
                <a:solidFill>
                  <a:srgbClr val="F0F4F8"/>
                </a:solidFill>
                <a:latin typeface="Aptos"/>
              </a:defRPr>
            </a:pPr>
            <a:r>
              <a:t>same in logistic and XGBoost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828FA0"/>
                </a:solidFill>
                <a:latin typeface="Aptos"/>
              </a:defRPr>
            </a:pPr>
            <a:r>
              <a:t>Each dot is one person (all 7,807); red = high value of the field. Right = raises risk. Cards: PDP differences in probability points.</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MODEL-AGNOSTIC</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Looking from outside: PDP/ICE for all three models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dp_ice.png"/>
          <p:cNvPicPr>
            <a:picLocks noChangeAspect="1"/>
          </p:cNvPicPr>
          <p:nvPr/>
        </p:nvPicPr>
        <p:blipFill>
          <a:blip r:embed="rId2"/>
          <a:stretch>
            <a:fillRect/>
          </a:stretch>
        </p:blipFill>
        <p:spPr>
          <a:xfrm>
            <a:off x="1132908" y="1554480"/>
            <a:ext cx="6055222" cy="4709160"/>
          </a:xfrm>
          <a:prstGeom prst="rect">
            <a:avLst/>
          </a:prstGeom>
        </p:spPr>
      </p:pic>
      <p:sp>
        <p:nvSpPr>
          <p:cNvPr id="6" name="Rounded Rectangle 5"/>
          <p:cNvSpPr/>
          <p:nvPr/>
        </p:nvSpPr>
        <p:spPr>
          <a:xfrm>
            <a:off x="8229600" y="1554480"/>
            <a:ext cx="3566160" cy="448056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08960" cy="365760"/>
          </a:xfrm>
          <a:prstGeom prst="rect">
            <a:avLst/>
          </a:prstGeom>
          <a:noFill/>
        </p:spPr>
        <p:txBody>
          <a:bodyPr wrap="square" anchor="t">
            <a:spAutoFit/>
          </a:bodyPr>
          <a:lstStyle/>
          <a:p>
            <a:pPr algn="ctr">
              <a:defRPr sz="2000" b="1">
                <a:solidFill>
                  <a:srgbClr val="FB8500"/>
                </a:solidFill>
                <a:latin typeface="Aptos"/>
              </a:defRPr>
            </a:pPr>
            <a:r>
              <a:t>THREE ROUTES</a:t>
            </a:r>
          </a:p>
        </p:txBody>
      </p:sp>
      <p:sp>
        <p:nvSpPr>
          <p:cNvPr id="8" name="TextBox 7"/>
          <p:cNvSpPr txBox="1"/>
          <p:nvPr/>
        </p:nvSpPr>
        <p:spPr>
          <a:xfrm>
            <a:off x="8549640" y="2542032"/>
            <a:ext cx="2926080" cy="3246120"/>
          </a:xfrm>
          <a:prstGeom prst="rect">
            <a:avLst/>
          </a:prstGeom>
          <a:noFill/>
        </p:spPr>
        <p:txBody>
          <a:bodyPr wrap="square" anchor="t">
            <a:spAutoFit/>
          </a:bodyPr>
          <a:lstStyle/>
          <a:p>
            <a:pPr algn="ctr">
              <a:defRPr sz="1500" b="0">
                <a:solidFill>
                  <a:srgbClr val="F0F4F8"/>
                </a:solidFill>
                <a:latin typeface="Aptos"/>
              </a:defRPr>
            </a:pPr>
            <a:r>
              <a:t>LOGISTIC</a:t>
            </a:r>
            <a:br/>
            <a:r>
              <a:t>Coefficients: read directly</a:t>
            </a:r>
            <a:br/>
            <a:br/>
            <a:r>
              <a:t>XGBOOST</a:t>
            </a:r>
            <a:br/>
            <a:r>
              <a:t>Needs SHAP; a depth-3 surrogate tree reproduces only R² = 0.61</a:t>
            </a:r>
            <a:br/>
            <a:br/>
            <a:r>
              <a:t>TABICLv2</a:t>
            </a:r>
            <a:br/>
            <a:r>
              <a:t>No native attribution: PDP/ICE is the only view</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Black line = average effect (PDP); faint lines = individual people (ICE). All three models agree: risk falls with age.</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LOCAL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Explaining one person, and checking the explanation</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p_individual.png"/>
          <p:cNvPicPr>
            <a:picLocks noChangeAspect="1"/>
          </p:cNvPicPr>
          <p:nvPr/>
        </p:nvPicPr>
        <p:blipFill>
          <a:blip r:embed="rId2"/>
          <a:stretch>
            <a:fillRect/>
          </a:stretch>
        </p:blipFill>
        <p:spPr>
          <a:xfrm>
            <a:off x="365760" y="1554480"/>
            <a:ext cx="7589520" cy="2869645"/>
          </a:xfrm>
          <a:prstGeom prst="rect">
            <a:avLst/>
          </a:prstGeom>
        </p:spPr>
      </p:pic>
      <p:sp>
        <p:nvSpPr>
          <p:cNvPr id="6" name="Rounded Rectangle 5"/>
          <p:cNvSpPr/>
          <p:nvPr/>
        </p:nvSpPr>
        <p:spPr>
          <a:xfrm>
            <a:off x="8229600" y="1554480"/>
            <a:ext cx="3566160" cy="448056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08960" cy="365760"/>
          </a:xfrm>
          <a:prstGeom prst="rect">
            <a:avLst/>
          </a:prstGeom>
          <a:noFill/>
        </p:spPr>
        <p:txBody>
          <a:bodyPr wrap="square" anchor="t">
            <a:spAutoFit/>
          </a:bodyPr>
          <a:lstStyle/>
          <a:p>
            <a:pPr algn="ctr">
              <a:defRPr sz="2000" b="1">
                <a:solidFill>
                  <a:srgbClr val="7B2CBF"/>
                </a:solidFill>
                <a:latin typeface="Aptos"/>
              </a:defRPr>
            </a:pPr>
            <a:r>
              <a:t>IS IT FAITHFUL?</a:t>
            </a:r>
          </a:p>
        </p:txBody>
      </p:sp>
      <p:sp>
        <p:nvSpPr>
          <p:cNvPr id="8" name="TextBox 7"/>
          <p:cNvSpPr txBox="1"/>
          <p:nvPr/>
        </p:nvSpPr>
        <p:spPr>
          <a:xfrm>
            <a:off x="8549640" y="2542032"/>
            <a:ext cx="2926080" cy="3246120"/>
          </a:xfrm>
          <a:prstGeom prst="rect">
            <a:avLst/>
          </a:prstGeom>
          <a:noFill/>
        </p:spPr>
        <p:txBody>
          <a:bodyPr wrap="square" anchor="t">
            <a:spAutoFit/>
          </a:bodyPr>
          <a:lstStyle/>
          <a:p>
            <a:pPr algn="ctr">
              <a:defRPr sz="1500" b="0">
                <a:solidFill>
                  <a:srgbClr val="F0F4F8"/>
                </a:solidFill>
                <a:latin typeface="Aptos"/>
              </a:defRPr>
            </a:pPr>
            <a:r>
              <a:t>SHAP: exact for these two models</a:t>
            </a:r>
            <a:br/>
            <a:br/>
            <a:r>
              <a:t>LIME on raw features: local R² 0.25 → 0.41–0.43</a:t>
            </a:r>
            <a:br/>
            <a:br/>
            <a:r>
              <a:t>3 cases × 3 seeds: all 63 conditions keep their sign</a:t>
            </a:r>
            <a:br/>
            <a:br/>
            <a:r>
              <a:t>Quote LIME for direction, SHAP for size</a:t>
            </a:r>
          </a:p>
        </p:txBody>
      </p:sp>
      <p:sp>
        <p:nvSpPr>
          <p:cNvPr id="9" name="TextBox 8"/>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Red raises risk, green lowers it. The explanation is what an appeal would contest.</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XPER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Explaining performance: where does the AUC come from?</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per.png"/>
          <p:cNvPicPr>
            <a:picLocks noChangeAspect="1"/>
          </p:cNvPicPr>
          <p:nvPr/>
        </p:nvPicPr>
        <p:blipFill>
          <a:blip r:embed="rId2"/>
          <a:stretch>
            <a:fillRect/>
          </a:stretch>
        </p:blipFill>
        <p:spPr>
          <a:xfrm>
            <a:off x="365760" y="1554480"/>
            <a:ext cx="7680960" cy="2733438"/>
          </a:xfrm>
          <a:prstGeom prst="rect">
            <a:avLst/>
          </a:prstGeom>
        </p:spPr>
      </p:pic>
      <p:sp>
        <p:nvSpPr>
          <p:cNvPr id="6" name="Rounded Rectangle 5"/>
          <p:cNvSpPr/>
          <p:nvPr/>
        </p:nvSpPr>
        <p:spPr>
          <a:xfrm>
            <a:off x="8321040" y="1554480"/>
            <a:ext cx="3474720" cy="452628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828800"/>
            <a:ext cx="3017520" cy="365760"/>
          </a:xfrm>
          <a:prstGeom prst="rect">
            <a:avLst/>
          </a:prstGeom>
          <a:noFill/>
        </p:spPr>
        <p:txBody>
          <a:bodyPr wrap="square" anchor="t">
            <a:spAutoFit/>
          </a:bodyPr>
          <a:lstStyle/>
          <a:p>
            <a:pPr algn="ctr">
              <a:defRPr sz="2000" b="1">
                <a:solidFill>
                  <a:srgbClr val="7B2CBF"/>
                </a:solidFill>
                <a:latin typeface="Aptos"/>
              </a:defRPr>
            </a:pPr>
            <a:r>
              <a:t>XPER</a:t>
            </a:r>
          </a:p>
        </p:txBody>
      </p:sp>
      <p:sp>
        <p:nvSpPr>
          <p:cNvPr id="8" name="TextBox 7"/>
          <p:cNvSpPr txBox="1"/>
          <p:nvPr/>
        </p:nvSpPr>
        <p:spPr>
          <a:xfrm>
            <a:off x="8641080" y="2542032"/>
            <a:ext cx="2834639" cy="3291840"/>
          </a:xfrm>
          <a:prstGeom prst="rect">
            <a:avLst/>
          </a:prstGeom>
          <a:noFill/>
        </p:spPr>
        <p:txBody>
          <a:bodyPr wrap="square" anchor="t">
            <a:spAutoFit/>
          </a:bodyPr>
          <a:lstStyle/>
          <a:p>
            <a:pPr algn="ctr">
              <a:defRPr sz="1500" b="0">
                <a:solidFill>
                  <a:srgbClr val="F0F4F8"/>
                </a:solidFill>
                <a:latin typeface="Aptos"/>
              </a:defRPr>
            </a:pPr>
            <a:r>
              <a:t>Splits the AUC itself into feature contributions (Shapley values)</a:t>
            </a:r>
            <a:br/>
            <a:br/>
            <a:r>
              <a:t>Benchmark ≈ 0.47 (no information) + features = AUC</a:t>
            </a:r>
            <a:br/>
            <a:br/>
            <a:r>
              <a:t>Age alone adds ≈ 0.09 AUC</a:t>
            </a:r>
            <a:br/>
            <a:br/>
            <a:r>
              <a:t>Agrees with SHAP / permutation importance on the set (Spearman 0.53–0.81), not the order</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SHAP explains a prediction; permutation importance explains loss; XPER explains performance. Quote the set of drivers, not the rank.</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RACE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Race (1): excluding race is not the same as being fair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1148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BASE RATES</a:t>
            </a:r>
          </a:p>
        </p:txBody>
      </p:sp>
      <p:sp>
        <p:nvSpPr>
          <p:cNvPr id="7" name="TextBox 6"/>
          <p:cNvSpPr txBox="1"/>
          <p:nvPr/>
        </p:nvSpPr>
        <p:spPr>
          <a:xfrm>
            <a:off x="960119" y="2633472"/>
            <a:ext cx="2880360" cy="2880360"/>
          </a:xfrm>
          <a:prstGeom prst="rect">
            <a:avLst/>
          </a:prstGeom>
          <a:noFill/>
        </p:spPr>
        <p:txBody>
          <a:bodyPr wrap="square" anchor="t">
            <a:spAutoFit/>
          </a:bodyPr>
          <a:lstStyle/>
          <a:p>
            <a:pPr algn="ctr">
              <a:defRPr sz="1500" b="0">
                <a:solidFill>
                  <a:srgbClr val="F0F4F8"/>
                </a:solidFill>
                <a:latin typeface="Aptos"/>
              </a:defRPr>
            </a:pPr>
            <a:r>
              <a:t>Black 0.582</a:t>
            </a:r>
            <a:br/>
            <a:r>
              <a:t>White 0.564</a:t>
            </a:r>
            <a:br/>
            <a:br/>
            <a:r>
              <a:t>Nearly equal: the data does not force a gap</a:t>
            </a:r>
          </a:p>
        </p:txBody>
      </p:sp>
      <p:sp>
        <p:nvSpPr>
          <p:cNvPr id="8" name="Rounded Rectangle 7"/>
          <p:cNvSpPr/>
          <p:nvPr/>
        </p:nvSpPr>
        <p:spPr>
          <a:xfrm>
            <a:off x="4343400" y="1645920"/>
            <a:ext cx="3520440" cy="4114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7B2CBF"/>
                </a:solidFill>
                <a:latin typeface="Aptos"/>
              </a:defRPr>
            </a:pPr>
            <a:r>
              <a:t>WHAT EXCLUSION GUARANTEES</a:t>
            </a:r>
          </a:p>
        </p:txBody>
      </p:sp>
      <p:sp>
        <p:nvSpPr>
          <p:cNvPr id="10" name="TextBox 9"/>
          <p:cNvSpPr txBox="1"/>
          <p:nvPr/>
        </p:nvSpPr>
        <p:spPr>
          <a:xfrm>
            <a:off x="4663440" y="2633472"/>
            <a:ext cx="2880360" cy="2880360"/>
          </a:xfrm>
          <a:prstGeom prst="rect">
            <a:avLst/>
          </a:prstGeom>
          <a:noFill/>
        </p:spPr>
        <p:txBody>
          <a:bodyPr wrap="square" anchor="t">
            <a:spAutoFit/>
          </a:bodyPr>
          <a:lstStyle/>
          <a:p>
            <a:pPr algn="ctr">
              <a:defRPr sz="1500" b="0">
                <a:solidFill>
                  <a:srgbClr val="F0F4F8"/>
                </a:solidFill>
                <a:latin typeface="Aptos"/>
              </a:defRPr>
            </a:pPr>
            <a:r>
              <a:t>Twins differing only in race get the same score</a:t>
            </a:r>
            <a:br/>
            <a:br/>
            <a:r>
              <a:t>Adding race back changes AUC by ≤ 0.001</a:t>
            </a:r>
          </a:p>
        </p:txBody>
      </p:sp>
      <p:sp>
        <p:nvSpPr>
          <p:cNvPr id="11" name="Rounded Rectangle 10"/>
          <p:cNvSpPr/>
          <p:nvPr/>
        </p:nvSpPr>
        <p:spPr>
          <a:xfrm>
            <a:off x="8046720" y="1645920"/>
            <a:ext cx="3520440" cy="411480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D64343"/>
                </a:solidFill>
                <a:latin typeface="Aptos"/>
              </a:defRPr>
            </a:pPr>
            <a:r>
              <a:t>WHAT IT DOES NOT</a:t>
            </a:r>
          </a:p>
        </p:txBody>
      </p:sp>
      <p:sp>
        <p:nvSpPr>
          <p:cNvPr id="13" name="TextBox 12"/>
          <p:cNvSpPr txBox="1"/>
          <p:nvPr/>
        </p:nvSpPr>
        <p:spPr>
          <a:xfrm>
            <a:off x="8366760" y="2633472"/>
            <a:ext cx="2880360" cy="2880360"/>
          </a:xfrm>
          <a:prstGeom prst="rect">
            <a:avLst/>
          </a:prstGeom>
          <a:noFill/>
        </p:spPr>
        <p:txBody>
          <a:bodyPr wrap="square" anchor="t">
            <a:spAutoFit/>
          </a:bodyPr>
          <a:lstStyle/>
          <a:p>
            <a:pPr algn="ctr">
              <a:defRPr sz="1500" b="0">
                <a:solidFill>
                  <a:srgbClr val="F0F4F8"/>
                </a:solidFill>
                <a:latin typeface="Aptos"/>
              </a:defRPr>
            </a:pPr>
            <a:r>
              <a:t>Race is recoverable from our features at AUC 0.71</a:t>
            </a:r>
            <a:br/>
            <a:br/>
            <a:r>
              <a:t>Criminal history carries part of it — and cannot be dropped</a:t>
            </a:r>
          </a:p>
        </p:txBody>
      </p:sp>
      <p:sp>
        <p:nvSpPr>
          <p:cNvPr id="14" name="TextBox 13"/>
          <p:cNvSpPr txBox="1"/>
          <p:nvPr/>
        </p:nvSpPr>
        <p:spPr>
          <a:xfrm>
            <a:off x="731520" y="6053328"/>
            <a:ext cx="10698480" cy="274320"/>
          </a:xfrm>
          <a:prstGeom prst="rect">
            <a:avLst/>
          </a:prstGeom>
          <a:noFill/>
        </p:spPr>
        <p:txBody>
          <a:bodyPr wrap="square" anchor="t">
            <a:spAutoFit/>
          </a:bodyPr>
          <a:lstStyle/>
          <a:p>
            <a:pPr algn="ctr">
              <a:defRPr sz="1300" b="1">
                <a:solidFill>
                  <a:srgbClr val="FB8500"/>
                </a:solidFill>
                <a:latin typeface="Aptos"/>
              </a:defRPr>
            </a:pPr>
            <a:r>
              <a:t>Selection = support offered, so the harm is missed support: FNR is our primary metric. We audit outcomes, not inputs.</a:t>
            </a:r>
          </a:p>
        </p:txBody>
      </p:sp>
      <p:sp>
        <p:nvSpPr>
          <p:cNvPr id="15" name="TextBox 14"/>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6" name="TextBox 15"/>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RACE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Race (2): the outcome audit, with three caveats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race_gaps.png"/>
          <p:cNvPicPr>
            <a:picLocks noChangeAspect="1"/>
          </p:cNvPicPr>
          <p:nvPr/>
        </p:nvPicPr>
        <p:blipFill>
          <a:blip r:embed="rId2"/>
          <a:stretch>
            <a:fillRect/>
          </a:stretch>
        </p:blipFill>
        <p:spPr>
          <a:xfrm>
            <a:off x="365760" y="1554480"/>
            <a:ext cx="7589520" cy="3679000"/>
          </a:xfrm>
          <a:prstGeom prst="rect">
            <a:avLst/>
          </a:prstGeom>
        </p:spPr>
      </p:pic>
      <p:sp>
        <p:nvSpPr>
          <p:cNvPr id="6" name="Rounded Rectangle 5"/>
          <p:cNvSpPr/>
          <p:nvPr/>
        </p:nvSpPr>
        <p:spPr>
          <a:xfrm>
            <a:off x="8229600" y="1554480"/>
            <a:ext cx="3611880" cy="452628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54680" cy="365760"/>
          </a:xfrm>
          <a:prstGeom prst="rect">
            <a:avLst/>
          </a:prstGeom>
          <a:noFill/>
        </p:spPr>
        <p:txBody>
          <a:bodyPr wrap="square" anchor="t">
            <a:spAutoFit/>
          </a:bodyPr>
          <a:lstStyle/>
          <a:p>
            <a:pPr algn="ctr">
              <a:defRPr sz="2000" b="1">
                <a:solidFill>
                  <a:srgbClr val="00B4B4"/>
                </a:solidFill>
                <a:latin typeface="Aptos"/>
              </a:defRPr>
            </a:pPr>
            <a:r>
              <a:t>RESULT + CAVEATS</a:t>
            </a:r>
          </a:p>
        </p:txBody>
      </p:sp>
      <p:sp>
        <p:nvSpPr>
          <p:cNvPr id="8" name="TextBox 7"/>
          <p:cNvSpPr txBox="1"/>
          <p:nvPr/>
        </p:nvSpPr>
        <p:spPr>
          <a:xfrm>
            <a:off x="8549640" y="2542032"/>
            <a:ext cx="2971800" cy="3291840"/>
          </a:xfrm>
          <a:prstGeom prst="rect">
            <a:avLst/>
          </a:prstGeom>
          <a:noFill/>
        </p:spPr>
        <p:txBody>
          <a:bodyPr wrap="square" anchor="t">
            <a:spAutoFit/>
          </a:bodyPr>
          <a:lstStyle/>
          <a:p>
            <a:pPr algn="ctr">
              <a:defRPr sz="1500" b="0">
                <a:solidFill>
                  <a:srgbClr val="F0F4F8"/>
                </a:solidFill>
                <a:latin typeface="Aptos"/>
              </a:defRPr>
            </a:pPr>
            <a:r>
              <a:t>All race gaps within ±5 pts (TOST); none survives Holm</a:t>
            </a:r>
            <a:br/>
            <a:br/>
            <a:r>
              <a:t>Selection ratio W/B 0.93 / 0.89 / 0.87 (&gt; 4/5)</a:t>
            </a:r>
            <a:br/>
            <a:br/>
            <a:r>
              <a:t>1. Direction: slightly MORE Black people offered support</a:t>
            </a:r>
            <a:br/>
            <a:r>
              <a:t>2. Label: recorded arrest may carry policing bias</a:t>
            </a:r>
            <a:br/>
            <a:r>
              <a:t>3. AUC Black 0.72 vs White 0.75</a:t>
            </a:r>
          </a:p>
        </p:txBody>
      </p:sp>
      <p:sp>
        <p:nvSpPr>
          <p:cNvPr id="9" name="TextBox 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0" name="TextBox 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GENDER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Gender (1): women are over-predicted, yet selected less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gender_gaps.png"/>
          <p:cNvPicPr>
            <a:picLocks noChangeAspect="1"/>
          </p:cNvPicPr>
          <p:nvPr/>
        </p:nvPicPr>
        <p:blipFill>
          <a:blip r:embed="rId2"/>
          <a:stretch>
            <a:fillRect/>
          </a:stretch>
        </p:blipFill>
        <p:spPr>
          <a:xfrm>
            <a:off x="365760" y="1554480"/>
            <a:ext cx="7589520" cy="3679000"/>
          </a:xfrm>
          <a:prstGeom prst="rect">
            <a:avLst/>
          </a:prstGeom>
        </p:spPr>
      </p:pic>
      <p:sp>
        <p:nvSpPr>
          <p:cNvPr id="6" name="Rounded Rectangle 5"/>
          <p:cNvSpPr/>
          <p:nvPr/>
        </p:nvSpPr>
        <p:spPr>
          <a:xfrm>
            <a:off x="8229600" y="1554480"/>
            <a:ext cx="3611880" cy="452628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54680" cy="365760"/>
          </a:xfrm>
          <a:prstGeom prst="rect">
            <a:avLst/>
          </a:prstGeom>
          <a:noFill/>
        </p:spPr>
        <p:txBody>
          <a:bodyPr wrap="square" anchor="t">
            <a:spAutoFit/>
          </a:bodyPr>
          <a:lstStyle/>
          <a:p>
            <a:pPr algn="ctr">
              <a:defRPr sz="2000" b="1">
                <a:solidFill>
                  <a:srgbClr val="D64343"/>
                </a:solidFill>
                <a:latin typeface="Aptos"/>
              </a:defRPr>
            </a:pPr>
            <a:r>
              <a:t>WHY</a:t>
            </a:r>
          </a:p>
        </p:txBody>
      </p:sp>
      <p:sp>
        <p:nvSpPr>
          <p:cNvPr id="8" name="TextBox 7"/>
          <p:cNvSpPr txBox="1"/>
          <p:nvPr/>
        </p:nvSpPr>
        <p:spPr>
          <a:xfrm>
            <a:off x="8549640" y="2542032"/>
            <a:ext cx="2971800" cy="3291840"/>
          </a:xfrm>
          <a:prstGeom prst="rect">
            <a:avLst/>
          </a:prstGeom>
          <a:noFill/>
        </p:spPr>
        <p:txBody>
          <a:bodyPr wrap="square" anchor="t">
            <a:spAutoFit/>
          </a:bodyPr>
          <a:lstStyle/>
          <a:p>
            <a:pPr algn="ctr">
              <a:defRPr sz="1500" b="0">
                <a:solidFill>
                  <a:srgbClr val="F0F4F8"/>
                </a:solidFill>
                <a:latin typeface="Aptos"/>
              </a:defRPr>
            </a:pPr>
            <a:r>
              <a:t>FNR gap M − F -0.10 to -0.12, all models: the feature set, not one model</a:t>
            </a:r>
            <a:br/>
            <a:br/>
            <a:r>
              <a:t>Women's mean score 0.52 vs observed 0.454</a:t>
            </a:r>
            <a:br/>
            <a:br/>
            <a:r>
              <a:t>Base rates 0.59 vs 0.45: calibration and equal FNR cannot both hold</a:t>
            </a:r>
          </a:p>
        </p:txBody>
      </p:sp>
      <p:sp>
        <p:nvSpPr>
          <p:cNvPr id="9" name="TextBox 8"/>
          <p:cNvSpPr txBox="1"/>
          <p:nvPr/>
        </p:nvSpPr>
        <p:spPr>
          <a:xfrm>
            <a:off x="548640" y="6236208"/>
            <a:ext cx="11064240" cy="274320"/>
          </a:xfrm>
          <a:prstGeom prst="rect">
            <a:avLst/>
          </a:prstGeom>
          <a:noFill/>
        </p:spPr>
        <p:txBody>
          <a:bodyPr wrap="square" anchor="t">
            <a:spAutoFit/>
          </a:bodyPr>
          <a:lstStyle/>
          <a:p>
            <a:pPr algn="ctr">
              <a:defRPr sz="1100" b="1">
                <a:solidFill>
                  <a:srgbClr val="FB8500"/>
                </a:solidFill>
                <a:latin typeface="Aptos"/>
              </a:defRPr>
            </a:pPr>
            <a:r>
              <a:t>Age: the largest gap (-0.23 to -0.24), but by design: a validated risk factor. Risk vs need is the client's choice (A6).</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GENDER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Gender (2): cause located, mitigated, validated out of sample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pdp_gender_focus.png"/>
          <p:cNvPicPr>
            <a:picLocks noChangeAspect="1"/>
          </p:cNvPicPr>
          <p:nvPr/>
        </p:nvPicPr>
        <p:blipFill>
          <a:blip r:embed="rId2"/>
          <a:stretch>
            <a:fillRect/>
          </a:stretch>
        </p:blipFill>
        <p:spPr>
          <a:xfrm>
            <a:off x="320040" y="1737360"/>
            <a:ext cx="7680960" cy="2422328"/>
          </a:xfrm>
          <a:prstGeom prst="rect">
            <a:avLst/>
          </a:prstGeom>
        </p:spPr>
      </p:pic>
      <p:sp>
        <p:nvSpPr>
          <p:cNvPr id="6" name="Rounded Rectangle 5"/>
          <p:cNvSpPr/>
          <p:nvPr/>
        </p:nvSpPr>
        <p:spPr>
          <a:xfrm>
            <a:off x="8229600" y="1508760"/>
            <a:ext cx="3611880" cy="45720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783080"/>
            <a:ext cx="3154680" cy="365760"/>
          </a:xfrm>
          <a:prstGeom prst="rect">
            <a:avLst/>
          </a:prstGeom>
          <a:noFill/>
        </p:spPr>
        <p:txBody>
          <a:bodyPr wrap="square" anchor="t">
            <a:spAutoFit/>
          </a:bodyPr>
          <a:lstStyle/>
          <a:p>
            <a:pPr algn="ctr">
              <a:defRPr sz="2000" b="1">
                <a:solidFill>
                  <a:srgbClr val="00B4B4"/>
                </a:solidFill>
                <a:latin typeface="Aptos"/>
              </a:defRPr>
            </a:pPr>
            <a:r>
              <a:t>FPDP → GANG</a:t>
            </a:r>
          </a:p>
        </p:txBody>
      </p:sp>
      <p:sp>
        <p:nvSpPr>
          <p:cNvPr id="8" name="TextBox 7"/>
          <p:cNvSpPr txBox="1"/>
          <p:nvPr/>
        </p:nvSpPr>
        <p:spPr>
          <a:xfrm>
            <a:off x="8549640" y="2496312"/>
            <a:ext cx="2971800" cy="3337560"/>
          </a:xfrm>
          <a:prstGeom prst="rect">
            <a:avLst/>
          </a:prstGeom>
          <a:noFill/>
        </p:spPr>
        <p:txBody>
          <a:bodyPr wrap="square" anchor="t">
            <a:spAutoFit/>
          </a:bodyPr>
          <a:lstStyle/>
          <a:p>
            <a:pPr algn="ctr">
              <a:defRPr sz="1500" b="0">
                <a:solidFill>
                  <a:srgbClr val="F0F4F8"/>
                </a:solidFill>
                <a:latin typeface="Aptos"/>
              </a:defRPr>
            </a:pPr>
            <a:r>
              <a:t>Never recorded for women: record-keeping, not behaviour</a:t>
            </a:r>
            <a:br/>
            <a:br/>
            <a:r>
              <a:t>Drop it, refit inside 100% of 5 training folds</a:t>
            </a:r>
            <a:br/>
            <a:br/>
            <a:r>
              <a:t>Out of fold: FNR gap -0.122 → -0.035 (~70% closed), AUC -0.010</a:t>
            </a:r>
            <a:br/>
            <a:br/>
            <a:r>
              <a:t>Cost: men's FNR +2 pts; selection rates still differ</a:t>
            </a:r>
          </a:p>
        </p:txBody>
      </p:sp>
      <p:sp>
        <p:nvSpPr>
          <p:cNvPr id="9" name="TextBox 8"/>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Evaluation cohort untouched. Re-evaluated on all four dimensions (A11): proposed as a second pilot arm.</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STABILITY · STRUCTURAL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Would a different sample give the same model?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ructural_stability.png"/>
          <p:cNvPicPr>
            <a:picLocks noChangeAspect="1"/>
          </p:cNvPicPr>
          <p:nvPr/>
        </p:nvPicPr>
        <p:blipFill>
          <a:blip r:embed="rId2"/>
          <a:stretch>
            <a:fillRect/>
          </a:stretch>
        </p:blipFill>
        <p:spPr>
          <a:xfrm>
            <a:off x="457200" y="1600200"/>
            <a:ext cx="7589520" cy="1992276"/>
          </a:xfrm>
          <a:prstGeom prst="rect">
            <a:avLst/>
          </a:prstGeom>
        </p:spPr>
      </p:pic>
      <p:sp>
        <p:nvSpPr>
          <p:cNvPr id="6" name="Rounded Rectangle 5"/>
          <p:cNvSpPr/>
          <p:nvPr/>
        </p:nvSpPr>
        <p:spPr>
          <a:xfrm>
            <a:off x="854964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59367" y="1874519"/>
            <a:ext cx="2194560" cy="438912"/>
          </a:xfrm>
          <a:prstGeom prst="rect">
            <a:avLst/>
          </a:prstGeom>
          <a:noFill/>
        </p:spPr>
        <p:txBody>
          <a:bodyPr wrap="square" anchor="t">
            <a:spAutoFit/>
          </a:bodyPr>
          <a:lstStyle/>
          <a:p>
            <a:pPr algn="ctr">
              <a:defRPr sz="1500" b="1">
                <a:solidFill>
                  <a:srgbClr val="FB8500"/>
                </a:solidFill>
                <a:latin typeface="Aptos"/>
              </a:defRPr>
            </a:pPr>
            <a:r>
              <a:t>0.032 / 0.035 / 0.035</a:t>
            </a:r>
          </a:p>
        </p:txBody>
      </p:sp>
      <p:sp>
        <p:nvSpPr>
          <p:cNvPr id="8" name="TextBox 7"/>
          <p:cNvSpPr txBox="1"/>
          <p:nvPr/>
        </p:nvSpPr>
        <p:spPr>
          <a:xfrm>
            <a:off x="8659367" y="2395728"/>
            <a:ext cx="2194560" cy="274320"/>
          </a:xfrm>
          <a:prstGeom prst="rect">
            <a:avLst/>
          </a:prstGeom>
          <a:noFill/>
        </p:spPr>
        <p:txBody>
          <a:bodyPr wrap="square" anchor="t">
            <a:spAutoFit/>
          </a:bodyPr>
          <a:lstStyle/>
          <a:p>
            <a:pPr algn="ctr">
              <a:defRPr sz="1100" b="1">
                <a:solidFill>
                  <a:srgbClr val="FFFFFF"/>
                </a:solidFill>
                <a:latin typeface="Aptos"/>
              </a:defRPr>
            </a:pPr>
            <a:r>
              <a:t>SCORE DRIFT (mean |Δp|)</a:t>
            </a:r>
          </a:p>
        </p:txBody>
      </p:sp>
      <p:sp>
        <p:nvSpPr>
          <p:cNvPr id="9" name="TextBox 8"/>
          <p:cNvSpPr txBox="1"/>
          <p:nvPr/>
        </p:nvSpPr>
        <p:spPr>
          <a:xfrm>
            <a:off x="8659367" y="2706624"/>
            <a:ext cx="2194560" cy="164592"/>
          </a:xfrm>
          <a:prstGeom prst="rect">
            <a:avLst/>
          </a:prstGeom>
          <a:noFill/>
        </p:spPr>
        <p:txBody>
          <a:bodyPr wrap="square" anchor="t">
            <a:spAutoFit/>
          </a:bodyPr>
          <a:lstStyle/>
          <a:p>
            <a:pPr algn="ctr">
              <a:defRPr sz="800" b="0">
                <a:solidFill>
                  <a:srgbClr val="F0F4F8"/>
                </a:solidFill>
                <a:latin typeface="Aptos"/>
              </a:defRPr>
            </a:pPr>
            <a:r>
              <a:t>logistic below XGBoost on all 28 pairs</a:t>
            </a:r>
          </a:p>
        </p:txBody>
      </p:sp>
      <p:sp>
        <p:nvSpPr>
          <p:cNvPr id="10" name="Rounded Rectangle 9"/>
          <p:cNvSpPr/>
          <p:nvPr/>
        </p:nvSpPr>
        <p:spPr>
          <a:xfrm>
            <a:off x="854964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59367" y="3337560"/>
            <a:ext cx="2194560" cy="438912"/>
          </a:xfrm>
          <a:prstGeom prst="rect">
            <a:avLst/>
          </a:prstGeom>
          <a:noFill/>
        </p:spPr>
        <p:txBody>
          <a:bodyPr wrap="square" anchor="t">
            <a:spAutoFit/>
          </a:bodyPr>
          <a:lstStyle/>
          <a:p>
            <a:pPr algn="ctr">
              <a:defRPr sz="1600" b="1">
                <a:solidFill>
                  <a:srgbClr val="00B4B4"/>
                </a:solidFill>
                <a:latin typeface="Aptos"/>
              </a:defRPr>
            </a:pPr>
            <a:r>
              <a:t>0.77 / 0.75 / 0.78</a:t>
            </a:r>
          </a:p>
        </p:txBody>
      </p:sp>
      <p:sp>
        <p:nvSpPr>
          <p:cNvPr id="12" name="TextBox 11"/>
          <p:cNvSpPr txBox="1"/>
          <p:nvPr/>
        </p:nvSpPr>
        <p:spPr>
          <a:xfrm>
            <a:off x="8659367" y="3858768"/>
            <a:ext cx="2194560" cy="274320"/>
          </a:xfrm>
          <a:prstGeom prst="rect">
            <a:avLst/>
          </a:prstGeom>
          <a:noFill/>
        </p:spPr>
        <p:txBody>
          <a:bodyPr wrap="square" anchor="t">
            <a:spAutoFit/>
          </a:bodyPr>
          <a:lstStyle/>
          <a:p>
            <a:pPr algn="ctr">
              <a:defRPr sz="1100" b="1">
                <a:solidFill>
                  <a:srgbClr val="FFFFFF"/>
                </a:solidFill>
                <a:latin typeface="Aptos"/>
              </a:defRPr>
            </a:pPr>
            <a:r>
              <a:t>TOP-20% JACCARD</a:t>
            </a:r>
          </a:p>
        </p:txBody>
      </p:sp>
      <p:sp>
        <p:nvSpPr>
          <p:cNvPr id="13" name="TextBox 12"/>
          <p:cNvSpPr txBox="1"/>
          <p:nvPr/>
        </p:nvSpPr>
        <p:spPr>
          <a:xfrm>
            <a:off x="8659367" y="4169664"/>
            <a:ext cx="2194560" cy="164592"/>
          </a:xfrm>
          <a:prstGeom prst="rect">
            <a:avLst/>
          </a:prstGeom>
          <a:noFill/>
        </p:spPr>
        <p:txBody>
          <a:bodyPr wrap="square" anchor="t">
            <a:spAutoFit/>
          </a:bodyPr>
          <a:lstStyle/>
          <a:p>
            <a:pPr algn="ctr">
              <a:defRPr sz="800" b="0">
                <a:solidFill>
                  <a:srgbClr val="F0F4F8"/>
                </a:solidFill>
                <a:latin typeface="Aptos"/>
              </a:defRPr>
            </a:pPr>
            <a:r>
              <a:t>≈ 13% of the selected change per refit</a:t>
            </a:r>
          </a:p>
        </p:txBody>
      </p:sp>
      <p:sp>
        <p:nvSpPr>
          <p:cNvPr id="14" name="Rounded Rectangle 13"/>
          <p:cNvSpPr/>
          <p:nvPr/>
        </p:nvSpPr>
        <p:spPr>
          <a:xfrm>
            <a:off x="8549640" y="4663440"/>
            <a:ext cx="2423160" cy="1261872"/>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59367" y="4800600"/>
            <a:ext cx="2194560" cy="438912"/>
          </a:xfrm>
          <a:prstGeom prst="rect">
            <a:avLst/>
          </a:prstGeom>
          <a:noFill/>
        </p:spPr>
        <p:txBody>
          <a:bodyPr wrap="square" anchor="t">
            <a:spAutoFit/>
          </a:bodyPr>
          <a:lstStyle/>
          <a:p>
            <a:pPr algn="ctr">
              <a:defRPr sz="2400" b="1">
                <a:solidFill>
                  <a:srgbClr val="7B2CBF"/>
                </a:solidFill>
                <a:latin typeface="Aptos"/>
              </a:defRPr>
            </a:pPr>
            <a:r>
              <a:t>8 refits</a:t>
            </a:r>
          </a:p>
        </p:txBody>
      </p:sp>
      <p:sp>
        <p:nvSpPr>
          <p:cNvPr id="16" name="TextBox 15"/>
          <p:cNvSpPr txBox="1"/>
          <p:nvPr/>
        </p:nvSpPr>
        <p:spPr>
          <a:xfrm>
            <a:off x="8659367" y="5321807"/>
            <a:ext cx="2194560" cy="274320"/>
          </a:xfrm>
          <a:prstGeom prst="rect">
            <a:avLst/>
          </a:prstGeom>
          <a:noFill/>
        </p:spPr>
        <p:txBody>
          <a:bodyPr wrap="square" anchor="t">
            <a:spAutoFit/>
          </a:bodyPr>
          <a:lstStyle/>
          <a:p>
            <a:pPr algn="ctr">
              <a:defRPr sz="1100" b="1">
                <a:solidFill>
                  <a:srgbClr val="FFFFFF"/>
                </a:solidFill>
                <a:latin typeface="Aptos"/>
              </a:defRPr>
            </a:pPr>
            <a:r>
              <a:t>PROTOCOL</a:t>
            </a:r>
          </a:p>
        </p:txBody>
      </p:sp>
      <p:sp>
        <p:nvSpPr>
          <p:cNvPr id="17" name="TextBox 16"/>
          <p:cNvSpPr txBox="1"/>
          <p:nvPr/>
        </p:nvSpPr>
        <p:spPr>
          <a:xfrm>
            <a:off x="8659367" y="5632704"/>
            <a:ext cx="2194560" cy="164592"/>
          </a:xfrm>
          <a:prstGeom prst="rect">
            <a:avLst/>
          </a:prstGeom>
          <a:noFill/>
        </p:spPr>
        <p:txBody>
          <a:bodyPr wrap="square" anchor="t">
            <a:spAutoFit/>
          </a:bodyPr>
          <a:lstStyle/>
          <a:p>
            <a:pPr algn="ctr">
              <a:defRPr sz="800" b="0">
                <a:solidFill>
                  <a:srgbClr val="F0F4F8"/>
                </a:solidFill>
                <a:latin typeface="Aptos"/>
              </a:defRPr>
            </a:pPr>
            <a:r>
              <a:t>same bootstrap resamples for all 3</a:t>
            </a:r>
          </a:p>
        </p:txBody>
      </p:sp>
      <p:sp>
        <p:nvSpPr>
          <p:cNvPr id="18" name="TextBox 17"/>
          <p:cNvSpPr txBox="1"/>
          <p:nvPr/>
        </p:nvSpPr>
        <p:spPr>
          <a:xfrm>
            <a:off x="914400" y="6236208"/>
            <a:ext cx="10058400" cy="274320"/>
          </a:xfrm>
          <a:prstGeom prst="rect">
            <a:avLst/>
          </a:prstGeom>
          <a:noFill/>
        </p:spPr>
        <p:txBody>
          <a:bodyPr wrap="square" anchor="t">
            <a:spAutoFit/>
          </a:bodyPr>
          <a:lstStyle/>
          <a:p>
            <a:pPr algn="ctr">
              <a:defRPr sz="1100" b="1">
                <a:solidFill>
                  <a:srgbClr val="828FA0"/>
                </a:solidFill>
                <a:latin typeface="Aptos"/>
              </a:defRPr>
            </a:pPr>
            <a:r>
              <a:t>Course definition: two samples from the same population should give approximately the same model.</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STABILITY · INDIVIDUAL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Stability for one person: abstaining is not fairness-neutral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dividual_stability.png"/>
          <p:cNvPicPr>
            <a:picLocks noChangeAspect="1"/>
          </p:cNvPicPr>
          <p:nvPr/>
        </p:nvPicPr>
        <p:blipFill>
          <a:blip r:embed="rId2"/>
          <a:stretch>
            <a:fillRect/>
          </a:stretch>
        </p:blipFill>
        <p:spPr>
          <a:xfrm>
            <a:off x="320040" y="1554480"/>
            <a:ext cx="11521440" cy="3268678"/>
          </a:xfrm>
          <a:prstGeom prst="rect">
            <a:avLst/>
          </a:prstGeom>
        </p:spPr>
      </p:pic>
      <p:sp>
        <p:nvSpPr>
          <p:cNvPr id="6" name="TextBox 5"/>
          <p:cNvSpPr txBox="1"/>
          <p:nvPr/>
        </p:nvSpPr>
        <p:spPr>
          <a:xfrm>
            <a:off x="731520" y="6144768"/>
            <a:ext cx="10698480" cy="411480"/>
          </a:xfrm>
          <a:prstGeom prst="rect">
            <a:avLst/>
          </a:prstGeom>
          <a:noFill/>
        </p:spPr>
        <p:txBody>
          <a:bodyPr wrap="square" anchor="t">
            <a:spAutoFit/>
          </a:bodyPr>
          <a:lstStyle/>
          <a:p>
            <a:pPr algn="ctr">
              <a:defRPr sz="1100" b="1">
                <a:solidFill>
                  <a:srgbClr val="FB8500"/>
                </a:solidFill>
                <a:latin typeface="Aptos"/>
              </a:defRPr>
            </a:pPr>
            <a:r>
              <a:t>14% of decisions flip. Unanimous only: precision 0.822 → 0.846, gender FNR gap -0.090 → -0.119.</a:t>
            </a:r>
          </a:p>
        </p:txBody>
      </p:sp>
      <p:sp>
        <p:nvSpPr>
          <p:cNvPr id="7" name="TextBox 6"/>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8" name="TextBox 7"/>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CONCLUSION · TRADE-OFFS</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Pilot logistic regression; run XGBoost as the challenger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deoff_matrix.png"/>
          <p:cNvPicPr>
            <a:picLocks noChangeAspect="1"/>
          </p:cNvPicPr>
          <p:nvPr/>
        </p:nvPicPr>
        <p:blipFill>
          <a:blip r:embed="rId2"/>
          <a:stretch>
            <a:fillRect/>
          </a:stretch>
        </p:blipFill>
        <p:spPr>
          <a:xfrm>
            <a:off x="628578" y="1463040"/>
            <a:ext cx="6423802" cy="4800599"/>
          </a:xfrm>
          <a:prstGeom prst="rect">
            <a:avLst/>
          </a:prstGeom>
        </p:spPr>
      </p:pic>
      <p:sp>
        <p:nvSpPr>
          <p:cNvPr id="6" name="Rounded Rectangle 5"/>
          <p:cNvSpPr/>
          <p:nvPr/>
        </p:nvSpPr>
        <p:spPr>
          <a:xfrm>
            <a:off x="7680960" y="1463040"/>
            <a:ext cx="4114800" cy="466344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1737360"/>
            <a:ext cx="3657600" cy="365760"/>
          </a:xfrm>
          <a:prstGeom prst="rect">
            <a:avLst/>
          </a:prstGeom>
          <a:noFill/>
        </p:spPr>
        <p:txBody>
          <a:bodyPr wrap="square" anchor="t">
            <a:spAutoFit/>
          </a:bodyPr>
          <a:lstStyle/>
          <a:p>
            <a:pPr algn="ctr">
              <a:defRPr sz="2000" b="1">
                <a:solidFill>
                  <a:srgbClr val="00B4B4"/>
                </a:solidFill>
                <a:latin typeface="Aptos"/>
              </a:defRPr>
            </a:pPr>
            <a:r>
              <a:t>WHY LOGISTIC</a:t>
            </a:r>
          </a:p>
        </p:txBody>
      </p:sp>
      <p:sp>
        <p:nvSpPr>
          <p:cNvPr id="8" name="TextBox 7"/>
          <p:cNvSpPr txBox="1"/>
          <p:nvPr/>
        </p:nvSpPr>
        <p:spPr>
          <a:xfrm>
            <a:off x="8001000" y="2450592"/>
            <a:ext cx="3474720" cy="3428999"/>
          </a:xfrm>
          <a:prstGeom prst="rect">
            <a:avLst/>
          </a:prstGeom>
          <a:noFill/>
        </p:spPr>
        <p:txBody>
          <a:bodyPr wrap="square" anchor="t">
            <a:spAutoFit/>
          </a:bodyPr>
          <a:lstStyle/>
          <a:p>
            <a:pPr algn="ctr">
              <a:defRPr sz="1500" b="0">
                <a:solidFill>
                  <a:srgbClr val="F0F4F8"/>
                </a:solidFill>
                <a:latin typeface="Aptos"/>
              </a:defRPr>
            </a:pPr>
            <a:r>
              <a:t>Same people: 85% overlap with XGBoost; captured re-arrests CI includes 0</a:t>
            </a:r>
            <a:br/>
            <a:br/>
            <a:r>
              <a:t>More stable than XGBoost on all 28 refit pairs</a:t>
            </a:r>
            <a:br/>
            <a:br/>
            <a:r>
              <a:t>Coefficients read directly · ~9× faster</a:t>
            </a:r>
            <a:br/>
            <a:br/>
            <a:r>
              <a:t>Fairness and calibration: tied — not reasons</a:t>
            </a:r>
            <a:br/>
            <a:br/>
            <a:r>
              <a:t>Reverses if: scores are quoted numerically, or scale makes +12 offers matter</a:t>
            </a:r>
          </a:p>
        </p:txBody>
      </p:sp>
      <p:sp>
        <p:nvSpPr>
          <p:cNvPr id="9" name="TextBox 8"/>
          <p:cNvSpPr txBox="1"/>
          <p:nvPr/>
        </p:nvSpPr>
        <p:spPr>
          <a:xfrm>
            <a:off x="731520" y="6327648"/>
            <a:ext cx="10698480" cy="274320"/>
          </a:xfrm>
          <a:prstGeom prst="rect">
            <a:avLst/>
          </a:prstGeom>
          <a:noFill/>
        </p:spPr>
        <p:txBody>
          <a:bodyPr wrap="square" anchor="t">
            <a:spAutoFit/>
          </a:bodyPr>
          <a:lstStyle/>
          <a:p>
            <a:pPr algn="ctr">
              <a:defRPr sz="1100" b="1">
                <a:solidFill>
                  <a:srgbClr val="FB8500"/>
                </a:solidFill>
                <a:latin typeface="Aptos"/>
              </a:defRPr>
            </a:pPr>
            <a:r>
              <a:t>Shadow pilot, with a second arm that drops gang affiliation (A11). No temporal validation yet; no evidence the programme works.</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DEMO · APP</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application makes every trade-off testable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00200"/>
            <a:ext cx="5212080" cy="1572768"/>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4754880" cy="365760"/>
          </a:xfrm>
          <a:prstGeom prst="rect">
            <a:avLst/>
          </a:prstGeom>
          <a:noFill/>
        </p:spPr>
        <p:txBody>
          <a:bodyPr wrap="square" anchor="t">
            <a:spAutoFit/>
          </a:bodyPr>
          <a:lstStyle/>
          <a:p>
            <a:pPr algn="ctr">
              <a:defRPr sz="2000" b="1">
                <a:solidFill>
                  <a:srgbClr val="FB8500"/>
                </a:solidFill>
                <a:latin typeface="Aptos"/>
              </a:defRPr>
            </a:pPr>
            <a:r>
              <a:t>1 · SCORE</a:t>
            </a:r>
          </a:p>
        </p:txBody>
      </p:sp>
      <p:sp>
        <p:nvSpPr>
          <p:cNvPr id="7" name="TextBox 6"/>
          <p:cNvSpPr txBox="1"/>
          <p:nvPr/>
        </p:nvSpPr>
        <p:spPr>
          <a:xfrm>
            <a:off x="1005840" y="2587752"/>
            <a:ext cx="4572000" cy="338327"/>
          </a:xfrm>
          <a:prstGeom prst="rect">
            <a:avLst/>
          </a:prstGeom>
          <a:noFill/>
        </p:spPr>
        <p:txBody>
          <a:bodyPr wrap="square" anchor="t">
            <a:spAutoFit/>
          </a:bodyPr>
          <a:lstStyle/>
          <a:p>
            <a:pPr algn="ctr">
              <a:defRPr sz="1500" b="0">
                <a:solidFill>
                  <a:srgbClr val="F0F4F8"/>
                </a:solidFill>
                <a:latin typeface="Aptos"/>
              </a:defRPr>
            </a:pPr>
            <a:r>
              <a:t>One person, all 3 models</a:t>
            </a:r>
          </a:p>
        </p:txBody>
      </p:sp>
      <p:sp>
        <p:nvSpPr>
          <p:cNvPr id="8" name="Rounded Rectangle 7"/>
          <p:cNvSpPr/>
          <p:nvPr/>
        </p:nvSpPr>
        <p:spPr>
          <a:xfrm>
            <a:off x="6263640" y="1600200"/>
            <a:ext cx="5212080" cy="1572768"/>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874519"/>
            <a:ext cx="4754880" cy="365760"/>
          </a:xfrm>
          <a:prstGeom prst="rect">
            <a:avLst/>
          </a:prstGeom>
          <a:noFill/>
        </p:spPr>
        <p:txBody>
          <a:bodyPr wrap="square" anchor="t">
            <a:spAutoFit/>
          </a:bodyPr>
          <a:lstStyle/>
          <a:p>
            <a:pPr algn="ctr">
              <a:defRPr sz="2000" b="1">
                <a:solidFill>
                  <a:srgbClr val="7B2CBF"/>
                </a:solidFill>
                <a:latin typeface="Aptos"/>
              </a:defRPr>
            </a:pPr>
            <a:r>
              <a:t>2 · EXPLAIN</a:t>
            </a:r>
          </a:p>
        </p:txBody>
      </p:sp>
      <p:sp>
        <p:nvSpPr>
          <p:cNvPr id="10" name="TextBox 9"/>
          <p:cNvSpPr txBox="1"/>
          <p:nvPr/>
        </p:nvSpPr>
        <p:spPr>
          <a:xfrm>
            <a:off x="6583679" y="2587752"/>
            <a:ext cx="4572000" cy="338327"/>
          </a:xfrm>
          <a:prstGeom prst="rect">
            <a:avLst/>
          </a:prstGeom>
          <a:noFill/>
        </p:spPr>
        <p:txBody>
          <a:bodyPr wrap="square" anchor="t">
            <a:spAutoFit/>
          </a:bodyPr>
          <a:lstStyle/>
          <a:p>
            <a:pPr algn="ctr">
              <a:defRPr sz="1500" b="0">
                <a:solidFill>
                  <a:srgbClr val="F0F4F8"/>
                </a:solidFill>
                <a:latin typeface="Aptos"/>
              </a:defRPr>
            </a:pPr>
            <a:r>
              <a:t>Why this score (SHAP)</a:t>
            </a:r>
          </a:p>
        </p:txBody>
      </p:sp>
      <p:sp>
        <p:nvSpPr>
          <p:cNvPr id="11" name="Rounded Rectangle 10"/>
          <p:cNvSpPr/>
          <p:nvPr/>
        </p:nvSpPr>
        <p:spPr>
          <a:xfrm>
            <a:off x="685800" y="3474720"/>
            <a:ext cx="5212080" cy="1572768"/>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749039"/>
            <a:ext cx="4754880" cy="365760"/>
          </a:xfrm>
          <a:prstGeom prst="rect">
            <a:avLst/>
          </a:prstGeom>
          <a:noFill/>
        </p:spPr>
        <p:txBody>
          <a:bodyPr wrap="square" anchor="t">
            <a:spAutoFit/>
          </a:bodyPr>
          <a:lstStyle/>
          <a:p>
            <a:pPr algn="ctr">
              <a:defRPr sz="2000" b="1">
                <a:solidFill>
                  <a:srgbClr val="FB8500"/>
                </a:solidFill>
                <a:latin typeface="Aptos"/>
              </a:defRPr>
            </a:pPr>
            <a:r>
              <a:t>3 · STABILITY</a:t>
            </a:r>
          </a:p>
        </p:txBody>
      </p:sp>
      <p:sp>
        <p:nvSpPr>
          <p:cNvPr id="13" name="TextBox 12"/>
          <p:cNvSpPr txBox="1"/>
          <p:nvPr/>
        </p:nvSpPr>
        <p:spPr>
          <a:xfrm>
            <a:off x="1005840" y="4462272"/>
            <a:ext cx="4572000" cy="338327"/>
          </a:xfrm>
          <a:prstGeom prst="rect">
            <a:avLst/>
          </a:prstGeom>
          <a:noFill/>
        </p:spPr>
        <p:txBody>
          <a:bodyPr wrap="square" anchor="t">
            <a:spAutoFit/>
          </a:bodyPr>
          <a:lstStyle/>
          <a:p>
            <a:pPr algn="ctr">
              <a:defRPr sz="1500" b="0">
                <a:solidFill>
                  <a:srgbClr val="F0F4F8"/>
                </a:solidFill>
                <a:latin typeface="Aptos"/>
              </a:defRPr>
            </a:pPr>
            <a:r>
              <a:t>How many of 8 refits select them</a:t>
            </a:r>
          </a:p>
        </p:txBody>
      </p:sp>
      <p:sp>
        <p:nvSpPr>
          <p:cNvPr id="14" name="Rounded Rectangle 13"/>
          <p:cNvSpPr/>
          <p:nvPr/>
        </p:nvSpPr>
        <p:spPr>
          <a:xfrm>
            <a:off x="6263640" y="3474720"/>
            <a:ext cx="5212080" cy="1572768"/>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3749039"/>
            <a:ext cx="4754880" cy="365760"/>
          </a:xfrm>
          <a:prstGeom prst="rect">
            <a:avLst/>
          </a:prstGeom>
          <a:noFill/>
        </p:spPr>
        <p:txBody>
          <a:bodyPr wrap="square" anchor="t">
            <a:spAutoFit/>
          </a:bodyPr>
          <a:lstStyle/>
          <a:p>
            <a:pPr algn="ctr">
              <a:defRPr sz="2000" b="1">
                <a:solidFill>
                  <a:srgbClr val="7B2CBF"/>
                </a:solidFill>
                <a:latin typeface="Aptos"/>
              </a:defRPr>
            </a:pPr>
            <a:r>
              <a:t>4 · WHAT IF</a:t>
            </a:r>
          </a:p>
        </p:txBody>
      </p:sp>
      <p:sp>
        <p:nvSpPr>
          <p:cNvPr id="16" name="TextBox 15"/>
          <p:cNvSpPr txBox="1"/>
          <p:nvPr/>
        </p:nvSpPr>
        <p:spPr>
          <a:xfrm>
            <a:off x="6583679" y="4462272"/>
            <a:ext cx="4572000" cy="338327"/>
          </a:xfrm>
          <a:prstGeom prst="rect">
            <a:avLst/>
          </a:prstGeom>
          <a:noFill/>
        </p:spPr>
        <p:txBody>
          <a:bodyPr wrap="square" anchor="t">
            <a:spAutoFit/>
          </a:bodyPr>
          <a:lstStyle/>
          <a:p>
            <a:pPr algn="ctr">
              <a:defRPr sz="1500" b="0">
                <a:solidFill>
                  <a:srgbClr val="F0F4F8"/>
                </a:solidFill>
                <a:latin typeface="Aptos"/>
              </a:defRPr>
            </a:pPr>
            <a:r>
              <a:t>Edit an input, watch the score move</a:t>
            </a:r>
          </a:p>
        </p:txBody>
      </p:sp>
      <p:sp>
        <p:nvSpPr>
          <p:cNvPr id="17" name="TextBox 16"/>
          <p:cNvSpPr txBox="1"/>
          <p:nvPr/>
        </p:nvSpPr>
        <p:spPr>
          <a:xfrm>
            <a:off x="2926080" y="5715000"/>
            <a:ext cx="6400800" cy="365760"/>
          </a:xfrm>
          <a:prstGeom prst="rect">
            <a:avLst/>
          </a:prstGeom>
          <a:noFill/>
        </p:spPr>
        <p:txBody>
          <a:bodyPr wrap="square" anchor="t">
            <a:spAutoFit/>
          </a:bodyPr>
          <a:lstStyle/>
          <a:p>
            <a:pPr algn="ctr">
              <a:defRPr sz="1500" b="1">
                <a:solidFill>
                  <a:srgbClr val="F0F4F8"/>
                </a:solidFill>
                <a:latin typeface="Consolas"/>
              </a:defRPr>
            </a:pPr>
            <a:r>
              <a:t>streamlit run app.py   ·   backup: screenshots / recording</a:t>
            </a:r>
          </a:p>
        </p:txBody>
      </p:sp>
      <p:sp>
        <p:nvSpPr>
          <p:cNvPr id="18" name="TextBox 17"/>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9" name="TextBox 18"/>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658368" y="2377440"/>
            <a:ext cx="7315200" cy="457200"/>
          </a:xfrm>
          <a:prstGeom prst="rect">
            <a:avLst/>
          </a:prstGeom>
          <a:noFill/>
        </p:spPr>
        <p:txBody>
          <a:bodyPr wrap="square" anchor="t">
            <a:spAutoFit/>
          </a:bodyPr>
          <a:lstStyle/>
          <a:p>
            <a:pPr algn="l">
              <a:defRPr sz="1400" b="1">
                <a:solidFill>
                  <a:srgbClr val="FB8500"/>
                </a:solidFill>
                <a:latin typeface="Aptos"/>
              </a:defRPr>
            </a:pPr>
            <a:r>
              <a:t>APPENDIX</a:t>
            </a:r>
          </a:p>
        </p:txBody>
      </p:sp>
      <p:sp>
        <p:nvSpPr>
          <p:cNvPr id="3" name="TextBox 2"/>
          <p:cNvSpPr txBox="1"/>
          <p:nvPr/>
        </p:nvSpPr>
        <p:spPr>
          <a:xfrm>
            <a:off x="658368" y="2880360"/>
            <a:ext cx="8229600" cy="1371600"/>
          </a:xfrm>
          <a:prstGeom prst="rect">
            <a:avLst/>
          </a:prstGeom>
          <a:noFill/>
        </p:spPr>
        <p:txBody>
          <a:bodyPr wrap="square" anchor="t">
            <a:spAutoFit/>
          </a:bodyPr>
          <a:lstStyle/>
          <a:p>
            <a:pPr algn="l">
              <a:defRPr sz="3400" b="1">
                <a:solidFill>
                  <a:srgbClr val="FFFFFF"/>
                </a:solidFill>
                <a:latin typeface="Aptos"/>
              </a:defRPr>
            </a:pPr>
            <a:r>
              <a:t>Supporting evidence</a:t>
            </a:r>
            <a:br/>
            <a:r>
              <a:t>for questions</a:t>
            </a:r>
          </a:p>
        </p:txBody>
      </p:sp>
      <p:sp>
        <p:nvSpPr>
          <p:cNvPr id="4" name="TextBox 3"/>
          <p:cNvSpPr txBox="1"/>
          <p:nvPr/>
        </p:nvSpPr>
        <p:spPr>
          <a:xfrm>
            <a:off x="694944" y="4526280"/>
            <a:ext cx="8686800" cy="822960"/>
          </a:xfrm>
          <a:prstGeom prst="rect">
            <a:avLst/>
          </a:prstGeom>
          <a:noFill/>
        </p:spPr>
        <p:txBody>
          <a:bodyPr wrap="square" anchor="t">
            <a:spAutoFit/>
          </a:bodyPr>
          <a:lstStyle/>
          <a:p>
            <a:pPr algn="l">
              <a:defRPr sz="1500" b="0">
                <a:solidFill>
                  <a:srgbClr val="F0F4F8"/>
                </a:solidFill>
                <a:latin typeface="Aptos"/>
              </a:defRPr>
            </a:pPr>
            <a:r>
              <a:t>Learning curve · economics · explanation disagreement · surrogate · threshold frontier · age · process · LIME · permutation importance · method overview · no-gang arm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A1 · LEARNING CURVE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Which model for which agency size?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arning_curve.png"/>
          <p:cNvPicPr>
            <a:picLocks noChangeAspect="1"/>
          </p:cNvPicPr>
          <p:nvPr/>
        </p:nvPicPr>
        <p:blipFill>
          <a:blip r:embed="rId2"/>
          <a:stretch>
            <a:fillRect/>
          </a:stretch>
        </p:blipFill>
        <p:spPr>
          <a:xfrm>
            <a:off x="731520" y="1645920"/>
            <a:ext cx="10698480" cy="4022802"/>
          </a:xfrm>
          <a:prstGeom prst="rect">
            <a:avLst/>
          </a:prstGeom>
        </p:spPr>
      </p:pic>
      <p:sp>
        <p:nvSpPr>
          <p:cNvPr id="6" name="TextBox 5"/>
          <p:cNvSpPr txBox="1"/>
          <p:nvPr/>
        </p:nvSpPr>
        <p:spPr>
          <a:xfrm>
            <a:off x="914400" y="6126480"/>
            <a:ext cx="10058400" cy="457200"/>
          </a:xfrm>
          <a:prstGeom prst="rect">
            <a:avLst/>
          </a:prstGeom>
          <a:noFill/>
        </p:spPr>
        <p:txBody>
          <a:bodyPr wrap="square" anchor="t">
            <a:spAutoFit/>
          </a:bodyPr>
          <a:lstStyle/>
          <a:p>
            <a:pPr algn="ctr">
              <a:defRPr sz="1300" b="1">
                <a:solidFill>
                  <a:srgbClr val="FB8500"/>
                </a:solidFill>
                <a:latin typeface="Aptos"/>
              </a:defRPr>
            </a:pPr>
            <a:r>
              <a:t>Subsamples of one Georgia cohort test sample-size sensitivity; they do not validate transfer to other agencies.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A2 · ECONOMIC SENSITIVITY</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Model value is a scenario, stress-tested</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874519"/>
            <a:ext cx="2194560" cy="438912"/>
          </a:xfrm>
          <a:prstGeom prst="rect">
            <a:avLst/>
          </a:prstGeom>
          <a:noFill/>
        </p:spPr>
        <p:txBody>
          <a:bodyPr wrap="square" anchor="t">
            <a:spAutoFit/>
          </a:bodyPr>
          <a:lstStyle/>
          <a:p>
            <a:pPr algn="ctr">
              <a:defRPr sz="2400" b="1">
                <a:solidFill>
                  <a:srgbClr val="FB8500"/>
                </a:solidFill>
                <a:latin typeface="Aptos"/>
              </a:defRPr>
            </a:pPr>
            <a:r>
              <a:t>20%</a:t>
            </a:r>
          </a:p>
        </p:txBody>
      </p:sp>
      <p:sp>
        <p:nvSpPr>
          <p:cNvPr id="7" name="TextBox 6"/>
          <p:cNvSpPr txBox="1"/>
          <p:nvPr/>
        </p:nvSpPr>
        <p:spPr>
          <a:xfrm>
            <a:off x="841248" y="2395728"/>
            <a:ext cx="2194560" cy="274320"/>
          </a:xfrm>
          <a:prstGeom prst="rect">
            <a:avLst/>
          </a:prstGeom>
          <a:noFill/>
        </p:spPr>
        <p:txBody>
          <a:bodyPr wrap="square" anchor="t">
            <a:spAutoFit/>
          </a:bodyPr>
          <a:lstStyle/>
          <a:p>
            <a:pPr algn="ctr">
              <a:defRPr sz="1100" b="1">
                <a:solidFill>
                  <a:srgbClr val="FFFFFF"/>
                </a:solidFill>
                <a:latin typeface="Aptos"/>
              </a:defRPr>
            </a:pPr>
            <a:r>
              <a:t>SERVICE CAPACITY</a:t>
            </a:r>
          </a:p>
        </p:txBody>
      </p:sp>
      <p:sp>
        <p:nvSpPr>
          <p:cNvPr id="8" name="Rounded Rectangle 7"/>
          <p:cNvSpPr/>
          <p:nvPr/>
        </p:nvSpPr>
        <p:spPr>
          <a:xfrm>
            <a:off x="3429000" y="17373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38728" y="1874519"/>
            <a:ext cx="2194560" cy="438912"/>
          </a:xfrm>
          <a:prstGeom prst="rect">
            <a:avLst/>
          </a:prstGeom>
          <a:noFill/>
        </p:spPr>
        <p:txBody>
          <a:bodyPr wrap="square" anchor="t">
            <a:spAutoFit/>
          </a:bodyPr>
          <a:lstStyle/>
          <a:p>
            <a:pPr algn="ctr">
              <a:defRPr sz="2400" b="1">
                <a:solidFill>
                  <a:srgbClr val="00B4B4"/>
                </a:solidFill>
                <a:latin typeface="Aptos"/>
              </a:defRPr>
            </a:pPr>
            <a:r>
              <a:t>$5.045M</a:t>
            </a:r>
          </a:p>
        </p:txBody>
      </p:sp>
      <p:sp>
        <p:nvSpPr>
          <p:cNvPr id="10" name="TextBox 9"/>
          <p:cNvSpPr txBox="1"/>
          <p:nvPr/>
        </p:nvSpPr>
        <p:spPr>
          <a:xfrm>
            <a:off x="3538728" y="2395728"/>
            <a:ext cx="2194560" cy="274320"/>
          </a:xfrm>
          <a:prstGeom prst="rect">
            <a:avLst/>
          </a:prstGeom>
          <a:noFill/>
        </p:spPr>
        <p:txBody>
          <a:bodyPr wrap="square" anchor="t">
            <a:spAutoFit/>
          </a:bodyPr>
          <a:lstStyle/>
          <a:p>
            <a:pPr algn="ctr">
              <a:defRPr sz="1100" b="1">
                <a:solidFill>
                  <a:srgbClr val="FFFFFF"/>
                </a:solidFill>
                <a:latin typeface="Aptos"/>
              </a:defRPr>
            </a:pPr>
            <a:r>
              <a:t>LOGISTIC NET</a:t>
            </a:r>
          </a:p>
        </p:txBody>
      </p:sp>
      <p:sp>
        <p:nvSpPr>
          <p:cNvPr id="11" name="TextBox 10"/>
          <p:cNvSpPr txBox="1"/>
          <p:nvPr/>
        </p:nvSpPr>
        <p:spPr>
          <a:xfrm>
            <a:off x="3538728" y="2706624"/>
            <a:ext cx="2194560" cy="164592"/>
          </a:xfrm>
          <a:prstGeom prst="rect">
            <a:avLst/>
          </a:prstGeom>
          <a:noFill/>
        </p:spPr>
        <p:txBody>
          <a:bodyPr wrap="square" anchor="t">
            <a:spAutoFit/>
          </a:bodyPr>
          <a:lstStyle/>
          <a:p>
            <a:pPr algn="ctr">
              <a:defRPr sz="800" b="0">
                <a:solidFill>
                  <a:srgbClr val="F0F4F8"/>
                </a:solidFill>
                <a:latin typeface="Aptos"/>
              </a:defRPr>
            </a:pPr>
            <a:r>
              <a:t>XGBoost $5.165M</a:t>
            </a:r>
          </a:p>
        </p:txBody>
      </p:sp>
      <p:sp>
        <p:nvSpPr>
          <p:cNvPr id="12" name="Rounded Rectangle 11"/>
          <p:cNvSpPr/>
          <p:nvPr/>
        </p:nvSpPr>
        <p:spPr>
          <a:xfrm>
            <a:off x="6126480" y="173736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6208" y="1874519"/>
            <a:ext cx="2194560" cy="438912"/>
          </a:xfrm>
          <a:prstGeom prst="rect">
            <a:avLst/>
          </a:prstGeom>
          <a:noFill/>
        </p:spPr>
        <p:txBody>
          <a:bodyPr wrap="square" anchor="t">
            <a:spAutoFit/>
          </a:bodyPr>
          <a:lstStyle/>
          <a:p>
            <a:pPr algn="ctr">
              <a:defRPr sz="2400" b="1">
                <a:solidFill>
                  <a:srgbClr val="D64343"/>
                </a:solidFill>
                <a:latin typeface="Aptos"/>
              </a:defRPr>
            </a:pPr>
            <a:r>
              <a:t>$2.725M</a:t>
            </a:r>
          </a:p>
        </p:txBody>
      </p:sp>
      <p:sp>
        <p:nvSpPr>
          <p:cNvPr id="14" name="TextBox 13"/>
          <p:cNvSpPr txBox="1"/>
          <p:nvPr/>
        </p:nvSpPr>
        <p:spPr>
          <a:xfrm>
            <a:off x="6236208" y="2395728"/>
            <a:ext cx="2194560" cy="274320"/>
          </a:xfrm>
          <a:prstGeom prst="rect">
            <a:avLst/>
          </a:prstGeom>
          <a:noFill/>
        </p:spPr>
        <p:txBody>
          <a:bodyPr wrap="square" anchor="t">
            <a:spAutoFit/>
          </a:bodyPr>
          <a:lstStyle/>
          <a:p>
            <a:pPr algn="ctr">
              <a:defRPr sz="1100" b="1">
                <a:solidFill>
                  <a:srgbClr val="FFFFFF"/>
                </a:solidFill>
                <a:latin typeface="Aptos"/>
              </a:defRPr>
            </a:pPr>
            <a:r>
              <a:t>HISTORICAL SCORE NET</a:t>
            </a:r>
          </a:p>
        </p:txBody>
      </p:sp>
      <p:sp>
        <p:nvSpPr>
          <p:cNvPr id="15" name="Rounded Rectangle 14"/>
          <p:cNvSpPr/>
          <p:nvPr/>
        </p:nvSpPr>
        <p:spPr>
          <a:xfrm>
            <a:off x="8823960" y="1737360"/>
            <a:ext cx="2423160" cy="1261872"/>
          </a:xfrm>
          <a:prstGeom prst="roundRect">
            <a:avLst/>
          </a:prstGeom>
          <a:solidFill>
            <a:srgbClr val="143058"/>
          </a:solidFill>
          <a:ln>
            <a:solidFill>
              <a:srgbClr val="828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33688" y="1874519"/>
            <a:ext cx="2194560" cy="438912"/>
          </a:xfrm>
          <a:prstGeom prst="rect">
            <a:avLst/>
          </a:prstGeom>
          <a:noFill/>
        </p:spPr>
        <p:txBody>
          <a:bodyPr wrap="square" anchor="t">
            <a:spAutoFit/>
          </a:bodyPr>
          <a:lstStyle/>
          <a:p>
            <a:pPr algn="ctr">
              <a:defRPr sz="2400" b="1">
                <a:solidFill>
                  <a:srgbClr val="828FA0"/>
                </a:solidFill>
                <a:latin typeface="Aptos"/>
              </a:defRPr>
            </a:pPr>
            <a:r>
              <a:t>$1.455M</a:t>
            </a:r>
          </a:p>
        </p:txBody>
      </p:sp>
      <p:sp>
        <p:nvSpPr>
          <p:cNvPr id="17" name="TextBox 16"/>
          <p:cNvSpPr txBox="1"/>
          <p:nvPr/>
        </p:nvSpPr>
        <p:spPr>
          <a:xfrm>
            <a:off x="8933688" y="2395728"/>
            <a:ext cx="2194560" cy="274320"/>
          </a:xfrm>
          <a:prstGeom prst="rect">
            <a:avLst/>
          </a:prstGeom>
          <a:noFill/>
        </p:spPr>
        <p:txBody>
          <a:bodyPr wrap="square" anchor="t">
            <a:spAutoFit/>
          </a:bodyPr>
          <a:lstStyle/>
          <a:p>
            <a:pPr algn="ctr">
              <a:defRPr sz="1100" b="1">
                <a:solidFill>
                  <a:srgbClr val="FFFFFF"/>
                </a:solidFill>
                <a:latin typeface="Aptos"/>
              </a:defRPr>
            </a:pPr>
            <a:r>
              <a:t>RANDOM NET</a:t>
            </a:r>
          </a:p>
        </p:txBody>
      </p:sp>
      <p:pic>
        <p:nvPicPr>
          <p:cNvPr id="18" name="Picture 17" descr="incumbent_benchmark.png"/>
          <p:cNvPicPr>
            <a:picLocks noChangeAspect="1"/>
          </p:cNvPicPr>
          <p:nvPr/>
        </p:nvPicPr>
        <p:blipFill>
          <a:blip r:embed="rId2"/>
          <a:stretch>
            <a:fillRect/>
          </a:stretch>
        </p:blipFill>
        <p:spPr>
          <a:xfrm>
            <a:off x="731520" y="3246120"/>
            <a:ext cx="10698480" cy="2963400"/>
          </a:xfrm>
          <a:prstGeom prst="rect">
            <a:avLst/>
          </a:prstGeom>
        </p:spPr>
      </p:pic>
      <p:sp>
        <p:nvSpPr>
          <p:cNvPr id="19" name="TextBox 1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Right panel: models beat the historical score at every capacity from 5% to 50%. A randomized or quasi-experimental pilot must estimate the real intervention effect.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A3 · EXPLANATION DISAGREEMENT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SHAP, permutation importance and XPER rank differently</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planation_agreement.png"/>
          <p:cNvPicPr>
            <a:picLocks noChangeAspect="1"/>
          </p:cNvPicPr>
          <p:nvPr/>
        </p:nvPicPr>
        <p:blipFill>
          <a:blip r:embed="rId2"/>
          <a:stretch>
            <a:fillRect/>
          </a:stretch>
        </p:blipFill>
        <p:spPr>
          <a:xfrm>
            <a:off x="1378914" y="1600200"/>
            <a:ext cx="9312251" cy="4663440"/>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Spearman 0.53–0.81; 8–10 of the top ten features shared. The set of drivers is robust, the order is method-dependent.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A4 · GLOBAL SURROGATE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A depth-3 tree that mimics XGBoost</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lobal_surrogate.png"/>
          <p:cNvPicPr>
            <a:picLocks noChangeAspect="1"/>
          </p:cNvPicPr>
          <p:nvPr/>
        </p:nvPicPr>
        <p:blipFill>
          <a:blip r:embed="rId2"/>
          <a:stretch>
            <a:fillRect/>
          </a:stretch>
        </p:blipFill>
        <p:spPr>
          <a:xfrm>
            <a:off x="646381" y="1600200"/>
            <a:ext cx="10868756" cy="4663440"/>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D64343"/>
                </a:solidFill>
                <a:latin typeface="Aptos"/>
              </a:defRPr>
            </a:pPr>
            <a:r>
              <a:t>Test fidelity R² = 0.61: readable, but it misses much of what XGBoost does. A surrogate can give an illusion of interpretability.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A5 · THRESHOLD FRONTIER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Group thresholds: the fairness/utility frontier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frontier.png"/>
          <p:cNvPicPr>
            <a:picLocks noChangeAspect="1"/>
          </p:cNvPicPr>
          <p:nvPr/>
        </p:nvPicPr>
        <p:blipFill>
          <a:blip r:embed="rId2"/>
          <a:stretch>
            <a:fillRect/>
          </a:stretch>
        </p:blipFill>
        <p:spPr>
          <a:xfrm>
            <a:off x="457200" y="1600200"/>
            <a:ext cx="11247120" cy="2950111"/>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D64343"/>
                </a:solidFill>
                <a:latin typeface="Aptos"/>
              </a:defRPr>
            </a:pPr>
            <a:r>
              <a:t>Optimised on the evaluation set, so optimistic. Group-specific thresholds by race or gender are disparate treatment.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A6 · AGE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Age: the largest gap, and a policy choice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pdp_age_focus.png"/>
          <p:cNvPicPr>
            <a:picLocks noChangeAspect="1"/>
          </p:cNvPicPr>
          <p:nvPr/>
        </p:nvPicPr>
        <p:blipFill>
          <a:blip r:embed="rId2"/>
          <a:stretch>
            <a:fillRect/>
          </a:stretch>
        </p:blipFill>
        <p:spPr>
          <a:xfrm>
            <a:off x="320040" y="1737360"/>
            <a:ext cx="7680960" cy="2422328"/>
          </a:xfrm>
          <a:prstGeom prst="rect">
            <a:avLst/>
          </a:prstGeom>
        </p:spPr>
      </p:pic>
      <p:sp>
        <p:nvSpPr>
          <p:cNvPr id="6" name="Rounded Rectangle 5"/>
          <p:cNvSpPr/>
          <p:nvPr/>
        </p:nvSpPr>
        <p:spPr>
          <a:xfrm>
            <a:off x="8229600" y="1508760"/>
            <a:ext cx="3611880" cy="457200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783080"/>
            <a:ext cx="3154680" cy="365760"/>
          </a:xfrm>
          <a:prstGeom prst="rect">
            <a:avLst/>
          </a:prstGeom>
          <a:noFill/>
        </p:spPr>
        <p:txBody>
          <a:bodyPr wrap="square" anchor="t">
            <a:spAutoFit/>
          </a:bodyPr>
          <a:lstStyle/>
          <a:p>
            <a:pPr algn="ctr">
              <a:defRPr sz="2000" b="1">
                <a:solidFill>
                  <a:srgbClr val="FB8500"/>
                </a:solidFill>
                <a:latin typeface="Aptos"/>
              </a:defRPr>
            </a:pPr>
            <a:r>
              <a:t>WHY IT IS DIFFERENT</a:t>
            </a:r>
          </a:p>
        </p:txBody>
      </p:sp>
      <p:sp>
        <p:nvSpPr>
          <p:cNvPr id="8" name="TextBox 7"/>
          <p:cNvSpPr txBox="1"/>
          <p:nvPr/>
        </p:nvSpPr>
        <p:spPr>
          <a:xfrm>
            <a:off x="8549640" y="2496312"/>
            <a:ext cx="2971800" cy="3337560"/>
          </a:xfrm>
          <a:prstGeom prst="rect">
            <a:avLst/>
          </a:prstGeom>
          <a:noFill/>
        </p:spPr>
        <p:txBody>
          <a:bodyPr wrap="square" anchor="t">
            <a:spAutoFit/>
          </a:bodyPr>
          <a:lstStyle/>
          <a:p>
            <a:pPr algn="ctr">
              <a:defRPr sz="1500" b="0">
                <a:solidFill>
                  <a:srgbClr val="F0F4F8"/>
                </a:solidFill>
                <a:latin typeface="Aptos"/>
              </a:defRPr>
            </a:pPr>
            <a:r>
              <a:t>FNR gap &lt;33 − 33+: -0.23 to -0.24</a:t>
            </a:r>
            <a:br/>
            <a:br/>
            <a:r>
              <a:t>Re-arrested 48+: 97% not selected, vs 49% at 18–22</a:t>
            </a:r>
            <a:br/>
            <a:br/>
            <a:r>
              <a:t>Age is a direct, validated risk factor: the gap is by design</a:t>
            </a:r>
            <a:br/>
            <a:br/>
            <a:r>
              <a:t>FPDP finds no candidate: age runs through criminal history</a:t>
            </a:r>
          </a:p>
        </p:txBody>
      </p:sp>
      <p:sp>
        <p:nvSpPr>
          <p:cNvPr id="9" name="TextBox 8"/>
          <p:cNvSpPr txBox="1"/>
          <p:nvPr/>
        </p:nvSpPr>
        <p:spPr>
          <a:xfrm>
            <a:off x="731520" y="6236208"/>
            <a:ext cx="10698480" cy="274320"/>
          </a:xfrm>
          <a:prstGeom prst="rect">
            <a:avLst/>
          </a:prstGeom>
          <a:noFill/>
        </p:spPr>
        <p:txBody>
          <a:bodyPr wrap="square" anchor="t">
            <a:spAutoFit/>
          </a:bodyPr>
          <a:lstStyle/>
          <a:p>
            <a:pPr algn="ctr">
              <a:defRPr sz="1100" b="1">
                <a:solidFill>
                  <a:srgbClr val="FB8500"/>
                </a:solidFill>
                <a:latin typeface="Aptos"/>
              </a:defRPr>
            </a:pPr>
            <a:r>
              <a:t>Ranking by risk or reserving places by age is the client's decision; the course's mitigation has nothing to act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A7 · PROCESS</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How we got here: what we tried, where we landed</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provement_journey.png"/>
          <p:cNvPicPr>
            <a:picLocks noChangeAspect="1"/>
          </p:cNvPicPr>
          <p:nvPr/>
        </p:nvPicPr>
        <p:blipFill>
          <a:blip r:embed="rId2"/>
          <a:stretch>
            <a:fillRect/>
          </a:stretch>
        </p:blipFill>
        <p:spPr>
          <a:xfrm>
            <a:off x="502920" y="1600200"/>
            <a:ext cx="11155680" cy="4043934"/>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Full log in docs/JOURNEY.md — every step measured, including the attempts we rejected.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A8 · LIME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LIME for three people, with its fidelity</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me_individual.png"/>
          <p:cNvPicPr>
            <a:picLocks noChangeAspect="1"/>
          </p:cNvPicPr>
          <p:nvPr/>
        </p:nvPicPr>
        <p:blipFill>
          <a:blip r:embed="rId2"/>
          <a:stretch>
            <a:fillRect/>
          </a:stretch>
        </p:blipFill>
        <p:spPr>
          <a:xfrm>
            <a:off x="320040" y="1600200"/>
            <a:ext cx="11521440" cy="3821011"/>
          </a:xfrm>
          <a:prstGeom prst="rect">
            <a:avLst/>
          </a:prstGeom>
        </p:spPr>
      </p:pic>
      <p:sp>
        <p:nvSpPr>
          <p:cNvPr id="6" name="TextBox 5"/>
          <p:cNvSpPr txBox="1"/>
          <p:nvPr/>
        </p:nvSpPr>
        <p:spPr>
          <a:xfrm>
            <a:off x="731520" y="6236208"/>
            <a:ext cx="10698480" cy="274320"/>
          </a:xfrm>
          <a:prstGeom prst="rect">
            <a:avLst/>
          </a:prstGeom>
          <a:noFill/>
        </p:spPr>
        <p:txBody>
          <a:bodyPr wrap="square" anchor="t">
            <a:spAutoFit/>
          </a:bodyPr>
          <a:lstStyle/>
          <a:p>
            <a:pPr algn="ctr">
              <a:defRPr sz="1100" b="1">
                <a:solidFill>
                  <a:srgbClr val="FB8500"/>
                </a:solidFill>
                <a:latin typeface="Aptos"/>
              </a:defRPr>
            </a:pPr>
            <a:r>
              <a:t>Category-aware LIME on raw fields: local R² 0.33–0.49, every condition keeps its sign across three seeds. Quote it for direction, SHAP for size.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A9 · PERMUTATION IMPORTANCE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Permutation importance: shuffle one field, measure the loss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mutation_importance_readable.png"/>
          <p:cNvPicPr>
            <a:picLocks noChangeAspect="1"/>
          </p:cNvPicPr>
          <p:nvPr/>
        </p:nvPicPr>
        <p:blipFill>
          <a:blip r:embed="rId2"/>
          <a:stretch>
            <a:fillRect/>
          </a:stretch>
        </p:blipFill>
        <p:spPr>
          <a:xfrm>
            <a:off x="320040" y="1600200"/>
            <a:ext cx="11521440" cy="3496864"/>
          </a:xfrm>
          <a:prstGeom prst="rect">
            <a:avLst/>
          </a:prstGeom>
        </p:spPr>
      </p:pic>
      <p:sp>
        <p:nvSpPr>
          <p:cNvPr id="6" name="TextBox 5"/>
          <p:cNvSpPr txBox="1"/>
          <p:nvPr/>
        </p:nvSpPr>
        <p:spPr>
          <a:xfrm>
            <a:off x="731520" y="6236208"/>
            <a:ext cx="10698480" cy="274320"/>
          </a:xfrm>
          <a:prstGeom prst="rect">
            <a:avLst/>
          </a:prstGeom>
          <a:noFill/>
        </p:spPr>
        <p:txBody>
          <a:bodyPr wrap="square" anchor="t">
            <a:spAutoFit/>
          </a:bodyPr>
          <a:lstStyle/>
          <a:p>
            <a:pPr algn="ctr">
              <a:defRPr sz="1100" b="1">
                <a:solidFill>
                  <a:srgbClr val="FB8500"/>
                </a:solidFill>
                <a:latin typeface="Aptos"/>
              </a:defRPr>
            </a:pPr>
            <a:r>
              <a:t>Same drivers as SHAP and XPER. TabICLv2 was measured on 10 of 29 fields only: each shuffle needs a full foundation-model prediction pass.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A10 · METHOD OVERVIEW</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Which interpretability method, for which model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terpretability_matrix.png"/>
          <p:cNvPicPr>
            <a:picLocks noChangeAspect="1"/>
          </p:cNvPicPr>
          <p:nvPr/>
        </p:nvPicPr>
        <p:blipFill>
          <a:blip r:embed="rId2"/>
          <a:stretch>
            <a:fillRect/>
          </a:stretch>
        </p:blipFill>
        <p:spPr>
          <a:xfrm>
            <a:off x="2804409" y="1463040"/>
            <a:ext cx="6552701" cy="48006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A11 · PILOT ARM 2</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Dropping gang affiliation, re-evaluated on all four dimensions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ang_variant_comparison.png"/>
          <p:cNvPicPr>
            <a:picLocks noChangeAspect="1"/>
          </p:cNvPicPr>
          <p:nvPr/>
        </p:nvPicPr>
        <p:blipFill>
          <a:blip r:embed="rId2"/>
          <a:stretch>
            <a:fillRect/>
          </a:stretch>
        </p:blipFill>
        <p:spPr>
          <a:xfrm>
            <a:off x="1665393" y="1463040"/>
            <a:ext cx="8830733" cy="4800600"/>
          </a:xfrm>
          <a:prstGeom prst="rect">
            <a:avLst/>
          </a:prstGeom>
        </p:spPr>
      </p:pic>
      <p:sp>
        <p:nvSpPr>
          <p:cNvPr id="6" name="TextBox 5"/>
          <p:cNvSpPr txBox="1"/>
          <p:nvPr/>
        </p:nvSpPr>
        <p:spPr>
          <a:xfrm>
            <a:off x="731520" y="6327648"/>
            <a:ext cx="10698480" cy="274320"/>
          </a:xfrm>
          <a:prstGeom prst="rect">
            <a:avLst/>
          </a:prstGeom>
          <a:noFill/>
        </p:spPr>
        <p:txBody>
          <a:bodyPr wrap="square" anchor="t">
            <a:spAutoFit/>
          </a:bodyPr>
          <a:lstStyle/>
          <a:p>
            <a:pPr algn="ctr">
              <a:defRPr sz="1100" b="1">
                <a:solidFill>
                  <a:srgbClr val="FB8500"/>
                </a:solidFill>
                <a:latin typeface="Aptos"/>
              </a:defRPr>
            </a:pPr>
            <a:r>
              <a:t>Gender gap closes; stability and drivers barely change; race stays within ±5 pts but flips sign. Cost: AUC −0.014, 27 fewer re-arrests captured.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