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[P1 · 0:00 · 20s] Team 11. Our client sells risk-assessment tools to US community-supervision agencies. Their question: which three-year re-arrest model should they ship? We judged four dimensions — performance, interpretability, stability, fairness — not accuracy alone.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[P1 · 0:20 · 30s] The score prioritises VOLUNTARY re-entry support: employment, housing, treatment. Never sanctions or detention. Everything later depends on this: being selected means being offered help. Our target is recorded re-arrest, which is only a proxy for need.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[P1 · 0:50 · 40s] NIJ's own split: 18,028 training, 7,807 evaluation, Georgia 2013-2015. About 58% are re-arrested. Black and White men have almost the same rate; women are lower. On the right, missing values: the gang field is missing for EVERY woman and no man. The missingness is structured — over to [P2].</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[P2 · 1:30 · 40s] We only use what is known when supervision starts: 29 fields. Race, gender and residence are never inputs; we keep them to audit who gets support. Everything recorded after release is excluded — and we proved why: adding those fields lifts AUC from 0.73 to 0.81, because they leak the outcome.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[P2 · 2:10 · 50s] The leak we found. Gang affiliation is missing for every woman. If missingness is kept, gender is recovered from our own inputs at AUC 1.00 — perfectly. TabICL treats a missing value as its own category, so it effectively saw gender. We fixed it with mode-filling and a regression test. But even after the fix, gender is still recoverable at 0.78: excluding an attribute is not removing it. [P5] picks this up.</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[P3 · 3:00 · 50s] Three families, as the brief requires, each tuned by cross-validation on training data only. Logistic with L1, C chosen by grid search. XGBoost with a 60-draw random search; deeper trees overfit and were rejected. TabICL with 16 ensemble members; gains level off near 8. Six other ML models all land in the same narrow AUC band.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[P3 · 3:50 · 50s] Finding one: performance cannot pick the model. All three within 0.003 AUC. XGBoost beats logistic by 0.0025 on a PAIRED bootstrap — real, but small. Calibration: logistic and XGBoost are indistinguishable from perfect; TabICL's slope is 0.91, significantly below 1 — its probabilities are too extreme.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[P3 · 4:40 · 50s] The client's real question: is this better than the score agencies already have? The historical Georgia score in the data reaches 0.60 AUC; our models reach 0.73, and roughly double the scenario net value at 20% capacity. Caveats in the same breath: it is a historical score, and the dollars are a scenario. Over to [P4].</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[P4 · 5:30 · 40s] What drives the score. Age at release, gang affiliation and prior record, in both models. In probability points: moving from age 23-27 to 48+ lowers predicted risk by about 27 points; a recorded gang affiliation raises it by about 17.</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[P4 · 6:10 · 40s] One person, explained by both models. Red raises risk, green lowers it — this is what an appeal would contest. We checked faithfulness: LIME on raw features fits locally about twice as well as before, and all 63 conditions keep their sign across seeds. We quote LIME for direction and SHAP for size.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[P4 · 6:50 · 40s] SHAP, permutation importance and XPER disagree on the ORDER of drivers, but share 8 to 10 of the top ten. So we quote the set, not the rank. And the models differ in kind: logistic is read directly; XGBoost needs SHAP and a surrogate that captures only 61%; TabICL has no native attribution. That cost comes back in the recommendation. Over to [P5].</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[P5 · 7:30 · 45s] Fairness. Our primary metric is FNR: people later re-arrested but not offered support — the real harm here. Race first, the question everyone expects after COMPAS. Base rates are almost equal, so the data does not force a gap. Excluding race guarantees twins get the same score, but race is still recoverable at 0.71 through criminal history. So we audit outcomes, not inputs.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[P5 · 8:15 · 45s] The outcome audit: every race gap is within five points by an equivalence test, and none survives Holm correction. Three caveats: the small gap runs toward MORE support for Black people; the label is recorded arrest, which may carry policing bias; and prediction quality is lower for Black people, AUC 0.72 vs 0.75.</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[P5 · 9:00 · 45s] Gender is where we found a problem. Re-arrested women miss support 10 to 12 points more often, in all three models — so it comes from the features. Every model over-predicts women, yet selects them less: with different base rates, calibration and equal FNR cannot both hold. Age shows an even larger gap, but by design — age is a validated risk factor — so it is the client's policy choice; details in the appendix.</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[P5 · 9:45 · 45s] We located the cause with the course's FPDP: gang affiliation, never recorded for women. Dropping it, selected in every one of five training folds, closes about 70% of the gap out of sample for about one AUC point — at the cost of men's FNR rising two points. It is an option for the client, not applied to our recommended model. Over to [P6].</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[P6 · 10:30 · 40s] Stability, in the course's sense: two samples from the same population should give the same model. Eight bootstrap refits, same resamples for all three models. Logistic drifts less than XGBoost on all 28 pairs. Jaccard around 0.77 means about 13% of the selected people change per refit.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[P6 · 11:10 · 50s] At the level of one person, about one decision in seven flips across refits. Referring contested cases to a human raises precision — but WIDENS the gender gap, because women sit at the margin more often. Abstention is not fairness-neutral.</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[P6 · 12:00 · 60s] Reading across the four dimensions: performance is a tie; interpretability and stability favour logistic; fairness gaps are shared by all three. So: logistic for a shadow pilot, XGBoost as challenger. The two select 85% of the same people and the difference in captured re-arrests includes zero. We do NOT claim logistic is fairer or better calibrated. It reverses if the client quotes scores numerically, or operates at a scale where a dozen extra offers matter.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[P1 · 13:00 · 45s] Demo one person: scores from all three models, the explanation, how many of eight refits select them, then edit an input and watch the score move. If the app fails, switch to the screenshots.</a:t>
            </a:r>
          </a:p>
          <a:p/>
          <a:p>
            <a:r>
              <a:t>[APPENDIX CUES] A1 learning curve · A2 economics · A3 XPER · A4 PDP/ICE · A5 threshold frontier · A6 age · A7 process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658368" y="530352"/>
            <a:ext cx="7315200" cy="274320"/>
          </a:xfrm>
          <a:prstGeom prst="rect">
            <a:avLst/>
          </a:prstGeom>
          <a:noFill/>
        </p:spPr>
        <p:txBody>
          <a:bodyPr wrap="square" anchor="t">
            <a:spAutoFit/>
          </a:bodyPr>
          <a:lstStyle/>
          <a:p>
            <a:pPr algn="l">
              <a:defRPr sz="1200" b="1">
                <a:solidFill>
                  <a:srgbClr val="FB8500"/>
                </a:solidFill>
                <a:latin typeface="Aptos"/>
              </a:defRPr>
            </a:pPr>
            <a:r>
              <a:t>TRUSTWORTHY AI / RECIDIVISM</a:t>
            </a:r>
          </a:p>
        </p:txBody>
      </p:sp>
      <p:sp>
        <p:nvSpPr>
          <p:cNvPr id="3" name="TextBox 2"/>
          <p:cNvSpPr txBox="1"/>
          <p:nvPr/>
        </p:nvSpPr>
        <p:spPr>
          <a:xfrm>
            <a:off x="658368" y="1298448"/>
            <a:ext cx="7315200" cy="1508760"/>
          </a:xfrm>
          <a:prstGeom prst="rect">
            <a:avLst/>
          </a:prstGeom>
          <a:noFill/>
        </p:spPr>
        <p:txBody>
          <a:bodyPr wrap="square" anchor="t">
            <a:spAutoFit/>
          </a:bodyPr>
          <a:lstStyle/>
          <a:p>
            <a:pPr algn="l">
              <a:defRPr sz="3600" b="1">
                <a:solidFill>
                  <a:srgbClr val="FFFFFF"/>
                </a:solidFill>
                <a:latin typeface="Aptos"/>
              </a:defRPr>
            </a:pPr>
            <a:r>
              <a:t>Forecasting risk,</a:t>
            </a:r>
            <a:br/>
            <a:r>
              <a:t>examining trade-offs</a:t>
            </a:r>
          </a:p>
        </p:txBody>
      </p:sp>
      <p:sp>
        <p:nvSpPr>
          <p:cNvPr id="4" name="TextBox 3"/>
          <p:cNvSpPr txBox="1"/>
          <p:nvPr/>
        </p:nvSpPr>
        <p:spPr>
          <a:xfrm>
            <a:off x="694944" y="3063240"/>
            <a:ext cx="6035040" cy="1280160"/>
          </a:xfrm>
          <a:prstGeom prst="rect">
            <a:avLst/>
          </a:prstGeom>
          <a:noFill/>
        </p:spPr>
        <p:txBody>
          <a:bodyPr wrap="square" anchor="t">
            <a:spAutoFit/>
          </a:bodyPr>
          <a:lstStyle/>
          <a:p>
            <a:pPr algn="l">
              <a:defRPr sz="1700" b="0">
                <a:solidFill>
                  <a:srgbClr val="F0F4F8"/>
                </a:solidFill>
                <a:latin typeface="Aptos"/>
              </a:defRPr>
            </a:pPr>
            <a:r>
              <a:t>For a risk-assessment software vendor: which three-year re-arrest model to ship, judged on performance, interpretability, stability and fairness</a:t>
            </a:r>
          </a:p>
        </p:txBody>
      </p:sp>
      <p:sp>
        <p:nvSpPr>
          <p:cNvPr id="5" name="TextBox 4"/>
          <p:cNvSpPr txBox="1"/>
          <p:nvPr/>
        </p:nvSpPr>
        <p:spPr>
          <a:xfrm>
            <a:off x="694944" y="6053328"/>
            <a:ext cx="6400800" cy="274320"/>
          </a:xfrm>
          <a:prstGeom prst="rect">
            <a:avLst/>
          </a:prstGeom>
          <a:noFill/>
        </p:spPr>
        <p:txBody>
          <a:bodyPr wrap="square" anchor="t">
            <a:spAutoFit/>
          </a:bodyPr>
          <a:lstStyle/>
          <a:p>
            <a:pPr algn="l">
              <a:defRPr sz="1100" b="0">
                <a:solidFill>
                  <a:srgbClr val="828FA0"/>
                </a:solidFill>
                <a:latin typeface="Aptos"/>
              </a:defRPr>
            </a:pPr>
            <a:r>
              <a:t>Team 11 · HEC Paris · Fall 2026</a:t>
            </a:r>
          </a:p>
        </p:txBody>
      </p:sp>
      <p:sp>
        <p:nvSpPr>
          <p:cNvPr id="6" name="Rounded Rectangle 5"/>
          <p:cNvSpPr/>
          <p:nvPr/>
        </p:nvSpPr>
        <p:spPr>
          <a:xfrm>
            <a:off x="7818120" y="822960"/>
            <a:ext cx="3337560" cy="5257800"/>
          </a:xfrm>
          <a:prstGeom prst="roundRect">
            <a:avLst/>
          </a:prstGeom>
          <a:solidFill>
            <a:srgbClr val="143058"/>
          </a:solidFill>
          <a:ln>
            <a:solidFill>
              <a:srgbClr val="7B2C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0" y="1097280"/>
            <a:ext cx="2880360" cy="365760"/>
          </a:xfrm>
          <a:prstGeom prst="rect">
            <a:avLst/>
          </a:prstGeom>
          <a:noFill/>
        </p:spPr>
        <p:txBody>
          <a:bodyPr wrap="square" anchor="t">
            <a:spAutoFit/>
          </a:bodyPr>
          <a:lstStyle/>
          <a:p>
            <a:pPr algn="ctr">
              <a:defRPr sz="2000" b="1">
                <a:solidFill>
                  <a:srgbClr val="7B2CBF"/>
                </a:solidFill>
                <a:latin typeface="Aptos"/>
              </a:defRPr>
            </a:pPr>
            <a:r>
              <a:t>0.60 → 0.73</a:t>
            </a:r>
          </a:p>
        </p:txBody>
      </p:sp>
      <p:sp>
        <p:nvSpPr>
          <p:cNvPr id="8" name="TextBox 7"/>
          <p:cNvSpPr txBox="1"/>
          <p:nvPr/>
        </p:nvSpPr>
        <p:spPr>
          <a:xfrm>
            <a:off x="8138160" y="1810512"/>
            <a:ext cx="2697480" cy="4023360"/>
          </a:xfrm>
          <a:prstGeom prst="rect">
            <a:avLst/>
          </a:prstGeom>
          <a:noFill/>
        </p:spPr>
        <p:txBody>
          <a:bodyPr wrap="square" anchor="t">
            <a:spAutoFit/>
          </a:bodyPr>
          <a:lstStyle/>
          <a:p>
            <a:pPr algn="ctr">
              <a:defRPr sz="1500" b="0">
                <a:solidFill>
                  <a:srgbClr val="F0F4F8"/>
                </a:solidFill>
                <a:latin typeface="Aptos"/>
              </a:defRPr>
            </a:pPr>
            <a:r>
              <a:t>Historical score vs our models (ROC AUC)</a:t>
            </a:r>
            <a:br/>
            <a:br/>
            <a:r>
              <a:t>3 model families</a:t>
            </a:r>
            <a:br/>
            <a:br/>
            <a:r>
              <a:t>1 recommendation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594360" y="256032"/>
            <a:ext cx="10972800" cy="274320"/>
          </a:xfrm>
          <a:prstGeom prst="rect">
            <a:avLst/>
          </a:prstGeom>
          <a:noFill/>
        </p:spPr>
        <p:txBody>
          <a:bodyPr wrap="square" anchor="t">
            <a:spAutoFit/>
          </a:bodyPr>
          <a:lstStyle/>
          <a:p>
            <a:pPr algn="l">
              <a:defRPr sz="1000" b="1">
                <a:solidFill>
                  <a:srgbClr val="FB8500"/>
                </a:solidFill>
                <a:latin typeface="Aptos"/>
              </a:defRPr>
            </a:pPr>
            <a:r>
              <a:t>INTRO · CLIENT</a:t>
            </a:r>
          </a:p>
        </p:txBody>
      </p:sp>
      <p:sp>
        <p:nvSpPr>
          <p:cNvPr id="3" name="TextBox 2"/>
          <p:cNvSpPr txBox="1"/>
          <p:nvPr/>
        </p:nvSpPr>
        <p:spPr>
          <a:xfrm>
            <a:off x="594360" y="621792"/>
            <a:ext cx="10972800" cy="594360"/>
          </a:xfrm>
          <a:prstGeom prst="rect">
            <a:avLst/>
          </a:prstGeom>
          <a:noFill/>
        </p:spPr>
        <p:txBody>
          <a:bodyPr wrap="square" anchor="t">
            <a:spAutoFit/>
          </a:bodyPr>
          <a:lstStyle/>
          <a:p>
            <a:pPr algn="l">
              <a:defRPr sz="2600" b="1">
                <a:solidFill>
                  <a:srgbClr val="FFFFFF"/>
                </a:solidFill>
                <a:latin typeface="Aptos"/>
              </a:defRPr>
            </a:pPr>
            <a:r>
              <a:t>Our client, and the decision they sell</a:t>
            </a:r>
          </a:p>
        </p:txBody>
      </p:sp>
      <p:sp>
        <p:nvSpPr>
          <p:cNvPr id="4" name="Rectangle 3"/>
          <p:cNvSpPr/>
          <p:nvPr/>
        </p:nvSpPr>
        <p:spPr>
          <a:xfrm>
            <a:off x="594360" y="1298448"/>
            <a:ext cx="1005840" cy="50292"/>
          </a:xfrm>
          <a:prstGeom prst="rect">
            <a:avLst/>
          </a:prstGeom>
          <a:solidFill>
            <a:srgbClr val="FB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691640"/>
            <a:ext cx="10698480" cy="4389120"/>
          </a:xfrm>
          <a:prstGeom prst="rect">
            <a:avLst/>
          </a:prstGeom>
          <a:noFill/>
        </p:spPr>
        <p:txBody>
          <a:bodyPr wrap="square">
            <a:spAutoFit/>
          </a:bodyPr>
          <a:lstStyle/>
          <a:p>
            <a:pPr>
              <a:spcAft>
                <a:spcPts val="1200"/>
              </a:spcAft>
              <a:defRPr sz="2100">
                <a:solidFill>
                  <a:srgbClr val="FFFFFF"/>
                </a:solidFill>
                <a:latin typeface="Aptos"/>
              </a:defRPr>
            </a:pPr>
            <a:r>
              <a:t>•  Client: a vendor selling risk tools to US community-supervision agencies</a:t>
            </a:r>
          </a:p>
          <a:p>
            <a:pPr>
              <a:spcAft>
                <a:spcPts val="1200"/>
              </a:spcAft>
              <a:defRPr sz="2100">
                <a:solidFill>
                  <a:srgbClr val="FFFFFF"/>
                </a:solidFill>
                <a:latin typeface="Aptos"/>
              </a:defRPr>
            </a:pPr>
            <a:r>
              <a:t>•  Decision: rank people at supervision start; the top 20% are offered voluntary re-entry support</a:t>
            </a:r>
          </a:p>
          <a:p>
            <a:pPr>
              <a:spcAft>
                <a:spcPts val="1200"/>
              </a:spcAft>
              <a:defRPr sz="2100">
                <a:solidFill>
                  <a:srgbClr val="FFFFFF"/>
                </a:solidFill>
                <a:latin typeface="Aptos"/>
              </a:defRPr>
            </a:pPr>
            <a:r>
              <a:t>•  Scope: support allocation only — never sanctions, detention or surveillance</a:t>
            </a:r>
          </a:p>
          <a:p>
            <a:pPr>
              <a:spcAft>
                <a:spcPts val="1200"/>
              </a:spcAft>
              <a:defRPr sz="2100">
                <a:solidFill>
                  <a:srgbClr val="FFFFFF"/>
                </a:solidFill>
                <a:latin typeface="Aptos"/>
              </a:defRPr>
            </a:pPr>
            <a:r>
              <a:t>•  Target: recorded re-arrest within 3 years — a proxy for need, not for offending</a:t>
            </a:r>
          </a:p>
        </p:txBody>
      </p:sp>
      <p:sp>
        <p:nvSpPr>
          <p:cNvPr id="6" name="TextBox 5"/>
          <p:cNvSpPr txBox="1"/>
          <p:nvPr/>
        </p:nvSpPr>
        <p:spPr>
          <a:xfrm>
            <a:off x="594360" y="6510528"/>
            <a:ext cx="3657600" cy="164592"/>
          </a:xfrm>
          <a:prstGeom prst="rect">
            <a:avLst/>
          </a:prstGeom>
          <a:noFill/>
        </p:spPr>
        <p:txBody>
          <a:bodyPr wrap="square" anchor="t">
            <a:spAutoFit/>
          </a:bodyPr>
          <a:lstStyle/>
          <a:p>
            <a:pPr algn="l">
              <a:defRPr sz="800" b="0">
                <a:solidFill>
                  <a:srgbClr val="828FA0"/>
                </a:solidFill>
                <a:latin typeface="Aptos"/>
              </a:defRPr>
            </a:pPr>
            <a:r>
              <a:t>HEC Paris · ISAF · 2026</a:t>
            </a:r>
          </a:p>
        </p:txBody>
      </p:sp>
      <p:sp>
        <p:nvSpPr>
          <p:cNvPr id="7" name="TextBox 6"/>
          <p:cNvSpPr txBox="1"/>
          <p:nvPr/>
        </p:nvSpPr>
        <p:spPr>
          <a:xfrm>
            <a:off x="11109960" y="6492240"/>
            <a:ext cx="411480" cy="164592"/>
          </a:xfrm>
          <a:prstGeom prst="rect">
            <a:avLst/>
          </a:prstGeom>
          <a:noFill/>
        </p:spPr>
        <p:txBody>
          <a:bodyPr wrap="square" anchor="t">
            <a:spAutoFit/>
          </a:bodyPr>
          <a:lstStyle/>
          <a:p>
            <a:pPr algn="r">
              <a:defRPr sz="800" b="0">
                <a:solidFill>
                  <a:srgbClr val="828FA0"/>
                </a:solidFill>
                <a:latin typeface="Aptos"/>
              </a:defRPr>
            </a:pPr>
            <a: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594360" y="256032"/>
            <a:ext cx="10972800" cy="274320"/>
          </a:xfrm>
          <a:prstGeom prst="rect">
            <a:avLst/>
          </a:prstGeom>
          <a:noFill/>
        </p:spPr>
        <p:txBody>
          <a:bodyPr wrap="square" anchor="t">
            <a:spAutoFit/>
          </a:bodyPr>
          <a:lstStyle/>
          <a:p>
            <a:pPr algn="l">
              <a:defRPr sz="1000" b="1">
                <a:solidFill>
                  <a:srgbClr val="FB8500"/>
                </a:solidFill>
                <a:latin typeface="Aptos"/>
              </a:defRPr>
            </a:pPr>
            <a:r>
              <a:t>INTRO · DATA</a:t>
            </a:r>
          </a:p>
        </p:txBody>
      </p:sp>
      <p:sp>
        <p:nvSpPr>
          <p:cNvPr id="3" name="TextBox 2"/>
          <p:cNvSpPr txBox="1"/>
          <p:nvPr/>
        </p:nvSpPr>
        <p:spPr>
          <a:xfrm>
            <a:off x="594360" y="621792"/>
            <a:ext cx="10972800" cy="594360"/>
          </a:xfrm>
          <a:prstGeom prst="rect">
            <a:avLst/>
          </a:prstGeom>
          <a:noFill/>
        </p:spPr>
        <p:txBody>
          <a:bodyPr wrap="square" anchor="t">
            <a:spAutoFit/>
          </a:bodyPr>
          <a:lstStyle/>
          <a:p>
            <a:pPr algn="l">
              <a:defRPr sz="2600" b="1">
                <a:solidFill>
                  <a:srgbClr val="FFFFFF"/>
                </a:solidFill>
                <a:latin typeface="Aptos"/>
              </a:defRPr>
            </a:pPr>
            <a:r>
              <a:t>Georgia parolees, official split, training-only EDA</a:t>
            </a:r>
          </a:p>
        </p:txBody>
      </p:sp>
      <p:sp>
        <p:nvSpPr>
          <p:cNvPr id="4" name="Rectangle 3"/>
          <p:cNvSpPr/>
          <p:nvPr/>
        </p:nvSpPr>
        <p:spPr>
          <a:xfrm>
            <a:off x="594360" y="1298448"/>
            <a:ext cx="1005840" cy="50292"/>
          </a:xfrm>
          <a:prstGeom prst="rect">
            <a:avLst/>
          </a:prstGeom>
          <a:solidFill>
            <a:srgbClr val="FB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eda_overview.png"/>
          <p:cNvPicPr>
            <a:picLocks noChangeAspect="1"/>
          </p:cNvPicPr>
          <p:nvPr/>
        </p:nvPicPr>
        <p:blipFill>
          <a:blip r:embed="rId2"/>
          <a:stretch>
            <a:fillRect/>
          </a:stretch>
        </p:blipFill>
        <p:spPr>
          <a:xfrm>
            <a:off x="365760" y="1554480"/>
            <a:ext cx="8229600" cy="3020700"/>
          </a:xfrm>
          <a:prstGeom prst="rect">
            <a:avLst/>
          </a:prstGeom>
        </p:spPr>
      </p:pic>
      <p:sp>
        <p:nvSpPr>
          <p:cNvPr id="6" name="Rounded Rectangle 5"/>
          <p:cNvSpPr/>
          <p:nvPr/>
        </p:nvSpPr>
        <p:spPr>
          <a:xfrm>
            <a:off x="9098280" y="1645920"/>
            <a:ext cx="2423160" cy="1261872"/>
          </a:xfrm>
          <a:prstGeom prst="roundRect">
            <a:avLst/>
          </a:prstGeom>
          <a:solidFill>
            <a:srgbClr val="143058"/>
          </a:solidFill>
          <a:ln>
            <a:solidFill>
              <a:srgbClr val="FB85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208007" y="1783080"/>
            <a:ext cx="2194560" cy="438912"/>
          </a:xfrm>
          <a:prstGeom prst="rect">
            <a:avLst/>
          </a:prstGeom>
          <a:noFill/>
        </p:spPr>
        <p:txBody>
          <a:bodyPr wrap="square" anchor="t">
            <a:spAutoFit/>
          </a:bodyPr>
          <a:lstStyle/>
          <a:p>
            <a:pPr algn="ctr">
              <a:defRPr sz="2400" b="1">
                <a:solidFill>
                  <a:srgbClr val="FB8500"/>
                </a:solidFill>
                <a:latin typeface="Aptos"/>
              </a:defRPr>
            </a:pPr>
            <a:r>
              <a:t>57.4%</a:t>
            </a:r>
          </a:p>
        </p:txBody>
      </p:sp>
      <p:sp>
        <p:nvSpPr>
          <p:cNvPr id="8" name="TextBox 7"/>
          <p:cNvSpPr txBox="1"/>
          <p:nvPr/>
        </p:nvSpPr>
        <p:spPr>
          <a:xfrm>
            <a:off x="9208007" y="2304288"/>
            <a:ext cx="2194560" cy="274320"/>
          </a:xfrm>
          <a:prstGeom prst="rect">
            <a:avLst/>
          </a:prstGeom>
          <a:noFill/>
        </p:spPr>
        <p:txBody>
          <a:bodyPr wrap="square" anchor="t">
            <a:spAutoFit/>
          </a:bodyPr>
          <a:lstStyle/>
          <a:p>
            <a:pPr algn="ctr">
              <a:defRPr sz="1100" b="1">
                <a:solidFill>
                  <a:srgbClr val="FFFFFF"/>
                </a:solidFill>
                <a:latin typeface="Aptos"/>
              </a:defRPr>
            </a:pPr>
            <a:r>
              <a:t>RE-ARRESTED IN 3 YEARS</a:t>
            </a:r>
          </a:p>
        </p:txBody>
      </p:sp>
      <p:sp>
        <p:nvSpPr>
          <p:cNvPr id="9" name="TextBox 8"/>
          <p:cNvSpPr txBox="1"/>
          <p:nvPr/>
        </p:nvSpPr>
        <p:spPr>
          <a:xfrm>
            <a:off x="9208007" y="2615184"/>
            <a:ext cx="2194560" cy="164592"/>
          </a:xfrm>
          <a:prstGeom prst="rect">
            <a:avLst/>
          </a:prstGeom>
          <a:noFill/>
        </p:spPr>
        <p:txBody>
          <a:bodyPr wrap="square" anchor="t">
            <a:spAutoFit/>
          </a:bodyPr>
          <a:lstStyle/>
          <a:p>
            <a:pPr algn="ctr">
              <a:defRPr sz="800" b="0">
                <a:solidFill>
                  <a:srgbClr val="F0F4F8"/>
                </a:solidFill>
                <a:latin typeface="Aptos"/>
              </a:defRPr>
            </a:pPr>
            <a:r>
              <a:t>evaluation cohort; training 57.8%</a:t>
            </a:r>
          </a:p>
        </p:txBody>
      </p:sp>
      <p:sp>
        <p:nvSpPr>
          <p:cNvPr id="10" name="Rounded Rectangle 9"/>
          <p:cNvSpPr/>
          <p:nvPr/>
        </p:nvSpPr>
        <p:spPr>
          <a:xfrm>
            <a:off x="9098280" y="3108960"/>
            <a:ext cx="2423160" cy="1261872"/>
          </a:xfrm>
          <a:prstGeom prst="roundRect">
            <a:avLst/>
          </a:prstGeom>
          <a:solidFill>
            <a:srgbClr val="143058"/>
          </a:solidFill>
          <a:ln>
            <a:solidFill>
              <a:srgbClr val="00B4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208007" y="3246120"/>
            <a:ext cx="2194560" cy="438912"/>
          </a:xfrm>
          <a:prstGeom prst="rect">
            <a:avLst/>
          </a:prstGeom>
          <a:noFill/>
        </p:spPr>
        <p:txBody>
          <a:bodyPr wrap="square" anchor="t">
            <a:spAutoFit/>
          </a:bodyPr>
          <a:lstStyle/>
          <a:p>
            <a:pPr algn="ctr">
              <a:defRPr sz="1800" b="1">
                <a:solidFill>
                  <a:srgbClr val="00B4B4"/>
                </a:solidFill>
                <a:latin typeface="Aptos"/>
              </a:defRPr>
            </a:pPr>
            <a:r>
              <a:t>18,028 / 7,807</a:t>
            </a:r>
          </a:p>
        </p:txBody>
      </p:sp>
      <p:sp>
        <p:nvSpPr>
          <p:cNvPr id="12" name="TextBox 11"/>
          <p:cNvSpPr txBox="1"/>
          <p:nvPr/>
        </p:nvSpPr>
        <p:spPr>
          <a:xfrm>
            <a:off x="9208007" y="3767328"/>
            <a:ext cx="2194560" cy="274320"/>
          </a:xfrm>
          <a:prstGeom prst="rect">
            <a:avLst/>
          </a:prstGeom>
          <a:noFill/>
        </p:spPr>
        <p:txBody>
          <a:bodyPr wrap="square" anchor="t">
            <a:spAutoFit/>
          </a:bodyPr>
          <a:lstStyle/>
          <a:p>
            <a:pPr algn="ctr">
              <a:defRPr sz="1100" b="1">
                <a:solidFill>
                  <a:srgbClr val="FFFFFF"/>
                </a:solidFill>
                <a:latin typeface="Aptos"/>
              </a:defRPr>
            </a:pPr>
            <a:r>
              <a:t>OFFICIAL SPLIT</a:t>
            </a:r>
          </a:p>
        </p:txBody>
      </p:sp>
      <p:sp>
        <p:nvSpPr>
          <p:cNvPr id="13" name="TextBox 12"/>
          <p:cNvSpPr txBox="1"/>
          <p:nvPr/>
        </p:nvSpPr>
        <p:spPr>
          <a:xfrm>
            <a:off x="9208007" y="4078224"/>
            <a:ext cx="2194560" cy="164592"/>
          </a:xfrm>
          <a:prstGeom prst="rect">
            <a:avLst/>
          </a:prstGeom>
          <a:noFill/>
        </p:spPr>
        <p:txBody>
          <a:bodyPr wrap="square" anchor="t">
            <a:spAutoFit/>
          </a:bodyPr>
          <a:lstStyle/>
          <a:p>
            <a:pPr algn="ctr">
              <a:defRPr sz="800" b="0">
                <a:solidFill>
                  <a:srgbClr val="F0F4F8"/>
                </a:solidFill>
                <a:latin typeface="Aptos"/>
              </a:defRPr>
            </a:pPr>
            <a:r>
              <a:t>train / evaluation · NIJ flag</a:t>
            </a:r>
          </a:p>
        </p:txBody>
      </p:sp>
      <p:sp>
        <p:nvSpPr>
          <p:cNvPr id="14" name="Rounded Rectangle 13"/>
          <p:cNvSpPr/>
          <p:nvPr/>
        </p:nvSpPr>
        <p:spPr>
          <a:xfrm>
            <a:off x="9098280" y="4572000"/>
            <a:ext cx="2423160" cy="1261872"/>
          </a:xfrm>
          <a:prstGeom prst="roundRect">
            <a:avLst/>
          </a:prstGeom>
          <a:solidFill>
            <a:srgbClr val="143058"/>
          </a:solidFill>
          <a:ln>
            <a:solidFill>
              <a:srgbClr val="D643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208007" y="4709160"/>
            <a:ext cx="2194560" cy="438912"/>
          </a:xfrm>
          <a:prstGeom prst="rect">
            <a:avLst/>
          </a:prstGeom>
          <a:noFill/>
        </p:spPr>
        <p:txBody>
          <a:bodyPr wrap="square" anchor="t">
            <a:spAutoFit/>
          </a:bodyPr>
          <a:lstStyle/>
          <a:p>
            <a:pPr algn="ctr">
              <a:defRPr sz="2000" b="1">
                <a:solidFill>
                  <a:srgbClr val="D64343"/>
                </a:solidFill>
                <a:latin typeface="Aptos"/>
              </a:defRPr>
            </a:pPr>
            <a:r>
              <a:t>100% of women</a:t>
            </a:r>
          </a:p>
        </p:txBody>
      </p:sp>
      <p:sp>
        <p:nvSpPr>
          <p:cNvPr id="16" name="TextBox 15"/>
          <p:cNvSpPr txBox="1"/>
          <p:nvPr/>
        </p:nvSpPr>
        <p:spPr>
          <a:xfrm>
            <a:off x="9208007" y="5230368"/>
            <a:ext cx="2194560" cy="274320"/>
          </a:xfrm>
          <a:prstGeom prst="rect">
            <a:avLst/>
          </a:prstGeom>
          <a:noFill/>
        </p:spPr>
        <p:txBody>
          <a:bodyPr wrap="square" anchor="t">
            <a:spAutoFit/>
          </a:bodyPr>
          <a:lstStyle/>
          <a:p>
            <a:pPr algn="ctr">
              <a:defRPr sz="1100" b="1">
                <a:solidFill>
                  <a:srgbClr val="FFFFFF"/>
                </a:solidFill>
                <a:latin typeface="Aptos"/>
              </a:defRPr>
            </a:pPr>
            <a:r>
              <a:t>GANG FIELD MISSING</a:t>
            </a:r>
          </a:p>
        </p:txBody>
      </p:sp>
      <p:sp>
        <p:nvSpPr>
          <p:cNvPr id="17" name="TextBox 16"/>
          <p:cNvSpPr txBox="1"/>
          <p:nvPr/>
        </p:nvSpPr>
        <p:spPr>
          <a:xfrm>
            <a:off x="9208007" y="5541264"/>
            <a:ext cx="2194560" cy="164592"/>
          </a:xfrm>
          <a:prstGeom prst="rect">
            <a:avLst/>
          </a:prstGeom>
          <a:noFill/>
        </p:spPr>
        <p:txBody>
          <a:bodyPr wrap="square" anchor="t">
            <a:spAutoFit/>
          </a:bodyPr>
          <a:lstStyle/>
          <a:p>
            <a:pPr algn="ctr">
              <a:defRPr sz="800" b="0">
                <a:solidFill>
                  <a:srgbClr val="F0F4F8"/>
                </a:solidFill>
                <a:latin typeface="Aptos"/>
              </a:defRPr>
            </a:pPr>
            <a:r>
              <a:t>and 0% of men → next part</a:t>
            </a:r>
          </a:p>
        </p:txBody>
      </p:sp>
      <p:sp>
        <p:nvSpPr>
          <p:cNvPr id="18" name="TextBox 17"/>
          <p:cNvSpPr txBox="1"/>
          <p:nvPr/>
        </p:nvSpPr>
        <p:spPr>
          <a:xfrm>
            <a:off x="914400" y="6263640"/>
            <a:ext cx="10058400" cy="274320"/>
          </a:xfrm>
          <a:prstGeom prst="rect">
            <a:avLst/>
          </a:prstGeom>
          <a:noFill/>
        </p:spPr>
        <p:txBody>
          <a:bodyPr wrap="square" anchor="t">
            <a:spAutoFit/>
          </a:bodyPr>
          <a:lstStyle/>
          <a:p>
            <a:pPr algn="ctr">
              <a:defRPr sz="1100" b="1">
                <a:solidFill>
                  <a:srgbClr val="FB8500"/>
                </a:solidFill>
                <a:latin typeface="Aptos"/>
              </a:defRPr>
            </a:pPr>
            <a:r>
              <a:t>Cumulative 3-year target: not comparable with NIJ's annual leaderboard. The missingness is structured.</a:t>
            </a:r>
          </a:p>
        </p:txBody>
      </p:sp>
      <p:sp>
        <p:nvSpPr>
          <p:cNvPr id="19" name="TextBox 18"/>
          <p:cNvSpPr txBox="1"/>
          <p:nvPr/>
        </p:nvSpPr>
        <p:spPr>
          <a:xfrm>
            <a:off x="594360" y="6510528"/>
            <a:ext cx="3657600" cy="164592"/>
          </a:xfrm>
          <a:prstGeom prst="rect">
            <a:avLst/>
          </a:prstGeom>
          <a:noFill/>
        </p:spPr>
        <p:txBody>
          <a:bodyPr wrap="square" anchor="t">
            <a:spAutoFit/>
          </a:bodyPr>
          <a:lstStyle/>
          <a:p>
            <a:pPr algn="l">
              <a:defRPr sz="800" b="0">
                <a:solidFill>
                  <a:srgbClr val="828FA0"/>
                </a:solidFill>
                <a:latin typeface="Aptos"/>
              </a:defRPr>
            </a:pPr>
            <a:r>
              <a:t>HEC Paris · ISAF · 2026</a:t>
            </a:r>
          </a:p>
        </p:txBody>
      </p:sp>
      <p:sp>
        <p:nvSpPr>
          <p:cNvPr id="20" name="TextBox 19"/>
          <p:cNvSpPr txBox="1"/>
          <p:nvPr/>
        </p:nvSpPr>
        <p:spPr>
          <a:xfrm>
            <a:off x="11109960" y="6492240"/>
            <a:ext cx="411480" cy="164592"/>
          </a:xfrm>
          <a:prstGeom prst="rect">
            <a:avLst/>
          </a:prstGeom>
          <a:noFill/>
        </p:spPr>
        <p:txBody>
          <a:bodyPr wrap="square" anchor="t">
            <a:spAutoFit/>
          </a:bodyPr>
          <a:lstStyle/>
          <a:p>
            <a:pPr algn="r">
              <a:defRPr sz="800" b="0">
                <a:solidFill>
                  <a:srgbClr val="828FA0"/>
                </a:solidFill>
                <a:latin typeface="Aptos"/>
              </a:defRPr>
            </a:pPr>
            <a: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594360" y="256032"/>
            <a:ext cx="10972800" cy="274320"/>
          </a:xfrm>
          <a:prstGeom prst="rect">
            <a:avLst/>
          </a:prstGeom>
          <a:noFill/>
        </p:spPr>
        <p:txBody>
          <a:bodyPr wrap="square" anchor="t">
            <a:spAutoFit/>
          </a:bodyPr>
          <a:lstStyle/>
          <a:p>
            <a:pPr algn="l">
              <a:defRPr sz="1000" b="1">
                <a:solidFill>
                  <a:srgbClr val="FB8500"/>
                </a:solidFill>
                <a:latin typeface="Aptos"/>
              </a:defRPr>
            </a:pPr>
            <a:r>
              <a:t>FEATURES · ELIGIBILITY</a:t>
            </a:r>
          </a:p>
        </p:txBody>
      </p:sp>
      <p:sp>
        <p:nvSpPr>
          <p:cNvPr id="3" name="TextBox 2"/>
          <p:cNvSpPr txBox="1"/>
          <p:nvPr/>
        </p:nvSpPr>
        <p:spPr>
          <a:xfrm>
            <a:off x="594360" y="621792"/>
            <a:ext cx="10972800" cy="594360"/>
          </a:xfrm>
          <a:prstGeom prst="rect">
            <a:avLst/>
          </a:prstGeom>
          <a:noFill/>
        </p:spPr>
        <p:txBody>
          <a:bodyPr wrap="square" anchor="t">
            <a:spAutoFit/>
          </a:bodyPr>
          <a:lstStyle/>
          <a:p>
            <a:pPr algn="l">
              <a:defRPr sz="2600" b="1">
                <a:solidFill>
                  <a:srgbClr val="FFFFFF"/>
                </a:solidFill>
                <a:latin typeface="Aptos"/>
              </a:defRPr>
            </a:pPr>
            <a:r>
              <a:t>Only information known when supervision starts</a:t>
            </a:r>
          </a:p>
        </p:txBody>
      </p:sp>
      <p:sp>
        <p:nvSpPr>
          <p:cNvPr id="4" name="Rectangle 3"/>
          <p:cNvSpPr/>
          <p:nvPr/>
        </p:nvSpPr>
        <p:spPr>
          <a:xfrm>
            <a:off x="594360" y="1298448"/>
            <a:ext cx="1005840" cy="50292"/>
          </a:xfrm>
          <a:prstGeom prst="rect">
            <a:avLst/>
          </a:prstGeom>
          <a:solidFill>
            <a:srgbClr val="FB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645920"/>
            <a:ext cx="3520440" cy="4297680"/>
          </a:xfrm>
          <a:prstGeom prst="roundRect">
            <a:avLst/>
          </a:prstGeom>
          <a:solidFill>
            <a:srgbClr val="143058"/>
          </a:solidFill>
          <a:ln>
            <a:solidFill>
              <a:srgbClr val="00B4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920240"/>
            <a:ext cx="3063240" cy="365760"/>
          </a:xfrm>
          <a:prstGeom prst="rect">
            <a:avLst/>
          </a:prstGeom>
          <a:noFill/>
        </p:spPr>
        <p:txBody>
          <a:bodyPr wrap="square" anchor="t">
            <a:spAutoFit/>
          </a:bodyPr>
          <a:lstStyle/>
          <a:p>
            <a:pPr algn="ctr">
              <a:defRPr sz="2000" b="1">
                <a:solidFill>
                  <a:srgbClr val="00B4B4"/>
                </a:solidFill>
                <a:latin typeface="Aptos"/>
              </a:defRPr>
            </a:pPr>
            <a:r>
              <a:t>IN THE MODEL</a:t>
            </a:r>
          </a:p>
        </p:txBody>
      </p:sp>
      <p:sp>
        <p:nvSpPr>
          <p:cNvPr id="7" name="TextBox 6"/>
          <p:cNvSpPr txBox="1"/>
          <p:nvPr/>
        </p:nvSpPr>
        <p:spPr>
          <a:xfrm>
            <a:off x="960119" y="2633472"/>
            <a:ext cx="2880360" cy="3063240"/>
          </a:xfrm>
          <a:prstGeom prst="rect">
            <a:avLst/>
          </a:prstGeom>
          <a:noFill/>
        </p:spPr>
        <p:txBody>
          <a:bodyPr wrap="square" anchor="t">
            <a:spAutoFit/>
          </a:bodyPr>
          <a:lstStyle/>
          <a:p>
            <a:pPr algn="ctr">
              <a:defRPr sz="1500" b="0">
                <a:solidFill>
                  <a:srgbClr val="F0F4F8"/>
                </a:solidFill>
                <a:latin typeface="Aptos"/>
              </a:defRPr>
            </a:pPr>
            <a:r>
              <a:t>29 baseline fields</a:t>
            </a:r>
            <a:br/>
            <a:br/>
            <a:r>
              <a:t>Age, prior arrests and convictions, offence, prison years, supervision level, Georgia's risk score</a:t>
            </a:r>
          </a:p>
        </p:txBody>
      </p:sp>
      <p:sp>
        <p:nvSpPr>
          <p:cNvPr id="8" name="Rounded Rectangle 7"/>
          <p:cNvSpPr/>
          <p:nvPr/>
        </p:nvSpPr>
        <p:spPr>
          <a:xfrm>
            <a:off x="4343400" y="1645920"/>
            <a:ext cx="3520440" cy="4297680"/>
          </a:xfrm>
          <a:prstGeom prst="roundRect">
            <a:avLst/>
          </a:prstGeom>
          <a:solidFill>
            <a:srgbClr val="143058"/>
          </a:solidFill>
          <a:ln>
            <a:solidFill>
              <a:srgbClr val="7B2C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0" y="1920240"/>
            <a:ext cx="3063240" cy="365760"/>
          </a:xfrm>
          <a:prstGeom prst="rect">
            <a:avLst/>
          </a:prstGeom>
          <a:noFill/>
        </p:spPr>
        <p:txBody>
          <a:bodyPr wrap="square" anchor="t">
            <a:spAutoFit/>
          </a:bodyPr>
          <a:lstStyle/>
          <a:p>
            <a:pPr algn="ctr">
              <a:defRPr sz="2000" b="1">
                <a:solidFill>
                  <a:srgbClr val="7B2CBF"/>
                </a:solidFill>
                <a:latin typeface="Aptos"/>
              </a:defRPr>
            </a:pPr>
            <a:r>
              <a:t>AUDIT ONLY</a:t>
            </a:r>
          </a:p>
        </p:txBody>
      </p:sp>
      <p:sp>
        <p:nvSpPr>
          <p:cNvPr id="10" name="TextBox 9"/>
          <p:cNvSpPr txBox="1"/>
          <p:nvPr/>
        </p:nvSpPr>
        <p:spPr>
          <a:xfrm>
            <a:off x="4663440" y="2633472"/>
            <a:ext cx="2880360" cy="3063240"/>
          </a:xfrm>
          <a:prstGeom prst="rect">
            <a:avLst/>
          </a:prstGeom>
          <a:noFill/>
        </p:spPr>
        <p:txBody>
          <a:bodyPr wrap="square" anchor="t">
            <a:spAutoFit/>
          </a:bodyPr>
          <a:lstStyle/>
          <a:p>
            <a:pPr algn="ctr">
              <a:defRPr sz="1500" b="0">
                <a:solidFill>
                  <a:srgbClr val="F0F4F8"/>
                </a:solidFill>
                <a:latin typeface="Aptos"/>
              </a:defRPr>
            </a:pPr>
            <a:r>
              <a:t>Race, gender, residence (PUMA)</a:t>
            </a:r>
            <a:br/>
            <a:br/>
            <a:r>
              <a:t>Never model inputs — kept to measure who gets support</a:t>
            </a:r>
          </a:p>
        </p:txBody>
      </p:sp>
      <p:sp>
        <p:nvSpPr>
          <p:cNvPr id="11" name="Rounded Rectangle 10"/>
          <p:cNvSpPr/>
          <p:nvPr/>
        </p:nvSpPr>
        <p:spPr>
          <a:xfrm>
            <a:off x="8046720" y="1645920"/>
            <a:ext cx="3520440" cy="4297680"/>
          </a:xfrm>
          <a:prstGeom prst="roundRect">
            <a:avLst/>
          </a:prstGeom>
          <a:solidFill>
            <a:srgbClr val="143058"/>
          </a:solidFill>
          <a:ln>
            <a:solidFill>
              <a:srgbClr val="D643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75320" y="1920240"/>
            <a:ext cx="3063240" cy="365760"/>
          </a:xfrm>
          <a:prstGeom prst="rect">
            <a:avLst/>
          </a:prstGeom>
          <a:noFill/>
        </p:spPr>
        <p:txBody>
          <a:bodyPr wrap="square" anchor="t">
            <a:spAutoFit/>
          </a:bodyPr>
          <a:lstStyle/>
          <a:p>
            <a:pPr algn="ctr">
              <a:defRPr sz="2000" b="1">
                <a:solidFill>
                  <a:srgbClr val="D64343"/>
                </a:solidFill>
                <a:latin typeface="Aptos"/>
              </a:defRPr>
            </a:pPr>
            <a:r>
              <a:t>EXCLUDED</a:t>
            </a:r>
          </a:p>
        </p:txBody>
      </p:sp>
      <p:sp>
        <p:nvSpPr>
          <p:cNvPr id="13" name="TextBox 12"/>
          <p:cNvSpPr txBox="1"/>
          <p:nvPr/>
        </p:nvSpPr>
        <p:spPr>
          <a:xfrm>
            <a:off x="8366760" y="2633472"/>
            <a:ext cx="2880360" cy="3063240"/>
          </a:xfrm>
          <a:prstGeom prst="rect">
            <a:avLst/>
          </a:prstGeom>
          <a:noFill/>
        </p:spPr>
        <p:txBody>
          <a:bodyPr wrap="square" anchor="t">
            <a:spAutoFit/>
          </a:bodyPr>
          <a:lstStyle/>
          <a:p>
            <a:pPr algn="ctr">
              <a:defRPr sz="1500" b="0">
                <a:solidFill>
                  <a:srgbClr val="F0F4F8"/>
                </a:solidFill>
                <a:latin typeface="Aptos"/>
              </a:defRPr>
            </a:pPr>
            <a:r>
              <a:t>Everything after release: employment, drug tests, violations</a:t>
            </a:r>
            <a:br/>
            <a:br/>
            <a:r>
              <a:t>Positive control: adding them lifts AUC 0.729 → 0.813 — they leak the outcome</a:t>
            </a:r>
          </a:p>
        </p:txBody>
      </p:sp>
      <p:sp>
        <p:nvSpPr>
          <p:cNvPr id="14" name="TextBox 13"/>
          <p:cNvSpPr txBox="1"/>
          <p:nvPr/>
        </p:nvSpPr>
        <p:spPr>
          <a:xfrm>
            <a:off x="594360" y="6510528"/>
            <a:ext cx="3657600" cy="164592"/>
          </a:xfrm>
          <a:prstGeom prst="rect">
            <a:avLst/>
          </a:prstGeom>
          <a:noFill/>
        </p:spPr>
        <p:txBody>
          <a:bodyPr wrap="square" anchor="t">
            <a:spAutoFit/>
          </a:bodyPr>
          <a:lstStyle/>
          <a:p>
            <a:pPr algn="l">
              <a:defRPr sz="800" b="0">
                <a:solidFill>
                  <a:srgbClr val="828FA0"/>
                </a:solidFill>
                <a:latin typeface="Aptos"/>
              </a:defRPr>
            </a:pPr>
            <a:r>
              <a:t>HEC Paris · ISAF · 2026</a:t>
            </a:r>
          </a:p>
        </p:txBody>
      </p:sp>
      <p:sp>
        <p:nvSpPr>
          <p:cNvPr id="15" name="TextBox 14"/>
          <p:cNvSpPr txBox="1"/>
          <p:nvPr/>
        </p:nvSpPr>
        <p:spPr>
          <a:xfrm>
            <a:off x="11109960" y="6492240"/>
            <a:ext cx="411480" cy="164592"/>
          </a:xfrm>
          <a:prstGeom prst="rect">
            <a:avLst/>
          </a:prstGeom>
          <a:noFill/>
        </p:spPr>
        <p:txBody>
          <a:bodyPr wrap="square" anchor="t">
            <a:spAutoFit/>
          </a:bodyPr>
          <a:lstStyle/>
          <a:p>
            <a:pPr algn="r">
              <a:defRPr sz="800" b="0">
                <a:solidFill>
                  <a:srgbClr val="828FA0"/>
                </a:solidFill>
                <a:latin typeface="Aptos"/>
              </a:defRPr>
            </a:pPr>
            <a: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594360" y="256032"/>
            <a:ext cx="10972800" cy="274320"/>
          </a:xfrm>
          <a:prstGeom prst="rect">
            <a:avLst/>
          </a:prstGeom>
          <a:noFill/>
        </p:spPr>
        <p:txBody>
          <a:bodyPr wrap="square" anchor="t">
            <a:spAutoFit/>
          </a:bodyPr>
          <a:lstStyle/>
          <a:p>
            <a:pPr algn="l">
              <a:defRPr sz="1000" b="1">
                <a:solidFill>
                  <a:srgbClr val="FB8500"/>
                </a:solidFill>
                <a:latin typeface="Aptos"/>
              </a:defRPr>
            </a:pPr>
            <a:r>
              <a:t>FEATURES · LEAKAGE</a:t>
            </a:r>
          </a:p>
        </p:txBody>
      </p:sp>
      <p:sp>
        <p:nvSpPr>
          <p:cNvPr id="3" name="TextBox 2"/>
          <p:cNvSpPr txBox="1"/>
          <p:nvPr/>
        </p:nvSpPr>
        <p:spPr>
          <a:xfrm>
            <a:off x="594360" y="621792"/>
            <a:ext cx="10972800" cy="594360"/>
          </a:xfrm>
          <a:prstGeom prst="rect">
            <a:avLst/>
          </a:prstGeom>
          <a:noFill/>
        </p:spPr>
        <p:txBody>
          <a:bodyPr wrap="square" anchor="t">
            <a:spAutoFit/>
          </a:bodyPr>
          <a:lstStyle/>
          <a:p>
            <a:pPr algn="l">
              <a:defRPr sz="2600" b="1">
                <a:solidFill>
                  <a:srgbClr val="FFFFFF"/>
                </a:solidFill>
                <a:latin typeface="Aptos"/>
              </a:defRPr>
            </a:pPr>
            <a:r>
              <a:t>The leak we found: gender was encoded in missingness</a:t>
            </a:r>
          </a:p>
        </p:txBody>
      </p:sp>
      <p:sp>
        <p:nvSpPr>
          <p:cNvPr id="4" name="Rectangle 3"/>
          <p:cNvSpPr/>
          <p:nvPr/>
        </p:nvSpPr>
        <p:spPr>
          <a:xfrm>
            <a:off x="594360" y="1298448"/>
            <a:ext cx="1005840" cy="50292"/>
          </a:xfrm>
          <a:prstGeom prst="rect">
            <a:avLst/>
          </a:prstGeom>
          <a:solidFill>
            <a:srgbClr val="FB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proxy_recovery.png"/>
          <p:cNvPicPr>
            <a:picLocks noChangeAspect="1"/>
          </p:cNvPicPr>
          <p:nvPr/>
        </p:nvPicPr>
        <p:blipFill>
          <a:blip r:embed="rId2"/>
          <a:stretch>
            <a:fillRect/>
          </a:stretch>
        </p:blipFill>
        <p:spPr>
          <a:xfrm>
            <a:off x="365760" y="1554480"/>
            <a:ext cx="7680960" cy="2746265"/>
          </a:xfrm>
          <a:prstGeom prst="rect">
            <a:avLst/>
          </a:prstGeom>
        </p:spPr>
      </p:pic>
      <p:sp>
        <p:nvSpPr>
          <p:cNvPr id="6" name="Rounded Rectangle 5"/>
          <p:cNvSpPr/>
          <p:nvPr/>
        </p:nvSpPr>
        <p:spPr>
          <a:xfrm>
            <a:off x="8321040" y="1554480"/>
            <a:ext cx="3474720" cy="4480560"/>
          </a:xfrm>
          <a:prstGeom prst="roundRect">
            <a:avLst/>
          </a:prstGeom>
          <a:solidFill>
            <a:srgbClr val="143058"/>
          </a:solidFill>
          <a:ln>
            <a:solidFill>
              <a:srgbClr val="D643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49640" y="1828800"/>
            <a:ext cx="3017520" cy="365760"/>
          </a:xfrm>
          <a:prstGeom prst="rect">
            <a:avLst/>
          </a:prstGeom>
          <a:noFill/>
        </p:spPr>
        <p:txBody>
          <a:bodyPr wrap="square" anchor="t">
            <a:spAutoFit/>
          </a:bodyPr>
          <a:lstStyle/>
          <a:p>
            <a:pPr algn="ctr">
              <a:defRPr sz="2000" b="1">
                <a:solidFill>
                  <a:srgbClr val="D64343"/>
                </a:solidFill>
                <a:latin typeface="Aptos"/>
              </a:defRPr>
            </a:pPr>
            <a:r>
              <a:t>WHAT HAPPENED</a:t>
            </a:r>
          </a:p>
        </p:txBody>
      </p:sp>
      <p:sp>
        <p:nvSpPr>
          <p:cNvPr id="8" name="TextBox 7"/>
          <p:cNvSpPr txBox="1"/>
          <p:nvPr/>
        </p:nvSpPr>
        <p:spPr>
          <a:xfrm>
            <a:off x="8641080" y="2542032"/>
            <a:ext cx="2834639" cy="3246120"/>
          </a:xfrm>
          <a:prstGeom prst="rect">
            <a:avLst/>
          </a:prstGeom>
          <a:noFill/>
        </p:spPr>
        <p:txBody>
          <a:bodyPr wrap="square" anchor="t">
            <a:spAutoFit/>
          </a:bodyPr>
          <a:lstStyle/>
          <a:p>
            <a:pPr algn="ctr">
              <a:defRPr sz="1500" b="0">
                <a:solidFill>
                  <a:srgbClr val="F0F4F8"/>
                </a:solidFill>
                <a:latin typeface="Aptos"/>
              </a:defRPr>
            </a:pPr>
            <a:r>
              <a:t>Gang affiliation: missing for every woman, no man</a:t>
            </a:r>
            <a:br/>
            <a:br/>
            <a:r>
              <a:t>Keep missingness → gender recovered at AUC 1.000</a:t>
            </a:r>
            <a:br/>
            <a:br/>
            <a:r>
              <a:t>TabICL treated NaN as a category: it saw gender</a:t>
            </a:r>
            <a:br/>
            <a:br/>
            <a:r>
              <a:t>Fix: mode-fill + regression test. After: AUC 0.78</a:t>
            </a:r>
          </a:p>
        </p:txBody>
      </p:sp>
      <p:sp>
        <p:nvSpPr>
          <p:cNvPr id="9" name="TextBox 8"/>
          <p:cNvSpPr txBox="1"/>
          <p:nvPr/>
        </p:nvSpPr>
        <p:spPr>
          <a:xfrm>
            <a:off x="914400" y="6236208"/>
            <a:ext cx="10058400" cy="274320"/>
          </a:xfrm>
          <a:prstGeom prst="rect">
            <a:avLst/>
          </a:prstGeom>
          <a:noFill/>
        </p:spPr>
        <p:txBody>
          <a:bodyPr wrap="square" anchor="t">
            <a:spAutoFit/>
          </a:bodyPr>
          <a:lstStyle/>
          <a:p>
            <a:pPr algn="ctr">
              <a:defRPr sz="1100" b="1">
                <a:solidFill>
                  <a:srgbClr val="FB8500"/>
                </a:solidFill>
                <a:latin typeface="Aptos"/>
              </a:defRPr>
            </a:pPr>
            <a:r>
              <a:t>Excluding an attribute is not removing it: part of it survives in legitimate features. Fairness picks this up.</a:t>
            </a:r>
          </a:p>
        </p:txBody>
      </p:sp>
      <p:sp>
        <p:nvSpPr>
          <p:cNvPr id="10" name="TextBox 9"/>
          <p:cNvSpPr txBox="1"/>
          <p:nvPr/>
        </p:nvSpPr>
        <p:spPr>
          <a:xfrm>
            <a:off x="594360" y="6510528"/>
            <a:ext cx="3657600" cy="164592"/>
          </a:xfrm>
          <a:prstGeom prst="rect">
            <a:avLst/>
          </a:prstGeom>
          <a:noFill/>
        </p:spPr>
        <p:txBody>
          <a:bodyPr wrap="square" anchor="t">
            <a:spAutoFit/>
          </a:bodyPr>
          <a:lstStyle/>
          <a:p>
            <a:pPr algn="l">
              <a:defRPr sz="800" b="0">
                <a:solidFill>
                  <a:srgbClr val="828FA0"/>
                </a:solidFill>
                <a:latin typeface="Aptos"/>
              </a:defRPr>
            </a:pPr>
            <a:r>
              <a:t>HEC Paris · ISAF · 2026</a:t>
            </a:r>
          </a:p>
        </p:txBody>
      </p:sp>
      <p:sp>
        <p:nvSpPr>
          <p:cNvPr id="11" name="TextBox 10"/>
          <p:cNvSpPr txBox="1"/>
          <p:nvPr/>
        </p:nvSpPr>
        <p:spPr>
          <a:xfrm>
            <a:off x="11109960" y="6492240"/>
            <a:ext cx="411480" cy="164592"/>
          </a:xfrm>
          <a:prstGeom prst="rect">
            <a:avLst/>
          </a:prstGeom>
          <a:noFill/>
        </p:spPr>
        <p:txBody>
          <a:bodyPr wrap="square" anchor="t">
            <a:spAutoFit/>
          </a:bodyPr>
          <a:lstStyle/>
          <a:p>
            <a:pPr algn="r">
              <a:defRPr sz="800" b="0">
                <a:solidFill>
                  <a:srgbClr val="828FA0"/>
                </a:solidFill>
                <a:latin typeface="Aptos"/>
              </a:defRPr>
            </a:pPr>
            <a: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594360" y="256032"/>
            <a:ext cx="10972800" cy="274320"/>
          </a:xfrm>
          <a:prstGeom prst="rect">
            <a:avLst/>
          </a:prstGeom>
          <a:noFill/>
        </p:spPr>
        <p:txBody>
          <a:bodyPr wrap="square" anchor="t">
            <a:spAutoFit/>
          </a:bodyPr>
          <a:lstStyle/>
          <a:p>
            <a:pPr algn="l">
              <a:defRPr sz="1000" b="1">
                <a:solidFill>
                  <a:srgbClr val="FB8500"/>
                </a:solidFill>
                <a:latin typeface="Aptos"/>
              </a:defRPr>
            </a:pPr>
            <a:r>
              <a:t>MODELS · DESIGN</a:t>
            </a:r>
          </a:p>
        </p:txBody>
      </p:sp>
      <p:sp>
        <p:nvSpPr>
          <p:cNvPr id="3" name="TextBox 2"/>
          <p:cNvSpPr txBox="1"/>
          <p:nvPr/>
        </p:nvSpPr>
        <p:spPr>
          <a:xfrm>
            <a:off x="594360" y="621792"/>
            <a:ext cx="10972800" cy="594360"/>
          </a:xfrm>
          <a:prstGeom prst="rect">
            <a:avLst/>
          </a:prstGeom>
          <a:noFill/>
        </p:spPr>
        <p:txBody>
          <a:bodyPr wrap="square" anchor="t">
            <a:spAutoFit/>
          </a:bodyPr>
          <a:lstStyle/>
          <a:p>
            <a:pPr algn="l">
              <a:defRPr sz="2600" b="1">
                <a:solidFill>
                  <a:srgbClr val="FFFFFF"/>
                </a:solidFill>
                <a:latin typeface="Aptos"/>
              </a:defRPr>
            </a:pPr>
            <a:r>
              <a:t>Three model families, each tuned by cross-validation</a:t>
            </a:r>
          </a:p>
        </p:txBody>
      </p:sp>
      <p:sp>
        <p:nvSpPr>
          <p:cNvPr id="4" name="Rectangle 3"/>
          <p:cNvSpPr/>
          <p:nvPr/>
        </p:nvSpPr>
        <p:spPr>
          <a:xfrm>
            <a:off x="594360" y="1298448"/>
            <a:ext cx="1005840" cy="50292"/>
          </a:xfrm>
          <a:prstGeom prst="rect">
            <a:avLst/>
          </a:prstGeom>
          <a:solidFill>
            <a:srgbClr val="FB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645920"/>
            <a:ext cx="3520440" cy="4114800"/>
          </a:xfrm>
          <a:prstGeom prst="roundRect">
            <a:avLst/>
          </a:prstGeom>
          <a:solidFill>
            <a:srgbClr val="143058"/>
          </a:solidFill>
          <a:ln>
            <a:solidFill>
              <a:srgbClr val="00B4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920240"/>
            <a:ext cx="3063240" cy="365760"/>
          </a:xfrm>
          <a:prstGeom prst="rect">
            <a:avLst/>
          </a:prstGeom>
          <a:noFill/>
        </p:spPr>
        <p:txBody>
          <a:bodyPr wrap="square" anchor="t">
            <a:spAutoFit/>
          </a:bodyPr>
          <a:lstStyle/>
          <a:p>
            <a:pPr algn="ctr">
              <a:defRPr sz="2000" b="1">
                <a:solidFill>
                  <a:srgbClr val="00B4B4"/>
                </a:solidFill>
                <a:latin typeface="Aptos"/>
              </a:defRPr>
            </a:pPr>
            <a:r>
              <a:t>LOGISTIC (L1)</a:t>
            </a:r>
          </a:p>
        </p:txBody>
      </p:sp>
      <p:sp>
        <p:nvSpPr>
          <p:cNvPr id="7" name="TextBox 6"/>
          <p:cNvSpPr txBox="1"/>
          <p:nvPr/>
        </p:nvSpPr>
        <p:spPr>
          <a:xfrm>
            <a:off x="960119" y="2633472"/>
            <a:ext cx="2880360" cy="2880360"/>
          </a:xfrm>
          <a:prstGeom prst="rect">
            <a:avLst/>
          </a:prstGeom>
          <a:noFill/>
        </p:spPr>
        <p:txBody>
          <a:bodyPr wrap="square" anchor="t">
            <a:spAutoFit/>
          </a:bodyPr>
          <a:lstStyle/>
          <a:p>
            <a:pPr algn="ctr">
              <a:defRPr sz="1500" b="0">
                <a:solidFill>
                  <a:srgbClr val="F0F4F8"/>
                </a:solidFill>
                <a:latin typeface="Aptos"/>
              </a:defRPr>
            </a:pPr>
            <a:r>
              <a:t>White box</a:t>
            </a:r>
            <a:br/>
            <a:br/>
            <a:r>
              <a:t>One-hot encoding</a:t>
            </a:r>
            <a:br/>
            <a:br/>
            <a:r>
              <a:t>5-fold grid search</a:t>
            </a:r>
            <a:br/>
            <a:r>
              <a:t>C = 0.2154</a:t>
            </a:r>
            <a:br/>
            <a:br/>
            <a:r>
              <a:t>Curve flat for C in [0.05, 1]</a:t>
            </a:r>
          </a:p>
        </p:txBody>
      </p:sp>
      <p:sp>
        <p:nvSpPr>
          <p:cNvPr id="8" name="Rounded Rectangle 7"/>
          <p:cNvSpPr/>
          <p:nvPr/>
        </p:nvSpPr>
        <p:spPr>
          <a:xfrm>
            <a:off x="4343400" y="1645920"/>
            <a:ext cx="3520440" cy="4114800"/>
          </a:xfrm>
          <a:prstGeom prst="roundRect">
            <a:avLst/>
          </a:prstGeom>
          <a:solidFill>
            <a:srgbClr val="143058"/>
          </a:solidFill>
          <a:ln>
            <a:solidFill>
              <a:srgbClr val="FB85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0" y="1920240"/>
            <a:ext cx="3063240" cy="365760"/>
          </a:xfrm>
          <a:prstGeom prst="rect">
            <a:avLst/>
          </a:prstGeom>
          <a:noFill/>
        </p:spPr>
        <p:txBody>
          <a:bodyPr wrap="square" anchor="t">
            <a:spAutoFit/>
          </a:bodyPr>
          <a:lstStyle/>
          <a:p>
            <a:pPr algn="ctr">
              <a:defRPr sz="2000" b="1">
                <a:solidFill>
                  <a:srgbClr val="FB8500"/>
                </a:solidFill>
                <a:latin typeface="Aptos"/>
              </a:defRPr>
            </a:pPr>
            <a:r>
              <a:t>XGBOOST</a:t>
            </a:r>
          </a:p>
        </p:txBody>
      </p:sp>
      <p:sp>
        <p:nvSpPr>
          <p:cNvPr id="10" name="TextBox 9"/>
          <p:cNvSpPr txBox="1"/>
          <p:nvPr/>
        </p:nvSpPr>
        <p:spPr>
          <a:xfrm>
            <a:off x="4663440" y="2633472"/>
            <a:ext cx="2880360" cy="2880360"/>
          </a:xfrm>
          <a:prstGeom prst="rect">
            <a:avLst/>
          </a:prstGeom>
          <a:noFill/>
        </p:spPr>
        <p:txBody>
          <a:bodyPr wrap="square" anchor="t">
            <a:spAutoFit/>
          </a:bodyPr>
          <a:lstStyle/>
          <a:p>
            <a:pPr algn="ctr">
              <a:defRPr sz="1500" b="0">
                <a:solidFill>
                  <a:srgbClr val="F0F4F8"/>
                </a:solidFill>
                <a:latin typeface="Aptos"/>
              </a:defRPr>
            </a:pPr>
            <a:r>
              <a:t>Machine learning</a:t>
            </a:r>
            <a:br/>
            <a:br/>
            <a:r>
              <a:t>Ordinal counts</a:t>
            </a:r>
            <a:br/>
            <a:br/>
            <a:r>
              <a:t>5-fold random search, 60 draws</a:t>
            </a:r>
            <a:br/>
            <a:br/>
            <a:r>
              <a:t>Deeper trees overfit: rejected</a:t>
            </a:r>
          </a:p>
        </p:txBody>
      </p:sp>
      <p:sp>
        <p:nvSpPr>
          <p:cNvPr id="11" name="Rounded Rectangle 10"/>
          <p:cNvSpPr/>
          <p:nvPr/>
        </p:nvSpPr>
        <p:spPr>
          <a:xfrm>
            <a:off x="8046720" y="1645920"/>
            <a:ext cx="3520440" cy="4114800"/>
          </a:xfrm>
          <a:prstGeom prst="roundRect">
            <a:avLst/>
          </a:prstGeom>
          <a:solidFill>
            <a:srgbClr val="143058"/>
          </a:solidFill>
          <a:ln>
            <a:solidFill>
              <a:srgbClr val="7B2C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75320" y="1920240"/>
            <a:ext cx="3063240" cy="365760"/>
          </a:xfrm>
          <a:prstGeom prst="rect">
            <a:avLst/>
          </a:prstGeom>
          <a:noFill/>
        </p:spPr>
        <p:txBody>
          <a:bodyPr wrap="square" anchor="t">
            <a:spAutoFit/>
          </a:bodyPr>
          <a:lstStyle/>
          <a:p>
            <a:pPr algn="ctr">
              <a:defRPr sz="2000" b="1">
                <a:solidFill>
                  <a:srgbClr val="7B2CBF"/>
                </a:solidFill>
                <a:latin typeface="Aptos"/>
              </a:defRPr>
            </a:pPr>
            <a:r>
              <a:t>TABICLv2</a:t>
            </a:r>
          </a:p>
        </p:txBody>
      </p:sp>
      <p:sp>
        <p:nvSpPr>
          <p:cNvPr id="13" name="TextBox 12"/>
          <p:cNvSpPr txBox="1"/>
          <p:nvPr/>
        </p:nvSpPr>
        <p:spPr>
          <a:xfrm>
            <a:off x="8366760" y="2633472"/>
            <a:ext cx="2880360" cy="2880360"/>
          </a:xfrm>
          <a:prstGeom prst="rect">
            <a:avLst/>
          </a:prstGeom>
          <a:noFill/>
        </p:spPr>
        <p:txBody>
          <a:bodyPr wrap="square" anchor="t">
            <a:spAutoFit/>
          </a:bodyPr>
          <a:lstStyle/>
          <a:p>
            <a:pPr algn="ctr">
              <a:defRPr sz="1500" b="0">
                <a:solidFill>
                  <a:srgbClr val="F0F4F8"/>
                </a:solidFill>
                <a:latin typeface="Aptos"/>
              </a:defRPr>
            </a:pPr>
            <a:r>
              <a:t>Foundation model</a:t>
            </a:r>
            <a:br/>
            <a:br/>
            <a:r>
              <a:t>Mixed types, mode-filled</a:t>
            </a:r>
            <a:br/>
            <a:br/>
            <a:r>
              <a:t>16-member ensemble</a:t>
            </a:r>
            <a:br/>
            <a:br/>
            <a:r>
              <a:t>Gains level off near 8</a:t>
            </a:r>
          </a:p>
        </p:txBody>
      </p:sp>
      <p:sp>
        <p:nvSpPr>
          <p:cNvPr id="14" name="TextBox 13"/>
          <p:cNvSpPr txBox="1"/>
          <p:nvPr/>
        </p:nvSpPr>
        <p:spPr>
          <a:xfrm>
            <a:off x="914400" y="6053328"/>
            <a:ext cx="10058400" cy="274320"/>
          </a:xfrm>
          <a:prstGeom prst="rect">
            <a:avLst/>
          </a:prstGeom>
          <a:noFill/>
        </p:spPr>
        <p:txBody>
          <a:bodyPr wrap="square" anchor="t">
            <a:spAutoFit/>
          </a:bodyPr>
          <a:lstStyle/>
          <a:p>
            <a:pPr algn="ctr">
              <a:defRPr sz="1300" b="1">
                <a:solidFill>
                  <a:srgbClr val="FB8500"/>
                </a:solidFill>
                <a:latin typeface="Aptos"/>
              </a:defRPr>
            </a:pPr>
            <a:r>
              <a:t>5 other ML candidates (CatBoost, LightGBM, EBM, …) all land at test AUC 0.729–0.733.</a:t>
            </a:r>
          </a:p>
        </p:txBody>
      </p:sp>
      <p:sp>
        <p:nvSpPr>
          <p:cNvPr id="15" name="TextBox 14"/>
          <p:cNvSpPr txBox="1"/>
          <p:nvPr/>
        </p:nvSpPr>
        <p:spPr>
          <a:xfrm>
            <a:off x="594360" y="6510528"/>
            <a:ext cx="3657600" cy="164592"/>
          </a:xfrm>
          <a:prstGeom prst="rect">
            <a:avLst/>
          </a:prstGeom>
          <a:noFill/>
        </p:spPr>
        <p:txBody>
          <a:bodyPr wrap="square" anchor="t">
            <a:spAutoFit/>
          </a:bodyPr>
          <a:lstStyle/>
          <a:p>
            <a:pPr algn="l">
              <a:defRPr sz="800" b="0">
                <a:solidFill>
                  <a:srgbClr val="828FA0"/>
                </a:solidFill>
                <a:latin typeface="Aptos"/>
              </a:defRPr>
            </a:pPr>
            <a:r>
              <a:t>HEC Paris · ISAF · 2026</a:t>
            </a:r>
          </a:p>
        </p:txBody>
      </p:sp>
      <p:sp>
        <p:nvSpPr>
          <p:cNvPr id="16" name="TextBox 15"/>
          <p:cNvSpPr txBox="1"/>
          <p:nvPr/>
        </p:nvSpPr>
        <p:spPr>
          <a:xfrm>
            <a:off x="11109960" y="6492240"/>
            <a:ext cx="411480" cy="164592"/>
          </a:xfrm>
          <a:prstGeom prst="rect">
            <a:avLst/>
          </a:prstGeom>
          <a:noFill/>
        </p:spPr>
        <p:txBody>
          <a:bodyPr wrap="square" anchor="t">
            <a:spAutoFit/>
          </a:bodyPr>
          <a:lstStyle/>
          <a:p>
            <a:pPr algn="r">
              <a:defRPr sz="800" b="0">
                <a:solidFill>
                  <a:srgbClr val="828FA0"/>
                </a:solidFill>
                <a:latin typeface="Aptos"/>
              </a:defRPr>
            </a:pPr>
            <a: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594360" y="256032"/>
            <a:ext cx="10972800" cy="274320"/>
          </a:xfrm>
          <a:prstGeom prst="rect">
            <a:avLst/>
          </a:prstGeom>
          <a:noFill/>
        </p:spPr>
        <p:txBody>
          <a:bodyPr wrap="square" anchor="t">
            <a:spAutoFit/>
          </a:bodyPr>
          <a:lstStyle/>
          <a:p>
            <a:pPr algn="l">
              <a:defRPr sz="1000" b="1">
                <a:solidFill>
                  <a:srgbClr val="FB8500"/>
                </a:solidFill>
                <a:latin typeface="Aptos"/>
              </a:defRPr>
            </a:pPr>
            <a:r>
              <a:t>MODELS · PERFORMANCE</a:t>
            </a:r>
          </a:p>
        </p:txBody>
      </p:sp>
      <p:sp>
        <p:nvSpPr>
          <p:cNvPr id="3" name="TextBox 2"/>
          <p:cNvSpPr txBox="1"/>
          <p:nvPr/>
        </p:nvSpPr>
        <p:spPr>
          <a:xfrm>
            <a:off x="594360" y="621792"/>
            <a:ext cx="10972800" cy="594360"/>
          </a:xfrm>
          <a:prstGeom prst="rect">
            <a:avLst/>
          </a:prstGeom>
          <a:noFill/>
        </p:spPr>
        <p:txBody>
          <a:bodyPr wrap="square" anchor="t">
            <a:spAutoFit/>
          </a:bodyPr>
          <a:lstStyle/>
          <a:p>
            <a:pPr algn="l">
              <a:defRPr sz="2600" b="1">
                <a:solidFill>
                  <a:srgbClr val="FFFFFF"/>
                </a:solidFill>
                <a:latin typeface="Aptos"/>
              </a:defRPr>
            </a:pPr>
            <a:r>
              <a:t>Statistical performance: effectively a tie</a:t>
            </a:r>
          </a:p>
        </p:txBody>
      </p:sp>
      <p:sp>
        <p:nvSpPr>
          <p:cNvPr id="4" name="Rectangle 3"/>
          <p:cNvSpPr/>
          <p:nvPr/>
        </p:nvSpPr>
        <p:spPr>
          <a:xfrm>
            <a:off x="594360" y="1298448"/>
            <a:ext cx="1005840" cy="50292"/>
          </a:xfrm>
          <a:prstGeom prst="rect">
            <a:avLst/>
          </a:prstGeom>
          <a:solidFill>
            <a:srgbClr val="FB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performance_calibration.png"/>
          <p:cNvPicPr>
            <a:picLocks noChangeAspect="1"/>
          </p:cNvPicPr>
          <p:nvPr/>
        </p:nvPicPr>
        <p:blipFill>
          <a:blip r:embed="rId2"/>
          <a:stretch>
            <a:fillRect/>
          </a:stretch>
        </p:blipFill>
        <p:spPr>
          <a:xfrm>
            <a:off x="411480" y="1572768"/>
            <a:ext cx="7360920" cy="2782056"/>
          </a:xfrm>
          <a:prstGeom prst="rect">
            <a:avLst/>
          </a:prstGeom>
        </p:spPr>
      </p:pic>
      <p:sp>
        <p:nvSpPr>
          <p:cNvPr id="6" name="Rounded Rectangle 5"/>
          <p:cNvSpPr/>
          <p:nvPr/>
        </p:nvSpPr>
        <p:spPr>
          <a:xfrm>
            <a:off x="8458200" y="1737360"/>
            <a:ext cx="2423160" cy="1261872"/>
          </a:xfrm>
          <a:prstGeom prst="roundRect">
            <a:avLst/>
          </a:prstGeom>
          <a:solidFill>
            <a:srgbClr val="143058"/>
          </a:solidFill>
          <a:ln>
            <a:solidFill>
              <a:srgbClr val="FB85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874519"/>
            <a:ext cx="2194560" cy="438912"/>
          </a:xfrm>
          <a:prstGeom prst="rect">
            <a:avLst/>
          </a:prstGeom>
          <a:noFill/>
        </p:spPr>
        <p:txBody>
          <a:bodyPr wrap="square" anchor="t">
            <a:spAutoFit/>
          </a:bodyPr>
          <a:lstStyle/>
          <a:p>
            <a:pPr algn="ctr">
              <a:defRPr sz="1500" b="1">
                <a:solidFill>
                  <a:srgbClr val="FB8500"/>
                </a:solidFill>
                <a:latin typeface="Aptos"/>
              </a:defRPr>
            </a:pPr>
            <a:r>
              <a:t>0.730 / 0.732 / 0.733</a:t>
            </a:r>
          </a:p>
        </p:txBody>
      </p:sp>
      <p:sp>
        <p:nvSpPr>
          <p:cNvPr id="8" name="TextBox 7"/>
          <p:cNvSpPr txBox="1"/>
          <p:nvPr/>
        </p:nvSpPr>
        <p:spPr>
          <a:xfrm>
            <a:off x="8567928" y="2395728"/>
            <a:ext cx="2194560" cy="274320"/>
          </a:xfrm>
          <a:prstGeom prst="rect">
            <a:avLst/>
          </a:prstGeom>
          <a:noFill/>
        </p:spPr>
        <p:txBody>
          <a:bodyPr wrap="square" anchor="t">
            <a:spAutoFit/>
          </a:bodyPr>
          <a:lstStyle/>
          <a:p>
            <a:pPr algn="ctr">
              <a:defRPr sz="1100" b="1">
                <a:solidFill>
                  <a:srgbClr val="FFFFFF"/>
                </a:solidFill>
                <a:latin typeface="Aptos"/>
              </a:defRPr>
            </a:pPr>
            <a:r>
              <a:t>AUC</a:t>
            </a:r>
          </a:p>
        </p:txBody>
      </p:sp>
      <p:sp>
        <p:nvSpPr>
          <p:cNvPr id="9" name="TextBox 8"/>
          <p:cNvSpPr txBox="1"/>
          <p:nvPr/>
        </p:nvSpPr>
        <p:spPr>
          <a:xfrm>
            <a:off x="8567928" y="2706624"/>
            <a:ext cx="2194560" cy="164592"/>
          </a:xfrm>
          <a:prstGeom prst="rect">
            <a:avLst/>
          </a:prstGeom>
          <a:noFill/>
        </p:spPr>
        <p:txBody>
          <a:bodyPr wrap="square" anchor="t">
            <a:spAutoFit/>
          </a:bodyPr>
          <a:lstStyle/>
          <a:p>
            <a:pPr algn="ctr">
              <a:defRPr sz="800" b="0">
                <a:solidFill>
                  <a:srgbClr val="F0F4F8"/>
                </a:solidFill>
                <a:latin typeface="Aptos"/>
              </a:defRPr>
            </a:pPr>
            <a:r>
              <a:t>logistic / XGBoost / TabICL</a:t>
            </a:r>
          </a:p>
        </p:txBody>
      </p:sp>
      <p:sp>
        <p:nvSpPr>
          <p:cNvPr id="10" name="Rounded Rectangle 9"/>
          <p:cNvSpPr/>
          <p:nvPr/>
        </p:nvSpPr>
        <p:spPr>
          <a:xfrm>
            <a:off x="8458200" y="3200400"/>
            <a:ext cx="2423160" cy="1261872"/>
          </a:xfrm>
          <a:prstGeom prst="roundRect">
            <a:avLst/>
          </a:prstGeom>
          <a:solidFill>
            <a:srgbClr val="143058"/>
          </a:solidFill>
          <a:ln>
            <a:solidFill>
              <a:srgbClr val="00B4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67928" y="3337560"/>
            <a:ext cx="2194560" cy="438912"/>
          </a:xfrm>
          <a:prstGeom prst="rect">
            <a:avLst/>
          </a:prstGeom>
          <a:noFill/>
        </p:spPr>
        <p:txBody>
          <a:bodyPr wrap="square" anchor="t">
            <a:spAutoFit/>
          </a:bodyPr>
          <a:lstStyle/>
          <a:p>
            <a:pPr algn="ctr">
              <a:defRPr sz="2400" b="1">
                <a:solidFill>
                  <a:srgbClr val="00B4B4"/>
                </a:solidFill>
                <a:latin typeface="Aptos"/>
              </a:defRPr>
            </a:pPr>
            <a:r>
              <a:t>+0.0025</a:t>
            </a:r>
          </a:p>
        </p:txBody>
      </p:sp>
      <p:sp>
        <p:nvSpPr>
          <p:cNvPr id="12" name="TextBox 11"/>
          <p:cNvSpPr txBox="1"/>
          <p:nvPr/>
        </p:nvSpPr>
        <p:spPr>
          <a:xfrm>
            <a:off x="8567928" y="3858768"/>
            <a:ext cx="2194560" cy="274320"/>
          </a:xfrm>
          <a:prstGeom prst="rect">
            <a:avLst/>
          </a:prstGeom>
          <a:noFill/>
        </p:spPr>
        <p:txBody>
          <a:bodyPr wrap="square" anchor="t">
            <a:spAutoFit/>
          </a:bodyPr>
          <a:lstStyle/>
          <a:p>
            <a:pPr algn="ctr">
              <a:defRPr sz="1100" b="1">
                <a:solidFill>
                  <a:srgbClr val="FFFFFF"/>
                </a:solidFill>
                <a:latin typeface="Aptos"/>
              </a:defRPr>
            </a:pPr>
            <a:r>
              <a:t>AUC GAP · XGB − LOGIT</a:t>
            </a:r>
          </a:p>
        </p:txBody>
      </p:sp>
      <p:sp>
        <p:nvSpPr>
          <p:cNvPr id="13" name="TextBox 12"/>
          <p:cNvSpPr txBox="1"/>
          <p:nvPr/>
        </p:nvSpPr>
        <p:spPr>
          <a:xfrm>
            <a:off x="8567928" y="4169664"/>
            <a:ext cx="2194560" cy="164592"/>
          </a:xfrm>
          <a:prstGeom prst="rect">
            <a:avLst/>
          </a:prstGeom>
          <a:noFill/>
        </p:spPr>
        <p:txBody>
          <a:bodyPr wrap="square" anchor="t">
            <a:spAutoFit/>
          </a:bodyPr>
          <a:lstStyle/>
          <a:p>
            <a:pPr algn="ctr">
              <a:defRPr sz="800" b="0">
                <a:solidFill>
                  <a:srgbClr val="F0F4F8"/>
                </a:solidFill>
                <a:latin typeface="Aptos"/>
              </a:defRPr>
            </a:pPr>
            <a:r>
              <a:t>paired bootstrap: real, but small</a:t>
            </a:r>
          </a:p>
        </p:txBody>
      </p:sp>
      <p:sp>
        <p:nvSpPr>
          <p:cNvPr id="14" name="Rounded Rectangle 13"/>
          <p:cNvSpPr/>
          <p:nvPr/>
        </p:nvSpPr>
        <p:spPr>
          <a:xfrm>
            <a:off x="8458200" y="4663440"/>
            <a:ext cx="2423160" cy="1261872"/>
          </a:xfrm>
          <a:prstGeom prst="roundRect">
            <a:avLst/>
          </a:prstGeom>
          <a:solidFill>
            <a:srgbClr val="143058"/>
          </a:solidFill>
          <a:ln>
            <a:solidFill>
              <a:srgbClr val="7B2C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67928" y="4800600"/>
            <a:ext cx="2194560" cy="438912"/>
          </a:xfrm>
          <a:prstGeom prst="rect">
            <a:avLst/>
          </a:prstGeom>
          <a:noFill/>
        </p:spPr>
        <p:txBody>
          <a:bodyPr wrap="square" anchor="t">
            <a:spAutoFit/>
          </a:bodyPr>
          <a:lstStyle/>
          <a:p>
            <a:pPr algn="ctr">
              <a:defRPr sz="1600" b="1">
                <a:solidFill>
                  <a:srgbClr val="7B2CBF"/>
                </a:solidFill>
                <a:latin typeface="Aptos"/>
              </a:defRPr>
            </a:pPr>
            <a:r>
              <a:t>1.00 / 1.00 / 0.91</a:t>
            </a:r>
          </a:p>
        </p:txBody>
      </p:sp>
      <p:sp>
        <p:nvSpPr>
          <p:cNvPr id="16" name="TextBox 15"/>
          <p:cNvSpPr txBox="1"/>
          <p:nvPr/>
        </p:nvSpPr>
        <p:spPr>
          <a:xfrm>
            <a:off x="8567928" y="5321807"/>
            <a:ext cx="2194560" cy="274320"/>
          </a:xfrm>
          <a:prstGeom prst="rect">
            <a:avLst/>
          </a:prstGeom>
          <a:noFill/>
        </p:spPr>
        <p:txBody>
          <a:bodyPr wrap="square" anchor="t">
            <a:spAutoFit/>
          </a:bodyPr>
          <a:lstStyle/>
          <a:p>
            <a:pPr algn="ctr">
              <a:defRPr sz="1100" b="1">
                <a:solidFill>
                  <a:srgbClr val="FFFFFF"/>
                </a:solidFill>
                <a:latin typeface="Aptos"/>
              </a:defRPr>
            </a:pPr>
            <a:r>
              <a:t>CALIBRATION SLOPE</a:t>
            </a:r>
          </a:p>
        </p:txBody>
      </p:sp>
      <p:sp>
        <p:nvSpPr>
          <p:cNvPr id="17" name="TextBox 16"/>
          <p:cNvSpPr txBox="1"/>
          <p:nvPr/>
        </p:nvSpPr>
        <p:spPr>
          <a:xfrm>
            <a:off x="8567928" y="5632704"/>
            <a:ext cx="2194560" cy="164592"/>
          </a:xfrm>
          <a:prstGeom prst="rect">
            <a:avLst/>
          </a:prstGeom>
          <a:noFill/>
        </p:spPr>
        <p:txBody>
          <a:bodyPr wrap="square" anchor="t">
            <a:spAutoFit/>
          </a:bodyPr>
          <a:lstStyle/>
          <a:p>
            <a:pPr algn="ctr">
              <a:defRPr sz="800" b="0">
                <a:solidFill>
                  <a:srgbClr val="F0F4F8"/>
                </a:solidFill>
                <a:latin typeface="Aptos"/>
              </a:defRPr>
            </a:pPr>
            <a:r>
              <a:t>TabICL too extreme (significant)</a:t>
            </a:r>
          </a:p>
        </p:txBody>
      </p:sp>
      <p:sp>
        <p:nvSpPr>
          <p:cNvPr id="18" name="TextBox 17"/>
          <p:cNvSpPr txBox="1"/>
          <p:nvPr/>
        </p:nvSpPr>
        <p:spPr>
          <a:xfrm>
            <a:off x="914400" y="6263640"/>
            <a:ext cx="10058400" cy="274320"/>
          </a:xfrm>
          <a:prstGeom prst="rect">
            <a:avLst/>
          </a:prstGeom>
          <a:noFill/>
        </p:spPr>
        <p:txBody>
          <a:bodyPr wrap="square" anchor="t">
            <a:spAutoFit/>
          </a:bodyPr>
          <a:lstStyle/>
          <a:p>
            <a:pPr algn="ctr">
              <a:defRPr sz="1100" b="1">
                <a:solidFill>
                  <a:srgbClr val="828FA0"/>
                </a:solidFill>
                <a:latin typeface="Aptos"/>
              </a:defRPr>
            </a:pPr>
            <a:r>
              <a:t>All three within ~0.003 AUC. Performance alone cannot pick the model.</a:t>
            </a:r>
          </a:p>
        </p:txBody>
      </p:sp>
      <p:sp>
        <p:nvSpPr>
          <p:cNvPr id="19" name="TextBox 18"/>
          <p:cNvSpPr txBox="1"/>
          <p:nvPr/>
        </p:nvSpPr>
        <p:spPr>
          <a:xfrm>
            <a:off x="594360" y="6510528"/>
            <a:ext cx="3657600" cy="164592"/>
          </a:xfrm>
          <a:prstGeom prst="rect">
            <a:avLst/>
          </a:prstGeom>
          <a:noFill/>
        </p:spPr>
        <p:txBody>
          <a:bodyPr wrap="square" anchor="t">
            <a:spAutoFit/>
          </a:bodyPr>
          <a:lstStyle/>
          <a:p>
            <a:pPr algn="l">
              <a:defRPr sz="800" b="0">
                <a:solidFill>
                  <a:srgbClr val="828FA0"/>
                </a:solidFill>
                <a:latin typeface="Aptos"/>
              </a:defRPr>
            </a:pPr>
            <a:r>
              <a:t>HEC Paris · ISAF · 2026</a:t>
            </a:r>
          </a:p>
        </p:txBody>
      </p:sp>
      <p:sp>
        <p:nvSpPr>
          <p:cNvPr id="20" name="TextBox 19"/>
          <p:cNvSpPr txBox="1"/>
          <p:nvPr/>
        </p:nvSpPr>
        <p:spPr>
          <a:xfrm>
            <a:off x="11109960" y="6492240"/>
            <a:ext cx="411480" cy="164592"/>
          </a:xfrm>
          <a:prstGeom prst="rect">
            <a:avLst/>
          </a:prstGeom>
          <a:noFill/>
        </p:spPr>
        <p:txBody>
          <a:bodyPr wrap="square" anchor="t">
            <a:spAutoFit/>
          </a:bodyPr>
          <a:lstStyle/>
          <a:p>
            <a:pPr algn="r">
              <a:defRPr sz="800" b="0">
                <a:solidFill>
                  <a:srgbClr val="828FA0"/>
                </a:solidFill>
                <a:latin typeface="Aptos"/>
              </a:defRPr>
            </a:pPr>
            <a: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594360" y="256032"/>
            <a:ext cx="10972800" cy="274320"/>
          </a:xfrm>
          <a:prstGeom prst="rect">
            <a:avLst/>
          </a:prstGeom>
          <a:noFill/>
        </p:spPr>
        <p:txBody>
          <a:bodyPr wrap="square" anchor="t">
            <a:spAutoFit/>
          </a:bodyPr>
          <a:lstStyle/>
          <a:p>
            <a:pPr algn="l">
              <a:defRPr sz="1000" b="1">
                <a:solidFill>
                  <a:srgbClr val="FB8500"/>
                </a:solidFill>
                <a:latin typeface="Aptos"/>
              </a:defRPr>
            </a:pPr>
            <a:r>
              <a:t>MODELS · INCUMBENT</a:t>
            </a:r>
          </a:p>
        </p:txBody>
      </p:sp>
      <p:sp>
        <p:nvSpPr>
          <p:cNvPr id="3" name="TextBox 2"/>
          <p:cNvSpPr txBox="1"/>
          <p:nvPr/>
        </p:nvSpPr>
        <p:spPr>
          <a:xfrm>
            <a:off x="594360" y="621792"/>
            <a:ext cx="10972800" cy="594360"/>
          </a:xfrm>
          <a:prstGeom prst="rect">
            <a:avLst/>
          </a:prstGeom>
          <a:noFill/>
        </p:spPr>
        <p:txBody>
          <a:bodyPr wrap="square" anchor="t">
            <a:spAutoFit/>
          </a:bodyPr>
          <a:lstStyle/>
          <a:p>
            <a:pPr algn="l">
              <a:defRPr sz="2600" b="1">
                <a:solidFill>
                  <a:srgbClr val="FFFFFF"/>
                </a:solidFill>
                <a:latin typeface="Aptos"/>
              </a:defRPr>
            </a:pPr>
            <a:r>
              <a:t>The client's real question: better than today's score?</a:t>
            </a:r>
          </a:p>
        </p:txBody>
      </p:sp>
      <p:sp>
        <p:nvSpPr>
          <p:cNvPr id="4" name="Rectangle 3"/>
          <p:cNvSpPr/>
          <p:nvPr/>
        </p:nvSpPr>
        <p:spPr>
          <a:xfrm>
            <a:off x="594360" y="1298448"/>
            <a:ext cx="1005840" cy="50292"/>
          </a:xfrm>
          <a:prstGeom prst="rect">
            <a:avLst/>
          </a:prstGeom>
          <a:solidFill>
            <a:srgbClr val="FB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ncumbent_benchmark.png"/>
          <p:cNvPicPr>
            <a:picLocks noChangeAspect="1"/>
          </p:cNvPicPr>
          <p:nvPr/>
        </p:nvPicPr>
        <p:blipFill>
          <a:blip r:embed="rId2"/>
          <a:stretch>
            <a:fillRect/>
          </a:stretch>
        </p:blipFill>
        <p:spPr>
          <a:xfrm>
            <a:off x="411480" y="1600200"/>
            <a:ext cx="7589520" cy="2102241"/>
          </a:xfrm>
          <a:prstGeom prst="rect">
            <a:avLst/>
          </a:prstGeom>
        </p:spPr>
      </p:pic>
      <p:sp>
        <p:nvSpPr>
          <p:cNvPr id="6" name="Rounded Rectangle 5"/>
          <p:cNvSpPr/>
          <p:nvPr/>
        </p:nvSpPr>
        <p:spPr>
          <a:xfrm>
            <a:off x="8458200" y="1737360"/>
            <a:ext cx="2423160" cy="1261872"/>
          </a:xfrm>
          <a:prstGeom prst="roundRect">
            <a:avLst/>
          </a:prstGeom>
          <a:solidFill>
            <a:srgbClr val="143058"/>
          </a:solidFill>
          <a:ln>
            <a:solidFill>
              <a:srgbClr val="D643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874519"/>
            <a:ext cx="2194560" cy="438912"/>
          </a:xfrm>
          <a:prstGeom prst="rect">
            <a:avLst/>
          </a:prstGeom>
          <a:noFill/>
        </p:spPr>
        <p:txBody>
          <a:bodyPr wrap="square" anchor="t">
            <a:spAutoFit/>
          </a:bodyPr>
          <a:lstStyle/>
          <a:p>
            <a:pPr algn="ctr">
              <a:defRPr sz="2400" b="1">
                <a:solidFill>
                  <a:srgbClr val="D64343"/>
                </a:solidFill>
                <a:latin typeface="Aptos"/>
              </a:defRPr>
            </a:pPr>
            <a:r>
              <a:t>0.60</a:t>
            </a:r>
          </a:p>
        </p:txBody>
      </p:sp>
      <p:sp>
        <p:nvSpPr>
          <p:cNvPr id="8" name="TextBox 7"/>
          <p:cNvSpPr txBox="1"/>
          <p:nvPr/>
        </p:nvSpPr>
        <p:spPr>
          <a:xfrm>
            <a:off x="8567928" y="2395728"/>
            <a:ext cx="2194560" cy="274320"/>
          </a:xfrm>
          <a:prstGeom prst="rect">
            <a:avLst/>
          </a:prstGeom>
          <a:noFill/>
        </p:spPr>
        <p:txBody>
          <a:bodyPr wrap="square" anchor="t">
            <a:spAutoFit/>
          </a:bodyPr>
          <a:lstStyle/>
          <a:p>
            <a:pPr algn="ctr">
              <a:defRPr sz="1100" b="1">
                <a:solidFill>
                  <a:srgbClr val="FFFFFF"/>
                </a:solidFill>
                <a:latin typeface="Aptos"/>
              </a:defRPr>
            </a:pPr>
            <a:r>
              <a:t>HISTORICAL SCORE AUC</a:t>
            </a:r>
          </a:p>
        </p:txBody>
      </p:sp>
      <p:sp>
        <p:nvSpPr>
          <p:cNvPr id="9" name="TextBox 8"/>
          <p:cNvSpPr txBox="1"/>
          <p:nvPr/>
        </p:nvSpPr>
        <p:spPr>
          <a:xfrm>
            <a:off x="8567928" y="2706624"/>
            <a:ext cx="2194560" cy="164592"/>
          </a:xfrm>
          <a:prstGeom prst="rect">
            <a:avLst/>
          </a:prstGeom>
          <a:noFill/>
        </p:spPr>
        <p:txBody>
          <a:bodyPr wrap="square" anchor="t">
            <a:spAutoFit/>
          </a:bodyPr>
          <a:lstStyle/>
          <a:p>
            <a:pPr algn="ctr">
              <a:defRPr sz="800" b="0">
                <a:solidFill>
                  <a:srgbClr val="F0F4F8"/>
                </a:solidFill>
                <a:latin typeface="Aptos"/>
              </a:defRPr>
            </a:pPr>
            <a:r>
              <a:t>Georgia supervision score in the data</a:t>
            </a:r>
          </a:p>
        </p:txBody>
      </p:sp>
      <p:sp>
        <p:nvSpPr>
          <p:cNvPr id="10" name="Rounded Rectangle 9"/>
          <p:cNvSpPr/>
          <p:nvPr/>
        </p:nvSpPr>
        <p:spPr>
          <a:xfrm>
            <a:off x="8458200" y="3200400"/>
            <a:ext cx="2423160" cy="1261872"/>
          </a:xfrm>
          <a:prstGeom prst="roundRect">
            <a:avLst/>
          </a:prstGeom>
          <a:solidFill>
            <a:srgbClr val="143058"/>
          </a:solidFill>
          <a:ln>
            <a:solidFill>
              <a:srgbClr val="00B4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67928" y="3337560"/>
            <a:ext cx="2194560" cy="438912"/>
          </a:xfrm>
          <a:prstGeom prst="rect">
            <a:avLst/>
          </a:prstGeom>
          <a:noFill/>
        </p:spPr>
        <p:txBody>
          <a:bodyPr wrap="square" anchor="t">
            <a:spAutoFit/>
          </a:bodyPr>
          <a:lstStyle/>
          <a:p>
            <a:pPr algn="ctr">
              <a:defRPr sz="2400" b="1">
                <a:solidFill>
                  <a:srgbClr val="00B4B4"/>
                </a:solidFill>
                <a:latin typeface="Aptos"/>
              </a:defRPr>
            </a:pPr>
            <a:r>
              <a:t>≈ 0.73</a:t>
            </a:r>
          </a:p>
        </p:txBody>
      </p:sp>
      <p:sp>
        <p:nvSpPr>
          <p:cNvPr id="12" name="TextBox 11"/>
          <p:cNvSpPr txBox="1"/>
          <p:nvPr/>
        </p:nvSpPr>
        <p:spPr>
          <a:xfrm>
            <a:off x="8567928" y="3858768"/>
            <a:ext cx="2194560" cy="274320"/>
          </a:xfrm>
          <a:prstGeom prst="rect">
            <a:avLst/>
          </a:prstGeom>
          <a:noFill/>
        </p:spPr>
        <p:txBody>
          <a:bodyPr wrap="square" anchor="t">
            <a:spAutoFit/>
          </a:bodyPr>
          <a:lstStyle/>
          <a:p>
            <a:pPr algn="ctr">
              <a:defRPr sz="1100" b="1">
                <a:solidFill>
                  <a:srgbClr val="FFFFFF"/>
                </a:solidFill>
                <a:latin typeface="Aptos"/>
              </a:defRPr>
            </a:pPr>
            <a:r>
              <a:t>OUR MODELS AUC</a:t>
            </a:r>
          </a:p>
        </p:txBody>
      </p:sp>
      <p:sp>
        <p:nvSpPr>
          <p:cNvPr id="13" name="TextBox 12"/>
          <p:cNvSpPr txBox="1"/>
          <p:nvPr/>
        </p:nvSpPr>
        <p:spPr>
          <a:xfrm>
            <a:off x="8567928" y="4169664"/>
            <a:ext cx="2194560" cy="164592"/>
          </a:xfrm>
          <a:prstGeom prst="rect">
            <a:avLst/>
          </a:prstGeom>
          <a:noFill/>
        </p:spPr>
        <p:txBody>
          <a:bodyPr wrap="square" anchor="t">
            <a:spAutoFit/>
          </a:bodyPr>
          <a:lstStyle/>
          <a:p>
            <a:pPr algn="ctr">
              <a:defRPr sz="800" b="0">
                <a:solidFill>
                  <a:srgbClr val="F0F4F8"/>
                </a:solidFill>
                <a:latin typeface="Aptos"/>
              </a:defRPr>
            </a:pPr>
            <a:r>
              <a:t>all three models</a:t>
            </a:r>
          </a:p>
        </p:txBody>
      </p:sp>
      <p:sp>
        <p:nvSpPr>
          <p:cNvPr id="14" name="Rounded Rectangle 13"/>
          <p:cNvSpPr/>
          <p:nvPr/>
        </p:nvSpPr>
        <p:spPr>
          <a:xfrm>
            <a:off x="8458200" y="4663440"/>
            <a:ext cx="2423160" cy="1261872"/>
          </a:xfrm>
          <a:prstGeom prst="roundRect">
            <a:avLst/>
          </a:prstGeom>
          <a:solidFill>
            <a:srgbClr val="143058"/>
          </a:solidFill>
          <a:ln>
            <a:solidFill>
              <a:srgbClr val="FB85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67928" y="4800600"/>
            <a:ext cx="2194560" cy="438912"/>
          </a:xfrm>
          <a:prstGeom prst="rect">
            <a:avLst/>
          </a:prstGeom>
          <a:noFill/>
        </p:spPr>
        <p:txBody>
          <a:bodyPr wrap="square" anchor="t">
            <a:spAutoFit/>
          </a:bodyPr>
          <a:lstStyle/>
          <a:p>
            <a:pPr algn="ctr">
              <a:defRPr sz="1800" b="1">
                <a:solidFill>
                  <a:srgbClr val="FB8500"/>
                </a:solidFill>
                <a:latin typeface="Aptos"/>
              </a:defRPr>
            </a:pPr>
            <a:r>
              <a:t>$2.73M → $5.04M</a:t>
            </a:r>
          </a:p>
        </p:txBody>
      </p:sp>
      <p:sp>
        <p:nvSpPr>
          <p:cNvPr id="16" name="TextBox 15"/>
          <p:cNvSpPr txBox="1"/>
          <p:nvPr/>
        </p:nvSpPr>
        <p:spPr>
          <a:xfrm>
            <a:off x="8567928" y="5321807"/>
            <a:ext cx="2194560" cy="274320"/>
          </a:xfrm>
          <a:prstGeom prst="rect">
            <a:avLst/>
          </a:prstGeom>
          <a:noFill/>
        </p:spPr>
        <p:txBody>
          <a:bodyPr wrap="square" anchor="t">
            <a:spAutoFit/>
          </a:bodyPr>
          <a:lstStyle/>
          <a:p>
            <a:pPr algn="ctr">
              <a:defRPr sz="1100" b="1">
                <a:solidFill>
                  <a:srgbClr val="FFFFFF"/>
                </a:solidFill>
                <a:latin typeface="Aptos"/>
              </a:defRPr>
            </a:pPr>
            <a:r>
              <a:t>NET VALUE @20%</a:t>
            </a:r>
          </a:p>
        </p:txBody>
      </p:sp>
      <p:sp>
        <p:nvSpPr>
          <p:cNvPr id="17" name="TextBox 16"/>
          <p:cNvSpPr txBox="1"/>
          <p:nvPr/>
        </p:nvSpPr>
        <p:spPr>
          <a:xfrm>
            <a:off x="8567928" y="5632704"/>
            <a:ext cx="2194560" cy="164592"/>
          </a:xfrm>
          <a:prstGeom prst="rect">
            <a:avLst/>
          </a:prstGeom>
          <a:noFill/>
        </p:spPr>
        <p:txBody>
          <a:bodyPr wrap="square" anchor="t">
            <a:spAutoFit/>
          </a:bodyPr>
          <a:lstStyle/>
          <a:p>
            <a:pPr algn="ctr">
              <a:defRPr sz="800" b="0">
                <a:solidFill>
                  <a:srgbClr val="F0F4F8"/>
                </a:solidFill>
                <a:latin typeface="Aptos"/>
              </a:defRPr>
            </a:pPr>
            <a:r>
              <a:t>scenario: $5k cost, $50k event, 20% effect</a:t>
            </a:r>
          </a:p>
        </p:txBody>
      </p:sp>
      <p:sp>
        <p:nvSpPr>
          <p:cNvPr id="18" name="TextBox 17"/>
          <p:cNvSpPr txBox="1"/>
          <p:nvPr/>
        </p:nvSpPr>
        <p:spPr>
          <a:xfrm>
            <a:off x="914400" y="6263640"/>
            <a:ext cx="10058400" cy="274320"/>
          </a:xfrm>
          <a:prstGeom prst="rect">
            <a:avLst/>
          </a:prstGeom>
          <a:noFill/>
        </p:spPr>
        <p:txBody>
          <a:bodyPr wrap="square" anchor="t">
            <a:spAutoFit/>
          </a:bodyPr>
          <a:lstStyle/>
          <a:p>
            <a:pPr algn="ctr">
              <a:defRPr sz="1100" b="1">
                <a:solidFill>
                  <a:srgbClr val="FB8500"/>
                </a:solidFill>
                <a:latin typeface="Aptos"/>
              </a:defRPr>
            </a:pPr>
            <a:r>
              <a:t>Models beat the historical score at every capacity. Dollars are a scenario, not a causal estimate.</a:t>
            </a:r>
          </a:p>
        </p:txBody>
      </p:sp>
      <p:sp>
        <p:nvSpPr>
          <p:cNvPr id="19" name="TextBox 18"/>
          <p:cNvSpPr txBox="1"/>
          <p:nvPr/>
        </p:nvSpPr>
        <p:spPr>
          <a:xfrm>
            <a:off x="594360" y="6510528"/>
            <a:ext cx="3657600" cy="164592"/>
          </a:xfrm>
          <a:prstGeom prst="rect">
            <a:avLst/>
          </a:prstGeom>
          <a:noFill/>
        </p:spPr>
        <p:txBody>
          <a:bodyPr wrap="square" anchor="t">
            <a:spAutoFit/>
          </a:bodyPr>
          <a:lstStyle/>
          <a:p>
            <a:pPr algn="l">
              <a:defRPr sz="800" b="0">
                <a:solidFill>
                  <a:srgbClr val="828FA0"/>
                </a:solidFill>
                <a:latin typeface="Aptos"/>
              </a:defRPr>
            </a:pPr>
            <a:r>
              <a:t>HEC Paris · ISAF · 2026</a:t>
            </a:r>
          </a:p>
        </p:txBody>
      </p:sp>
      <p:sp>
        <p:nvSpPr>
          <p:cNvPr id="20" name="TextBox 19"/>
          <p:cNvSpPr txBox="1"/>
          <p:nvPr/>
        </p:nvSpPr>
        <p:spPr>
          <a:xfrm>
            <a:off x="11109960" y="6492240"/>
            <a:ext cx="411480" cy="164592"/>
          </a:xfrm>
          <a:prstGeom prst="rect">
            <a:avLst/>
          </a:prstGeom>
          <a:noFill/>
        </p:spPr>
        <p:txBody>
          <a:bodyPr wrap="square" anchor="t">
            <a:spAutoFit/>
          </a:bodyPr>
          <a:lstStyle/>
          <a:p>
            <a:pPr algn="r">
              <a:defRPr sz="800" b="0">
                <a:solidFill>
                  <a:srgbClr val="828FA0"/>
                </a:solidFill>
                <a:latin typeface="Aptos"/>
              </a:defRPr>
            </a:pPr>
            <a: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594360" y="256032"/>
            <a:ext cx="10972800" cy="274320"/>
          </a:xfrm>
          <a:prstGeom prst="rect">
            <a:avLst/>
          </a:prstGeom>
          <a:noFill/>
        </p:spPr>
        <p:txBody>
          <a:bodyPr wrap="square" anchor="t">
            <a:spAutoFit/>
          </a:bodyPr>
          <a:lstStyle/>
          <a:p>
            <a:pPr algn="l">
              <a:defRPr sz="1000" b="1">
                <a:solidFill>
                  <a:srgbClr val="FB8500"/>
                </a:solidFill>
                <a:latin typeface="Aptos"/>
              </a:defRPr>
            </a:pPr>
            <a:r>
              <a:t>INTERPRETABILITY · GLOBAL</a:t>
            </a:r>
          </a:p>
        </p:txBody>
      </p:sp>
      <p:sp>
        <p:nvSpPr>
          <p:cNvPr id="3" name="TextBox 2"/>
          <p:cNvSpPr txBox="1"/>
          <p:nvPr/>
        </p:nvSpPr>
        <p:spPr>
          <a:xfrm>
            <a:off x="594360" y="621792"/>
            <a:ext cx="10972800" cy="594360"/>
          </a:xfrm>
          <a:prstGeom prst="rect">
            <a:avLst/>
          </a:prstGeom>
          <a:noFill/>
        </p:spPr>
        <p:txBody>
          <a:bodyPr wrap="square" anchor="t">
            <a:spAutoFit/>
          </a:bodyPr>
          <a:lstStyle/>
          <a:p>
            <a:pPr algn="l">
              <a:defRPr sz="2600" b="1">
                <a:solidFill>
                  <a:srgbClr val="FFFFFF"/>
                </a:solidFill>
                <a:latin typeface="Aptos"/>
              </a:defRPr>
            </a:pPr>
            <a:r>
              <a:t>What drives the score</a:t>
            </a:r>
          </a:p>
        </p:txBody>
      </p:sp>
      <p:sp>
        <p:nvSpPr>
          <p:cNvPr id="4" name="Rectangle 3"/>
          <p:cNvSpPr/>
          <p:nvPr/>
        </p:nvSpPr>
        <p:spPr>
          <a:xfrm>
            <a:off x="594360" y="1298448"/>
            <a:ext cx="1005840" cy="50292"/>
          </a:xfrm>
          <a:prstGeom prst="rect">
            <a:avLst/>
          </a:prstGeom>
          <a:solidFill>
            <a:srgbClr val="FB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hap_global.png"/>
          <p:cNvPicPr>
            <a:picLocks noChangeAspect="1"/>
          </p:cNvPicPr>
          <p:nvPr/>
        </p:nvPicPr>
        <p:blipFill>
          <a:blip r:embed="rId2"/>
          <a:stretch>
            <a:fillRect/>
          </a:stretch>
        </p:blipFill>
        <p:spPr>
          <a:xfrm>
            <a:off x="365760" y="1554480"/>
            <a:ext cx="7863840" cy="3342410"/>
          </a:xfrm>
          <a:prstGeom prst="rect">
            <a:avLst/>
          </a:prstGeom>
        </p:spPr>
      </p:pic>
      <p:sp>
        <p:nvSpPr>
          <p:cNvPr id="6" name="Rounded Rectangle 5"/>
          <p:cNvSpPr/>
          <p:nvPr/>
        </p:nvSpPr>
        <p:spPr>
          <a:xfrm>
            <a:off x="8549640" y="1737360"/>
            <a:ext cx="2423160" cy="1261872"/>
          </a:xfrm>
          <a:prstGeom prst="roundRect">
            <a:avLst/>
          </a:prstGeom>
          <a:solidFill>
            <a:srgbClr val="143058"/>
          </a:solidFill>
          <a:ln>
            <a:solidFill>
              <a:srgbClr val="00B4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59367" y="1874519"/>
            <a:ext cx="2194560" cy="438912"/>
          </a:xfrm>
          <a:prstGeom prst="rect">
            <a:avLst/>
          </a:prstGeom>
          <a:noFill/>
        </p:spPr>
        <p:txBody>
          <a:bodyPr wrap="square" anchor="t">
            <a:spAutoFit/>
          </a:bodyPr>
          <a:lstStyle/>
          <a:p>
            <a:pPr algn="ctr">
              <a:defRPr sz="2400" b="1">
                <a:solidFill>
                  <a:srgbClr val="00B4B4"/>
                </a:solidFill>
                <a:latin typeface="Aptos"/>
              </a:defRPr>
            </a:pPr>
            <a:r>
              <a:t>-27 pts</a:t>
            </a:r>
          </a:p>
        </p:txBody>
      </p:sp>
      <p:sp>
        <p:nvSpPr>
          <p:cNvPr id="8" name="TextBox 7"/>
          <p:cNvSpPr txBox="1"/>
          <p:nvPr/>
        </p:nvSpPr>
        <p:spPr>
          <a:xfrm>
            <a:off x="8659367" y="2395728"/>
            <a:ext cx="2194560" cy="274320"/>
          </a:xfrm>
          <a:prstGeom prst="rect">
            <a:avLst/>
          </a:prstGeom>
          <a:noFill/>
        </p:spPr>
        <p:txBody>
          <a:bodyPr wrap="square" anchor="t">
            <a:spAutoFit/>
          </a:bodyPr>
          <a:lstStyle/>
          <a:p>
            <a:pPr algn="ctr">
              <a:defRPr sz="1100" b="1">
                <a:solidFill>
                  <a:srgbClr val="FFFFFF"/>
                </a:solidFill>
                <a:latin typeface="Aptos"/>
              </a:defRPr>
            </a:pPr>
            <a:r>
              <a:t>AGE 23–27 → 48+</a:t>
            </a:r>
          </a:p>
        </p:txBody>
      </p:sp>
      <p:sp>
        <p:nvSpPr>
          <p:cNvPr id="9" name="TextBox 8"/>
          <p:cNvSpPr txBox="1"/>
          <p:nvPr/>
        </p:nvSpPr>
        <p:spPr>
          <a:xfrm>
            <a:off x="8659367" y="2706624"/>
            <a:ext cx="2194560" cy="164592"/>
          </a:xfrm>
          <a:prstGeom prst="rect">
            <a:avLst/>
          </a:prstGeom>
          <a:noFill/>
        </p:spPr>
        <p:txBody>
          <a:bodyPr wrap="square" anchor="t">
            <a:spAutoFit/>
          </a:bodyPr>
          <a:lstStyle/>
          <a:p>
            <a:pPr algn="ctr">
              <a:defRPr sz="800" b="0">
                <a:solidFill>
                  <a:srgbClr val="F0F4F8"/>
                </a:solidFill>
                <a:latin typeface="Aptos"/>
              </a:defRPr>
            </a:pPr>
            <a:r>
              <a:t>logistic, average probability change</a:t>
            </a:r>
          </a:p>
        </p:txBody>
      </p:sp>
      <p:sp>
        <p:nvSpPr>
          <p:cNvPr id="10" name="Rounded Rectangle 9"/>
          <p:cNvSpPr/>
          <p:nvPr/>
        </p:nvSpPr>
        <p:spPr>
          <a:xfrm>
            <a:off x="8549640" y="3200400"/>
            <a:ext cx="2423160" cy="1261872"/>
          </a:xfrm>
          <a:prstGeom prst="roundRect">
            <a:avLst/>
          </a:prstGeom>
          <a:solidFill>
            <a:srgbClr val="143058"/>
          </a:solidFill>
          <a:ln>
            <a:solidFill>
              <a:srgbClr val="D643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59367" y="3337560"/>
            <a:ext cx="2194560" cy="438912"/>
          </a:xfrm>
          <a:prstGeom prst="rect">
            <a:avLst/>
          </a:prstGeom>
          <a:noFill/>
        </p:spPr>
        <p:txBody>
          <a:bodyPr wrap="square" anchor="t">
            <a:spAutoFit/>
          </a:bodyPr>
          <a:lstStyle/>
          <a:p>
            <a:pPr algn="ctr">
              <a:defRPr sz="2400" b="1">
                <a:solidFill>
                  <a:srgbClr val="D64343"/>
                </a:solidFill>
                <a:latin typeface="Aptos"/>
              </a:defRPr>
            </a:pPr>
            <a:r>
              <a:t>+17 pts</a:t>
            </a:r>
          </a:p>
        </p:txBody>
      </p:sp>
      <p:sp>
        <p:nvSpPr>
          <p:cNvPr id="12" name="TextBox 11"/>
          <p:cNvSpPr txBox="1"/>
          <p:nvPr/>
        </p:nvSpPr>
        <p:spPr>
          <a:xfrm>
            <a:off x="8659367" y="3858768"/>
            <a:ext cx="2194560" cy="274320"/>
          </a:xfrm>
          <a:prstGeom prst="rect">
            <a:avLst/>
          </a:prstGeom>
          <a:noFill/>
        </p:spPr>
        <p:txBody>
          <a:bodyPr wrap="square" anchor="t">
            <a:spAutoFit/>
          </a:bodyPr>
          <a:lstStyle/>
          <a:p>
            <a:pPr algn="ctr">
              <a:defRPr sz="1100" b="1">
                <a:solidFill>
                  <a:srgbClr val="FFFFFF"/>
                </a:solidFill>
                <a:latin typeface="Aptos"/>
              </a:defRPr>
            </a:pPr>
            <a:r>
              <a:t>GANG AFFILIATION</a:t>
            </a:r>
          </a:p>
        </p:txBody>
      </p:sp>
      <p:sp>
        <p:nvSpPr>
          <p:cNvPr id="13" name="TextBox 12"/>
          <p:cNvSpPr txBox="1"/>
          <p:nvPr/>
        </p:nvSpPr>
        <p:spPr>
          <a:xfrm>
            <a:off x="8659367" y="4169664"/>
            <a:ext cx="2194560" cy="164592"/>
          </a:xfrm>
          <a:prstGeom prst="rect">
            <a:avLst/>
          </a:prstGeom>
          <a:noFill/>
        </p:spPr>
        <p:txBody>
          <a:bodyPr wrap="square" anchor="t">
            <a:spAutoFit/>
          </a:bodyPr>
          <a:lstStyle/>
          <a:p>
            <a:pPr algn="ctr">
              <a:defRPr sz="800" b="0">
                <a:solidFill>
                  <a:srgbClr val="F0F4F8"/>
                </a:solidFill>
                <a:latin typeface="Aptos"/>
              </a:defRPr>
            </a:pPr>
            <a:r>
              <a:t>recorded 'Yes' vs 'No'</a:t>
            </a:r>
          </a:p>
        </p:txBody>
      </p:sp>
      <p:sp>
        <p:nvSpPr>
          <p:cNvPr id="14" name="Rounded Rectangle 13"/>
          <p:cNvSpPr/>
          <p:nvPr/>
        </p:nvSpPr>
        <p:spPr>
          <a:xfrm>
            <a:off x="8549640" y="4663440"/>
            <a:ext cx="2423160" cy="1261872"/>
          </a:xfrm>
          <a:prstGeom prst="roundRect">
            <a:avLst/>
          </a:prstGeom>
          <a:solidFill>
            <a:srgbClr val="143058"/>
          </a:solidFill>
          <a:ln>
            <a:solidFill>
              <a:srgbClr val="FB85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59367" y="4800600"/>
            <a:ext cx="2194560" cy="438912"/>
          </a:xfrm>
          <a:prstGeom prst="rect">
            <a:avLst/>
          </a:prstGeom>
          <a:noFill/>
        </p:spPr>
        <p:txBody>
          <a:bodyPr wrap="square" anchor="t">
            <a:spAutoFit/>
          </a:bodyPr>
          <a:lstStyle/>
          <a:p>
            <a:pPr algn="ctr">
              <a:defRPr sz="1700" b="1">
                <a:solidFill>
                  <a:srgbClr val="FB8500"/>
                </a:solidFill>
                <a:latin typeface="Aptos"/>
              </a:defRPr>
            </a:pPr>
            <a:r>
              <a:t>Age · gang · priors</a:t>
            </a:r>
          </a:p>
        </p:txBody>
      </p:sp>
      <p:sp>
        <p:nvSpPr>
          <p:cNvPr id="16" name="TextBox 15"/>
          <p:cNvSpPr txBox="1"/>
          <p:nvPr/>
        </p:nvSpPr>
        <p:spPr>
          <a:xfrm>
            <a:off x="8659367" y="5321807"/>
            <a:ext cx="2194560" cy="274320"/>
          </a:xfrm>
          <a:prstGeom prst="rect">
            <a:avLst/>
          </a:prstGeom>
          <a:noFill/>
        </p:spPr>
        <p:txBody>
          <a:bodyPr wrap="square" anchor="t">
            <a:spAutoFit/>
          </a:bodyPr>
          <a:lstStyle/>
          <a:p>
            <a:pPr algn="ctr">
              <a:defRPr sz="1100" b="1">
                <a:solidFill>
                  <a:srgbClr val="FFFFFF"/>
                </a:solidFill>
                <a:latin typeface="Aptos"/>
              </a:defRPr>
            </a:pPr>
            <a:r>
              <a:t>TOP DRIVERS</a:t>
            </a:r>
          </a:p>
        </p:txBody>
      </p:sp>
      <p:sp>
        <p:nvSpPr>
          <p:cNvPr id="17" name="TextBox 16"/>
          <p:cNvSpPr txBox="1"/>
          <p:nvPr/>
        </p:nvSpPr>
        <p:spPr>
          <a:xfrm>
            <a:off x="8659367" y="5632704"/>
            <a:ext cx="2194560" cy="164592"/>
          </a:xfrm>
          <a:prstGeom prst="rect">
            <a:avLst/>
          </a:prstGeom>
          <a:noFill/>
        </p:spPr>
        <p:txBody>
          <a:bodyPr wrap="square" anchor="t">
            <a:spAutoFit/>
          </a:bodyPr>
          <a:lstStyle/>
          <a:p>
            <a:pPr algn="ctr">
              <a:defRPr sz="800" b="0">
                <a:solidFill>
                  <a:srgbClr val="F0F4F8"/>
                </a:solidFill>
                <a:latin typeface="Aptos"/>
              </a:defRPr>
            </a:pPr>
            <a:r>
              <a:t>same in logistic and XGBoost</a:t>
            </a:r>
          </a:p>
        </p:txBody>
      </p:sp>
      <p:sp>
        <p:nvSpPr>
          <p:cNvPr id="18" name="TextBox 17"/>
          <p:cNvSpPr txBox="1"/>
          <p:nvPr/>
        </p:nvSpPr>
        <p:spPr>
          <a:xfrm>
            <a:off x="914400" y="6263640"/>
            <a:ext cx="10058400" cy="274320"/>
          </a:xfrm>
          <a:prstGeom prst="rect">
            <a:avLst/>
          </a:prstGeom>
          <a:noFill/>
        </p:spPr>
        <p:txBody>
          <a:bodyPr wrap="square" anchor="t">
            <a:spAutoFit/>
          </a:bodyPr>
          <a:lstStyle/>
          <a:p>
            <a:pPr algn="ctr">
              <a:defRPr sz="1100" b="1">
                <a:solidFill>
                  <a:srgbClr val="828FA0"/>
                </a:solidFill>
                <a:latin typeface="Aptos"/>
              </a:defRPr>
            </a:pPr>
            <a:r>
              <a:t>Marginal effects in probability points, not log-odds: the unit a caseworker understands.</a:t>
            </a:r>
          </a:p>
        </p:txBody>
      </p:sp>
      <p:sp>
        <p:nvSpPr>
          <p:cNvPr id="19" name="TextBox 18"/>
          <p:cNvSpPr txBox="1"/>
          <p:nvPr/>
        </p:nvSpPr>
        <p:spPr>
          <a:xfrm>
            <a:off x="594360" y="6510528"/>
            <a:ext cx="3657600" cy="164592"/>
          </a:xfrm>
          <a:prstGeom prst="rect">
            <a:avLst/>
          </a:prstGeom>
          <a:noFill/>
        </p:spPr>
        <p:txBody>
          <a:bodyPr wrap="square" anchor="t">
            <a:spAutoFit/>
          </a:bodyPr>
          <a:lstStyle/>
          <a:p>
            <a:pPr algn="l">
              <a:defRPr sz="800" b="0">
                <a:solidFill>
                  <a:srgbClr val="828FA0"/>
                </a:solidFill>
                <a:latin typeface="Aptos"/>
              </a:defRPr>
            </a:pPr>
            <a:r>
              <a:t>HEC Paris · ISAF · 2026</a:t>
            </a:r>
          </a:p>
        </p:txBody>
      </p:sp>
      <p:sp>
        <p:nvSpPr>
          <p:cNvPr id="20" name="TextBox 19"/>
          <p:cNvSpPr txBox="1"/>
          <p:nvPr/>
        </p:nvSpPr>
        <p:spPr>
          <a:xfrm>
            <a:off x="11109960" y="6492240"/>
            <a:ext cx="411480" cy="164592"/>
          </a:xfrm>
          <a:prstGeom prst="rect">
            <a:avLst/>
          </a:prstGeom>
          <a:noFill/>
        </p:spPr>
        <p:txBody>
          <a:bodyPr wrap="square" anchor="t">
            <a:spAutoFit/>
          </a:bodyPr>
          <a:lstStyle/>
          <a:p>
            <a:pPr algn="r">
              <a:defRPr sz="800" b="0">
                <a:solidFill>
                  <a:srgbClr val="828FA0"/>
                </a:solidFill>
                <a:latin typeface="Aptos"/>
              </a:defRPr>
            </a:pPr>
            <a: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594360" y="256032"/>
            <a:ext cx="10972800" cy="274320"/>
          </a:xfrm>
          <a:prstGeom prst="rect">
            <a:avLst/>
          </a:prstGeom>
          <a:noFill/>
        </p:spPr>
        <p:txBody>
          <a:bodyPr wrap="square" anchor="t">
            <a:spAutoFit/>
          </a:bodyPr>
          <a:lstStyle/>
          <a:p>
            <a:pPr algn="l">
              <a:defRPr sz="1000" b="1">
                <a:solidFill>
                  <a:srgbClr val="FB8500"/>
                </a:solidFill>
                <a:latin typeface="Aptos"/>
              </a:defRPr>
            </a:pPr>
            <a:r>
              <a:t>INTERPRETABILITY · LOCAL</a:t>
            </a:r>
          </a:p>
        </p:txBody>
      </p:sp>
      <p:sp>
        <p:nvSpPr>
          <p:cNvPr id="3" name="TextBox 2"/>
          <p:cNvSpPr txBox="1"/>
          <p:nvPr/>
        </p:nvSpPr>
        <p:spPr>
          <a:xfrm>
            <a:off x="594360" y="621792"/>
            <a:ext cx="10972800" cy="594360"/>
          </a:xfrm>
          <a:prstGeom prst="rect">
            <a:avLst/>
          </a:prstGeom>
          <a:noFill/>
        </p:spPr>
        <p:txBody>
          <a:bodyPr wrap="square" anchor="t">
            <a:spAutoFit/>
          </a:bodyPr>
          <a:lstStyle/>
          <a:p>
            <a:pPr algn="l">
              <a:defRPr sz="2600" b="1">
                <a:solidFill>
                  <a:srgbClr val="FFFFFF"/>
                </a:solidFill>
                <a:latin typeface="Aptos"/>
              </a:defRPr>
            </a:pPr>
            <a:r>
              <a:t>Explaining one person, and checking the explanation</a:t>
            </a:r>
          </a:p>
        </p:txBody>
      </p:sp>
      <p:sp>
        <p:nvSpPr>
          <p:cNvPr id="4" name="Rectangle 3"/>
          <p:cNvSpPr/>
          <p:nvPr/>
        </p:nvSpPr>
        <p:spPr>
          <a:xfrm>
            <a:off x="594360" y="1298448"/>
            <a:ext cx="1005840" cy="50292"/>
          </a:xfrm>
          <a:prstGeom prst="rect">
            <a:avLst/>
          </a:prstGeom>
          <a:solidFill>
            <a:srgbClr val="FB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hap_individual.png"/>
          <p:cNvPicPr>
            <a:picLocks noChangeAspect="1"/>
          </p:cNvPicPr>
          <p:nvPr/>
        </p:nvPicPr>
        <p:blipFill>
          <a:blip r:embed="rId2"/>
          <a:stretch>
            <a:fillRect/>
          </a:stretch>
        </p:blipFill>
        <p:spPr>
          <a:xfrm>
            <a:off x="365760" y="1554480"/>
            <a:ext cx="7589520" cy="2869645"/>
          </a:xfrm>
          <a:prstGeom prst="rect">
            <a:avLst/>
          </a:prstGeom>
        </p:spPr>
      </p:pic>
      <p:sp>
        <p:nvSpPr>
          <p:cNvPr id="6" name="Rounded Rectangle 5"/>
          <p:cNvSpPr/>
          <p:nvPr/>
        </p:nvSpPr>
        <p:spPr>
          <a:xfrm>
            <a:off x="8229600" y="1554480"/>
            <a:ext cx="3566160" cy="4480560"/>
          </a:xfrm>
          <a:prstGeom prst="roundRect">
            <a:avLst/>
          </a:prstGeom>
          <a:solidFill>
            <a:srgbClr val="143058"/>
          </a:solidFill>
          <a:ln>
            <a:solidFill>
              <a:srgbClr val="7B2C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58200" y="1828800"/>
            <a:ext cx="3108960" cy="365760"/>
          </a:xfrm>
          <a:prstGeom prst="rect">
            <a:avLst/>
          </a:prstGeom>
          <a:noFill/>
        </p:spPr>
        <p:txBody>
          <a:bodyPr wrap="square" anchor="t">
            <a:spAutoFit/>
          </a:bodyPr>
          <a:lstStyle/>
          <a:p>
            <a:pPr algn="ctr">
              <a:defRPr sz="2000" b="1">
                <a:solidFill>
                  <a:srgbClr val="7B2CBF"/>
                </a:solidFill>
                <a:latin typeface="Aptos"/>
              </a:defRPr>
            </a:pPr>
            <a:r>
              <a:t>IS IT FAITHFUL?</a:t>
            </a:r>
          </a:p>
        </p:txBody>
      </p:sp>
      <p:sp>
        <p:nvSpPr>
          <p:cNvPr id="8" name="TextBox 7"/>
          <p:cNvSpPr txBox="1"/>
          <p:nvPr/>
        </p:nvSpPr>
        <p:spPr>
          <a:xfrm>
            <a:off x="8549640" y="2542032"/>
            <a:ext cx="2926080" cy="3246120"/>
          </a:xfrm>
          <a:prstGeom prst="rect">
            <a:avLst/>
          </a:prstGeom>
          <a:noFill/>
        </p:spPr>
        <p:txBody>
          <a:bodyPr wrap="square" anchor="t">
            <a:spAutoFit/>
          </a:bodyPr>
          <a:lstStyle/>
          <a:p>
            <a:pPr algn="ctr">
              <a:defRPr sz="1500" b="0">
                <a:solidFill>
                  <a:srgbClr val="F0F4F8"/>
                </a:solidFill>
                <a:latin typeface="Aptos"/>
              </a:defRPr>
            </a:pPr>
            <a:r>
              <a:t>SHAP: exact for these two models</a:t>
            </a:r>
            <a:br/>
            <a:br/>
            <a:r>
              <a:t>LIME on raw features: local R² 0.25 → 0.41–0.43</a:t>
            </a:r>
            <a:br/>
            <a:br/>
            <a:r>
              <a:t>3 cases × 3 seeds: all 63 conditions keep their sign</a:t>
            </a:r>
            <a:br/>
            <a:br/>
            <a:r>
              <a:t>Quote LIME for direction, SHAP for size</a:t>
            </a:r>
          </a:p>
        </p:txBody>
      </p:sp>
      <p:sp>
        <p:nvSpPr>
          <p:cNvPr id="9" name="TextBox 8"/>
          <p:cNvSpPr txBox="1"/>
          <p:nvPr/>
        </p:nvSpPr>
        <p:spPr>
          <a:xfrm>
            <a:off x="914400" y="6263640"/>
            <a:ext cx="10058400" cy="274320"/>
          </a:xfrm>
          <a:prstGeom prst="rect">
            <a:avLst/>
          </a:prstGeom>
          <a:noFill/>
        </p:spPr>
        <p:txBody>
          <a:bodyPr wrap="square" anchor="t">
            <a:spAutoFit/>
          </a:bodyPr>
          <a:lstStyle/>
          <a:p>
            <a:pPr algn="ctr">
              <a:defRPr sz="1100" b="1">
                <a:solidFill>
                  <a:srgbClr val="FB8500"/>
                </a:solidFill>
                <a:latin typeface="Aptos"/>
              </a:defRPr>
            </a:pPr>
            <a:r>
              <a:t>Red raises risk, green lowers it. The explanation is what an appeal would contest.</a:t>
            </a:r>
          </a:p>
        </p:txBody>
      </p:sp>
      <p:sp>
        <p:nvSpPr>
          <p:cNvPr id="10" name="TextBox 9"/>
          <p:cNvSpPr txBox="1"/>
          <p:nvPr/>
        </p:nvSpPr>
        <p:spPr>
          <a:xfrm>
            <a:off x="594360" y="6510528"/>
            <a:ext cx="3657600" cy="164592"/>
          </a:xfrm>
          <a:prstGeom prst="rect">
            <a:avLst/>
          </a:prstGeom>
          <a:noFill/>
        </p:spPr>
        <p:txBody>
          <a:bodyPr wrap="square" anchor="t">
            <a:spAutoFit/>
          </a:bodyPr>
          <a:lstStyle/>
          <a:p>
            <a:pPr algn="l">
              <a:defRPr sz="800" b="0">
                <a:solidFill>
                  <a:srgbClr val="828FA0"/>
                </a:solidFill>
                <a:latin typeface="Aptos"/>
              </a:defRPr>
            </a:pPr>
            <a:r>
              <a:t>HEC Paris · ISAF · 2026</a:t>
            </a:r>
          </a:p>
        </p:txBody>
      </p:sp>
      <p:sp>
        <p:nvSpPr>
          <p:cNvPr id="11" name="TextBox 10"/>
          <p:cNvSpPr txBox="1"/>
          <p:nvPr/>
        </p:nvSpPr>
        <p:spPr>
          <a:xfrm>
            <a:off x="11109960" y="6492240"/>
            <a:ext cx="411480" cy="164592"/>
          </a:xfrm>
          <a:prstGeom prst="rect">
            <a:avLst/>
          </a:prstGeom>
          <a:noFill/>
        </p:spPr>
        <p:txBody>
          <a:bodyPr wrap="square" anchor="t">
            <a:spAutoFit/>
          </a:bodyPr>
          <a:lstStyle/>
          <a:p>
            <a:pPr algn="r">
              <a:defRPr sz="800" b="0">
                <a:solidFill>
                  <a:srgbClr val="828FA0"/>
                </a:solidFill>
                <a:latin typeface="Aptos"/>
              </a:defRPr>
            </a:pPr>
            <a: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594360" y="256032"/>
            <a:ext cx="10972800" cy="274320"/>
          </a:xfrm>
          <a:prstGeom prst="rect">
            <a:avLst/>
          </a:prstGeom>
          <a:noFill/>
        </p:spPr>
        <p:txBody>
          <a:bodyPr wrap="square" anchor="t">
            <a:spAutoFit/>
          </a:bodyPr>
          <a:lstStyle/>
          <a:p>
            <a:pPr algn="l">
              <a:defRPr sz="1000" b="1">
                <a:solidFill>
                  <a:srgbClr val="FB8500"/>
                </a:solidFill>
                <a:latin typeface="Aptos"/>
              </a:defRPr>
            </a:pPr>
            <a:r>
              <a:t>INTERPRETABILITY · COST</a:t>
            </a:r>
          </a:p>
        </p:txBody>
      </p:sp>
      <p:sp>
        <p:nvSpPr>
          <p:cNvPr id="3" name="TextBox 2"/>
          <p:cNvSpPr txBox="1"/>
          <p:nvPr/>
        </p:nvSpPr>
        <p:spPr>
          <a:xfrm>
            <a:off x="594360" y="621792"/>
            <a:ext cx="10972800" cy="594360"/>
          </a:xfrm>
          <a:prstGeom prst="rect">
            <a:avLst/>
          </a:prstGeom>
          <a:noFill/>
        </p:spPr>
        <p:txBody>
          <a:bodyPr wrap="square" anchor="t">
            <a:spAutoFit/>
          </a:bodyPr>
          <a:lstStyle/>
          <a:p>
            <a:pPr algn="l">
              <a:defRPr sz="2600" b="1">
                <a:solidFill>
                  <a:srgbClr val="FFFFFF"/>
                </a:solidFill>
                <a:latin typeface="Aptos"/>
              </a:defRPr>
            </a:pPr>
            <a:r>
              <a:t>Explanation methods disagree — and that is a finding</a:t>
            </a:r>
          </a:p>
        </p:txBody>
      </p:sp>
      <p:sp>
        <p:nvSpPr>
          <p:cNvPr id="4" name="Rectangle 3"/>
          <p:cNvSpPr/>
          <p:nvPr/>
        </p:nvSpPr>
        <p:spPr>
          <a:xfrm>
            <a:off x="594360" y="1298448"/>
            <a:ext cx="1005840" cy="50292"/>
          </a:xfrm>
          <a:prstGeom prst="rect">
            <a:avLst/>
          </a:prstGeom>
          <a:solidFill>
            <a:srgbClr val="FB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explanation_agreement.png"/>
          <p:cNvPicPr>
            <a:picLocks noChangeAspect="1"/>
          </p:cNvPicPr>
          <p:nvPr/>
        </p:nvPicPr>
        <p:blipFill>
          <a:blip r:embed="rId2"/>
          <a:stretch>
            <a:fillRect/>
          </a:stretch>
        </p:blipFill>
        <p:spPr>
          <a:xfrm>
            <a:off x="365760" y="1554480"/>
            <a:ext cx="7589520" cy="3800721"/>
          </a:xfrm>
          <a:prstGeom prst="rect">
            <a:avLst/>
          </a:prstGeom>
        </p:spPr>
      </p:pic>
      <p:sp>
        <p:nvSpPr>
          <p:cNvPr id="6" name="Rounded Rectangle 5"/>
          <p:cNvSpPr/>
          <p:nvPr/>
        </p:nvSpPr>
        <p:spPr>
          <a:xfrm>
            <a:off x="8229600" y="1554480"/>
            <a:ext cx="3566160" cy="4480560"/>
          </a:xfrm>
          <a:prstGeom prst="roundRect">
            <a:avLst/>
          </a:prstGeom>
          <a:solidFill>
            <a:srgbClr val="143058"/>
          </a:solidFill>
          <a:ln>
            <a:solidFill>
              <a:srgbClr val="FB85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58200" y="1828800"/>
            <a:ext cx="3108960" cy="365760"/>
          </a:xfrm>
          <a:prstGeom prst="rect">
            <a:avLst/>
          </a:prstGeom>
          <a:noFill/>
        </p:spPr>
        <p:txBody>
          <a:bodyPr wrap="square" anchor="t">
            <a:spAutoFit/>
          </a:bodyPr>
          <a:lstStyle/>
          <a:p>
            <a:pPr algn="ctr">
              <a:defRPr sz="2000" b="1">
                <a:solidFill>
                  <a:srgbClr val="FB8500"/>
                </a:solidFill>
                <a:latin typeface="Aptos"/>
              </a:defRPr>
            </a:pPr>
            <a:r>
              <a:t>THREE ROUTES</a:t>
            </a:r>
          </a:p>
        </p:txBody>
      </p:sp>
      <p:sp>
        <p:nvSpPr>
          <p:cNvPr id="8" name="TextBox 7"/>
          <p:cNvSpPr txBox="1"/>
          <p:nvPr/>
        </p:nvSpPr>
        <p:spPr>
          <a:xfrm>
            <a:off x="8549640" y="2542032"/>
            <a:ext cx="2926080" cy="3246120"/>
          </a:xfrm>
          <a:prstGeom prst="rect">
            <a:avLst/>
          </a:prstGeom>
          <a:noFill/>
        </p:spPr>
        <p:txBody>
          <a:bodyPr wrap="square" anchor="t">
            <a:spAutoFit/>
          </a:bodyPr>
          <a:lstStyle/>
          <a:p>
            <a:pPr algn="ctr">
              <a:defRPr sz="1500" b="0">
                <a:solidFill>
                  <a:srgbClr val="F0F4F8"/>
                </a:solidFill>
                <a:latin typeface="Aptos"/>
              </a:defRPr>
            </a:pPr>
            <a:r>
              <a:t>LOGISTIC</a:t>
            </a:r>
            <a:br/>
            <a:r>
              <a:t>Read the coefficients directly</a:t>
            </a:r>
            <a:br/>
            <a:br/>
            <a:r>
              <a:t>XGBOOST</a:t>
            </a:r>
            <a:br/>
            <a:r>
              <a:t>Needs SHAP; depth-3 surrogate R² = 0.61</a:t>
            </a:r>
            <a:br/>
            <a:br/>
            <a:r>
              <a:t>TABICLv2</a:t>
            </a:r>
            <a:br/>
            <a:r>
              <a:t>No native attribution: PDP/ICE only</a:t>
            </a:r>
          </a:p>
        </p:txBody>
      </p:sp>
      <p:sp>
        <p:nvSpPr>
          <p:cNvPr id="9" name="TextBox 8"/>
          <p:cNvSpPr txBox="1"/>
          <p:nvPr/>
        </p:nvSpPr>
        <p:spPr>
          <a:xfrm>
            <a:off x="731520" y="6263640"/>
            <a:ext cx="10698480" cy="274320"/>
          </a:xfrm>
          <a:prstGeom prst="rect">
            <a:avLst/>
          </a:prstGeom>
          <a:noFill/>
        </p:spPr>
        <p:txBody>
          <a:bodyPr wrap="square" anchor="t">
            <a:spAutoFit/>
          </a:bodyPr>
          <a:lstStyle/>
          <a:p>
            <a:pPr algn="ctr">
              <a:defRPr sz="1100" b="1">
                <a:solidFill>
                  <a:srgbClr val="FB8500"/>
                </a:solidFill>
                <a:latin typeface="Aptos"/>
              </a:defRPr>
            </a:pPr>
            <a:r>
              <a:t>SHAP, permutation importance and XPER: Spearman 0.53–0.81, 8–10 shared top-10 features. Quote the set, not the rank.</a:t>
            </a:r>
          </a:p>
        </p:txBody>
      </p:sp>
      <p:sp>
        <p:nvSpPr>
          <p:cNvPr id="10" name="TextBox 9"/>
          <p:cNvSpPr txBox="1"/>
          <p:nvPr/>
        </p:nvSpPr>
        <p:spPr>
          <a:xfrm>
            <a:off x="594360" y="6510528"/>
            <a:ext cx="3657600" cy="164592"/>
          </a:xfrm>
          <a:prstGeom prst="rect">
            <a:avLst/>
          </a:prstGeom>
          <a:noFill/>
        </p:spPr>
        <p:txBody>
          <a:bodyPr wrap="square" anchor="t">
            <a:spAutoFit/>
          </a:bodyPr>
          <a:lstStyle/>
          <a:p>
            <a:pPr algn="l">
              <a:defRPr sz="800" b="0">
                <a:solidFill>
                  <a:srgbClr val="828FA0"/>
                </a:solidFill>
                <a:latin typeface="Aptos"/>
              </a:defRPr>
            </a:pPr>
            <a:r>
              <a:t>HEC Paris · ISAF · 2026</a:t>
            </a:r>
          </a:p>
        </p:txBody>
      </p:sp>
      <p:sp>
        <p:nvSpPr>
          <p:cNvPr id="11" name="TextBox 10"/>
          <p:cNvSpPr txBox="1"/>
          <p:nvPr/>
        </p:nvSpPr>
        <p:spPr>
          <a:xfrm>
            <a:off x="11109960" y="6492240"/>
            <a:ext cx="411480" cy="164592"/>
          </a:xfrm>
          <a:prstGeom prst="rect">
            <a:avLst/>
          </a:prstGeom>
          <a:noFill/>
        </p:spPr>
        <p:txBody>
          <a:bodyPr wrap="square" anchor="t">
            <a:spAutoFit/>
          </a:bodyPr>
          <a:lstStyle/>
          <a:p>
            <a:pPr algn="r">
              <a:defRPr sz="800" b="0">
                <a:solidFill>
                  <a:srgbClr val="828FA0"/>
                </a:solidFill>
                <a:latin typeface="Aptos"/>
              </a:defRPr>
            </a:pPr>
            <a: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594360" y="256032"/>
            <a:ext cx="10972800" cy="274320"/>
          </a:xfrm>
          <a:prstGeom prst="rect">
            <a:avLst/>
          </a:prstGeom>
          <a:noFill/>
        </p:spPr>
        <p:txBody>
          <a:bodyPr wrap="square" anchor="t">
            <a:spAutoFit/>
          </a:bodyPr>
          <a:lstStyle/>
          <a:p>
            <a:pPr algn="l">
              <a:defRPr sz="1000" b="1">
                <a:solidFill>
                  <a:srgbClr val="FB8500"/>
                </a:solidFill>
                <a:latin typeface="Aptos"/>
              </a:defRPr>
            </a:pPr>
            <a:r>
              <a:t>FAIRNESS · RACE</a:t>
            </a:r>
          </a:p>
        </p:txBody>
      </p:sp>
      <p:sp>
        <p:nvSpPr>
          <p:cNvPr id="3" name="TextBox 2"/>
          <p:cNvSpPr txBox="1"/>
          <p:nvPr/>
        </p:nvSpPr>
        <p:spPr>
          <a:xfrm>
            <a:off x="594360" y="621792"/>
            <a:ext cx="10972800" cy="594360"/>
          </a:xfrm>
          <a:prstGeom prst="rect">
            <a:avLst/>
          </a:prstGeom>
          <a:noFill/>
        </p:spPr>
        <p:txBody>
          <a:bodyPr wrap="square" anchor="t">
            <a:spAutoFit/>
          </a:bodyPr>
          <a:lstStyle/>
          <a:p>
            <a:pPr algn="l">
              <a:defRPr sz="2600" b="1">
                <a:solidFill>
                  <a:srgbClr val="FFFFFF"/>
                </a:solidFill>
                <a:latin typeface="Aptos"/>
              </a:defRPr>
            </a:pPr>
            <a:r>
              <a:t>Race (1): excluding race is not the same as being fair</a:t>
            </a:r>
          </a:p>
        </p:txBody>
      </p:sp>
      <p:sp>
        <p:nvSpPr>
          <p:cNvPr id="4" name="Rectangle 3"/>
          <p:cNvSpPr/>
          <p:nvPr/>
        </p:nvSpPr>
        <p:spPr>
          <a:xfrm>
            <a:off x="594360" y="1298448"/>
            <a:ext cx="1005840" cy="50292"/>
          </a:xfrm>
          <a:prstGeom prst="rect">
            <a:avLst/>
          </a:prstGeom>
          <a:solidFill>
            <a:srgbClr val="FB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645920"/>
            <a:ext cx="3520440" cy="4114800"/>
          </a:xfrm>
          <a:prstGeom prst="roundRect">
            <a:avLst/>
          </a:prstGeom>
          <a:solidFill>
            <a:srgbClr val="143058"/>
          </a:solidFill>
          <a:ln>
            <a:solidFill>
              <a:srgbClr val="00B4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920240"/>
            <a:ext cx="3063240" cy="365760"/>
          </a:xfrm>
          <a:prstGeom prst="rect">
            <a:avLst/>
          </a:prstGeom>
          <a:noFill/>
        </p:spPr>
        <p:txBody>
          <a:bodyPr wrap="square" anchor="t">
            <a:spAutoFit/>
          </a:bodyPr>
          <a:lstStyle/>
          <a:p>
            <a:pPr algn="ctr">
              <a:defRPr sz="2000" b="1">
                <a:solidFill>
                  <a:srgbClr val="00B4B4"/>
                </a:solidFill>
                <a:latin typeface="Aptos"/>
              </a:defRPr>
            </a:pPr>
            <a:r>
              <a:t>BASE RATES</a:t>
            </a:r>
          </a:p>
        </p:txBody>
      </p:sp>
      <p:sp>
        <p:nvSpPr>
          <p:cNvPr id="7" name="TextBox 6"/>
          <p:cNvSpPr txBox="1"/>
          <p:nvPr/>
        </p:nvSpPr>
        <p:spPr>
          <a:xfrm>
            <a:off x="960119" y="2633472"/>
            <a:ext cx="2880360" cy="2880360"/>
          </a:xfrm>
          <a:prstGeom prst="rect">
            <a:avLst/>
          </a:prstGeom>
          <a:noFill/>
        </p:spPr>
        <p:txBody>
          <a:bodyPr wrap="square" anchor="t">
            <a:spAutoFit/>
          </a:bodyPr>
          <a:lstStyle/>
          <a:p>
            <a:pPr algn="ctr">
              <a:defRPr sz="1500" b="0">
                <a:solidFill>
                  <a:srgbClr val="F0F4F8"/>
                </a:solidFill>
                <a:latin typeface="Aptos"/>
              </a:defRPr>
            </a:pPr>
            <a:r>
              <a:t>Black 0.582</a:t>
            </a:r>
            <a:br/>
            <a:r>
              <a:t>White 0.564</a:t>
            </a:r>
            <a:br/>
            <a:br/>
            <a:r>
              <a:t>Nearly equal: the data does not force a gap</a:t>
            </a:r>
          </a:p>
        </p:txBody>
      </p:sp>
      <p:sp>
        <p:nvSpPr>
          <p:cNvPr id="8" name="Rounded Rectangle 7"/>
          <p:cNvSpPr/>
          <p:nvPr/>
        </p:nvSpPr>
        <p:spPr>
          <a:xfrm>
            <a:off x="4343400" y="1645920"/>
            <a:ext cx="3520440" cy="4114800"/>
          </a:xfrm>
          <a:prstGeom prst="roundRect">
            <a:avLst/>
          </a:prstGeom>
          <a:solidFill>
            <a:srgbClr val="143058"/>
          </a:solidFill>
          <a:ln>
            <a:solidFill>
              <a:srgbClr val="7B2C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0" y="1920240"/>
            <a:ext cx="3063240" cy="365760"/>
          </a:xfrm>
          <a:prstGeom prst="rect">
            <a:avLst/>
          </a:prstGeom>
          <a:noFill/>
        </p:spPr>
        <p:txBody>
          <a:bodyPr wrap="square" anchor="t">
            <a:spAutoFit/>
          </a:bodyPr>
          <a:lstStyle/>
          <a:p>
            <a:pPr algn="ctr">
              <a:defRPr sz="2000" b="1">
                <a:solidFill>
                  <a:srgbClr val="7B2CBF"/>
                </a:solidFill>
                <a:latin typeface="Aptos"/>
              </a:defRPr>
            </a:pPr>
            <a:r>
              <a:t>WHAT EXCLUSION GUARANTEES</a:t>
            </a:r>
          </a:p>
        </p:txBody>
      </p:sp>
      <p:sp>
        <p:nvSpPr>
          <p:cNvPr id="10" name="TextBox 9"/>
          <p:cNvSpPr txBox="1"/>
          <p:nvPr/>
        </p:nvSpPr>
        <p:spPr>
          <a:xfrm>
            <a:off x="4663440" y="2633472"/>
            <a:ext cx="2880360" cy="2880360"/>
          </a:xfrm>
          <a:prstGeom prst="rect">
            <a:avLst/>
          </a:prstGeom>
          <a:noFill/>
        </p:spPr>
        <p:txBody>
          <a:bodyPr wrap="square" anchor="t">
            <a:spAutoFit/>
          </a:bodyPr>
          <a:lstStyle/>
          <a:p>
            <a:pPr algn="ctr">
              <a:defRPr sz="1500" b="0">
                <a:solidFill>
                  <a:srgbClr val="F0F4F8"/>
                </a:solidFill>
                <a:latin typeface="Aptos"/>
              </a:defRPr>
            </a:pPr>
            <a:r>
              <a:t>Twins differing only in race get the same score</a:t>
            </a:r>
            <a:br/>
            <a:br/>
            <a:r>
              <a:t>Adding race back changes AUC by ≤ 0.001</a:t>
            </a:r>
          </a:p>
        </p:txBody>
      </p:sp>
      <p:sp>
        <p:nvSpPr>
          <p:cNvPr id="11" name="Rounded Rectangle 10"/>
          <p:cNvSpPr/>
          <p:nvPr/>
        </p:nvSpPr>
        <p:spPr>
          <a:xfrm>
            <a:off x="8046720" y="1645920"/>
            <a:ext cx="3520440" cy="4114800"/>
          </a:xfrm>
          <a:prstGeom prst="roundRect">
            <a:avLst/>
          </a:prstGeom>
          <a:solidFill>
            <a:srgbClr val="143058"/>
          </a:solidFill>
          <a:ln>
            <a:solidFill>
              <a:srgbClr val="D643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75320" y="1920240"/>
            <a:ext cx="3063240" cy="365760"/>
          </a:xfrm>
          <a:prstGeom prst="rect">
            <a:avLst/>
          </a:prstGeom>
          <a:noFill/>
        </p:spPr>
        <p:txBody>
          <a:bodyPr wrap="square" anchor="t">
            <a:spAutoFit/>
          </a:bodyPr>
          <a:lstStyle/>
          <a:p>
            <a:pPr algn="ctr">
              <a:defRPr sz="2000" b="1">
                <a:solidFill>
                  <a:srgbClr val="D64343"/>
                </a:solidFill>
                <a:latin typeface="Aptos"/>
              </a:defRPr>
            </a:pPr>
            <a:r>
              <a:t>WHAT IT DOES NOT</a:t>
            </a:r>
          </a:p>
        </p:txBody>
      </p:sp>
      <p:sp>
        <p:nvSpPr>
          <p:cNvPr id="13" name="TextBox 12"/>
          <p:cNvSpPr txBox="1"/>
          <p:nvPr/>
        </p:nvSpPr>
        <p:spPr>
          <a:xfrm>
            <a:off x="8366760" y="2633472"/>
            <a:ext cx="2880360" cy="2880360"/>
          </a:xfrm>
          <a:prstGeom prst="rect">
            <a:avLst/>
          </a:prstGeom>
          <a:noFill/>
        </p:spPr>
        <p:txBody>
          <a:bodyPr wrap="square" anchor="t">
            <a:spAutoFit/>
          </a:bodyPr>
          <a:lstStyle/>
          <a:p>
            <a:pPr algn="ctr">
              <a:defRPr sz="1500" b="0">
                <a:solidFill>
                  <a:srgbClr val="F0F4F8"/>
                </a:solidFill>
                <a:latin typeface="Aptos"/>
              </a:defRPr>
            </a:pPr>
            <a:r>
              <a:t>Race is recoverable from our features at AUC 0.71</a:t>
            </a:r>
            <a:br/>
            <a:br/>
            <a:r>
              <a:t>Criminal history carries part of it — and cannot be dropped</a:t>
            </a:r>
          </a:p>
        </p:txBody>
      </p:sp>
      <p:sp>
        <p:nvSpPr>
          <p:cNvPr id="14" name="TextBox 13"/>
          <p:cNvSpPr txBox="1"/>
          <p:nvPr/>
        </p:nvSpPr>
        <p:spPr>
          <a:xfrm>
            <a:off x="731520" y="6053328"/>
            <a:ext cx="10698480" cy="274320"/>
          </a:xfrm>
          <a:prstGeom prst="rect">
            <a:avLst/>
          </a:prstGeom>
          <a:noFill/>
        </p:spPr>
        <p:txBody>
          <a:bodyPr wrap="square" anchor="t">
            <a:spAutoFit/>
          </a:bodyPr>
          <a:lstStyle/>
          <a:p>
            <a:pPr algn="ctr">
              <a:defRPr sz="1300" b="1">
                <a:solidFill>
                  <a:srgbClr val="FB8500"/>
                </a:solidFill>
                <a:latin typeface="Aptos"/>
              </a:defRPr>
            </a:pPr>
            <a:r>
              <a:t>Selection = support offered, so the harm is missed support: FNR is our primary metric. We audit outcomes, not inputs.</a:t>
            </a:r>
          </a:p>
        </p:txBody>
      </p:sp>
      <p:sp>
        <p:nvSpPr>
          <p:cNvPr id="15" name="TextBox 14"/>
          <p:cNvSpPr txBox="1"/>
          <p:nvPr/>
        </p:nvSpPr>
        <p:spPr>
          <a:xfrm>
            <a:off x="594360" y="6510528"/>
            <a:ext cx="3657600" cy="164592"/>
          </a:xfrm>
          <a:prstGeom prst="rect">
            <a:avLst/>
          </a:prstGeom>
          <a:noFill/>
        </p:spPr>
        <p:txBody>
          <a:bodyPr wrap="square" anchor="t">
            <a:spAutoFit/>
          </a:bodyPr>
          <a:lstStyle/>
          <a:p>
            <a:pPr algn="l">
              <a:defRPr sz="800" b="0">
                <a:solidFill>
                  <a:srgbClr val="828FA0"/>
                </a:solidFill>
                <a:latin typeface="Aptos"/>
              </a:defRPr>
            </a:pPr>
            <a:r>
              <a:t>HEC Paris · ISAF · 2026</a:t>
            </a:r>
          </a:p>
        </p:txBody>
      </p:sp>
      <p:sp>
        <p:nvSpPr>
          <p:cNvPr id="16" name="TextBox 15"/>
          <p:cNvSpPr txBox="1"/>
          <p:nvPr/>
        </p:nvSpPr>
        <p:spPr>
          <a:xfrm>
            <a:off x="11109960" y="6492240"/>
            <a:ext cx="411480" cy="164592"/>
          </a:xfrm>
          <a:prstGeom prst="rect">
            <a:avLst/>
          </a:prstGeom>
          <a:noFill/>
        </p:spPr>
        <p:txBody>
          <a:bodyPr wrap="square" anchor="t">
            <a:spAutoFit/>
          </a:bodyPr>
          <a:lstStyle/>
          <a:p>
            <a:pPr algn="r">
              <a:defRPr sz="800" b="0">
                <a:solidFill>
                  <a:srgbClr val="828FA0"/>
                </a:solidFill>
                <a:latin typeface="Aptos"/>
              </a:defRPr>
            </a:pPr>
            <a: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594360" y="256032"/>
            <a:ext cx="10972800" cy="274320"/>
          </a:xfrm>
          <a:prstGeom prst="rect">
            <a:avLst/>
          </a:prstGeom>
          <a:noFill/>
        </p:spPr>
        <p:txBody>
          <a:bodyPr wrap="square" anchor="t">
            <a:spAutoFit/>
          </a:bodyPr>
          <a:lstStyle/>
          <a:p>
            <a:pPr algn="l">
              <a:defRPr sz="1000" b="1">
                <a:solidFill>
                  <a:srgbClr val="FB8500"/>
                </a:solidFill>
                <a:latin typeface="Aptos"/>
              </a:defRPr>
            </a:pPr>
            <a:r>
              <a:t>FAIRNESS · RACE</a:t>
            </a:r>
          </a:p>
        </p:txBody>
      </p:sp>
      <p:sp>
        <p:nvSpPr>
          <p:cNvPr id="3" name="TextBox 2"/>
          <p:cNvSpPr txBox="1"/>
          <p:nvPr/>
        </p:nvSpPr>
        <p:spPr>
          <a:xfrm>
            <a:off x="594360" y="621792"/>
            <a:ext cx="10972800" cy="594360"/>
          </a:xfrm>
          <a:prstGeom prst="rect">
            <a:avLst/>
          </a:prstGeom>
          <a:noFill/>
        </p:spPr>
        <p:txBody>
          <a:bodyPr wrap="square" anchor="t">
            <a:spAutoFit/>
          </a:bodyPr>
          <a:lstStyle/>
          <a:p>
            <a:pPr algn="l">
              <a:defRPr sz="2600" b="1">
                <a:solidFill>
                  <a:srgbClr val="FFFFFF"/>
                </a:solidFill>
                <a:latin typeface="Aptos"/>
              </a:defRPr>
            </a:pPr>
            <a:r>
              <a:t>Race (2): the outcome audit, with three caveats</a:t>
            </a:r>
          </a:p>
        </p:txBody>
      </p:sp>
      <p:sp>
        <p:nvSpPr>
          <p:cNvPr id="4" name="Rectangle 3"/>
          <p:cNvSpPr/>
          <p:nvPr/>
        </p:nvSpPr>
        <p:spPr>
          <a:xfrm>
            <a:off x="594360" y="1298448"/>
            <a:ext cx="1005840" cy="50292"/>
          </a:xfrm>
          <a:prstGeom prst="rect">
            <a:avLst/>
          </a:prstGeom>
          <a:solidFill>
            <a:srgbClr val="FB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airness_race_gaps.png"/>
          <p:cNvPicPr>
            <a:picLocks noChangeAspect="1"/>
          </p:cNvPicPr>
          <p:nvPr/>
        </p:nvPicPr>
        <p:blipFill>
          <a:blip r:embed="rId2"/>
          <a:stretch>
            <a:fillRect/>
          </a:stretch>
        </p:blipFill>
        <p:spPr>
          <a:xfrm>
            <a:off x="365760" y="1554480"/>
            <a:ext cx="7589520" cy="3679000"/>
          </a:xfrm>
          <a:prstGeom prst="rect">
            <a:avLst/>
          </a:prstGeom>
        </p:spPr>
      </p:pic>
      <p:sp>
        <p:nvSpPr>
          <p:cNvPr id="6" name="Rounded Rectangle 5"/>
          <p:cNvSpPr/>
          <p:nvPr/>
        </p:nvSpPr>
        <p:spPr>
          <a:xfrm>
            <a:off x="8229600" y="1554480"/>
            <a:ext cx="3611880" cy="4526280"/>
          </a:xfrm>
          <a:prstGeom prst="roundRect">
            <a:avLst/>
          </a:prstGeom>
          <a:solidFill>
            <a:srgbClr val="143058"/>
          </a:solidFill>
          <a:ln>
            <a:solidFill>
              <a:srgbClr val="00B4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58200" y="1828800"/>
            <a:ext cx="3154680" cy="365760"/>
          </a:xfrm>
          <a:prstGeom prst="rect">
            <a:avLst/>
          </a:prstGeom>
          <a:noFill/>
        </p:spPr>
        <p:txBody>
          <a:bodyPr wrap="square" anchor="t">
            <a:spAutoFit/>
          </a:bodyPr>
          <a:lstStyle/>
          <a:p>
            <a:pPr algn="ctr">
              <a:defRPr sz="2000" b="1">
                <a:solidFill>
                  <a:srgbClr val="00B4B4"/>
                </a:solidFill>
                <a:latin typeface="Aptos"/>
              </a:defRPr>
            </a:pPr>
            <a:r>
              <a:t>RESULT + CAVEATS</a:t>
            </a:r>
          </a:p>
        </p:txBody>
      </p:sp>
      <p:sp>
        <p:nvSpPr>
          <p:cNvPr id="8" name="TextBox 7"/>
          <p:cNvSpPr txBox="1"/>
          <p:nvPr/>
        </p:nvSpPr>
        <p:spPr>
          <a:xfrm>
            <a:off x="8549640" y="2542032"/>
            <a:ext cx="2971800" cy="3291840"/>
          </a:xfrm>
          <a:prstGeom prst="rect">
            <a:avLst/>
          </a:prstGeom>
          <a:noFill/>
        </p:spPr>
        <p:txBody>
          <a:bodyPr wrap="square" anchor="t">
            <a:spAutoFit/>
          </a:bodyPr>
          <a:lstStyle/>
          <a:p>
            <a:pPr algn="ctr">
              <a:defRPr sz="1500" b="0">
                <a:solidFill>
                  <a:srgbClr val="F0F4F8"/>
                </a:solidFill>
                <a:latin typeface="Aptos"/>
              </a:defRPr>
            </a:pPr>
            <a:r>
              <a:t>All race gaps within ±5 pts (TOST); none survives Holm</a:t>
            </a:r>
            <a:br/>
            <a:br/>
            <a:r>
              <a:t>Selection ratio W/B 0.93 / 0.89 / 0.87 (&gt; 4/5)</a:t>
            </a:r>
            <a:br/>
            <a:br/>
            <a:r>
              <a:t>1. Direction: slightly MORE Black people offered support</a:t>
            </a:r>
            <a:br/>
            <a:r>
              <a:t>2. Label: recorded arrest may carry policing bias</a:t>
            </a:r>
            <a:br/>
            <a:r>
              <a:t>3. AUC Black 0.72 vs White 0.75</a:t>
            </a:r>
          </a:p>
        </p:txBody>
      </p:sp>
      <p:sp>
        <p:nvSpPr>
          <p:cNvPr id="9" name="TextBox 8"/>
          <p:cNvSpPr txBox="1"/>
          <p:nvPr/>
        </p:nvSpPr>
        <p:spPr>
          <a:xfrm>
            <a:off x="594360" y="6510528"/>
            <a:ext cx="3657600" cy="164592"/>
          </a:xfrm>
          <a:prstGeom prst="rect">
            <a:avLst/>
          </a:prstGeom>
          <a:noFill/>
        </p:spPr>
        <p:txBody>
          <a:bodyPr wrap="square" anchor="t">
            <a:spAutoFit/>
          </a:bodyPr>
          <a:lstStyle/>
          <a:p>
            <a:pPr algn="l">
              <a:defRPr sz="800" b="0">
                <a:solidFill>
                  <a:srgbClr val="828FA0"/>
                </a:solidFill>
                <a:latin typeface="Aptos"/>
              </a:defRPr>
            </a:pPr>
            <a:r>
              <a:t>HEC Paris · ISAF · 2026</a:t>
            </a:r>
          </a:p>
        </p:txBody>
      </p:sp>
      <p:sp>
        <p:nvSpPr>
          <p:cNvPr id="10" name="TextBox 9"/>
          <p:cNvSpPr txBox="1"/>
          <p:nvPr/>
        </p:nvSpPr>
        <p:spPr>
          <a:xfrm>
            <a:off x="11109960" y="6492240"/>
            <a:ext cx="411480" cy="164592"/>
          </a:xfrm>
          <a:prstGeom prst="rect">
            <a:avLst/>
          </a:prstGeom>
          <a:noFill/>
        </p:spPr>
        <p:txBody>
          <a:bodyPr wrap="square" anchor="t">
            <a:spAutoFit/>
          </a:bodyPr>
          <a:lstStyle/>
          <a:p>
            <a:pPr algn="r">
              <a:defRPr sz="800" b="0">
                <a:solidFill>
                  <a:srgbClr val="828FA0"/>
                </a:solidFill>
                <a:latin typeface="Aptos"/>
              </a:defRPr>
            </a:pPr>
            <a: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594360" y="256032"/>
            <a:ext cx="10972800" cy="274320"/>
          </a:xfrm>
          <a:prstGeom prst="rect">
            <a:avLst/>
          </a:prstGeom>
          <a:noFill/>
        </p:spPr>
        <p:txBody>
          <a:bodyPr wrap="square" anchor="t">
            <a:spAutoFit/>
          </a:bodyPr>
          <a:lstStyle/>
          <a:p>
            <a:pPr algn="l">
              <a:defRPr sz="1000" b="1">
                <a:solidFill>
                  <a:srgbClr val="FB8500"/>
                </a:solidFill>
                <a:latin typeface="Aptos"/>
              </a:defRPr>
            </a:pPr>
            <a:r>
              <a:t>FAIRNESS · GENDER</a:t>
            </a:r>
          </a:p>
        </p:txBody>
      </p:sp>
      <p:sp>
        <p:nvSpPr>
          <p:cNvPr id="3" name="TextBox 2"/>
          <p:cNvSpPr txBox="1"/>
          <p:nvPr/>
        </p:nvSpPr>
        <p:spPr>
          <a:xfrm>
            <a:off x="594360" y="621792"/>
            <a:ext cx="10972800" cy="594360"/>
          </a:xfrm>
          <a:prstGeom prst="rect">
            <a:avLst/>
          </a:prstGeom>
          <a:noFill/>
        </p:spPr>
        <p:txBody>
          <a:bodyPr wrap="square" anchor="t">
            <a:spAutoFit/>
          </a:bodyPr>
          <a:lstStyle/>
          <a:p>
            <a:pPr algn="l">
              <a:defRPr sz="2600" b="1">
                <a:solidFill>
                  <a:srgbClr val="FFFFFF"/>
                </a:solidFill>
                <a:latin typeface="Aptos"/>
              </a:defRPr>
            </a:pPr>
            <a:r>
              <a:t>Gender (1): women are over-predicted, yet selected less</a:t>
            </a:r>
          </a:p>
        </p:txBody>
      </p:sp>
      <p:sp>
        <p:nvSpPr>
          <p:cNvPr id="4" name="Rectangle 3"/>
          <p:cNvSpPr/>
          <p:nvPr/>
        </p:nvSpPr>
        <p:spPr>
          <a:xfrm>
            <a:off x="594360" y="1298448"/>
            <a:ext cx="1005840" cy="50292"/>
          </a:xfrm>
          <a:prstGeom prst="rect">
            <a:avLst/>
          </a:prstGeom>
          <a:solidFill>
            <a:srgbClr val="FB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airness_gender_gaps.png"/>
          <p:cNvPicPr>
            <a:picLocks noChangeAspect="1"/>
          </p:cNvPicPr>
          <p:nvPr/>
        </p:nvPicPr>
        <p:blipFill>
          <a:blip r:embed="rId2"/>
          <a:stretch>
            <a:fillRect/>
          </a:stretch>
        </p:blipFill>
        <p:spPr>
          <a:xfrm>
            <a:off x="365760" y="1554480"/>
            <a:ext cx="7589520" cy="3679000"/>
          </a:xfrm>
          <a:prstGeom prst="rect">
            <a:avLst/>
          </a:prstGeom>
        </p:spPr>
      </p:pic>
      <p:sp>
        <p:nvSpPr>
          <p:cNvPr id="6" name="Rounded Rectangle 5"/>
          <p:cNvSpPr/>
          <p:nvPr/>
        </p:nvSpPr>
        <p:spPr>
          <a:xfrm>
            <a:off x="8229600" y="1554480"/>
            <a:ext cx="3611880" cy="4526280"/>
          </a:xfrm>
          <a:prstGeom prst="roundRect">
            <a:avLst/>
          </a:prstGeom>
          <a:solidFill>
            <a:srgbClr val="143058"/>
          </a:solidFill>
          <a:ln>
            <a:solidFill>
              <a:srgbClr val="D643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58200" y="1828800"/>
            <a:ext cx="3154680" cy="365760"/>
          </a:xfrm>
          <a:prstGeom prst="rect">
            <a:avLst/>
          </a:prstGeom>
          <a:noFill/>
        </p:spPr>
        <p:txBody>
          <a:bodyPr wrap="square" anchor="t">
            <a:spAutoFit/>
          </a:bodyPr>
          <a:lstStyle/>
          <a:p>
            <a:pPr algn="ctr">
              <a:defRPr sz="2000" b="1">
                <a:solidFill>
                  <a:srgbClr val="D64343"/>
                </a:solidFill>
                <a:latin typeface="Aptos"/>
              </a:defRPr>
            </a:pPr>
            <a:r>
              <a:t>WHY</a:t>
            </a:r>
          </a:p>
        </p:txBody>
      </p:sp>
      <p:sp>
        <p:nvSpPr>
          <p:cNvPr id="8" name="TextBox 7"/>
          <p:cNvSpPr txBox="1"/>
          <p:nvPr/>
        </p:nvSpPr>
        <p:spPr>
          <a:xfrm>
            <a:off x="8549640" y="2542032"/>
            <a:ext cx="2971800" cy="3291840"/>
          </a:xfrm>
          <a:prstGeom prst="rect">
            <a:avLst/>
          </a:prstGeom>
          <a:noFill/>
        </p:spPr>
        <p:txBody>
          <a:bodyPr wrap="square" anchor="t">
            <a:spAutoFit/>
          </a:bodyPr>
          <a:lstStyle/>
          <a:p>
            <a:pPr algn="ctr">
              <a:defRPr sz="1500" b="0">
                <a:solidFill>
                  <a:srgbClr val="F0F4F8"/>
                </a:solidFill>
                <a:latin typeface="Aptos"/>
              </a:defRPr>
            </a:pPr>
            <a:r>
              <a:t>FNR gap M − F -0.10 to -0.12, all models: the feature set, not one model</a:t>
            </a:r>
            <a:br/>
            <a:br/>
            <a:r>
              <a:t>Women's mean score 0.52 vs observed 0.454</a:t>
            </a:r>
            <a:br/>
            <a:br/>
            <a:r>
              <a:t>Base rates 0.59 vs 0.45: calibration and equal FNR cannot both hold</a:t>
            </a:r>
          </a:p>
        </p:txBody>
      </p:sp>
      <p:sp>
        <p:nvSpPr>
          <p:cNvPr id="9" name="TextBox 8"/>
          <p:cNvSpPr txBox="1"/>
          <p:nvPr/>
        </p:nvSpPr>
        <p:spPr>
          <a:xfrm>
            <a:off x="548640" y="6236208"/>
            <a:ext cx="11064240" cy="274320"/>
          </a:xfrm>
          <a:prstGeom prst="rect">
            <a:avLst/>
          </a:prstGeom>
          <a:noFill/>
        </p:spPr>
        <p:txBody>
          <a:bodyPr wrap="square" anchor="t">
            <a:spAutoFit/>
          </a:bodyPr>
          <a:lstStyle/>
          <a:p>
            <a:pPr algn="ctr">
              <a:defRPr sz="1100" b="1">
                <a:solidFill>
                  <a:srgbClr val="FB8500"/>
                </a:solidFill>
                <a:latin typeface="Aptos"/>
              </a:defRPr>
            </a:pPr>
            <a:r>
              <a:t>Age: the largest gap (-0.23 to -0.24), but by design: a validated risk factor. Risk vs need is the client's choice (A6).</a:t>
            </a:r>
          </a:p>
        </p:txBody>
      </p:sp>
      <p:sp>
        <p:nvSpPr>
          <p:cNvPr id="10" name="TextBox 9"/>
          <p:cNvSpPr txBox="1"/>
          <p:nvPr/>
        </p:nvSpPr>
        <p:spPr>
          <a:xfrm>
            <a:off x="594360" y="6510528"/>
            <a:ext cx="3657600" cy="164592"/>
          </a:xfrm>
          <a:prstGeom prst="rect">
            <a:avLst/>
          </a:prstGeom>
          <a:noFill/>
        </p:spPr>
        <p:txBody>
          <a:bodyPr wrap="square" anchor="t">
            <a:spAutoFit/>
          </a:bodyPr>
          <a:lstStyle/>
          <a:p>
            <a:pPr algn="l">
              <a:defRPr sz="800" b="0">
                <a:solidFill>
                  <a:srgbClr val="828FA0"/>
                </a:solidFill>
                <a:latin typeface="Aptos"/>
              </a:defRPr>
            </a:pPr>
            <a:r>
              <a:t>HEC Paris · ISAF · 2026</a:t>
            </a:r>
          </a:p>
        </p:txBody>
      </p:sp>
      <p:sp>
        <p:nvSpPr>
          <p:cNvPr id="11" name="TextBox 10"/>
          <p:cNvSpPr txBox="1"/>
          <p:nvPr/>
        </p:nvSpPr>
        <p:spPr>
          <a:xfrm>
            <a:off x="11109960" y="6492240"/>
            <a:ext cx="411480" cy="164592"/>
          </a:xfrm>
          <a:prstGeom prst="rect">
            <a:avLst/>
          </a:prstGeom>
          <a:noFill/>
        </p:spPr>
        <p:txBody>
          <a:bodyPr wrap="square" anchor="t">
            <a:spAutoFit/>
          </a:bodyPr>
          <a:lstStyle/>
          <a:p>
            <a:pPr algn="r">
              <a:defRPr sz="800" b="0">
                <a:solidFill>
                  <a:srgbClr val="828FA0"/>
                </a:solidFill>
                <a:latin typeface="Aptos"/>
              </a:defRPr>
            </a:pPr>
            <a: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594360" y="256032"/>
            <a:ext cx="10972800" cy="274320"/>
          </a:xfrm>
          <a:prstGeom prst="rect">
            <a:avLst/>
          </a:prstGeom>
          <a:noFill/>
        </p:spPr>
        <p:txBody>
          <a:bodyPr wrap="square" anchor="t">
            <a:spAutoFit/>
          </a:bodyPr>
          <a:lstStyle/>
          <a:p>
            <a:pPr algn="l">
              <a:defRPr sz="1000" b="1">
                <a:solidFill>
                  <a:srgbClr val="FB8500"/>
                </a:solidFill>
                <a:latin typeface="Aptos"/>
              </a:defRPr>
            </a:pPr>
            <a:r>
              <a:t>FAIRNESS · GENDER</a:t>
            </a:r>
          </a:p>
        </p:txBody>
      </p:sp>
      <p:sp>
        <p:nvSpPr>
          <p:cNvPr id="3" name="TextBox 2"/>
          <p:cNvSpPr txBox="1"/>
          <p:nvPr/>
        </p:nvSpPr>
        <p:spPr>
          <a:xfrm>
            <a:off x="594360" y="621792"/>
            <a:ext cx="10972800" cy="594360"/>
          </a:xfrm>
          <a:prstGeom prst="rect">
            <a:avLst/>
          </a:prstGeom>
          <a:noFill/>
        </p:spPr>
        <p:txBody>
          <a:bodyPr wrap="square" anchor="t">
            <a:spAutoFit/>
          </a:bodyPr>
          <a:lstStyle/>
          <a:p>
            <a:pPr algn="l">
              <a:defRPr sz="2600" b="1">
                <a:solidFill>
                  <a:srgbClr val="FFFFFF"/>
                </a:solidFill>
                <a:latin typeface="Aptos"/>
              </a:defRPr>
            </a:pPr>
            <a:r>
              <a:t>Gender (2): cause located, mitigated, validated out of sample</a:t>
            </a:r>
          </a:p>
        </p:txBody>
      </p:sp>
      <p:sp>
        <p:nvSpPr>
          <p:cNvPr id="4" name="Rectangle 3"/>
          <p:cNvSpPr/>
          <p:nvPr/>
        </p:nvSpPr>
        <p:spPr>
          <a:xfrm>
            <a:off x="594360" y="1298448"/>
            <a:ext cx="1005840" cy="50292"/>
          </a:xfrm>
          <a:prstGeom prst="rect">
            <a:avLst/>
          </a:prstGeom>
          <a:solidFill>
            <a:srgbClr val="FB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pdp_gender_focus.png"/>
          <p:cNvPicPr>
            <a:picLocks noChangeAspect="1"/>
          </p:cNvPicPr>
          <p:nvPr/>
        </p:nvPicPr>
        <p:blipFill>
          <a:blip r:embed="rId2"/>
          <a:stretch>
            <a:fillRect/>
          </a:stretch>
        </p:blipFill>
        <p:spPr>
          <a:xfrm>
            <a:off x="320040" y="1737360"/>
            <a:ext cx="7680960" cy="2422328"/>
          </a:xfrm>
          <a:prstGeom prst="rect">
            <a:avLst/>
          </a:prstGeom>
        </p:spPr>
      </p:pic>
      <p:sp>
        <p:nvSpPr>
          <p:cNvPr id="6" name="Rounded Rectangle 5"/>
          <p:cNvSpPr/>
          <p:nvPr/>
        </p:nvSpPr>
        <p:spPr>
          <a:xfrm>
            <a:off x="8229600" y="1508760"/>
            <a:ext cx="3611880" cy="4572000"/>
          </a:xfrm>
          <a:prstGeom prst="roundRect">
            <a:avLst/>
          </a:prstGeom>
          <a:solidFill>
            <a:srgbClr val="143058"/>
          </a:solidFill>
          <a:ln>
            <a:solidFill>
              <a:srgbClr val="00B4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58200" y="1783080"/>
            <a:ext cx="3154680" cy="365760"/>
          </a:xfrm>
          <a:prstGeom prst="rect">
            <a:avLst/>
          </a:prstGeom>
          <a:noFill/>
        </p:spPr>
        <p:txBody>
          <a:bodyPr wrap="square" anchor="t">
            <a:spAutoFit/>
          </a:bodyPr>
          <a:lstStyle/>
          <a:p>
            <a:pPr algn="ctr">
              <a:defRPr sz="2000" b="1">
                <a:solidFill>
                  <a:srgbClr val="00B4B4"/>
                </a:solidFill>
                <a:latin typeface="Aptos"/>
              </a:defRPr>
            </a:pPr>
            <a:r>
              <a:t>FPDP → GANG</a:t>
            </a:r>
          </a:p>
        </p:txBody>
      </p:sp>
      <p:sp>
        <p:nvSpPr>
          <p:cNvPr id="8" name="TextBox 7"/>
          <p:cNvSpPr txBox="1"/>
          <p:nvPr/>
        </p:nvSpPr>
        <p:spPr>
          <a:xfrm>
            <a:off x="8549640" y="2496312"/>
            <a:ext cx="2971800" cy="3337560"/>
          </a:xfrm>
          <a:prstGeom prst="rect">
            <a:avLst/>
          </a:prstGeom>
          <a:noFill/>
        </p:spPr>
        <p:txBody>
          <a:bodyPr wrap="square" anchor="t">
            <a:spAutoFit/>
          </a:bodyPr>
          <a:lstStyle/>
          <a:p>
            <a:pPr algn="ctr">
              <a:defRPr sz="1500" b="0">
                <a:solidFill>
                  <a:srgbClr val="F0F4F8"/>
                </a:solidFill>
                <a:latin typeface="Aptos"/>
              </a:defRPr>
            </a:pPr>
            <a:r>
              <a:t>Never recorded for women: record-keeping, not behaviour</a:t>
            </a:r>
            <a:br/>
            <a:br/>
            <a:r>
              <a:t>Drop it, refit inside 100% of 5 training folds</a:t>
            </a:r>
            <a:br/>
            <a:br/>
            <a:r>
              <a:t>Out of fold: FNR gap -0.122 → -0.035 (~70% closed), AUC -0.010</a:t>
            </a:r>
            <a:br/>
            <a:br/>
            <a:r>
              <a:t>Cost: men's FNR +2 pts; selection rates still differ</a:t>
            </a:r>
          </a:p>
        </p:txBody>
      </p:sp>
      <p:sp>
        <p:nvSpPr>
          <p:cNvPr id="9" name="TextBox 8"/>
          <p:cNvSpPr txBox="1"/>
          <p:nvPr/>
        </p:nvSpPr>
        <p:spPr>
          <a:xfrm>
            <a:off x="914400" y="6236208"/>
            <a:ext cx="10058400" cy="274320"/>
          </a:xfrm>
          <a:prstGeom prst="rect">
            <a:avLst/>
          </a:prstGeom>
          <a:noFill/>
        </p:spPr>
        <p:txBody>
          <a:bodyPr wrap="square" anchor="t">
            <a:spAutoFit/>
          </a:bodyPr>
          <a:lstStyle/>
          <a:p>
            <a:pPr algn="ctr">
              <a:defRPr sz="1100" b="1">
                <a:solidFill>
                  <a:srgbClr val="FB8500"/>
                </a:solidFill>
                <a:latin typeface="Aptos"/>
              </a:defRPr>
            </a:pPr>
            <a:r>
              <a:t>Evaluation cohort untouched. A mitigation option for the client, not applied to the recommended model.</a:t>
            </a:r>
          </a:p>
        </p:txBody>
      </p:sp>
      <p:sp>
        <p:nvSpPr>
          <p:cNvPr id="10" name="TextBox 9"/>
          <p:cNvSpPr txBox="1"/>
          <p:nvPr/>
        </p:nvSpPr>
        <p:spPr>
          <a:xfrm>
            <a:off x="594360" y="6510528"/>
            <a:ext cx="3657600" cy="164592"/>
          </a:xfrm>
          <a:prstGeom prst="rect">
            <a:avLst/>
          </a:prstGeom>
          <a:noFill/>
        </p:spPr>
        <p:txBody>
          <a:bodyPr wrap="square" anchor="t">
            <a:spAutoFit/>
          </a:bodyPr>
          <a:lstStyle/>
          <a:p>
            <a:pPr algn="l">
              <a:defRPr sz="800" b="0">
                <a:solidFill>
                  <a:srgbClr val="828FA0"/>
                </a:solidFill>
                <a:latin typeface="Aptos"/>
              </a:defRPr>
            </a:pPr>
            <a:r>
              <a:t>HEC Paris · ISAF · 2026</a:t>
            </a:r>
          </a:p>
        </p:txBody>
      </p:sp>
      <p:sp>
        <p:nvSpPr>
          <p:cNvPr id="11" name="TextBox 10"/>
          <p:cNvSpPr txBox="1"/>
          <p:nvPr/>
        </p:nvSpPr>
        <p:spPr>
          <a:xfrm>
            <a:off x="11109960" y="6492240"/>
            <a:ext cx="411480" cy="164592"/>
          </a:xfrm>
          <a:prstGeom prst="rect">
            <a:avLst/>
          </a:prstGeom>
          <a:noFill/>
        </p:spPr>
        <p:txBody>
          <a:bodyPr wrap="square" anchor="t">
            <a:spAutoFit/>
          </a:bodyPr>
          <a:lstStyle/>
          <a:p>
            <a:pPr algn="r">
              <a:defRPr sz="800" b="0">
                <a:solidFill>
                  <a:srgbClr val="828FA0"/>
                </a:solidFill>
                <a:latin typeface="Aptos"/>
              </a:defRPr>
            </a:pPr>
            <a: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594360" y="256032"/>
            <a:ext cx="10972800" cy="274320"/>
          </a:xfrm>
          <a:prstGeom prst="rect">
            <a:avLst/>
          </a:prstGeom>
          <a:noFill/>
        </p:spPr>
        <p:txBody>
          <a:bodyPr wrap="square" anchor="t">
            <a:spAutoFit/>
          </a:bodyPr>
          <a:lstStyle/>
          <a:p>
            <a:pPr algn="l">
              <a:defRPr sz="1000" b="1">
                <a:solidFill>
                  <a:srgbClr val="FB8500"/>
                </a:solidFill>
                <a:latin typeface="Aptos"/>
              </a:defRPr>
            </a:pPr>
            <a:r>
              <a:t>STABILITY · STRUCTURAL</a:t>
            </a:r>
          </a:p>
        </p:txBody>
      </p:sp>
      <p:sp>
        <p:nvSpPr>
          <p:cNvPr id="3" name="TextBox 2"/>
          <p:cNvSpPr txBox="1"/>
          <p:nvPr/>
        </p:nvSpPr>
        <p:spPr>
          <a:xfrm>
            <a:off x="594360" y="621792"/>
            <a:ext cx="10972800" cy="594360"/>
          </a:xfrm>
          <a:prstGeom prst="rect">
            <a:avLst/>
          </a:prstGeom>
          <a:noFill/>
        </p:spPr>
        <p:txBody>
          <a:bodyPr wrap="square" anchor="t">
            <a:spAutoFit/>
          </a:bodyPr>
          <a:lstStyle/>
          <a:p>
            <a:pPr algn="l">
              <a:defRPr sz="2600" b="1">
                <a:solidFill>
                  <a:srgbClr val="FFFFFF"/>
                </a:solidFill>
                <a:latin typeface="Aptos"/>
              </a:defRPr>
            </a:pPr>
            <a:r>
              <a:t>Would a different sample give the same model?</a:t>
            </a:r>
          </a:p>
        </p:txBody>
      </p:sp>
      <p:sp>
        <p:nvSpPr>
          <p:cNvPr id="4" name="Rectangle 3"/>
          <p:cNvSpPr/>
          <p:nvPr/>
        </p:nvSpPr>
        <p:spPr>
          <a:xfrm>
            <a:off x="594360" y="1298448"/>
            <a:ext cx="1005840" cy="50292"/>
          </a:xfrm>
          <a:prstGeom prst="rect">
            <a:avLst/>
          </a:prstGeom>
          <a:solidFill>
            <a:srgbClr val="FB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tructural_stability.png"/>
          <p:cNvPicPr>
            <a:picLocks noChangeAspect="1"/>
          </p:cNvPicPr>
          <p:nvPr/>
        </p:nvPicPr>
        <p:blipFill>
          <a:blip r:embed="rId2"/>
          <a:stretch>
            <a:fillRect/>
          </a:stretch>
        </p:blipFill>
        <p:spPr>
          <a:xfrm>
            <a:off x="457200" y="1600200"/>
            <a:ext cx="7589520" cy="1992276"/>
          </a:xfrm>
          <a:prstGeom prst="rect">
            <a:avLst/>
          </a:prstGeom>
        </p:spPr>
      </p:pic>
      <p:sp>
        <p:nvSpPr>
          <p:cNvPr id="6" name="Rounded Rectangle 5"/>
          <p:cNvSpPr/>
          <p:nvPr/>
        </p:nvSpPr>
        <p:spPr>
          <a:xfrm>
            <a:off x="8549640" y="1737360"/>
            <a:ext cx="2423160" cy="1261872"/>
          </a:xfrm>
          <a:prstGeom prst="roundRect">
            <a:avLst/>
          </a:prstGeom>
          <a:solidFill>
            <a:srgbClr val="143058"/>
          </a:solidFill>
          <a:ln>
            <a:solidFill>
              <a:srgbClr val="FB85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59367" y="1874519"/>
            <a:ext cx="2194560" cy="438912"/>
          </a:xfrm>
          <a:prstGeom prst="rect">
            <a:avLst/>
          </a:prstGeom>
          <a:noFill/>
        </p:spPr>
        <p:txBody>
          <a:bodyPr wrap="square" anchor="t">
            <a:spAutoFit/>
          </a:bodyPr>
          <a:lstStyle/>
          <a:p>
            <a:pPr algn="ctr">
              <a:defRPr sz="1500" b="1">
                <a:solidFill>
                  <a:srgbClr val="FB8500"/>
                </a:solidFill>
                <a:latin typeface="Aptos"/>
              </a:defRPr>
            </a:pPr>
            <a:r>
              <a:t>0.032 / 0.035 / 0.035</a:t>
            </a:r>
          </a:p>
        </p:txBody>
      </p:sp>
      <p:sp>
        <p:nvSpPr>
          <p:cNvPr id="8" name="TextBox 7"/>
          <p:cNvSpPr txBox="1"/>
          <p:nvPr/>
        </p:nvSpPr>
        <p:spPr>
          <a:xfrm>
            <a:off x="8659367" y="2395728"/>
            <a:ext cx="2194560" cy="274320"/>
          </a:xfrm>
          <a:prstGeom prst="rect">
            <a:avLst/>
          </a:prstGeom>
          <a:noFill/>
        </p:spPr>
        <p:txBody>
          <a:bodyPr wrap="square" anchor="t">
            <a:spAutoFit/>
          </a:bodyPr>
          <a:lstStyle/>
          <a:p>
            <a:pPr algn="ctr">
              <a:defRPr sz="1100" b="1">
                <a:solidFill>
                  <a:srgbClr val="FFFFFF"/>
                </a:solidFill>
                <a:latin typeface="Aptos"/>
              </a:defRPr>
            </a:pPr>
            <a:r>
              <a:t>SCORE DRIFT (mean |Δp|)</a:t>
            </a:r>
          </a:p>
        </p:txBody>
      </p:sp>
      <p:sp>
        <p:nvSpPr>
          <p:cNvPr id="9" name="TextBox 8"/>
          <p:cNvSpPr txBox="1"/>
          <p:nvPr/>
        </p:nvSpPr>
        <p:spPr>
          <a:xfrm>
            <a:off x="8659367" y="2706624"/>
            <a:ext cx="2194560" cy="164592"/>
          </a:xfrm>
          <a:prstGeom prst="rect">
            <a:avLst/>
          </a:prstGeom>
          <a:noFill/>
        </p:spPr>
        <p:txBody>
          <a:bodyPr wrap="square" anchor="t">
            <a:spAutoFit/>
          </a:bodyPr>
          <a:lstStyle/>
          <a:p>
            <a:pPr algn="ctr">
              <a:defRPr sz="800" b="0">
                <a:solidFill>
                  <a:srgbClr val="F0F4F8"/>
                </a:solidFill>
                <a:latin typeface="Aptos"/>
              </a:defRPr>
            </a:pPr>
            <a:r>
              <a:t>logistic below XGBoost on all 28 pairs</a:t>
            </a:r>
          </a:p>
        </p:txBody>
      </p:sp>
      <p:sp>
        <p:nvSpPr>
          <p:cNvPr id="10" name="Rounded Rectangle 9"/>
          <p:cNvSpPr/>
          <p:nvPr/>
        </p:nvSpPr>
        <p:spPr>
          <a:xfrm>
            <a:off x="8549640" y="3200400"/>
            <a:ext cx="2423160" cy="1261872"/>
          </a:xfrm>
          <a:prstGeom prst="roundRect">
            <a:avLst/>
          </a:prstGeom>
          <a:solidFill>
            <a:srgbClr val="143058"/>
          </a:solidFill>
          <a:ln>
            <a:solidFill>
              <a:srgbClr val="00B4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59367" y="3337560"/>
            <a:ext cx="2194560" cy="438912"/>
          </a:xfrm>
          <a:prstGeom prst="rect">
            <a:avLst/>
          </a:prstGeom>
          <a:noFill/>
        </p:spPr>
        <p:txBody>
          <a:bodyPr wrap="square" anchor="t">
            <a:spAutoFit/>
          </a:bodyPr>
          <a:lstStyle/>
          <a:p>
            <a:pPr algn="ctr">
              <a:defRPr sz="1600" b="1">
                <a:solidFill>
                  <a:srgbClr val="00B4B4"/>
                </a:solidFill>
                <a:latin typeface="Aptos"/>
              </a:defRPr>
            </a:pPr>
            <a:r>
              <a:t>0.77 / 0.75 / 0.78</a:t>
            </a:r>
          </a:p>
        </p:txBody>
      </p:sp>
      <p:sp>
        <p:nvSpPr>
          <p:cNvPr id="12" name="TextBox 11"/>
          <p:cNvSpPr txBox="1"/>
          <p:nvPr/>
        </p:nvSpPr>
        <p:spPr>
          <a:xfrm>
            <a:off x="8659367" y="3858768"/>
            <a:ext cx="2194560" cy="274320"/>
          </a:xfrm>
          <a:prstGeom prst="rect">
            <a:avLst/>
          </a:prstGeom>
          <a:noFill/>
        </p:spPr>
        <p:txBody>
          <a:bodyPr wrap="square" anchor="t">
            <a:spAutoFit/>
          </a:bodyPr>
          <a:lstStyle/>
          <a:p>
            <a:pPr algn="ctr">
              <a:defRPr sz="1100" b="1">
                <a:solidFill>
                  <a:srgbClr val="FFFFFF"/>
                </a:solidFill>
                <a:latin typeface="Aptos"/>
              </a:defRPr>
            </a:pPr>
            <a:r>
              <a:t>TOP-20% JACCARD</a:t>
            </a:r>
          </a:p>
        </p:txBody>
      </p:sp>
      <p:sp>
        <p:nvSpPr>
          <p:cNvPr id="13" name="TextBox 12"/>
          <p:cNvSpPr txBox="1"/>
          <p:nvPr/>
        </p:nvSpPr>
        <p:spPr>
          <a:xfrm>
            <a:off x="8659367" y="4169664"/>
            <a:ext cx="2194560" cy="164592"/>
          </a:xfrm>
          <a:prstGeom prst="rect">
            <a:avLst/>
          </a:prstGeom>
          <a:noFill/>
        </p:spPr>
        <p:txBody>
          <a:bodyPr wrap="square" anchor="t">
            <a:spAutoFit/>
          </a:bodyPr>
          <a:lstStyle/>
          <a:p>
            <a:pPr algn="ctr">
              <a:defRPr sz="800" b="0">
                <a:solidFill>
                  <a:srgbClr val="F0F4F8"/>
                </a:solidFill>
                <a:latin typeface="Aptos"/>
              </a:defRPr>
            </a:pPr>
            <a:r>
              <a:t>≈ 13% of the selected change per refit</a:t>
            </a:r>
          </a:p>
        </p:txBody>
      </p:sp>
      <p:sp>
        <p:nvSpPr>
          <p:cNvPr id="14" name="Rounded Rectangle 13"/>
          <p:cNvSpPr/>
          <p:nvPr/>
        </p:nvSpPr>
        <p:spPr>
          <a:xfrm>
            <a:off x="8549640" y="4663440"/>
            <a:ext cx="2423160" cy="1261872"/>
          </a:xfrm>
          <a:prstGeom prst="roundRect">
            <a:avLst/>
          </a:prstGeom>
          <a:solidFill>
            <a:srgbClr val="143058"/>
          </a:solidFill>
          <a:ln>
            <a:solidFill>
              <a:srgbClr val="7B2C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59367" y="4800600"/>
            <a:ext cx="2194560" cy="438912"/>
          </a:xfrm>
          <a:prstGeom prst="rect">
            <a:avLst/>
          </a:prstGeom>
          <a:noFill/>
        </p:spPr>
        <p:txBody>
          <a:bodyPr wrap="square" anchor="t">
            <a:spAutoFit/>
          </a:bodyPr>
          <a:lstStyle/>
          <a:p>
            <a:pPr algn="ctr">
              <a:defRPr sz="2400" b="1">
                <a:solidFill>
                  <a:srgbClr val="7B2CBF"/>
                </a:solidFill>
                <a:latin typeface="Aptos"/>
              </a:defRPr>
            </a:pPr>
            <a:r>
              <a:t>8 refits</a:t>
            </a:r>
          </a:p>
        </p:txBody>
      </p:sp>
      <p:sp>
        <p:nvSpPr>
          <p:cNvPr id="16" name="TextBox 15"/>
          <p:cNvSpPr txBox="1"/>
          <p:nvPr/>
        </p:nvSpPr>
        <p:spPr>
          <a:xfrm>
            <a:off x="8659367" y="5321807"/>
            <a:ext cx="2194560" cy="274320"/>
          </a:xfrm>
          <a:prstGeom prst="rect">
            <a:avLst/>
          </a:prstGeom>
          <a:noFill/>
        </p:spPr>
        <p:txBody>
          <a:bodyPr wrap="square" anchor="t">
            <a:spAutoFit/>
          </a:bodyPr>
          <a:lstStyle/>
          <a:p>
            <a:pPr algn="ctr">
              <a:defRPr sz="1100" b="1">
                <a:solidFill>
                  <a:srgbClr val="FFFFFF"/>
                </a:solidFill>
                <a:latin typeface="Aptos"/>
              </a:defRPr>
            </a:pPr>
            <a:r>
              <a:t>PROTOCOL</a:t>
            </a:r>
          </a:p>
        </p:txBody>
      </p:sp>
      <p:sp>
        <p:nvSpPr>
          <p:cNvPr id="17" name="TextBox 16"/>
          <p:cNvSpPr txBox="1"/>
          <p:nvPr/>
        </p:nvSpPr>
        <p:spPr>
          <a:xfrm>
            <a:off x="8659367" y="5632704"/>
            <a:ext cx="2194560" cy="164592"/>
          </a:xfrm>
          <a:prstGeom prst="rect">
            <a:avLst/>
          </a:prstGeom>
          <a:noFill/>
        </p:spPr>
        <p:txBody>
          <a:bodyPr wrap="square" anchor="t">
            <a:spAutoFit/>
          </a:bodyPr>
          <a:lstStyle/>
          <a:p>
            <a:pPr algn="ctr">
              <a:defRPr sz="800" b="0">
                <a:solidFill>
                  <a:srgbClr val="F0F4F8"/>
                </a:solidFill>
                <a:latin typeface="Aptos"/>
              </a:defRPr>
            </a:pPr>
            <a:r>
              <a:t>same bootstrap resamples for all 3</a:t>
            </a:r>
          </a:p>
        </p:txBody>
      </p:sp>
      <p:sp>
        <p:nvSpPr>
          <p:cNvPr id="18" name="TextBox 17"/>
          <p:cNvSpPr txBox="1"/>
          <p:nvPr/>
        </p:nvSpPr>
        <p:spPr>
          <a:xfrm>
            <a:off x="914400" y="6236208"/>
            <a:ext cx="10058400" cy="274320"/>
          </a:xfrm>
          <a:prstGeom prst="rect">
            <a:avLst/>
          </a:prstGeom>
          <a:noFill/>
        </p:spPr>
        <p:txBody>
          <a:bodyPr wrap="square" anchor="t">
            <a:spAutoFit/>
          </a:bodyPr>
          <a:lstStyle/>
          <a:p>
            <a:pPr algn="ctr">
              <a:defRPr sz="1100" b="1">
                <a:solidFill>
                  <a:srgbClr val="828FA0"/>
                </a:solidFill>
                <a:latin typeface="Aptos"/>
              </a:defRPr>
            </a:pPr>
            <a:r>
              <a:t>Course definition: two samples from the same population should give approximately the same model.</a:t>
            </a:r>
          </a:p>
        </p:txBody>
      </p:sp>
      <p:sp>
        <p:nvSpPr>
          <p:cNvPr id="19" name="TextBox 18"/>
          <p:cNvSpPr txBox="1"/>
          <p:nvPr/>
        </p:nvSpPr>
        <p:spPr>
          <a:xfrm>
            <a:off x="594360" y="6510528"/>
            <a:ext cx="3657600" cy="164592"/>
          </a:xfrm>
          <a:prstGeom prst="rect">
            <a:avLst/>
          </a:prstGeom>
          <a:noFill/>
        </p:spPr>
        <p:txBody>
          <a:bodyPr wrap="square" anchor="t">
            <a:spAutoFit/>
          </a:bodyPr>
          <a:lstStyle/>
          <a:p>
            <a:pPr algn="l">
              <a:defRPr sz="800" b="0">
                <a:solidFill>
                  <a:srgbClr val="828FA0"/>
                </a:solidFill>
                <a:latin typeface="Aptos"/>
              </a:defRPr>
            </a:pPr>
            <a:r>
              <a:t>HEC Paris · ISAF · 2026</a:t>
            </a:r>
          </a:p>
        </p:txBody>
      </p:sp>
      <p:sp>
        <p:nvSpPr>
          <p:cNvPr id="20" name="TextBox 19"/>
          <p:cNvSpPr txBox="1"/>
          <p:nvPr/>
        </p:nvSpPr>
        <p:spPr>
          <a:xfrm>
            <a:off x="11109960" y="6492240"/>
            <a:ext cx="411480" cy="164592"/>
          </a:xfrm>
          <a:prstGeom prst="rect">
            <a:avLst/>
          </a:prstGeom>
          <a:noFill/>
        </p:spPr>
        <p:txBody>
          <a:bodyPr wrap="square" anchor="t">
            <a:spAutoFit/>
          </a:bodyPr>
          <a:lstStyle/>
          <a:p>
            <a:pPr algn="r">
              <a:defRPr sz="800" b="0">
                <a:solidFill>
                  <a:srgbClr val="828FA0"/>
                </a:solidFill>
                <a:latin typeface="Aptos"/>
              </a:defRPr>
            </a:pPr>
            <a: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594360" y="256032"/>
            <a:ext cx="10972800" cy="274320"/>
          </a:xfrm>
          <a:prstGeom prst="rect">
            <a:avLst/>
          </a:prstGeom>
          <a:noFill/>
        </p:spPr>
        <p:txBody>
          <a:bodyPr wrap="square" anchor="t">
            <a:spAutoFit/>
          </a:bodyPr>
          <a:lstStyle/>
          <a:p>
            <a:pPr algn="l">
              <a:defRPr sz="1000" b="1">
                <a:solidFill>
                  <a:srgbClr val="FB8500"/>
                </a:solidFill>
                <a:latin typeface="Aptos"/>
              </a:defRPr>
            </a:pPr>
            <a:r>
              <a:t>STABILITY · INDIVIDUAL</a:t>
            </a:r>
          </a:p>
        </p:txBody>
      </p:sp>
      <p:sp>
        <p:nvSpPr>
          <p:cNvPr id="3" name="TextBox 2"/>
          <p:cNvSpPr txBox="1"/>
          <p:nvPr/>
        </p:nvSpPr>
        <p:spPr>
          <a:xfrm>
            <a:off x="594360" y="621792"/>
            <a:ext cx="10972800" cy="594360"/>
          </a:xfrm>
          <a:prstGeom prst="rect">
            <a:avLst/>
          </a:prstGeom>
          <a:noFill/>
        </p:spPr>
        <p:txBody>
          <a:bodyPr wrap="square" anchor="t">
            <a:spAutoFit/>
          </a:bodyPr>
          <a:lstStyle/>
          <a:p>
            <a:pPr algn="l">
              <a:defRPr sz="2600" b="1">
                <a:solidFill>
                  <a:srgbClr val="FFFFFF"/>
                </a:solidFill>
                <a:latin typeface="Aptos"/>
              </a:defRPr>
            </a:pPr>
            <a:r>
              <a:t>Stability for one person: abstaining is not fairness-neutral</a:t>
            </a:r>
          </a:p>
        </p:txBody>
      </p:sp>
      <p:sp>
        <p:nvSpPr>
          <p:cNvPr id="4" name="Rectangle 3"/>
          <p:cNvSpPr/>
          <p:nvPr/>
        </p:nvSpPr>
        <p:spPr>
          <a:xfrm>
            <a:off x="594360" y="1298448"/>
            <a:ext cx="1005840" cy="50292"/>
          </a:xfrm>
          <a:prstGeom prst="rect">
            <a:avLst/>
          </a:prstGeom>
          <a:solidFill>
            <a:srgbClr val="FB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ndividual_stability.png"/>
          <p:cNvPicPr>
            <a:picLocks noChangeAspect="1"/>
          </p:cNvPicPr>
          <p:nvPr/>
        </p:nvPicPr>
        <p:blipFill>
          <a:blip r:embed="rId2"/>
          <a:stretch>
            <a:fillRect/>
          </a:stretch>
        </p:blipFill>
        <p:spPr>
          <a:xfrm>
            <a:off x="320040" y="1554480"/>
            <a:ext cx="11521440" cy="3268678"/>
          </a:xfrm>
          <a:prstGeom prst="rect">
            <a:avLst/>
          </a:prstGeom>
        </p:spPr>
      </p:pic>
      <p:sp>
        <p:nvSpPr>
          <p:cNvPr id="6" name="TextBox 5"/>
          <p:cNvSpPr txBox="1"/>
          <p:nvPr/>
        </p:nvSpPr>
        <p:spPr>
          <a:xfrm>
            <a:off x="731520" y="6144768"/>
            <a:ext cx="10698480" cy="411480"/>
          </a:xfrm>
          <a:prstGeom prst="rect">
            <a:avLst/>
          </a:prstGeom>
          <a:noFill/>
        </p:spPr>
        <p:txBody>
          <a:bodyPr wrap="square" anchor="t">
            <a:spAutoFit/>
          </a:bodyPr>
          <a:lstStyle/>
          <a:p>
            <a:pPr algn="ctr">
              <a:defRPr sz="1100" b="1">
                <a:solidFill>
                  <a:srgbClr val="FB8500"/>
                </a:solidFill>
                <a:latin typeface="Aptos"/>
              </a:defRPr>
            </a:pPr>
            <a:r>
              <a:t>14% of decisions flip. Unanimous only: precision 0.822 → 0.846, gender FNR gap -0.090 → -0.119.</a:t>
            </a:r>
          </a:p>
        </p:txBody>
      </p:sp>
      <p:sp>
        <p:nvSpPr>
          <p:cNvPr id="7" name="TextBox 6"/>
          <p:cNvSpPr txBox="1"/>
          <p:nvPr/>
        </p:nvSpPr>
        <p:spPr>
          <a:xfrm>
            <a:off x="594360" y="6510528"/>
            <a:ext cx="3657600" cy="164592"/>
          </a:xfrm>
          <a:prstGeom prst="rect">
            <a:avLst/>
          </a:prstGeom>
          <a:noFill/>
        </p:spPr>
        <p:txBody>
          <a:bodyPr wrap="square" anchor="t">
            <a:spAutoFit/>
          </a:bodyPr>
          <a:lstStyle/>
          <a:p>
            <a:pPr algn="l">
              <a:defRPr sz="800" b="0">
                <a:solidFill>
                  <a:srgbClr val="828FA0"/>
                </a:solidFill>
                <a:latin typeface="Aptos"/>
              </a:defRPr>
            </a:pPr>
            <a:r>
              <a:t>HEC Paris · ISAF · 2026</a:t>
            </a:r>
          </a:p>
        </p:txBody>
      </p:sp>
      <p:sp>
        <p:nvSpPr>
          <p:cNvPr id="8" name="TextBox 7"/>
          <p:cNvSpPr txBox="1"/>
          <p:nvPr/>
        </p:nvSpPr>
        <p:spPr>
          <a:xfrm>
            <a:off x="11109960" y="6492240"/>
            <a:ext cx="411480" cy="164592"/>
          </a:xfrm>
          <a:prstGeom prst="rect">
            <a:avLst/>
          </a:prstGeom>
          <a:noFill/>
        </p:spPr>
        <p:txBody>
          <a:bodyPr wrap="square" anchor="t">
            <a:spAutoFit/>
          </a:bodyPr>
          <a:lstStyle/>
          <a:p>
            <a:pPr algn="r">
              <a:defRPr sz="800" b="0">
                <a:solidFill>
                  <a:srgbClr val="828FA0"/>
                </a:solidFill>
                <a:latin typeface="Aptos"/>
              </a:defRPr>
            </a:pPr>
            <a: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594360" y="256032"/>
            <a:ext cx="10972800" cy="274320"/>
          </a:xfrm>
          <a:prstGeom prst="rect">
            <a:avLst/>
          </a:prstGeom>
          <a:noFill/>
        </p:spPr>
        <p:txBody>
          <a:bodyPr wrap="square" anchor="t">
            <a:spAutoFit/>
          </a:bodyPr>
          <a:lstStyle/>
          <a:p>
            <a:pPr algn="l">
              <a:defRPr sz="1000" b="1">
                <a:solidFill>
                  <a:srgbClr val="FB8500"/>
                </a:solidFill>
                <a:latin typeface="Aptos"/>
              </a:defRPr>
            </a:pPr>
            <a:r>
              <a:t>CONCLUSION · TRADE-OFFS</a:t>
            </a:r>
          </a:p>
        </p:txBody>
      </p:sp>
      <p:sp>
        <p:nvSpPr>
          <p:cNvPr id="3" name="TextBox 2"/>
          <p:cNvSpPr txBox="1"/>
          <p:nvPr/>
        </p:nvSpPr>
        <p:spPr>
          <a:xfrm>
            <a:off x="594360" y="621792"/>
            <a:ext cx="10972800" cy="594360"/>
          </a:xfrm>
          <a:prstGeom prst="rect">
            <a:avLst/>
          </a:prstGeom>
          <a:noFill/>
        </p:spPr>
        <p:txBody>
          <a:bodyPr wrap="square" anchor="t">
            <a:spAutoFit/>
          </a:bodyPr>
          <a:lstStyle/>
          <a:p>
            <a:pPr algn="l">
              <a:defRPr sz="2600" b="1">
                <a:solidFill>
                  <a:srgbClr val="FFFFFF"/>
                </a:solidFill>
                <a:latin typeface="Aptos"/>
              </a:defRPr>
            </a:pPr>
            <a:r>
              <a:t>Pilot logistic regression; run XGBoost as the challenger</a:t>
            </a:r>
          </a:p>
        </p:txBody>
      </p:sp>
      <p:sp>
        <p:nvSpPr>
          <p:cNvPr id="4" name="Rectangle 3"/>
          <p:cNvSpPr/>
          <p:nvPr/>
        </p:nvSpPr>
        <p:spPr>
          <a:xfrm>
            <a:off x="594360" y="1298448"/>
            <a:ext cx="1005840" cy="50292"/>
          </a:xfrm>
          <a:prstGeom prst="rect">
            <a:avLst/>
          </a:prstGeom>
          <a:solidFill>
            <a:srgbClr val="FB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radeoff_matrix.png"/>
          <p:cNvPicPr>
            <a:picLocks noChangeAspect="1"/>
          </p:cNvPicPr>
          <p:nvPr/>
        </p:nvPicPr>
        <p:blipFill>
          <a:blip r:embed="rId2"/>
          <a:stretch>
            <a:fillRect/>
          </a:stretch>
        </p:blipFill>
        <p:spPr>
          <a:xfrm>
            <a:off x="628578" y="1463040"/>
            <a:ext cx="6423802" cy="4800599"/>
          </a:xfrm>
          <a:prstGeom prst="rect">
            <a:avLst/>
          </a:prstGeom>
        </p:spPr>
      </p:pic>
      <p:sp>
        <p:nvSpPr>
          <p:cNvPr id="6" name="Rounded Rectangle 5"/>
          <p:cNvSpPr/>
          <p:nvPr/>
        </p:nvSpPr>
        <p:spPr>
          <a:xfrm>
            <a:off x="7680960" y="1463040"/>
            <a:ext cx="4114800" cy="4663440"/>
          </a:xfrm>
          <a:prstGeom prst="roundRect">
            <a:avLst/>
          </a:prstGeom>
          <a:solidFill>
            <a:srgbClr val="143058"/>
          </a:solidFill>
          <a:ln>
            <a:solidFill>
              <a:srgbClr val="00B4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909560" y="1737360"/>
            <a:ext cx="3657600" cy="365760"/>
          </a:xfrm>
          <a:prstGeom prst="rect">
            <a:avLst/>
          </a:prstGeom>
          <a:noFill/>
        </p:spPr>
        <p:txBody>
          <a:bodyPr wrap="square" anchor="t">
            <a:spAutoFit/>
          </a:bodyPr>
          <a:lstStyle/>
          <a:p>
            <a:pPr algn="ctr">
              <a:defRPr sz="2000" b="1">
                <a:solidFill>
                  <a:srgbClr val="00B4B4"/>
                </a:solidFill>
                <a:latin typeface="Aptos"/>
              </a:defRPr>
            </a:pPr>
            <a:r>
              <a:t>WHY LOGISTIC</a:t>
            </a:r>
          </a:p>
        </p:txBody>
      </p:sp>
      <p:sp>
        <p:nvSpPr>
          <p:cNvPr id="8" name="TextBox 7"/>
          <p:cNvSpPr txBox="1"/>
          <p:nvPr/>
        </p:nvSpPr>
        <p:spPr>
          <a:xfrm>
            <a:off x="8001000" y="2450592"/>
            <a:ext cx="3474720" cy="3428999"/>
          </a:xfrm>
          <a:prstGeom prst="rect">
            <a:avLst/>
          </a:prstGeom>
          <a:noFill/>
        </p:spPr>
        <p:txBody>
          <a:bodyPr wrap="square" anchor="t">
            <a:spAutoFit/>
          </a:bodyPr>
          <a:lstStyle/>
          <a:p>
            <a:pPr algn="ctr">
              <a:defRPr sz="1500" b="0">
                <a:solidFill>
                  <a:srgbClr val="F0F4F8"/>
                </a:solidFill>
                <a:latin typeface="Aptos"/>
              </a:defRPr>
            </a:pPr>
            <a:r>
              <a:t>Same people: 85% overlap with XGBoost; captured re-arrests CI includes 0</a:t>
            </a:r>
            <a:br/>
            <a:br/>
            <a:r>
              <a:t>More stable than XGBoost on all 28 refit pairs</a:t>
            </a:r>
            <a:br/>
            <a:br/>
            <a:r>
              <a:t>Coefficients read directly · ~9× faster</a:t>
            </a:r>
            <a:br/>
            <a:br/>
            <a:r>
              <a:t>Fairness and calibration: tied — not reasons</a:t>
            </a:r>
            <a:br/>
            <a:br/>
            <a:r>
              <a:t>Reverses if: scores are quoted numerically, or scale makes +12 offers matter</a:t>
            </a:r>
          </a:p>
        </p:txBody>
      </p:sp>
      <p:sp>
        <p:nvSpPr>
          <p:cNvPr id="9" name="TextBox 8"/>
          <p:cNvSpPr txBox="1"/>
          <p:nvPr/>
        </p:nvSpPr>
        <p:spPr>
          <a:xfrm>
            <a:off x="731520" y="6263640"/>
            <a:ext cx="10698480" cy="274320"/>
          </a:xfrm>
          <a:prstGeom prst="rect">
            <a:avLst/>
          </a:prstGeom>
          <a:noFill/>
        </p:spPr>
        <p:txBody>
          <a:bodyPr wrap="square" anchor="t">
            <a:spAutoFit/>
          </a:bodyPr>
          <a:lstStyle/>
          <a:p>
            <a:pPr algn="ctr">
              <a:defRPr sz="1100" b="1">
                <a:solidFill>
                  <a:srgbClr val="FB8500"/>
                </a:solidFill>
                <a:latin typeface="Aptos"/>
              </a:defRPr>
            </a:pPr>
            <a:r>
              <a:t>Shadow pilot first: no temporal/external validation yet, and no evidence the support programme works.</a:t>
            </a:r>
          </a:p>
        </p:txBody>
      </p:sp>
      <p:sp>
        <p:nvSpPr>
          <p:cNvPr id="10" name="TextBox 9"/>
          <p:cNvSpPr txBox="1"/>
          <p:nvPr/>
        </p:nvSpPr>
        <p:spPr>
          <a:xfrm>
            <a:off x="594360" y="6510528"/>
            <a:ext cx="3657600" cy="164592"/>
          </a:xfrm>
          <a:prstGeom prst="rect">
            <a:avLst/>
          </a:prstGeom>
          <a:noFill/>
        </p:spPr>
        <p:txBody>
          <a:bodyPr wrap="square" anchor="t">
            <a:spAutoFit/>
          </a:bodyPr>
          <a:lstStyle/>
          <a:p>
            <a:pPr algn="l">
              <a:defRPr sz="800" b="0">
                <a:solidFill>
                  <a:srgbClr val="828FA0"/>
                </a:solidFill>
                <a:latin typeface="Aptos"/>
              </a:defRPr>
            </a:pPr>
            <a:r>
              <a:t>HEC Paris · ISAF · 2026</a:t>
            </a:r>
          </a:p>
        </p:txBody>
      </p:sp>
      <p:sp>
        <p:nvSpPr>
          <p:cNvPr id="11" name="TextBox 10"/>
          <p:cNvSpPr txBox="1"/>
          <p:nvPr/>
        </p:nvSpPr>
        <p:spPr>
          <a:xfrm>
            <a:off x="11109960" y="6492240"/>
            <a:ext cx="411480" cy="164592"/>
          </a:xfrm>
          <a:prstGeom prst="rect">
            <a:avLst/>
          </a:prstGeom>
          <a:noFill/>
        </p:spPr>
        <p:txBody>
          <a:bodyPr wrap="square" anchor="t">
            <a:spAutoFit/>
          </a:bodyPr>
          <a:lstStyle/>
          <a:p>
            <a:pPr algn="r">
              <a:defRPr sz="800" b="0">
                <a:solidFill>
                  <a:srgbClr val="828FA0"/>
                </a:solidFill>
                <a:latin typeface="Aptos"/>
              </a:defRPr>
            </a:pPr>
            <a: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594360" y="256032"/>
            <a:ext cx="10972800" cy="274320"/>
          </a:xfrm>
          <a:prstGeom prst="rect">
            <a:avLst/>
          </a:prstGeom>
          <a:noFill/>
        </p:spPr>
        <p:txBody>
          <a:bodyPr wrap="square" anchor="t">
            <a:spAutoFit/>
          </a:bodyPr>
          <a:lstStyle/>
          <a:p>
            <a:pPr algn="l">
              <a:defRPr sz="1000" b="1">
                <a:solidFill>
                  <a:srgbClr val="FB8500"/>
                </a:solidFill>
                <a:latin typeface="Aptos"/>
              </a:defRPr>
            </a:pPr>
            <a:r>
              <a:t>DEMO · APP</a:t>
            </a:r>
          </a:p>
        </p:txBody>
      </p:sp>
      <p:sp>
        <p:nvSpPr>
          <p:cNvPr id="3" name="TextBox 2"/>
          <p:cNvSpPr txBox="1"/>
          <p:nvPr/>
        </p:nvSpPr>
        <p:spPr>
          <a:xfrm>
            <a:off x="594360" y="621792"/>
            <a:ext cx="10972800" cy="594360"/>
          </a:xfrm>
          <a:prstGeom prst="rect">
            <a:avLst/>
          </a:prstGeom>
          <a:noFill/>
        </p:spPr>
        <p:txBody>
          <a:bodyPr wrap="square" anchor="t">
            <a:spAutoFit/>
          </a:bodyPr>
          <a:lstStyle/>
          <a:p>
            <a:pPr algn="l">
              <a:defRPr sz="2600" b="1">
                <a:solidFill>
                  <a:srgbClr val="FFFFFF"/>
                </a:solidFill>
                <a:latin typeface="Aptos"/>
              </a:defRPr>
            </a:pPr>
            <a:r>
              <a:t>The application makes every trade-off testable</a:t>
            </a:r>
          </a:p>
        </p:txBody>
      </p:sp>
      <p:sp>
        <p:nvSpPr>
          <p:cNvPr id="4" name="Rectangle 3"/>
          <p:cNvSpPr/>
          <p:nvPr/>
        </p:nvSpPr>
        <p:spPr>
          <a:xfrm>
            <a:off x="594360" y="1298448"/>
            <a:ext cx="1005840" cy="50292"/>
          </a:xfrm>
          <a:prstGeom prst="rect">
            <a:avLst/>
          </a:prstGeom>
          <a:solidFill>
            <a:srgbClr val="FB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85800" y="1600200"/>
            <a:ext cx="5212080" cy="1572768"/>
          </a:xfrm>
          <a:prstGeom prst="roundRect">
            <a:avLst/>
          </a:prstGeom>
          <a:solidFill>
            <a:srgbClr val="143058"/>
          </a:solidFill>
          <a:ln>
            <a:solidFill>
              <a:srgbClr val="FB85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874519"/>
            <a:ext cx="4754880" cy="365760"/>
          </a:xfrm>
          <a:prstGeom prst="rect">
            <a:avLst/>
          </a:prstGeom>
          <a:noFill/>
        </p:spPr>
        <p:txBody>
          <a:bodyPr wrap="square" anchor="t">
            <a:spAutoFit/>
          </a:bodyPr>
          <a:lstStyle/>
          <a:p>
            <a:pPr algn="ctr">
              <a:defRPr sz="2000" b="1">
                <a:solidFill>
                  <a:srgbClr val="FB8500"/>
                </a:solidFill>
                <a:latin typeface="Aptos"/>
              </a:defRPr>
            </a:pPr>
            <a:r>
              <a:t>1 · SCORE</a:t>
            </a:r>
          </a:p>
        </p:txBody>
      </p:sp>
      <p:sp>
        <p:nvSpPr>
          <p:cNvPr id="7" name="TextBox 6"/>
          <p:cNvSpPr txBox="1"/>
          <p:nvPr/>
        </p:nvSpPr>
        <p:spPr>
          <a:xfrm>
            <a:off x="1005840" y="2587752"/>
            <a:ext cx="4572000" cy="338327"/>
          </a:xfrm>
          <a:prstGeom prst="rect">
            <a:avLst/>
          </a:prstGeom>
          <a:noFill/>
        </p:spPr>
        <p:txBody>
          <a:bodyPr wrap="square" anchor="t">
            <a:spAutoFit/>
          </a:bodyPr>
          <a:lstStyle/>
          <a:p>
            <a:pPr algn="ctr">
              <a:defRPr sz="1500" b="0">
                <a:solidFill>
                  <a:srgbClr val="F0F4F8"/>
                </a:solidFill>
                <a:latin typeface="Aptos"/>
              </a:defRPr>
            </a:pPr>
            <a:r>
              <a:t>One person, all 3 models</a:t>
            </a:r>
          </a:p>
        </p:txBody>
      </p:sp>
      <p:sp>
        <p:nvSpPr>
          <p:cNvPr id="8" name="Rounded Rectangle 7"/>
          <p:cNvSpPr/>
          <p:nvPr/>
        </p:nvSpPr>
        <p:spPr>
          <a:xfrm>
            <a:off x="6263640" y="1600200"/>
            <a:ext cx="5212080" cy="1572768"/>
          </a:xfrm>
          <a:prstGeom prst="roundRect">
            <a:avLst/>
          </a:prstGeom>
          <a:solidFill>
            <a:srgbClr val="143058"/>
          </a:solidFill>
          <a:ln>
            <a:solidFill>
              <a:srgbClr val="7B2C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92240" y="1874519"/>
            <a:ext cx="4754880" cy="365760"/>
          </a:xfrm>
          <a:prstGeom prst="rect">
            <a:avLst/>
          </a:prstGeom>
          <a:noFill/>
        </p:spPr>
        <p:txBody>
          <a:bodyPr wrap="square" anchor="t">
            <a:spAutoFit/>
          </a:bodyPr>
          <a:lstStyle/>
          <a:p>
            <a:pPr algn="ctr">
              <a:defRPr sz="2000" b="1">
                <a:solidFill>
                  <a:srgbClr val="7B2CBF"/>
                </a:solidFill>
                <a:latin typeface="Aptos"/>
              </a:defRPr>
            </a:pPr>
            <a:r>
              <a:t>2 · EXPLAIN</a:t>
            </a:r>
          </a:p>
        </p:txBody>
      </p:sp>
      <p:sp>
        <p:nvSpPr>
          <p:cNvPr id="10" name="TextBox 9"/>
          <p:cNvSpPr txBox="1"/>
          <p:nvPr/>
        </p:nvSpPr>
        <p:spPr>
          <a:xfrm>
            <a:off x="6583679" y="2587752"/>
            <a:ext cx="4572000" cy="338327"/>
          </a:xfrm>
          <a:prstGeom prst="rect">
            <a:avLst/>
          </a:prstGeom>
          <a:noFill/>
        </p:spPr>
        <p:txBody>
          <a:bodyPr wrap="square" anchor="t">
            <a:spAutoFit/>
          </a:bodyPr>
          <a:lstStyle/>
          <a:p>
            <a:pPr algn="ctr">
              <a:defRPr sz="1500" b="0">
                <a:solidFill>
                  <a:srgbClr val="F0F4F8"/>
                </a:solidFill>
                <a:latin typeface="Aptos"/>
              </a:defRPr>
            </a:pPr>
            <a:r>
              <a:t>Why this score (SHAP)</a:t>
            </a:r>
          </a:p>
        </p:txBody>
      </p:sp>
      <p:sp>
        <p:nvSpPr>
          <p:cNvPr id="11" name="Rounded Rectangle 10"/>
          <p:cNvSpPr/>
          <p:nvPr/>
        </p:nvSpPr>
        <p:spPr>
          <a:xfrm>
            <a:off x="685800" y="3474720"/>
            <a:ext cx="5212080" cy="1572768"/>
          </a:xfrm>
          <a:prstGeom prst="roundRect">
            <a:avLst/>
          </a:prstGeom>
          <a:solidFill>
            <a:srgbClr val="143058"/>
          </a:solidFill>
          <a:ln>
            <a:solidFill>
              <a:srgbClr val="FB85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3749039"/>
            <a:ext cx="4754880" cy="365760"/>
          </a:xfrm>
          <a:prstGeom prst="rect">
            <a:avLst/>
          </a:prstGeom>
          <a:noFill/>
        </p:spPr>
        <p:txBody>
          <a:bodyPr wrap="square" anchor="t">
            <a:spAutoFit/>
          </a:bodyPr>
          <a:lstStyle/>
          <a:p>
            <a:pPr algn="ctr">
              <a:defRPr sz="2000" b="1">
                <a:solidFill>
                  <a:srgbClr val="FB8500"/>
                </a:solidFill>
                <a:latin typeface="Aptos"/>
              </a:defRPr>
            </a:pPr>
            <a:r>
              <a:t>3 · STABILITY</a:t>
            </a:r>
          </a:p>
        </p:txBody>
      </p:sp>
      <p:sp>
        <p:nvSpPr>
          <p:cNvPr id="13" name="TextBox 12"/>
          <p:cNvSpPr txBox="1"/>
          <p:nvPr/>
        </p:nvSpPr>
        <p:spPr>
          <a:xfrm>
            <a:off x="1005840" y="4462272"/>
            <a:ext cx="4572000" cy="338327"/>
          </a:xfrm>
          <a:prstGeom prst="rect">
            <a:avLst/>
          </a:prstGeom>
          <a:noFill/>
        </p:spPr>
        <p:txBody>
          <a:bodyPr wrap="square" anchor="t">
            <a:spAutoFit/>
          </a:bodyPr>
          <a:lstStyle/>
          <a:p>
            <a:pPr algn="ctr">
              <a:defRPr sz="1500" b="0">
                <a:solidFill>
                  <a:srgbClr val="F0F4F8"/>
                </a:solidFill>
                <a:latin typeface="Aptos"/>
              </a:defRPr>
            </a:pPr>
            <a:r>
              <a:t>How many of 8 refits select them</a:t>
            </a:r>
          </a:p>
        </p:txBody>
      </p:sp>
      <p:sp>
        <p:nvSpPr>
          <p:cNvPr id="14" name="Rounded Rectangle 13"/>
          <p:cNvSpPr/>
          <p:nvPr/>
        </p:nvSpPr>
        <p:spPr>
          <a:xfrm>
            <a:off x="6263640" y="3474720"/>
            <a:ext cx="5212080" cy="1572768"/>
          </a:xfrm>
          <a:prstGeom prst="roundRect">
            <a:avLst/>
          </a:prstGeom>
          <a:solidFill>
            <a:srgbClr val="143058"/>
          </a:solidFill>
          <a:ln>
            <a:solidFill>
              <a:srgbClr val="7B2C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92240" y="3749039"/>
            <a:ext cx="4754880" cy="365760"/>
          </a:xfrm>
          <a:prstGeom prst="rect">
            <a:avLst/>
          </a:prstGeom>
          <a:noFill/>
        </p:spPr>
        <p:txBody>
          <a:bodyPr wrap="square" anchor="t">
            <a:spAutoFit/>
          </a:bodyPr>
          <a:lstStyle/>
          <a:p>
            <a:pPr algn="ctr">
              <a:defRPr sz="2000" b="1">
                <a:solidFill>
                  <a:srgbClr val="7B2CBF"/>
                </a:solidFill>
                <a:latin typeface="Aptos"/>
              </a:defRPr>
            </a:pPr>
            <a:r>
              <a:t>4 · WHAT IF</a:t>
            </a:r>
          </a:p>
        </p:txBody>
      </p:sp>
      <p:sp>
        <p:nvSpPr>
          <p:cNvPr id="16" name="TextBox 15"/>
          <p:cNvSpPr txBox="1"/>
          <p:nvPr/>
        </p:nvSpPr>
        <p:spPr>
          <a:xfrm>
            <a:off x="6583679" y="4462272"/>
            <a:ext cx="4572000" cy="338327"/>
          </a:xfrm>
          <a:prstGeom prst="rect">
            <a:avLst/>
          </a:prstGeom>
          <a:noFill/>
        </p:spPr>
        <p:txBody>
          <a:bodyPr wrap="square" anchor="t">
            <a:spAutoFit/>
          </a:bodyPr>
          <a:lstStyle/>
          <a:p>
            <a:pPr algn="ctr">
              <a:defRPr sz="1500" b="0">
                <a:solidFill>
                  <a:srgbClr val="F0F4F8"/>
                </a:solidFill>
                <a:latin typeface="Aptos"/>
              </a:defRPr>
            </a:pPr>
            <a:r>
              <a:t>Edit an input, watch the score move</a:t>
            </a:r>
          </a:p>
        </p:txBody>
      </p:sp>
      <p:sp>
        <p:nvSpPr>
          <p:cNvPr id="17" name="TextBox 16"/>
          <p:cNvSpPr txBox="1"/>
          <p:nvPr/>
        </p:nvSpPr>
        <p:spPr>
          <a:xfrm>
            <a:off x="2926080" y="5715000"/>
            <a:ext cx="6400800" cy="365760"/>
          </a:xfrm>
          <a:prstGeom prst="rect">
            <a:avLst/>
          </a:prstGeom>
          <a:noFill/>
        </p:spPr>
        <p:txBody>
          <a:bodyPr wrap="square" anchor="t">
            <a:spAutoFit/>
          </a:bodyPr>
          <a:lstStyle/>
          <a:p>
            <a:pPr algn="ctr">
              <a:defRPr sz="1500" b="1">
                <a:solidFill>
                  <a:srgbClr val="F0F4F8"/>
                </a:solidFill>
                <a:latin typeface="Consolas"/>
              </a:defRPr>
            </a:pPr>
            <a:r>
              <a:t>streamlit run app.py   ·   backup: screenshots / recording</a:t>
            </a:r>
          </a:p>
        </p:txBody>
      </p:sp>
      <p:sp>
        <p:nvSpPr>
          <p:cNvPr id="18" name="TextBox 17"/>
          <p:cNvSpPr txBox="1"/>
          <p:nvPr/>
        </p:nvSpPr>
        <p:spPr>
          <a:xfrm>
            <a:off x="594360" y="6510528"/>
            <a:ext cx="3657600" cy="164592"/>
          </a:xfrm>
          <a:prstGeom prst="rect">
            <a:avLst/>
          </a:prstGeom>
          <a:noFill/>
        </p:spPr>
        <p:txBody>
          <a:bodyPr wrap="square" anchor="t">
            <a:spAutoFit/>
          </a:bodyPr>
          <a:lstStyle/>
          <a:p>
            <a:pPr algn="l">
              <a:defRPr sz="800" b="0">
                <a:solidFill>
                  <a:srgbClr val="828FA0"/>
                </a:solidFill>
                <a:latin typeface="Aptos"/>
              </a:defRPr>
            </a:pPr>
            <a:r>
              <a:t>HEC Paris · ISAF · 2026</a:t>
            </a:r>
          </a:p>
        </p:txBody>
      </p:sp>
      <p:sp>
        <p:nvSpPr>
          <p:cNvPr id="19" name="TextBox 18"/>
          <p:cNvSpPr txBox="1"/>
          <p:nvPr/>
        </p:nvSpPr>
        <p:spPr>
          <a:xfrm>
            <a:off x="11109960" y="6492240"/>
            <a:ext cx="411480" cy="164592"/>
          </a:xfrm>
          <a:prstGeom prst="rect">
            <a:avLst/>
          </a:prstGeom>
          <a:noFill/>
        </p:spPr>
        <p:txBody>
          <a:bodyPr wrap="square" anchor="t">
            <a:spAutoFit/>
          </a:bodyPr>
          <a:lstStyle/>
          <a:p>
            <a:pPr algn="r">
              <a:defRPr sz="800" b="0">
                <a:solidFill>
                  <a:srgbClr val="828FA0"/>
                </a:solidFill>
                <a:latin typeface="Aptos"/>
              </a:defRPr>
            </a:pPr>
            <a: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658368" y="2377440"/>
            <a:ext cx="7315200" cy="457200"/>
          </a:xfrm>
          <a:prstGeom prst="rect">
            <a:avLst/>
          </a:prstGeom>
          <a:noFill/>
        </p:spPr>
        <p:txBody>
          <a:bodyPr wrap="square" anchor="t">
            <a:spAutoFit/>
          </a:bodyPr>
          <a:lstStyle/>
          <a:p>
            <a:pPr algn="l">
              <a:defRPr sz="1400" b="1">
                <a:solidFill>
                  <a:srgbClr val="FB8500"/>
                </a:solidFill>
                <a:latin typeface="Aptos"/>
              </a:defRPr>
            </a:pPr>
            <a:r>
              <a:t>APPENDIX</a:t>
            </a:r>
          </a:p>
        </p:txBody>
      </p:sp>
      <p:sp>
        <p:nvSpPr>
          <p:cNvPr id="3" name="TextBox 2"/>
          <p:cNvSpPr txBox="1"/>
          <p:nvPr/>
        </p:nvSpPr>
        <p:spPr>
          <a:xfrm>
            <a:off x="658368" y="2880360"/>
            <a:ext cx="8229600" cy="1371600"/>
          </a:xfrm>
          <a:prstGeom prst="rect">
            <a:avLst/>
          </a:prstGeom>
          <a:noFill/>
        </p:spPr>
        <p:txBody>
          <a:bodyPr wrap="square" anchor="t">
            <a:spAutoFit/>
          </a:bodyPr>
          <a:lstStyle/>
          <a:p>
            <a:pPr algn="l">
              <a:defRPr sz="3400" b="1">
                <a:solidFill>
                  <a:srgbClr val="FFFFFF"/>
                </a:solidFill>
                <a:latin typeface="Aptos"/>
              </a:defRPr>
            </a:pPr>
            <a:r>
              <a:t>Supporting evidence</a:t>
            </a:r>
            <a:br/>
            <a:r>
              <a:t>for questions</a:t>
            </a:r>
          </a:p>
        </p:txBody>
      </p:sp>
      <p:sp>
        <p:nvSpPr>
          <p:cNvPr id="4" name="TextBox 3"/>
          <p:cNvSpPr txBox="1"/>
          <p:nvPr/>
        </p:nvSpPr>
        <p:spPr>
          <a:xfrm>
            <a:off x="694944" y="4526280"/>
            <a:ext cx="8686800" cy="822960"/>
          </a:xfrm>
          <a:prstGeom prst="rect">
            <a:avLst/>
          </a:prstGeom>
          <a:noFill/>
        </p:spPr>
        <p:txBody>
          <a:bodyPr wrap="square" anchor="t">
            <a:spAutoFit/>
          </a:bodyPr>
          <a:lstStyle/>
          <a:p>
            <a:pPr algn="l">
              <a:defRPr sz="1500" b="0">
                <a:solidFill>
                  <a:srgbClr val="F0F4F8"/>
                </a:solidFill>
                <a:latin typeface="Aptos"/>
              </a:defRPr>
            </a:pPr>
            <a:r>
              <a:t>Learning curve · economic sensitivity · XPER · PDP/ICE · threshold frontier · age · process log</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594360" y="256032"/>
            <a:ext cx="10972800" cy="274320"/>
          </a:xfrm>
          <a:prstGeom prst="rect">
            <a:avLst/>
          </a:prstGeom>
          <a:noFill/>
        </p:spPr>
        <p:txBody>
          <a:bodyPr wrap="square" anchor="t">
            <a:spAutoFit/>
          </a:bodyPr>
          <a:lstStyle/>
          <a:p>
            <a:pPr algn="l">
              <a:defRPr sz="1000" b="1">
                <a:solidFill>
                  <a:srgbClr val="FB8500"/>
                </a:solidFill>
                <a:latin typeface="Aptos"/>
              </a:defRPr>
            </a:pPr>
            <a:r>
              <a:t>A1 · LEARNING CURVE</a:t>
            </a:r>
          </a:p>
        </p:txBody>
      </p:sp>
      <p:sp>
        <p:nvSpPr>
          <p:cNvPr id="3" name="TextBox 2"/>
          <p:cNvSpPr txBox="1"/>
          <p:nvPr/>
        </p:nvSpPr>
        <p:spPr>
          <a:xfrm>
            <a:off x="594360" y="621792"/>
            <a:ext cx="10972800" cy="594360"/>
          </a:xfrm>
          <a:prstGeom prst="rect">
            <a:avLst/>
          </a:prstGeom>
          <a:noFill/>
        </p:spPr>
        <p:txBody>
          <a:bodyPr wrap="square" anchor="t">
            <a:spAutoFit/>
          </a:bodyPr>
          <a:lstStyle/>
          <a:p>
            <a:pPr algn="l">
              <a:defRPr sz="2600" b="1">
                <a:solidFill>
                  <a:srgbClr val="FFFFFF"/>
                </a:solidFill>
                <a:latin typeface="Aptos"/>
              </a:defRPr>
            </a:pPr>
            <a:r>
              <a:t>Which model for which agency size?</a:t>
            </a:r>
          </a:p>
        </p:txBody>
      </p:sp>
      <p:sp>
        <p:nvSpPr>
          <p:cNvPr id="4" name="Rectangle 3"/>
          <p:cNvSpPr/>
          <p:nvPr/>
        </p:nvSpPr>
        <p:spPr>
          <a:xfrm>
            <a:off x="594360" y="1298448"/>
            <a:ext cx="1005840" cy="50292"/>
          </a:xfrm>
          <a:prstGeom prst="rect">
            <a:avLst/>
          </a:prstGeom>
          <a:solidFill>
            <a:srgbClr val="FB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earning_curve.png"/>
          <p:cNvPicPr>
            <a:picLocks noChangeAspect="1"/>
          </p:cNvPicPr>
          <p:nvPr/>
        </p:nvPicPr>
        <p:blipFill>
          <a:blip r:embed="rId2"/>
          <a:stretch>
            <a:fillRect/>
          </a:stretch>
        </p:blipFill>
        <p:spPr>
          <a:xfrm>
            <a:off x="731520" y="1645920"/>
            <a:ext cx="10698480" cy="4022802"/>
          </a:xfrm>
          <a:prstGeom prst="rect">
            <a:avLst/>
          </a:prstGeom>
        </p:spPr>
      </p:pic>
      <p:sp>
        <p:nvSpPr>
          <p:cNvPr id="6" name="TextBox 5"/>
          <p:cNvSpPr txBox="1"/>
          <p:nvPr/>
        </p:nvSpPr>
        <p:spPr>
          <a:xfrm>
            <a:off x="914400" y="6126480"/>
            <a:ext cx="10058400" cy="457200"/>
          </a:xfrm>
          <a:prstGeom prst="rect">
            <a:avLst/>
          </a:prstGeom>
          <a:noFill/>
        </p:spPr>
        <p:txBody>
          <a:bodyPr wrap="square" anchor="t">
            <a:spAutoFit/>
          </a:bodyPr>
          <a:lstStyle/>
          <a:p>
            <a:pPr algn="ctr">
              <a:defRPr sz="1300" b="1">
                <a:solidFill>
                  <a:srgbClr val="FB8500"/>
                </a:solidFill>
                <a:latin typeface="Aptos"/>
              </a:defRPr>
            </a:pPr>
            <a:r>
              <a:t>Subsamples of one Georgia cohort test sample-size sensitivity; they do not validate transfer to other agencies.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594360" y="256032"/>
            <a:ext cx="10972800" cy="274320"/>
          </a:xfrm>
          <a:prstGeom prst="rect">
            <a:avLst/>
          </a:prstGeom>
          <a:noFill/>
        </p:spPr>
        <p:txBody>
          <a:bodyPr wrap="square" anchor="t">
            <a:spAutoFit/>
          </a:bodyPr>
          <a:lstStyle/>
          <a:p>
            <a:pPr algn="l">
              <a:defRPr sz="1000" b="1">
                <a:solidFill>
                  <a:srgbClr val="FB8500"/>
                </a:solidFill>
                <a:latin typeface="Aptos"/>
              </a:defRPr>
            </a:pPr>
            <a:r>
              <a:t>A2 · ECONOMIC SENSITIVITY</a:t>
            </a:r>
          </a:p>
        </p:txBody>
      </p:sp>
      <p:sp>
        <p:nvSpPr>
          <p:cNvPr id="3" name="TextBox 2"/>
          <p:cNvSpPr txBox="1"/>
          <p:nvPr/>
        </p:nvSpPr>
        <p:spPr>
          <a:xfrm>
            <a:off x="594360" y="621792"/>
            <a:ext cx="10972800" cy="594360"/>
          </a:xfrm>
          <a:prstGeom prst="rect">
            <a:avLst/>
          </a:prstGeom>
          <a:noFill/>
        </p:spPr>
        <p:txBody>
          <a:bodyPr wrap="square" anchor="t">
            <a:spAutoFit/>
          </a:bodyPr>
          <a:lstStyle/>
          <a:p>
            <a:pPr algn="l">
              <a:defRPr sz="2600" b="1">
                <a:solidFill>
                  <a:srgbClr val="FFFFFF"/>
                </a:solidFill>
                <a:latin typeface="Aptos"/>
              </a:defRPr>
            </a:pPr>
            <a:r>
              <a:t>Model value is a scenario, stress-tested</a:t>
            </a:r>
          </a:p>
        </p:txBody>
      </p:sp>
      <p:sp>
        <p:nvSpPr>
          <p:cNvPr id="4" name="Rectangle 3"/>
          <p:cNvSpPr/>
          <p:nvPr/>
        </p:nvSpPr>
        <p:spPr>
          <a:xfrm>
            <a:off x="594360" y="1298448"/>
            <a:ext cx="1005840" cy="50292"/>
          </a:xfrm>
          <a:prstGeom prst="rect">
            <a:avLst/>
          </a:prstGeom>
          <a:solidFill>
            <a:srgbClr val="FB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737360"/>
            <a:ext cx="2423160" cy="1261872"/>
          </a:xfrm>
          <a:prstGeom prst="roundRect">
            <a:avLst/>
          </a:prstGeom>
          <a:solidFill>
            <a:srgbClr val="143058"/>
          </a:solidFill>
          <a:ln>
            <a:solidFill>
              <a:srgbClr val="FB85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41248" y="1874519"/>
            <a:ext cx="2194560" cy="438912"/>
          </a:xfrm>
          <a:prstGeom prst="rect">
            <a:avLst/>
          </a:prstGeom>
          <a:noFill/>
        </p:spPr>
        <p:txBody>
          <a:bodyPr wrap="square" anchor="t">
            <a:spAutoFit/>
          </a:bodyPr>
          <a:lstStyle/>
          <a:p>
            <a:pPr algn="ctr">
              <a:defRPr sz="2400" b="1">
                <a:solidFill>
                  <a:srgbClr val="FB8500"/>
                </a:solidFill>
                <a:latin typeface="Aptos"/>
              </a:defRPr>
            </a:pPr>
            <a:r>
              <a:t>20%</a:t>
            </a:r>
          </a:p>
        </p:txBody>
      </p:sp>
      <p:sp>
        <p:nvSpPr>
          <p:cNvPr id="7" name="TextBox 6"/>
          <p:cNvSpPr txBox="1"/>
          <p:nvPr/>
        </p:nvSpPr>
        <p:spPr>
          <a:xfrm>
            <a:off x="841248" y="2395728"/>
            <a:ext cx="2194560" cy="274320"/>
          </a:xfrm>
          <a:prstGeom prst="rect">
            <a:avLst/>
          </a:prstGeom>
          <a:noFill/>
        </p:spPr>
        <p:txBody>
          <a:bodyPr wrap="square" anchor="t">
            <a:spAutoFit/>
          </a:bodyPr>
          <a:lstStyle/>
          <a:p>
            <a:pPr algn="ctr">
              <a:defRPr sz="1100" b="1">
                <a:solidFill>
                  <a:srgbClr val="FFFFFF"/>
                </a:solidFill>
                <a:latin typeface="Aptos"/>
              </a:defRPr>
            </a:pPr>
            <a:r>
              <a:t>SERVICE CAPACITY</a:t>
            </a:r>
          </a:p>
        </p:txBody>
      </p:sp>
      <p:sp>
        <p:nvSpPr>
          <p:cNvPr id="8" name="Rounded Rectangle 7"/>
          <p:cNvSpPr/>
          <p:nvPr/>
        </p:nvSpPr>
        <p:spPr>
          <a:xfrm>
            <a:off x="3429000" y="1737360"/>
            <a:ext cx="2423160" cy="1261872"/>
          </a:xfrm>
          <a:prstGeom prst="roundRect">
            <a:avLst/>
          </a:prstGeom>
          <a:solidFill>
            <a:srgbClr val="143058"/>
          </a:solidFill>
          <a:ln>
            <a:solidFill>
              <a:srgbClr val="00B4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538728" y="1874519"/>
            <a:ext cx="2194560" cy="438912"/>
          </a:xfrm>
          <a:prstGeom prst="rect">
            <a:avLst/>
          </a:prstGeom>
          <a:noFill/>
        </p:spPr>
        <p:txBody>
          <a:bodyPr wrap="square" anchor="t">
            <a:spAutoFit/>
          </a:bodyPr>
          <a:lstStyle/>
          <a:p>
            <a:pPr algn="ctr">
              <a:defRPr sz="2400" b="1">
                <a:solidFill>
                  <a:srgbClr val="00B4B4"/>
                </a:solidFill>
                <a:latin typeface="Aptos"/>
              </a:defRPr>
            </a:pPr>
            <a:r>
              <a:t>$5.04M</a:t>
            </a:r>
          </a:p>
        </p:txBody>
      </p:sp>
      <p:sp>
        <p:nvSpPr>
          <p:cNvPr id="10" name="TextBox 9"/>
          <p:cNvSpPr txBox="1"/>
          <p:nvPr/>
        </p:nvSpPr>
        <p:spPr>
          <a:xfrm>
            <a:off x="3538728" y="2395728"/>
            <a:ext cx="2194560" cy="274320"/>
          </a:xfrm>
          <a:prstGeom prst="rect">
            <a:avLst/>
          </a:prstGeom>
          <a:noFill/>
        </p:spPr>
        <p:txBody>
          <a:bodyPr wrap="square" anchor="t">
            <a:spAutoFit/>
          </a:bodyPr>
          <a:lstStyle/>
          <a:p>
            <a:pPr algn="ctr">
              <a:defRPr sz="1100" b="1">
                <a:solidFill>
                  <a:srgbClr val="FFFFFF"/>
                </a:solidFill>
                <a:latin typeface="Aptos"/>
              </a:defRPr>
            </a:pPr>
            <a:r>
              <a:t>LOGISTIC NET</a:t>
            </a:r>
          </a:p>
        </p:txBody>
      </p:sp>
      <p:sp>
        <p:nvSpPr>
          <p:cNvPr id="11" name="TextBox 10"/>
          <p:cNvSpPr txBox="1"/>
          <p:nvPr/>
        </p:nvSpPr>
        <p:spPr>
          <a:xfrm>
            <a:off x="3538728" y="2706624"/>
            <a:ext cx="2194560" cy="164592"/>
          </a:xfrm>
          <a:prstGeom prst="rect">
            <a:avLst/>
          </a:prstGeom>
          <a:noFill/>
        </p:spPr>
        <p:txBody>
          <a:bodyPr wrap="square" anchor="t">
            <a:spAutoFit/>
          </a:bodyPr>
          <a:lstStyle/>
          <a:p>
            <a:pPr algn="ctr">
              <a:defRPr sz="800" b="0">
                <a:solidFill>
                  <a:srgbClr val="F0F4F8"/>
                </a:solidFill>
                <a:latin typeface="Aptos"/>
              </a:defRPr>
            </a:pPr>
            <a:r>
              <a:t>XGBoost $5.17M</a:t>
            </a:r>
          </a:p>
        </p:txBody>
      </p:sp>
      <p:sp>
        <p:nvSpPr>
          <p:cNvPr id="12" name="Rounded Rectangle 11"/>
          <p:cNvSpPr/>
          <p:nvPr/>
        </p:nvSpPr>
        <p:spPr>
          <a:xfrm>
            <a:off x="6126480" y="1737360"/>
            <a:ext cx="2423160" cy="1261872"/>
          </a:xfrm>
          <a:prstGeom prst="roundRect">
            <a:avLst/>
          </a:prstGeom>
          <a:solidFill>
            <a:srgbClr val="143058"/>
          </a:solidFill>
          <a:ln>
            <a:solidFill>
              <a:srgbClr val="D643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36208" y="1874519"/>
            <a:ext cx="2194560" cy="438912"/>
          </a:xfrm>
          <a:prstGeom prst="rect">
            <a:avLst/>
          </a:prstGeom>
          <a:noFill/>
        </p:spPr>
        <p:txBody>
          <a:bodyPr wrap="square" anchor="t">
            <a:spAutoFit/>
          </a:bodyPr>
          <a:lstStyle/>
          <a:p>
            <a:pPr algn="ctr">
              <a:defRPr sz="2400" b="1">
                <a:solidFill>
                  <a:srgbClr val="D64343"/>
                </a:solidFill>
                <a:latin typeface="Aptos"/>
              </a:defRPr>
            </a:pPr>
            <a:r>
              <a:t>$2.73M</a:t>
            </a:r>
          </a:p>
        </p:txBody>
      </p:sp>
      <p:sp>
        <p:nvSpPr>
          <p:cNvPr id="14" name="TextBox 13"/>
          <p:cNvSpPr txBox="1"/>
          <p:nvPr/>
        </p:nvSpPr>
        <p:spPr>
          <a:xfrm>
            <a:off x="6236208" y="2395728"/>
            <a:ext cx="2194560" cy="274320"/>
          </a:xfrm>
          <a:prstGeom prst="rect">
            <a:avLst/>
          </a:prstGeom>
          <a:noFill/>
        </p:spPr>
        <p:txBody>
          <a:bodyPr wrap="square" anchor="t">
            <a:spAutoFit/>
          </a:bodyPr>
          <a:lstStyle/>
          <a:p>
            <a:pPr algn="ctr">
              <a:defRPr sz="1100" b="1">
                <a:solidFill>
                  <a:srgbClr val="FFFFFF"/>
                </a:solidFill>
                <a:latin typeface="Aptos"/>
              </a:defRPr>
            </a:pPr>
            <a:r>
              <a:t>HISTORICAL SCORE NET</a:t>
            </a:r>
          </a:p>
        </p:txBody>
      </p:sp>
      <p:sp>
        <p:nvSpPr>
          <p:cNvPr id="15" name="Rounded Rectangle 14"/>
          <p:cNvSpPr/>
          <p:nvPr/>
        </p:nvSpPr>
        <p:spPr>
          <a:xfrm>
            <a:off x="8823960" y="1737360"/>
            <a:ext cx="2423160" cy="1261872"/>
          </a:xfrm>
          <a:prstGeom prst="roundRect">
            <a:avLst/>
          </a:prstGeom>
          <a:solidFill>
            <a:srgbClr val="143058"/>
          </a:solidFill>
          <a:ln>
            <a:solidFill>
              <a:srgbClr val="828F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933688" y="1874519"/>
            <a:ext cx="2194560" cy="438912"/>
          </a:xfrm>
          <a:prstGeom prst="rect">
            <a:avLst/>
          </a:prstGeom>
          <a:noFill/>
        </p:spPr>
        <p:txBody>
          <a:bodyPr wrap="square" anchor="t">
            <a:spAutoFit/>
          </a:bodyPr>
          <a:lstStyle/>
          <a:p>
            <a:pPr algn="ctr">
              <a:defRPr sz="2400" b="1">
                <a:solidFill>
                  <a:srgbClr val="828FA0"/>
                </a:solidFill>
                <a:latin typeface="Aptos"/>
              </a:defRPr>
            </a:pPr>
            <a:r>
              <a:t>$1.46M</a:t>
            </a:r>
          </a:p>
        </p:txBody>
      </p:sp>
      <p:sp>
        <p:nvSpPr>
          <p:cNvPr id="17" name="TextBox 16"/>
          <p:cNvSpPr txBox="1"/>
          <p:nvPr/>
        </p:nvSpPr>
        <p:spPr>
          <a:xfrm>
            <a:off x="8933688" y="2395728"/>
            <a:ext cx="2194560" cy="274320"/>
          </a:xfrm>
          <a:prstGeom prst="rect">
            <a:avLst/>
          </a:prstGeom>
          <a:noFill/>
        </p:spPr>
        <p:txBody>
          <a:bodyPr wrap="square" anchor="t">
            <a:spAutoFit/>
          </a:bodyPr>
          <a:lstStyle/>
          <a:p>
            <a:pPr algn="ctr">
              <a:defRPr sz="1100" b="1">
                <a:solidFill>
                  <a:srgbClr val="FFFFFF"/>
                </a:solidFill>
                <a:latin typeface="Aptos"/>
              </a:defRPr>
            </a:pPr>
            <a:r>
              <a:t>RANDOM NET</a:t>
            </a:r>
          </a:p>
        </p:txBody>
      </p:sp>
      <p:sp>
        <p:nvSpPr>
          <p:cNvPr id="18" name="TextBox 17"/>
          <p:cNvSpPr txBox="1"/>
          <p:nvPr/>
        </p:nvSpPr>
        <p:spPr>
          <a:xfrm>
            <a:off x="731520" y="3401568"/>
            <a:ext cx="10698480" cy="4389120"/>
          </a:xfrm>
          <a:prstGeom prst="rect">
            <a:avLst/>
          </a:prstGeom>
          <a:noFill/>
        </p:spPr>
        <p:txBody>
          <a:bodyPr wrap="square">
            <a:spAutoFit/>
          </a:bodyPr>
          <a:lstStyle/>
          <a:p>
            <a:pPr>
              <a:spcAft>
                <a:spcPts val="1200"/>
              </a:spcAft>
              <a:defRPr sz="2000">
                <a:solidFill>
                  <a:srgbClr val="FFFFFF"/>
                </a:solidFill>
                <a:latin typeface="Aptos"/>
              </a:defRPr>
            </a:pPr>
            <a:r>
              <a:t>•  $5,000 support cost · $50,000 event cost · 20% assumed effectiveness — all editable in the app</a:t>
            </a:r>
          </a:p>
          <a:p>
            <a:pPr>
              <a:spcAft>
                <a:spcPts val="1200"/>
              </a:spcAft>
              <a:defRPr sz="2000">
                <a:solidFill>
                  <a:srgbClr val="FFFFFF"/>
                </a:solidFill>
                <a:latin typeface="Aptos"/>
              </a:defRPr>
            </a:pPr>
            <a:r>
              <a:t>•  Models beat the historical score at every capacity from 5% to 50%</a:t>
            </a:r>
          </a:p>
          <a:p>
            <a:pPr>
              <a:spcAft>
                <a:spcPts val="1200"/>
              </a:spcAft>
              <a:defRPr sz="2000">
                <a:solidFill>
                  <a:srgbClr val="FFFFFF"/>
                </a:solidFill>
                <a:latin typeface="Aptos"/>
              </a:defRPr>
            </a:pPr>
            <a:r>
              <a:t>•  A randomized or quasi-experimental pilot must estimate real intervention impact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594360" y="256032"/>
            <a:ext cx="10972800" cy="274320"/>
          </a:xfrm>
          <a:prstGeom prst="rect">
            <a:avLst/>
          </a:prstGeom>
          <a:noFill/>
        </p:spPr>
        <p:txBody>
          <a:bodyPr wrap="square" anchor="t">
            <a:spAutoFit/>
          </a:bodyPr>
          <a:lstStyle/>
          <a:p>
            <a:pPr algn="l">
              <a:defRPr sz="1000" b="1">
                <a:solidFill>
                  <a:srgbClr val="FB8500"/>
                </a:solidFill>
                <a:latin typeface="Aptos"/>
              </a:defRPr>
            </a:pPr>
            <a:r>
              <a:t>A3 · XPER</a:t>
            </a:r>
          </a:p>
        </p:txBody>
      </p:sp>
      <p:sp>
        <p:nvSpPr>
          <p:cNvPr id="3" name="TextBox 2"/>
          <p:cNvSpPr txBox="1"/>
          <p:nvPr/>
        </p:nvSpPr>
        <p:spPr>
          <a:xfrm>
            <a:off x="594360" y="621792"/>
            <a:ext cx="10972800" cy="594360"/>
          </a:xfrm>
          <a:prstGeom prst="rect">
            <a:avLst/>
          </a:prstGeom>
          <a:noFill/>
        </p:spPr>
        <p:txBody>
          <a:bodyPr wrap="square" anchor="t">
            <a:spAutoFit/>
          </a:bodyPr>
          <a:lstStyle/>
          <a:p>
            <a:pPr algn="l">
              <a:defRPr sz="2600" b="1">
                <a:solidFill>
                  <a:srgbClr val="FFFFFF"/>
                </a:solidFill>
                <a:latin typeface="Aptos"/>
              </a:defRPr>
            </a:pPr>
            <a:r>
              <a:t>XPER: which features drive the AUC?</a:t>
            </a:r>
          </a:p>
        </p:txBody>
      </p:sp>
      <p:sp>
        <p:nvSpPr>
          <p:cNvPr id="4" name="Rectangle 3"/>
          <p:cNvSpPr/>
          <p:nvPr/>
        </p:nvSpPr>
        <p:spPr>
          <a:xfrm>
            <a:off x="594360" y="1298448"/>
            <a:ext cx="1005840" cy="50292"/>
          </a:xfrm>
          <a:prstGeom prst="rect">
            <a:avLst/>
          </a:prstGeom>
          <a:solidFill>
            <a:srgbClr val="FB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xper.png"/>
          <p:cNvPicPr>
            <a:picLocks noChangeAspect="1"/>
          </p:cNvPicPr>
          <p:nvPr/>
        </p:nvPicPr>
        <p:blipFill>
          <a:blip r:embed="rId2"/>
          <a:stretch>
            <a:fillRect/>
          </a:stretch>
        </p:blipFill>
        <p:spPr>
          <a:xfrm>
            <a:off x="548640" y="1600200"/>
            <a:ext cx="10972800" cy="3904911"/>
          </a:xfrm>
          <a:prstGeom prst="rect">
            <a:avLst/>
          </a:prstGeom>
        </p:spPr>
      </p:pic>
      <p:sp>
        <p:nvSpPr>
          <p:cNvPr id="6" name="TextBox 5"/>
          <p:cNvSpPr txBox="1"/>
          <p:nvPr/>
        </p:nvSpPr>
        <p:spPr>
          <a:xfrm>
            <a:off x="914400" y="6236208"/>
            <a:ext cx="10058400" cy="274320"/>
          </a:xfrm>
          <a:prstGeom prst="rect">
            <a:avLst/>
          </a:prstGeom>
          <a:noFill/>
        </p:spPr>
        <p:txBody>
          <a:bodyPr wrap="square" anchor="t">
            <a:spAutoFit/>
          </a:bodyPr>
          <a:lstStyle/>
          <a:p>
            <a:pPr algn="ctr">
              <a:defRPr sz="1100" b="1">
                <a:solidFill>
                  <a:srgbClr val="FB8500"/>
                </a:solidFill>
                <a:latin typeface="Aptos"/>
              </a:defRPr>
            </a:pPr>
            <a:r>
              <a:t>SHAP explains a prediction; XPER splits a performance metric (AUC) into feature contributions with Shapley values.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594360" y="256032"/>
            <a:ext cx="10972800" cy="274320"/>
          </a:xfrm>
          <a:prstGeom prst="rect">
            <a:avLst/>
          </a:prstGeom>
          <a:noFill/>
        </p:spPr>
        <p:txBody>
          <a:bodyPr wrap="square" anchor="t">
            <a:spAutoFit/>
          </a:bodyPr>
          <a:lstStyle/>
          <a:p>
            <a:pPr algn="l">
              <a:defRPr sz="1000" b="1">
                <a:solidFill>
                  <a:srgbClr val="FB8500"/>
                </a:solidFill>
                <a:latin typeface="Aptos"/>
              </a:defRPr>
            </a:pPr>
            <a:r>
              <a:t>A4 · PDP / ICE</a:t>
            </a:r>
          </a:p>
        </p:txBody>
      </p:sp>
      <p:sp>
        <p:nvSpPr>
          <p:cNvPr id="3" name="TextBox 2"/>
          <p:cNvSpPr txBox="1"/>
          <p:nvPr/>
        </p:nvSpPr>
        <p:spPr>
          <a:xfrm>
            <a:off x="594360" y="621792"/>
            <a:ext cx="10972800" cy="594360"/>
          </a:xfrm>
          <a:prstGeom prst="rect">
            <a:avLst/>
          </a:prstGeom>
          <a:noFill/>
        </p:spPr>
        <p:txBody>
          <a:bodyPr wrap="square" anchor="t">
            <a:spAutoFit/>
          </a:bodyPr>
          <a:lstStyle/>
          <a:p>
            <a:pPr algn="l">
              <a:defRPr sz="2600" b="1">
                <a:solidFill>
                  <a:srgbClr val="FFFFFF"/>
                </a:solidFill>
                <a:latin typeface="Aptos"/>
              </a:defRPr>
            </a:pPr>
            <a:r>
              <a:t>Partial dependence and individual curves, all three models</a:t>
            </a:r>
          </a:p>
        </p:txBody>
      </p:sp>
      <p:sp>
        <p:nvSpPr>
          <p:cNvPr id="4" name="Rectangle 3"/>
          <p:cNvSpPr/>
          <p:nvPr/>
        </p:nvSpPr>
        <p:spPr>
          <a:xfrm>
            <a:off x="594360" y="1298448"/>
            <a:ext cx="1005840" cy="50292"/>
          </a:xfrm>
          <a:prstGeom prst="rect">
            <a:avLst/>
          </a:prstGeom>
          <a:solidFill>
            <a:srgbClr val="FB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pdp_ice.png"/>
          <p:cNvPicPr>
            <a:picLocks noChangeAspect="1"/>
          </p:cNvPicPr>
          <p:nvPr/>
        </p:nvPicPr>
        <p:blipFill>
          <a:blip r:embed="rId2"/>
          <a:stretch>
            <a:fillRect/>
          </a:stretch>
        </p:blipFill>
        <p:spPr>
          <a:xfrm>
            <a:off x="2948640" y="1463040"/>
            <a:ext cx="6172799" cy="480060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594360" y="256032"/>
            <a:ext cx="10972800" cy="274320"/>
          </a:xfrm>
          <a:prstGeom prst="rect">
            <a:avLst/>
          </a:prstGeom>
          <a:noFill/>
        </p:spPr>
        <p:txBody>
          <a:bodyPr wrap="square" anchor="t">
            <a:spAutoFit/>
          </a:bodyPr>
          <a:lstStyle/>
          <a:p>
            <a:pPr algn="l">
              <a:defRPr sz="1000" b="1">
                <a:solidFill>
                  <a:srgbClr val="FB8500"/>
                </a:solidFill>
                <a:latin typeface="Aptos"/>
              </a:defRPr>
            </a:pPr>
            <a:r>
              <a:t>A5 · THRESHOLD FRONTIER</a:t>
            </a:r>
          </a:p>
        </p:txBody>
      </p:sp>
      <p:sp>
        <p:nvSpPr>
          <p:cNvPr id="3" name="TextBox 2"/>
          <p:cNvSpPr txBox="1"/>
          <p:nvPr/>
        </p:nvSpPr>
        <p:spPr>
          <a:xfrm>
            <a:off x="594360" y="621792"/>
            <a:ext cx="10972800" cy="594360"/>
          </a:xfrm>
          <a:prstGeom prst="rect">
            <a:avLst/>
          </a:prstGeom>
          <a:noFill/>
        </p:spPr>
        <p:txBody>
          <a:bodyPr wrap="square" anchor="t">
            <a:spAutoFit/>
          </a:bodyPr>
          <a:lstStyle/>
          <a:p>
            <a:pPr algn="l">
              <a:defRPr sz="2600" b="1">
                <a:solidFill>
                  <a:srgbClr val="FFFFFF"/>
                </a:solidFill>
                <a:latin typeface="Aptos"/>
              </a:defRPr>
            </a:pPr>
            <a:r>
              <a:t>Group thresholds: the fairness/utility frontier</a:t>
            </a:r>
          </a:p>
        </p:txBody>
      </p:sp>
      <p:sp>
        <p:nvSpPr>
          <p:cNvPr id="4" name="Rectangle 3"/>
          <p:cNvSpPr/>
          <p:nvPr/>
        </p:nvSpPr>
        <p:spPr>
          <a:xfrm>
            <a:off x="594360" y="1298448"/>
            <a:ext cx="1005840" cy="50292"/>
          </a:xfrm>
          <a:prstGeom prst="rect">
            <a:avLst/>
          </a:prstGeom>
          <a:solidFill>
            <a:srgbClr val="FB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airness_frontier.png"/>
          <p:cNvPicPr>
            <a:picLocks noChangeAspect="1"/>
          </p:cNvPicPr>
          <p:nvPr/>
        </p:nvPicPr>
        <p:blipFill>
          <a:blip r:embed="rId2"/>
          <a:stretch>
            <a:fillRect/>
          </a:stretch>
        </p:blipFill>
        <p:spPr>
          <a:xfrm>
            <a:off x="457200" y="1600200"/>
            <a:ext cx="11247120" cy="2950111"/>
          </a:xfrm>
          <a:prstGeom prst="rect">
            <a:avLst/>
          </a:prstGeom>
        </p:spPr>
      </p:pic>
      <p:sp>
        <p:nvSpPr>
          <p:cNvPr id="6" name="TextBox 5"/>
          <p:cNvSpPr txBox="1"/>
          <p:nvPr/>
        </p:nvSpPr>
        <p:spPr>
          <a:xfrm>
            <a:off x="914400" y="6236208"/>
            <a:ext cx="10058400" cy="274320"/>
          </a:xfrm>
          <a:prstGeom prst="rect">
            <a:avLst/>
          </a:prstGeom>
          <a:noFill/>
        </p:spPr>
        <p:txBody>
          <a:bodyPr wrap="square" anchor="t">
            <a:spAutoFit/>
          </a:bodyPr>
          <a:lstStyle/>
          <a:p>
            <a:pPr algn="ctr">
              <a:defRPr sz="1100" b="1">
                <a:solidFill>
                  <a:srgbClr val="D64343"/>
                </a:solidFill>
                <a:latin typeface="Aptos"/>
              </a:defRPr>
            </a:pPr>
            <a:r>
              <a:t>Optimised on the evaluation set, so optimistic. Group-specific thresholds by race or gender are disparate treatment.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594360" y="256032"/>
            <a:ext cx="10972800" cy="274320"/>
          </a:xfrm>
          <a:prstGeom prst="rect">
            <a:avLst/>
          </a:prstGeom>
          <a:noFill/>
        </p:spPr>
        <p:txBody>
          <a:bodyPr wrap="square" anchor="t">
            <a:spAutoFit/>
          </a:bodyPr>
          <a:lstStyle/>
          <a:p>
            <a:pPr algn="l">
              <a:defRPr sz="1000" b="1">
                <a:solidFill>
                  <a:srgbClr val="FB8500"/>
                </a:solidFill>
                <a:latin typeface="Aptos"/>
              </a:defRPr>
            </a:pPr>
            <a:r>
              <a:t>A6 · AGE</a:t>
            </a:r>
          </a:p>
        </p:txBody>
      </p:sp>
      <p:sp>
        <p:nvSpPr>
          <p:cNvPr id="3" name="TextBox 2"/>
          <p:cNvSpPr txBox="1"/>
          <p:nvPr/>
        </p:nvSpPr>
        <p:spPr>
          <a:xfrm>
            <a:off x="594360" y="621792"/>
            <a:ext cx="10972800" cy="594360"/>
          </a:xfrm>
          <a:prstGeom prst="rect">
            <a:avLst/>
          </a:prstGeom>
          <a:noFill/>
        </p:spPr>
        <p:txBody>
          <a:bodyPr wrap="square" anchor="t">
            <a:spAutoFit/>
          </a:bodyPr>
          <a:lstStyle/>
          <a:p>
            <a:pPr algn="l">
              <a:defRPr sz="2600" b="1">
                <a:solidFill>
                  <a:srgbClr val="FFFFFF"/>
                </a:solidFill>
                <a:latin typeface="Aptos"/>
              </a:defRPr>
            </a:pPr>
            <a:r>
              <a:t>Age: the largest gap, and a policy choice</a:t>
            </a:r>
          </a:p>
        </p:txBody>
      </p:sp>
      <p:sp>
        <p:nvSpPr>
          <p:cNvPr id="4" name="Rectangle 3"/>
          <p:cNvSpPr/>
          <p:nvPr/>
        </p:nvSpPr>
        <p:spPr>
          <a:xfrm>
            <a:off x="594360" y="1298448"/>
            <a:ext cx="1005840" cy="50292"/>
          </a:xfrm>
          <a:prstGeom prst="rect">
            <a:avLst/>
          </a:prstGeom>
          <a:solidFill>
            <a:srgbClr val="FB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pdp_age_focus.png"/>
          <p:cNvPicPr>
            <a:picLocks noChangeAspect="1"/>
          </p:cNvPicPr>
          <p:nvPr/>
        </p:nvPicPr>
        <p:blipFill>
          <a:blip r:embed="rId2"/>
          <a:stretch>
            <a:fillRect/>
          </a:stretch>
        </p:blipFill>
        <p:spPr>
          <a:xfrm>
            <a:off x="320040" y="1737360"/>
            <a:ext cx="7680960" cy="2422328"/>
          </a:xfrm>
          <a:prstGeom prst="rect">
            <a:avLst/>
          </a:prstGeom>
        </p:spPr>
      </p:pic>
      <p:sp>
        <p:nvSpPr>
          <p:cNvPr id="6" name="Rounded Rectangle 5"/>
          <p:cNvSpPr/>
          <p:nvPr/>
        </p:nvSpPr>
        <p:spPr>
          <a:xfrm>
            <a:off x="8229600" y="1508760"/>
            <a:ext cx="3611880" cy="4572000"/>
          </a:xfrm>
          <a:prstGeom prst="roundRect">
            <a:avLst/>
          </a:prstGeom>
          <a:solidFill>
            <a:srgbClr val="143058"/>
          </a:solidFill>
          <a:ln>
            <a:solidFill>
              <a:srgbClr val="FB85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58200" y="1783080"/>
            <a:ext cx="3154680" cy="365760"/>
          </a:xfrm>
          <a:prstGeom prst="rect">
            <a:avLst/>
          </a:prstGeom>
          <a:noFill/>
        </p:spPr>
        <p:txBody>
          <a:bodyPr wrap="square" anchor="t">
            <a:spAutoFit/>
          </a:bodyPr>
          <a:lstStyle/>
          <a:p>
            <a:pPr algn="ctr">
              <a:defRPr sz="2000" b="1">
                <a:solidFill>
                  <a:srgbClr val="FB8500"/>
                </a:solidFill>
                <a:latin typeface="Aptos"/>
              </a:defRPr>
            </a:pPr>
            <a:r>
              <a:t>WHY IT IS DIFFERENT</a:t>
            </a:r>
          </a:p>
        </p:txBody>
      </p:sp>
      <p:sp>
        <p:nvSpPr>
          <p:cNvPr id="8" name="TextBox 7"/>
          <p:cNvSpPr txBox="1"/>
          <p:nvPr/>
        </p:nvSpPr>
        <p:spPr>
          <a:xfrm>
            <a:off x="8549640" y="2496312"/>
            <a:ext cx="2971800" cy="3337560"/>
          </a:xfrm>
          <a:prstGeom prst="rect">
            <a:avLst/>
          </a:prstGeom>
          <a:noFill/>
        </p:spPr>
        <p:txBody>
          <a:bodyPr wrap="square" anchor="t">
            <a:spAutoFit/>
          </a:bodyPr>
          <a:lstStyle/>
          <a:p>
            <a:pPr algn="ctr">
              <a:defRPr sz="1500" b="0">
                <a:solidFill>
                  <a:srgbClr val="F0F4F8"/>
                </a:solidFill>
                <a:latin typeface="Aptos"/>
              </a:defRPr>
            </a:pPr>
            <a:r>
              <a:t>FNR gap &lt;33 − 33+: -0.23 to -0.24</a:t>
            </a:r>
            <a:br/>
            <a:br/>
            <a:r>
              <a:t>Re-arrested 48+: 97% not selected, vs 49% at 18–22</a:t>
            </a:r>
            <a:br/>
            <a:br/>
            <a:r>
              <a:t>Age is a direct, validated risk factor: the gap is by design</a:t>
            </a:r>
            <a:br/>
            <a:br/>
            <a:r>
              <a:t>FPDP finds no candidate: age runs through criminal history</a:t>
            </a:r>
          </a:p>
        </p:txBody>
      </p:sp>
      <p:sp>
        <p:nvSpPr>
          <p:cNvPr id="9" name="TextBox 8"/>
          <p:cNvSpPr txBox="1"/>
          <p:nvPr/>
        </p:nvSpPr>
        <p:spPr>
          <a:xfrm>
            <a:off x="731520" y="6236208"/>
            <a:ext cx="10698480" cy="274320"/>
          </a:xfrm>
          <a:prstGeom prst="rect">
            <a:avLst/>
          </a:prstGeom>
          <a:noFill/>
        </p:spPr>
        <p:txBody>
          <a:bodyPr wrap="square" anchor="t">
            <a:spAutoFit/>
          </a:bodyPr>
          <a:lstStyle/>
          <a:p>
            <a:pPr algn="ctr">
              <a:defRPr sz="1100" b="1">
                <a:solidFill>
                  <a:srgbClr val="FB8500"/>
                </a:solidFill>
                <a:latin typeface="Aptos"/>
              </a:defRPr>
            </a:pPr>
            <a:r>
              <a:t>Ranking by risk or reserving places by age is the client's decision; the course's mitigation has nothing to act on.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594360" y="256032"/>
            <a:ext cx="10972800" cy="274320"/>
          </a:xfrm>
          <a:prstGeom prst="rect">
            <a:avLst/>
          </a:prstGeom>
          <a:noFill/>
        </p:spPr>
        <p:txBody>
          <a:bodyPr wrap="square" anchor="t">
            <a:spAutoFit/>
          </a:bodyPr>
          <a:lstStyle/>
          <a:p>
            <a:pPr algn="l">
              <a:defRPr sz="1000" b="1">
                <a:solidFill>
                  <a:srgbClr val="FB8500"/>
                </a:solidFill>
                <a:latin typeface="Aptos"/>
              </a:defRPr>
            </a:pPr>
            <a:r>
              <a:t>A7 · PROCESS</a:t>
            </a:r>
          </a:p>
        </p:txBody>
      </p:sp>
      <p:sp>
        <p:nvSpPr>
          <p:cNvPr id="3" name="TextBox 2"/>
          <p:cNvSpPr txBox="1"/>
          <p:nvPr/>
        </p:nvSpPr>
        <p:spPr>
          <a:xfrm>
            <a:off x="594360" y="621792"/>
            <a:ext cx="10972800" cy="594360"/>
          </a:xfrm>
          <a:prstGeom prst="rect">
            <a:avLst/>
          </a:prstGeom>
          <a:noFill/>
        </p:spPr>
        <p:txBody>
          <a:bodyPr wrap="square" anchor="t">
            <a:spAutoFit/>
          </a:bodyPr>
          <a:lstStyle/>
          <a:p>
            <a:pPr algn="l">
              <a:defRPr sz="2600" b="1">
                <a:solidFill>
                  <a:srgbClr val="FFFFFF"/>
                </a:solidFill>
                <a:latin typeface="Aptos"/>
              </a:defRPr>
            </a:pPr>
            <a:r>
              <a:t>How we got here: what we tried, where we landed</a:t>
            </a:r>
          </a:p>
        </p:txBody>
      </p:sp>
      <p:sp>
        <p:nvSpPr>
          <p:cNvPr id="4" name="Rectangle 3"/>
          <p:cNvSpPr/>
          <p:nvPr/>
        </p:nvSpPr>
        <p:spPr>
          <a:xfrm>
            <a:off x="594360" y="1298448"/>
            <a:ext cx="1005840" cy="50292"/>
          </a:xfrm>
          <a:prstGeom prst="rect">
            <a:avLst/>
          </a:prstGeom>
          <a:solidFill>
            <a:srgbClr val="FB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mprovement_journey.png"/>
          <p:cNvPicPr>
            <a:picLocks noChangeAspect="1"/>
          </p:cNvPicPr>
          <p:nvPr/>
        </p:nvPicPr>
        <p:blipFill>
          <a:blip r:embed="rId2"/>
          <a:stretch>
            <a:fillRect/>
          </a:stretch>
        </p:blipFill>
        <p:spPr>
          <a:xfrm>
            <a:off x="502920" y="1600200"/>
            <a:ext cx="11155680" cy="4043934"/>
          </a:xfrm>
          <a:prstGeom prst="rect">
            <a:avLst/>
          </a:prstGeom>
        </p:spPr>
      </p:pic>
      <p:sp>
        <p:nvSpPr>
          <p:cNvPr id="6" name="TextBox 5"/>
          <p:cNvSpPr txBox="1"/>
          <p:nvPr/>
        </p:nvSpPr>
        <p:spPr>
          <a:xfrm>
            <a:off x="914400" y="6236208"/>
            <a:ext cx="10058400" cy="274320"/>
          </a:xfrm>
          <a:prstGeom prst="rect">
            <a:avLst/>
          </a:prstGeom>
          <a:noFill/>
        </p:spPr>
        <p:txBody>
          <a:bodyPr wrap="square" anchor="t">
            <a:spAutoFit/>
          </a:bodyPr>
          <a:lstStyle/>
          <a:p>
            <a:pPr algn="ctr">
              <a:defRPr sz="1100" b="1">
                <a:solidFill>
                  <a:srgbClr val="FB8500"/>
                </a:solidFill>
                <a:latin typeface="Aptos"/>
              </a:defRPr>
            </a:pPr>
            <a:r>
              <a:t>Full log in docs/JOURNEY.md — every step measured, including the attempts we rejected.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