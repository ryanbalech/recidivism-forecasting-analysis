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B3A"/>
                </a:solidFill>
                <a:latin typeface="Calibri"/>
              </a:rPr>
              <a:t>Net value at 20% capacity ($M)</a:t>
            </a:r>
          </a:p>
        </c:rich>
      </c:tx>
      <c:layout/>
      <c:overlay val="0"/>
    </c:title>
    <c:autoTitleDeleted val="0"/>
    <c:plotArea>
      <c:barChart>
        <c:barDir val="bar"/>
        <c:grouping val="clustered"/>
        <c:varyColors val="0"/>
        <c:ser>
          <c:idx val="0"/>
          <c:order val="0"/>
          <c:tx>
            <c:strRef>
              <c:f>Sheet1!$B$1</c:f>
              <c:strCache>
                <c:ptCount val="1"/>
                <c:pt idx="0">
                  <c:v>Net value ($M)</c:v>
                </c:pt>
              </c:strCache>
            </c:strRef>
          </c:tx>
          <c:dPt>
            <c:idx val="0"/>
            <c:spPr>
              <a:solidFill>
                <a:srgbClr val="7FA7C2"/>
              </a:solidFill>
            </c:spPr>
          </c:dPt>
          <c:dPt>
            <c:idx val="1"/>
            <c:spPr>
              <a:solidFill>
                <a:srgbClr val="2A9D8F"/>
              </a:solidFill>
            </c:spPr>
          </c:dPt>
          <c:dPt>
            <c:idx val="2"/>
            <c:spPr>
              <a:solidFill>
                <a:srgbClr val="24506E"/>
              </a:solidFill>
            </c:spPr>
          </c:dPt>
          <c:dPt>
            <c:idx val="3"/>
            <c:spPr>
              <a:solidFill>
                <a:srgbClr val="D9573A"/>
              </a:solidFill>
            </c:spPr>
          </c:dPt>
          <c:dPt>
            <c:idx val="4"/>
            <c:spPr>
              <a:solidFill>
                <a:srgbClr val="B8C2CC"/>
              </a:solidFill>
            </c:spPr>
          </c:dPt>
          <c:cat>
            <c:strRef>
              <c:f>Sheet1!$A$2:$A$6</c:f>
              <c:strCache>
                <c:ptCount val="5"/>
                <c:pt idx="0">
                  <c:v>TabICL  (AUC 0.73 · prec. 0.83)</c:v>
                </c:pt>
                <c:pt idx="1">
                  <c:v>XGBoost  (AUC 0.73 · prec. 0.83)</c:v>
                </c:pt>
                <c:pt idx="2">
                  <c:v>Logistic  (AUC 0.73 · prec. 0.82)</c:v>
                </c:pt>
                <c:pt idx="3">
                  <c:v>Historical Georgia score  (AUC 0.60 · prec. 0.67)</c:v>
                </c:pt>
                <c:pt idx="4">
                  <c:v>Random  (AUC 0.51 · prec. 0.59)</c:v>
                </c:pt>
              </c:strCache>
            </c:strRef>
          </c:cat>
          <c:val>
            <c:numRef>
              <c:f>Sheet1!$B$2:$B$6</c:f>
              <c:numCache>
                <c:formatCode>General</c:formatCode>
                <c:ptCount val="5"/>
                <c:pt idx="0">
                  <c:v>5.115</c:v>
                </c:pt>
                <c:pt idx="1">
                  <c:v>5.165</c:v>
                </c:pt>
                <c:pt idx="2">
                  <c:v>5.045</c:v>
                </c:pt>
                <c:pt idx="3">
                  <c:v>2.725</c:v>
                </c:pt>
                <c:pt idx="4">
                  <c:v>1.455</c:v>
                </c:pt>
              </c:numCache>
            </c:numRef>
          </c:val>
        </c:ser>
        <c:dLbls>
          <c:numFmt formatCode="&quot;$&quot;0.000&quot;M&quot;" sourceLinked="0"/>
          <c:txPr>
            <a:bodyPr/>
            <a:lstStyle/>
            <a:p>
              <a:pPr>
                <a:defRPr sz="1150" b="1">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solidFill>
              <a:srgbClr val="D5DDE5"/>
            </a:solidFill>
          </a:ln>
        </c:spPr>
        <c:crossAx val="-2113994440"/>
        <c:crosses val="autoZero"/>
        <c:auto val="1"/>
        <c:lblAlgn val="ctr"/>
        <c:lblOffset val="100"/>
        <c:noMultiLvlLbl val="0"/>
      </c:catAx>
      <c:valAx>
        <c:axId val="-2113994440"/>
        <c:scaling>
          <c:max val="6.2"/>
          <c:min val="0.0"/>
        </c:scaling>
        <c:delete val="0"/>
        <c:axPos val="b"/>
        <c:majorGridlines>
          <c:spPr>
            <a:ln>
              <a:solidFill>
                <a:srgbClr val="E3E8ED"/>
              </a:solidFill>
            </a:ln>
          </c:spPr>
        </c:majorGridlines>
        <c:numFmt formatCode="&quot;$&quot;0&quot;M&quot;" sourceLinked="0"/>
        <c:majorTickMark val="out"/>
        <c:minorTickMark val="none"/>
        <c:tickLblPos val="nextTo"/>
        <c:spPr>
          <a:ln>
            <a:noFill/>
          </a:ln>
        </c:spPr>
        <c:txPr>
          <a:bodyPr/>
          <a:lstStyle/>
          <a:p>
            <a:pPr>
              <a:defRPr sz="1000">
                <a:solidFill>
                  <a:srgbClr val="5F6E7C"/>
                </a:solidFill>
              </a:defRPr>
            </a:pPr>
          </a:p>
        </c:txPr>
        <c:crossAx val="-2068027336"/>
        <c:crosses val="autoZero"/>
      </c:valAx>
    </c:plotArea>
    <c:dispBlanksAs val="gap"/>
  </c:chart>
  <c:txPr>
    <a:bodyPr/>
    <a:lstStyle/>
    <a:p>
      <a:pPr>
        <a:defRPr sz="1100">
          <a:solidFill>
            <a:srgbClr val="1B2B3A"/>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0:00 · 20s] Team 11. Our client sells risk-assessment tools to US community-supervision agencies. Their question: which three-year re-arrest model should they ship? We judged four dimensions — performance, interpretability, stability, fairness — not accuracy alone.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0:20 · 30s] The score prioritises VOLUNTARY re-entry support: employment, housing, treatment. Never sanctions or detention. Everything later depends on this: being selected means being offered help. Our target is recorded re-arrest, which is only a proxy for need.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0:50 · 40s] NIJ's own split: 18,028 training, 7,807 evaluation, Georgia 2013-2015. About 58% are re-arrested. Black and White men have almost the same rate; women are lower. On the right, missing values: the gang field is missing for EVERY woman and no man. The missingness is structured — over to [P2].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1:30 · 40s] We only use what is known when supervision starts: 29 fields. Race, gender and residence are never inputs; we keep them to audit who gets support. Everything recorded after release is excluded — and we proved why: adding those fields lifts AUC from 0.73 to 0.81, because they leak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2:10 · 50s] The leak we found. Gang affiliation is missing for every woman. If missingness is kept, gender is recovered from our own inputs at AUC 1.00 — perfectly. TabICL treats a missing value as its own category, so it effectively saw gender. We fixed it with mode-filling and a regression test. But even after the fix, gender is still recoverable at 0.78: excluding an attribute is not removing it. [P5] picks this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3:00 · 40s] Three families, as the brief requires, each tuned by cross-validation on training data only. Logistic with L1, C chosen by grid search. XGBoost with a 60-draw random search; deeper trees overfit and were rejected. TabICL with 16 ensemble members; gains level off near 8. Five other ML models all land in the same narrow AUC band.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3:40 · 45s] Finding one: performance cannot pick the model. The three ROC curves lie on top of each other: AUC 0.730 to 0.733. Is 0.73 good? Reviews of US recidivism tools call an AUC above 0.71 "excellent"; the historical Georgia score, at 0.60, is only "fair". XGBoost beats logistic by 0.0025 on a paired bootstrap: real, but small. Brier, the score NIJ used for this challenge, agrees: about 16% better than predicting the base rate, for all three. It also checks calibration, whether a predicted 70% means 70%: logistic and XGBoost pass; TabICL is slightly overconfident.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4:25 · 65s] The client's real question: is this worth paying for, compared with the score they already have? The scenario: 20% capacity, 1,561 offers. Support costs $5,000 a person, a re-arrest costs $50,000, and we ASSUME support prevents 20% of re-arrests. So net value is the number of offered people later re-arrested, times $10,000, minus $7.8M of programme cost. The cost is identical for every ranking, so only precision matters: 82% of our offers reach someone later re-arrested, against 67% for the historical score. That turns $2.7M into $5.0M. Put differently: with our ranking the programme breaks even if it prevents 12% of re-arrests; with the historical score it needs 15%. The dollars are a scenario, not a causal estimate: the data cannot tell us whether support works. Over to [P4].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5:30 · 40s] What drives the score. This is a SHAP summary for all 7,807 people: each dot is a person, red means a high value of that field, and dots to the right raise risk. Age comes first in both models - young people (blue) sit on the right - then gang affiliation and prior record. Logistic draws straight bars because it is linear; XGBoost spreads out because it picks up interactions. The cards turn this into probability points with partial dependence, for all three models: set everyone to age 23-27, then to 48+, and the average predicted risk falls by 26 to 29 points; switching gang affiliation from No to Yes raises it by 16 to 17. The three models agree - including TabICL, which SHAP cannot reach. For logistic regression this PDP difference is exactly the course's average marginal effect.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6:10 · 40s] Now from the outside, without opening the model. Partial dependence shows the average effect of one feature; the faint individual curves show each person. All three models agree that risk falls with age. This is the only way we can look inside TabICL at all: it has no native attribution. XGBoost can be summarised by a small surrogate tree, but that tree reproduces only 61% of it. Logistic needs none of this: its coefficients are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6:50 · 40s] One person, explained by both models. Red raises risk, green lowers it — this is what an appeal would contest. We checked faithfulness: LIME on raw features fits locally about twice as well as before, and all 63 conditions keep their sign across seeds. We quote LIME for direction and SHAP for size.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7:30 · 40s] Last, explaining PERFORMANCE rather than predictions — XPER, from this course. It splits the AUC itself into contributions: an uninformative model gets about 0.47, and each feature adds its share; age alone adds about 0.09. Compared with SHAP and permutation importance, the three methods agree on WHICH features matter but not on their order, because they answer different questions: prediction, loss, performance. So we quote the set, not the rank. Over to [P5].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8:10 · 45s] Fairness. Our primary metric is FNR: people later re-arrested but not offered support — the real harm here. Race first, the question everyone expects after COMPAS. Base rates are almost equal, so the data does not force a gap. Excluding race guarantees twins get the same score, but race is still recoverable at 0.71 through criminal history. So we audit outcomes, not inputs.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8:55 · 45s] The outcome audit: every race gap is within five points by an equivalence test, and none survives Holm correction. Three caveats: the small gap runs toward MORE support for Black people; the label is recorded arrest, which may carry policing bias; and prediction quality is lower for Black people, AUC 0.72 vs 0.75.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9:40 · 45s] Gender is where we found a problem. Re-arrested women miss support 10 to 12 points more often, in all three models — so it comes from the features. Every model over-predicts women, yet selects them less: with different base rates, calibration and equal FNR cannot both hold. Age shows an even larger gap, but by design — age is a validated risk factor — so it is the client's policy choice; details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10:25 · 45s] We located the cause with the course's FPDP: gang affiliation, never recorded for women. Dropping it, selected in every one of five training folds, closes about 70% of the gap out of sample for about one AUC point — at the cost of men's FNR rising two points. We then re-evaluated the fix on all four dimensions (appendix A11): the gender gap closes, stability and the main drivers barely move, race stays within tolerance, and it costs about 0.014 AUC. So we propose it as a second pilot arm rather than deciding it for the client. Over to [P6].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11:10 · 40s] Stability, in the course's sense: two samples from the same population should give the same model. Eight bootstrap refits, same resamples for all three models. Logistic drifts less than XGBoost on all 28 pairs. Jaccard around 0.77 means about 13% of the selected people change per refit.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11:50 · 50s] At the level of one person, about one decision in eight flips across refits. Referring contested cases to a human raises precision — but WIDENS the gender gap, because women sit at the margin more often. Abstention is not fairness-neutral.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12:40 · 60s] Reading across the four dimensions: performance is a tie; interpretability and stability favour logistic; fairness gaps are shared by all three. So: logistic for a shadow pilot, XGBoost as challenger. The two select 85% of the same people and the difference in captured re-arrests includes zero. We do NOT claim logistic is fairer or better calibrated. It reverses if the client quotes scores numerically, or operates at a scale where a dozen extra offers matter. And the pilot runs a second arm without gang affiliation, the field never recorded for women; appendix A11 shows it on all four dimensions.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13:40 · 45s] Demo one person: scores from all three models, the explanation, how many of eight refits select them, then edit an input and watch the score move. If the app fails, switch to the screenshots.</a:t>
            </a:r>
          </a:p>
          <a:p/>
          <a:p>
            <a:r>
              <a:t>[APPENDIX CUES] A1 learning curve · A2 economics · A3 explanation disagreement · A4 global surrogate · A5 threshold frontier · A6 age · A7 process · A8 LIME · A9 permutation importance · A10 method overview · A11 no-gang pilot arm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640080" y="1097280"/>
            <a:ext cx="6400800" cy="320040"/>
          </a:xfrm>
          <a:prstGeom prst="rect">
            <a:avLst/>
          </a:prstGeom>
          <a:noFill/>
        </p:spPr>
        <p:txBody>
          <a:bodyPr wrap="square" anchor="t" lIns="0" rIns="0" tIns="0" bIns="0">
            <a:spAutoFit/>
          </a:bodyPr>
          <a:lstStyle/>
          <a:p>
            <a:pPr algn="l">
              <a:spcAft>
                <a:spcPts val="600"/>
              </a:spcAft>
            </a:pPr>
            <a:r>
              <a:rPr sz="1400" b="1" i="0">
                <a:solidFill>
                  <a:srgbClr val="1F7A70"/>
                </a:solidFill>
                <a:latin typeface="Calibri"/>
              </a:rPr>
              <a:t>TRUSTWORTHY AI  ·  TEAM 11</a:t>
            </a:r>
          </a:p>
        </p:txBody>
      </p:sp>
      <p:sp>
        <p:nvSpPr>
          <p:cNvPr id="3" name="TextBox 2"/>
          <p:cNvSpPr txBox="1"/>
          <p:nvPr/>
        </p:nvSpPr>
        <p:spPr>
          <a:xfrm>
            <a:off x="640080" y="1600200"/>
            <a:ext cx="6583680" cy="2011680"/>
          </a:xfrm>
          <a:prstGeom prst="rect">
            <a:avLst/>
          </a:prstGeom>
          <a:noFill/>
        </p:spPr>
        <p:txBody>
          <a:bodyPr wrap="square" anchor="t" lIns="0" rIns="0" tIns="0" bIns="0">
            <a:spAutoFit/>
          </a:bodyPr>
          <a:lstStyle/>
          <a:p>
            <a:pPr algn="l">
              <a:lnSpc>
                <a:spcPct val="95000"/>
              </a:lnSpc>
              <a:spcAft>
                <a:spcPts val="600"/>
              </a:spcAft>
            </a:pPr>
            <a:r>
              <a:rPr sz="4800" b="1" i="0">
                <a:solidFill>
                  <a:srgbClr val="1B2B3A"/>
                </a:solidFill>
                <a:latin typeface="Calibri"/>
              </a:rPr>
              <a:t>Trustworthy
Recidivism Forecasting</a:t>
            </a:r>
          </a:p>
        </p:txBody>
      </p:sp>
      <p:sp>
        <p:nvSpPr>
          <p:cNvPr id="4" name="TextBox 3"/>
          <p:cNvSpPr txBox="1"/>
          <p:nvPr/>
        </p:nvSpPr>
        <p:spPr>
          <a:xfrm>
            <a:off x="640080" y="3611880"/>
            <a:ext cx="6035040" cy="1097280"/>
          </a:xfrm>
          <a:prstGeom prst="rect">
            <a:avLst/>
          </a:prstGeom>
          <a:noFill/>
        </p:spPr>
        <p:txBody>
          <a:bodyPr wrap="square" anchor="t" lIns="0" rIns="0" tIns="0" bIns="0">
            <a:spAutoFit/>
          </a:bodyPr>
          <a:lstStyle/>
          <a:p>
            <a:pPr algn="l">
              <a:spcAft>
                <a:spcPts val="600"/>
              </a:spcAft>
            </a:pPr>
            <a:r>
              <a:rPr sz="1800" b="0" i="0">
                <a:solidFill>
                  <a:srgbClr val="5F6E7C"/>
                </a:solidFill>
                <a:latin typeface="Calibri"/>
              </a:rPr>
              <a:t>Which three-year re-arrest model should a risk-tool vendor ship? Judged on four dimensions, not accuracy alone.</a:t>
            </a:r>
          </a:p>
        </p:txBody>
      </p:sp>
      <p:sp>
        <p:nvSpPr>
          <p:cNvPr id="5" name="TextBox 4"/>
          <p:cNvSpPr txBox="1"/>
          <p:nvPr/>
        </p:nvSpPr>
        <p:spPr>
          <a:xfrm>
            <a:off x="640080" y="5806440"/>
            <a:ext cx="5943600" cy="320040"/>
          </a:xfrm>
          <a:prstGeom prst="rect">
            <a:avLst/>
          </a:prstGeom>
          <a:noFill/>
        </p:spPr>
        <p:txBody>
          <a:bodyPr wrap="square" anchor="t" lIns="0" rIns="0" tIns="0" bIns="0">
            <a:spAutoFit/>
          </a:bodyPr>
          <a:lstStyle/>
          <a:p>
            <a:pPr algn="l">
              <a:spcAft>
                <a:spcPts val="600"/>
              </a:spcAft>
            </a:pPr>
            <a:r>
              <a:rPr sz="1200" b="0" i="0">
                <a:solidFill>
                  <a:srgbClr val="8795A2"/>
                </a:solidFill>
                <a:latin typeface="Calibri"/>
              </a:rPr>
              <a:t>NIJ Recidivism Forecasting Challenge  ·  Georgia 2013–2015</a:t>
            </a:r>
          </a:p>
        </p:txBody>
      </p:sp>
      <p:sp>
        <p:nvSpPr>
          <p:cNvPr id="6" name="Rounded Rectangle 5"/>
          <p:cNvSpPr/>
          <p:nvPr/>
        </p:nvSpPr>
        <p:spPr>
          <a:xfrm>
            <a:off x="7086600" y="1188720"/>
            <a:ext cx="2148840" cy="20574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0920" y="1463040"/>
            <a:ext cx="502920" cy="502920"/>
          </a:xfrm>
          <a:prstGeom prst="ellipse">
            <a:avLst/>
          </a:prstGeom>
          <a:solidFill>
            <a:srgbClr val="2450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1</a:t>
            </a:r>
          </a:p>
        </p:txBody>
      </p:sp>
      <p:sp>
        <p:nvSpPr>
          <p:cNvPr id="8" name="TextBox 7"/>
          <p:cNvSpPr txBox="1"/>
          <p:nvPr/>
        </p:nvSpPr>
        <p:spPr>
          <a:xfrm>
            <a:off x="7360920" y="2194560"/>
            <a:ext cx="1691640" cy="365760"/>
          </a:xfrm>
          <a:prstGeom prst="rect">
            <a:avLst/>
          </a:prstGeom>
          <a:noFill/>
        </p:spPr>
        <p:txBody>
          <a:bodyPr wrap="square" anchor="t" lIns="0" rIns="0" tIns="0" bIns="0">
            <a:spAutoFit/>
          </a:bodyPr>
          <a:lstStyle/>
          <a:p>
            <a:pPr algn="l">
              <a:spcAft>
                <a:spcPts val="600"/>
              </a:spcAft>
            </a:pPr>
            <a:r>
              <a:rPr sz="1800" b="1" i="0">
                <a:solidFill>
                  <a:srgbClr val="1B2B3A"/>
                </a:solidFill>
                <a:latin typeface="Calibri"/>
              </a:rPr>
              <a:t>Performance</a:t>
            </a:r>
          </a:p>
        </p:txBody>
      </p:sp>
      <p:sp>
        <p:nvSpPr>
          <p:cNvPr id="9" name="TextBox 8"/>
          <p:cNvSpPr txBox="1"/>
          <p:nvPr/>
        </p:nvSpPr>
        <p:spPr>
          <a:xfrm>
            <a:off x="7360920" y="2560320"/>
            <a:ext cx="1691640" cy="54864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AUC · Brier · $ value</a:t>
            </a:r>
          </a:p>
        </p:txBody>
      </p:sp>
      <p:sp>
        <p:nvSpPr>
          <p:cNvPr id="10" name="Rounded Rectangle 9"/>
          <p:cNvSpPr/>
          <p:nvPr/>
        </p:nvSpPr>
        <p:spPr>
          <a:xfrm>
            <a:off x="9464040" y="1188720"/>
            <a:ext cx="2148840" cy="20574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738360" y="1463040"/>
            <a:ext cx="502920" cy="50292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2</a:t>
            </a:r>
          </a:p>
        </p:txBody>
      </p:sp>
      <p:sp>
        <p:nvSpPr>
          <p:cNvPr id="12" name="TextBox 11"/>
          <p:cNvSpPr txBox="1"/>
          <p:nvPr/>
        </p:nvSpPr>
        <p:spPr>
          <a:xfrm>
            <a:off x="9738360" y="2194560"/>
            <a:ext cx="1691640" cy="365760"/>
          </a:xfrm>
          <a:prstGeom prst="rect">
            <a:avLst/>
          </a:prstGeom>
          <a:noFill/>
        </p:spPr>
        <p:txBody>
          <a:bodyPr wrap="square" anchor="t" lIns="0" rIns="0" tIns="0" bIns="0">
            <a:spAutoFit/>
          </a:bodyPr>
          <a:lstStyle/>
          <a:p>
            <a:pPr algn="l">
              <a:spcAft>
                <a:spcPts val="600"/>
              </a:spcAft>
            </a:pPr>
            <a:r>
              <a:rPr sz="1800" b="1" i="0">
                <a:solidFill>
                  <a:srgbClr val="1B2B3A"/>
                </a:solidFill>
                <a:latin typeface="Calibri"/>
              </a:rPr>
              <a:t>Interpretability</a:t>
            </a:r>
          </a:p>
        </p:txBody>
      </p:sp>
      <p:sp>
        <p:nvSpPr>
          <p:cNvPr id="13" name="TextBox 12"/>
          <p:cNvSpPr txBox="1"/>
          <p:nvPr/>
        </p:nvSpPr>
        <p:spPr>
          <a:xfrm>
            <a:off x="9738360" y="2560320"/>
            <a:ext cx="1691640" cy="54864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SHAP · PDP/ICE · LIME · XPER</a:t>
            </a:r>
          </a:p>
        </p:txBody>
      </p:sp>
      <p:sp>
        <p:nvSpPr>
          <p:cNvPr id="14" name="Rounded Rectangle 13"/>
          <p:cNvSpPr/>
          <p:nvPr/>
        </p:nvSpPr>
        <p:spPr>
          <a:xfrm>
            <a:off x="7086600" y="3474720"/>
            <a:ext cx="2148840" cy="20574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60920" y="3749039"/>
            <a:ext cx="502920" cy="502920"/>
          </a:xfrm>
          <a:prstGeom prst="ellipse">
            <a:avLst/>
          </a:prstGeom>
          <a:solidFill>
            <a:srgbClr val="D957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3</a:t>
            </a:r>
          </a:p>
        </p:txBody>
      </p:sp>
      <p:sp>
        <p:nvSpPr>
          <p:cNvPr id="16" name="TextBox 15"/>
          <p:cNvSpPr txBox="1"/>
          <p:nvPr/>
        </p:nvSpPr>
        <p:spPr>
          <a:xfrm>
            <a:off x="7360920" y="4480560"/>
            <a:ext cx="1691640" cy="365760"/>
          </a:xfrm>
          <a:prstGeom prst="rect">
            <a:avLst/>
          </a:prstGeom>
          <a:noFill/>
        </p:spPr>
        <p:txBody>
          <a:bodyPr wrap="square" anchor="t" lIns="0" rIns="0" tIns="0" bIns="0">
            <a:spAutoFit/>
          </a:bodyPr>
          <a:lstStyle/>
          <a:p>
            <a:pPr algn="l">
              <a:spcAft>
                <a:spcPts val="600"/>
              </a:spcAft>
            </a:pPr>
            <a:r>
              <a:rPr sz="1800" b="1" i="0">
                <a:solidFill>
                  <a:srgbClr val="1B2B3A"/>
                </a:solidFill>
                <a:latin typeface="Calibri"/>
              </a:rPr>
              <a:t>Fairness</a:t>
            </a:r>
          </a:p>
        </p:txBody>
      </p:sp>
      <p:sp>
        <p:nvSpPr>
          <p:cNvPr id="17" name="TextBox 16"/>
          <p:cNvSpPr txBox="1"/>
          <p:nvPr/>
        </p:nvSpPr>
        <p:spPr>
          <a:xfrm>
            <a:off x="7360920" y="4846320"/>
            <a:ext cx="1691640" cy="54864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Race · Gender · FNR</a:t>
            </a:r>
          </a:p>
        </p:txBody>
      </p:sp>
      <p:sp>
        <p:nvSpPr>
          <p:cNvPr id="18" name="Rounded Rectangle 17"/>
          <p:cNvSpPr/>
          <p:nvPr/>
        </p:nvSpPr>
        <p:spPr>
          <a:xfrm>
            <a:off x="9464040" y="3474720"/>
            <a:ext cx="2148840" cy="20574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38360" y="3749039"/>
            <a:ext cx="502920" cy="502920"/>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rgbClr val="FFFFFF"/>
                </a:solidFill>
                <a:latin typeface="Calibri"/>
              </a:rPr>
              <a:t>4</a:t>
            </a:r>
          </a:p>
        </p:txBody>
      </p:sp>
      <p:sp>
        <p:nvSpPr>
          <p:cNvPr id="20" name="TextBox 19"/>
          <p:cNvSpPr txBox="1"/>
          <p:nvPr/>
        </p:nvSpPr>
        <p:spPr>
          <a:xfrm>
            <a:off x="9738360" y="4480560"/>
            <a:ext cx="1691640" cy="365760"/>
          </a:xfrm>
          <a:prstGeom prst="rect">
            <a:avLst/>
          </a:prstGeom>
          <a:noFill/>
        </p:spPr>
        <p:txBody>
          <a:bodyPr wrap="square" anchor="t" lIns="0" rIns="0" tIns="0" bIns="0">
            <a:spAutoFit/>
          </a:bodyPr>
          <a:lstStyle/>
          <a:p>
            <a:pPr algn="l">
              <a:spcAft>
                <a:spcPts val="600"/>
              </a:spcAft>
            </a:pPr>
            <a:r>
              <a:rPr sz="1800" b="1" i="0">
                <a:solidFill>
                  <a:srgbClr val="1B2B3A"/>
                </a:solidFill>
                <a:latin typeface="Calibri"/>
              </a:rPr>
              <a:t>Stability</a:t>
            </a:r>
          </a:p>
        </p:txBody>
      </p:sp>
      <p:sp>
        <p:nvSpPr>
          <p:cNvPr id="21" name="TextBox 20"/>
          <p:cNvSpPr txBox="1"/>
          <p:nvPr/>
        </p:nvSpPr>
        <p:spPr>
          <a:xfrm>
            <a:off x="9738360" y="4846320"/>
            <a:ext cx="1691640" cy="54864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Bootstrap refits · flips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INTRO · CLIENT</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1" i="0">
                <a:solidFill>
                  <a:srgbClr val="D9573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Our client, and the decision the score supports</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2</a:t>
            </a:r>
          </a:p>
        </p:txBody>
      </p:sp>
      <p:sp>
        <p:nvSpPr>
          <p:cNvPr id="7" name="Rounded Rectangle 6"/>
          <p:cNvSpPr/>
          <p:nvPr/>
        </p:nvSpPr>
        <p:spPr>
          <a:xfrm>
            <a:off x="548640" y="1691640"/>
            <a:ext cx="2468880" cy="1783080"/>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49808" y="1874519"/>
            <a:ext cx="420624" cy="420624"/>
          </a:xfrm>
          <a:prstGeom prst="ellipse">
            <a:avLst/>
          </a:prstGeom>
          <a:solidFill>
            <a:srgbClr val="2450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a:t>
            </a:r>
          </a:p>
        </p:txBody>
      </p:sp>
      <p:sp>
        <p:nvSpPr>
          <p:cNvPr id="9" name="TextBox 8"/>
          <p:cNvSpPr txBox="1"/>
          <p:nvPr/>
        </p:nvSpPr>
        <p:spPr>
          <a:xfrm>
            <a:off x="1298448" y="1920240"/>
            <a:ext cx="1554480" cy="365760"/>
          </a:xfrm>
          <a:prstGeom prst="rect">
            <a:avLst/>
          </a:prstGeom>
          <a:noFill/>
        </p:spPr>
        <p:txBody>
          <a:bodyPr wrap="square" anchor="t" lIns="0" rIns="0" tIns="0" bIns="0">
            <a:spAutoFit/>
          </a:bodyPr>
          <a:lstStyle/>
          <a:p>
            <a:pPr algn="l">
              <a:spcAft>
                <a:spcPts val="600"/>
              </a:spcAft>
            </a:pPr>
            <a:r>
              <a:rPr sz="1700" b="1" i="0">
                <a:solidFill>
                  <a:srgbClr val="1B2B3A"/>
                </a:solidFill>
                <a:latin typeface="Calibri"/>
              </a:rPr>
              <a:t>Client</a:t>
            </a:r>
          </a:p>
        </p:txBody>
      </p:sp>
      <p:sp>
        <p:nvSpPr>
          <p:cNvPr id="10" name="TextBox 9"/>
          <p:cNvSpPr txBox="1"/>
          <p:nvPr/>
        </p:nvSpPr>
        <p:spPr>
          <a:xfrm>
            <a:off x="749808" y="2450592"/>
            <a:ext cx="2066543" cy="914400"/>
          </a:xfrm>
          <a:prstGeom prst="rect">
            <a:avLst/>
          </a:prstGeom>
          <a:noFill/>
        </p:spPr>
        <p:txBody>
          <a:bodyPr wrap="square" anchor="t" lIns="0" rIns="0" tIns="0" bIns="0">
            <a:spAutoFit/>
          </a:bodyPr>
          <a:lstStyle/>
          <a:p>
            <a:pPr algn="l">
              <a:spcAft>
                <a:spcPts val="600"/>
              </a:spcAft>
            </a:pPr>
            <a:r>
              <a:rPr sz="1350" b="0" i="0">
                <a:solidFill>
                  <a:srgbClr val="1B2B3A"/>
                </a:solidFill>
                <a:latin typeface="Calibri"/>
              </a:rPr>
              <a:t>Vendor of risk tools to US community-supervision agencies</a:t>
            </a:r>
          </a:p>
        </p:txBody>
      </p:sp>
      <p:sp>
        <p:nvSpPr>
          <p:cNvPr id="11" name="Right Arrow 10"/>
          <p:cNvSpPr/>
          <p:nvPr/>
        </p:nvSpPr>
        <p:spPr>
          <a:xfrm>
            <a:off x="3090672" y="2432304"/>
            <a:ext cx="256032" cy="292608"/>
          </a:xfrm>
          <a:prstGeom prst="rightArrow">
            <a:avLst/>
          </a:prstGeom>
          <a:solidFill>
            <a:srgbClr val="A3A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19856" y="1691640"/>
            <a:ext cx="2468880" cy="1783080"/>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21024" y="1874519"/>
            <a:ext cx="420624" cy="420624"/>
          </a:xfrm>
          <a:prstGeom prst="ellipse">
            <a:avLst/>
          </a:prstGeom>
          <a:solidFill>
            <a:srgbClr val="2450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2</a:t>
            </a:r>
          </a:p>
        </p:txBody>
      </p:sp>
      <p:sp>
        <p:nvSpPr>
          <p:cNvPr id="14" name="TextBox 13"/>
          <p:cNvSpPr txBox="1"/>
          <p:nvPr/>
        </p:nvSpPr>
        <p:spPr>
          <a:xfrm>
            <a:off x="4169664" y="1920240"/>
            <a:ext cx="1554480" cy="365760"/>
          </a:xfrm>
          <a:prstGeom prst="rect">
            <a:avLst/>
          </a:prstGeom>
          <a:noFill/>
        </p:spPr>
        <p:txBody>
          <a:bodyPr wrap="square" anchor="t" lIns="0" rIns="0" tIns="0" bIns="0">
            <a:spAutoFit/>
          </a:bodyPr>
          <a:lstStyle/>
          <a:p>
            <a:pPr algn="l">
              <a:spcAft>
                <a:spcPts val="600"/>
              </a:spcAft>
            </a:pPr>
            <a:r>
              <a:rPr sz="1700" b="1" i="0">
                <a:solidFill>
                  <a:srgbClr val="1B2B3A"/>
                </a:solidFill>
                <a:latin typeface="Calibri"/>
              </a:rPr>
              <a:t>Rank</a:t>
            </a:r>
          </a:p>
        </p:txBody>
      </p:sp>
      <p:sp>
        <p:nvSpPr>
          <p:cNvPr id="15" name="TextBox 14"/>
          <p:cNvSpPr txBox="1"/>
          <p:nvPr/>
        </p:nvSpPr>
        <p:spPr>
          <a:xfrm>
            <a:off x="3621024" y="2450592"/>
            <a:ext cx="2066543" cy="914400"/>
          </a:xfrm>
          <a:prstGeom prst="rect">
            <a:avLst/>
          </a:prstGeom>
          <a:noFill/>
        </p:spPr>
        <p:txBody>
          <a:bodyPr wrap="square" anchor="t" lIns="0" rIns="0" tIns="0" bIns="0">
            <a:spAutoFit/>
          </a:bodyPr>
          <a:lstStyle/>
          <a:p>
            <a:pPr algn="l">
              <a:spcAft>
                <a:spcPts val="600"/>
              </a:spcAft>
            </a:pPr>
            <a:r>
              <a:rPr sz="1350" b="0" i="0">
                <a:solidFill>
                  <a:srgbClr val="1B2B3A"/>
                </a:solidFill>
                <a:latin typeface="Calibri"/>
              </a:rPr>
              <a:t>Score every person at the start of supervision</a:t>
            </a:r>
          </a:p>
        </p:txBody>
      </p:sp>
      <p:sp>
        <p:nvSpPr>
          <p:cNvPr id="16" name="Right Arrow 15"/>
          <p:cNvSpPr/>
          <p:nvPr/>
        </p:nvSpPr>
        <p:spPr>
          <a:xfrm>
            <a:off x="5961888" y="2432304"/>
            <a:ext cx="256032" cy="292608"/>
          </a:xfrm>
          <a:prstGeom prst="rightArrow">
            <a:avLst/>
          </a:prstGeom>
          <a:solidFill>
            <a:srgbClr val="A3A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91072" y="1691640"/>
            <a:ext cx="2468880" cy="1783080"/>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92240" y="1874519"/>
            <a:ext cx="420624" cy="420624"/>
          </a:xfrm>
          <a:prstGeom prst="ellipse">
            <a:avLst/>
          </a:prstGeom>
          <a:solidFill>
            <a:srgbClr val="2450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3</a:t>
            </a:r>
          </a:p>
        </p:txBody>
      </p:sp>
      <p:sp>
        <p:nvSpPr>
          <p:cNvPr id="19" name="TextBox 18"/>
          <p:cNvSpPr txBox="1"/>
          <p:nvPr/>
        </p:nvSpPr>
        <p:spPr>
          <a:xfrm>
            <a:off x="7040880" y="1920240"/>
            <a:ext cx="1554480" cy="365760"/>
          </a:xfrm>
          <a:prstGeom prst="rect">
            <a:avLst/>
          </a:prstGeom>
          <a:noFill/>
        </p:spPr>
        <p:txBody>
          <a:bodyPr wrap="square" anchor="t" lIns="0" rIns="0" tIns="0" bIns="0">
            <a:spAutoFit/>
          </a:bodyPr>
          <a:lstStyle/>
          <a:p>
            <a:pPr algn="l">
              <a:spcAft>
                <a:spcPts val="600"/>
              </a:spcAft>
            </a:pPr>
            <a:r>
              <a:rPr sz="1700" b="1" i="0">
                <a:solidFill>
                  <a:srgbClr val="1B2B3A"/>
                </a:solidFill>
                <a:latin typeface="Calibri"/>
              </a:rPr>
              <a:t>Prioritise</a:t>
            </a:r>
          </a:p>
        </p:txBody>
      </p:sp>
      <p:sp>
        <p:nvSpPr>
          <p:cNvPr id="20" name="TextBox 19"/>
          <p:cNvSpPr txBox="1"/>
          <p:nvPr/>
        </p:nvSpPr>
        <p:spPr>
          <a:xfrm>
            <a:off x="6492240" y="2450592"/>
            <a:ext cx="2066543" cy="914400"/>
          </a:xfrm>
          <a:prstGeom prst="rect">
            <a:avLst/>
          </a:prstGeom>
          <a:noFill/>
        </p:spPr>
        <p:txBody>
          <a:bodyPr wrap="square" anchor="t" lIns="0" rIns="0" tIns="0" bIns="0">
            <a:spAutoFit/>
          </a:bodyPr>
          <a:lstStyle/>
          <a:p>
            <a:pPr algn="l">
              <a:spcAft>
                <a:spcPts val="600"/>
              </a:spcAft>
            </a:pPr>
            <a:r>
              <a:rPr sz="1350" b="0" i="0">
                <a:solidFill>
                  <a:srgbClr val="1B2B3A"/>
                </a:solidFill>
                <a:latin typeface="Calibri"/>
              </a:rPr>
              <a:t>Top 20% by predicted risk</a:t>
            </a:r>
          </a:p>
        </p:txBody>
      </p:sp>
      <p:sp>
        <p:nvSpPr>
          <p:cNvPr id="21" name="Right Arrow 20"/>
          <p:cNvSpPr/>
          <p:nvPr/>
        </p:nvSpPr>
        <p:spPr>
          <a:xfrm>
            <a:off x="8833104" y="2432304"/>
            <a:ext cx="256032" cy="292608"/>
          </a:xfrm>
          <a:prstGeom prst="rightArrow">
            <a:avLst/>
          </a:prstGeom>
          <a:solidFill>
            <a:srgbClr val="A3A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162288" y="1691640"/>
            <a:ext cx="2468880" cy="178308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363456" y="1874519"/>
            <a:ext cx="420624" cy="420624"/>
          </a:xfrm>
          <a:prstGeom prst="ellipse">
            <a:avLst/>
          </a:prstGeom>
          <a:solidFill>
            <a:srgbClr val="1F7A7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4</a:t>
            </a:r>
          </a:p>
        </p:txBody>
      </p:sp>
      <p:sp>
        <p:nvSpPr>
          <p:cNvPr id="24" name="TextBox 23"/>
          <p:cNvSpPr txBox="1"/>
          <p:nvPr/>
        </p:nvSpPr>
        <p:spPr>
          <a:xfrm>
            <a:off x="9912096" y="1920240"/>
            <a:ext cx="1554480" cy="365760"/>
          </a:xfrm>
          <a:prstGeom prst="rect">
            <a:avLst/>
          </a:prstGeom>
          <a:noFill/>
        </p:spPr>
        <p:txBody>
          <a:bodyPr wrap="square" anchor="t" lIns="0" rIns="0" tIns="0" bIns="0">
            <a:spAutoFit/>
          </a:bodyPr>
          <a:lstStyle/>
          <a:p>
            <a:pPr algn="l">
              <a:spcAft>
                <a:spcPts val="600"/>
              </a:spcAft>
            </a:pPr>
            <a:r>
              <a:rPr sz="1700" b="1" i="0">
                <a:solidFill>
                  <a:srgbClr val="1B2B3A"/>
                </a:solidFill>
                <a:latin typeface="Calibri"/>
              </a:rPr>
              <a:t>Offer</a:t>
            </a:r>
          </a:p>
        </p:txBody>
      </p:sp>
      <p:sp>
        <p:nvSpPr>
          <p:cNvPr id="25" name="TextBox 24"/>
          <p:cNvSpPr txBox="1"/>
          <p:nvPr/>
        </p:nvSpPr>
        <p:spPr>
          <a:xfrm>
            <a:off x="9363456" y="2450592"/>
            <a:ext cx="2066543" cy="914400"/>
          </a:xfrm>
          <a:prstGeom prst="rect">
            <a:avLst/>
          </a:prstGeom>
          <a:noFill/>
        </p:spPr>
        <p:txBody>
          <a:bodyPr wrap="square" anchor="t" lIns="0" rIns="0" tIns="0" bIns="0">
            <a:spAutoFit/>
          </a:bodyPr>
          <a:lstStyle/>
          <a:p>
            <a:pPr algn="l">
              <a:spcAft>
                <a:spcPts val="600"/>
              </a:spcAft>
            </a:pPr>
            <a:r>
              <a:rPr sz="1350" b="0" i="0">
                <a:solidFill>
                  <a:srgbClr val="1B2B3A"/>
                </a:solidFill>
                <a:latin typeface="Calibri"/>
              </a:rPr>
              <a:t>Voluntary re-entry support: jobs, housing, treatment</a:t>
            </a:r>
          </a:p>
        </p:txBody>
      </p:sp>
      <p:sp>
        <p:nvSpPr>
          <p:cNvPr id="26" name="Rounded Rectangle 25"/>
          <p:cNvSpPr/>
          <p:nvPr/>
        </p:nvSpPr>
        <p:spPr>
          <a:xfrm>
            <a:off x="548640" y="3794760"/>
            <a:ext cx="5394960" cy="160020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3941064"/>
            <a:ext cx="4992624"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IN SCOPE</a:t>
            </a:r>
          </a:p>
        </p:txBody>
      </p:sp>
      <p:sp>
        <p:nvSpPr>
          <p:cNvPr id="28" name="TextBox 27"/>
          <p:cNvSpPr txBox="1"/>
          <p:nvPr/>
        </p:nvSpPr>
        <p:spPr>
          <a:xfrm>
            <a:off x="749808" y="4251960"/>
            <a:ext cx="4992624" cy="1033271"/>
          </a:xfrm>
          <a:prstGeom prst="rect">
            <a:avLst/>
          </a:prstGeom>
          <a:noFill/>
        </p:spPr>
        <p:txBody>
          <a:bodyPr wrap="square" anchor="t" lIns="0" rIns="0" tIns="0" bIns="0">
            <a:spAutoFit/>
          </a:bodyPr>
          <a:lstStyle/>
          <a:p>
            <a:pPr algn="l" marL="182880" indent="-182880">
              <a:spcAft>
                <a:spcPts val="500"/>
              </a:spcAft>
              <a:buClr>
                <a:srgbClr val="1F7A70"/>
              </a:buClr>
              <a:buFont typeface="Arial"/>
              <a:buChar char="•"/>
            </a:pPr>
            <a:r>
              <a:rPr sz="1400" b="1" i="0">
                <a:solidFill>
                  <a:srgbClr val="1B2B3A"/>
                </a:solidFill>
                <a:latin typeface="Calibri"/>
              </a:rPr>
              <a:t>Support allocation only.</a:t>
            </a:r>
            <a:r>
              <a:rPr sz="1400" b="0" i="0">
                <a:solidFill>
                  <a:srgbClr val="1B2B3A"/>
                </a:solidFill>
                <a:latin typeface="Calibri"/>
              </a:rPr>
              <a:t> Being selected means being offered help.</a:t>
            </a:r>
          </a:p>
          <a:p>
            <a:pPr algn="l" marL="182880" indent="-182880">
              <a:spcAft>
                <a:spcPts val="500"/>
              </a:spcAft>
              <a:buClr>
                <a:srgbClr val="1F7A70"/>
              </a:buClr>
              <a:buFont typeface="Arial"/>
              <a:buChar char="•"/>
            </a:pPr>
            <a:r>
              <a:rPr sz="1400" b="0" i="0">
                <a:solidFill>
                  <a:srgbClr val="1B2B3A"/>
                </a:solidFill>
                <a:latin typeface="Calibri"/>
              </a:rPr>
              <a:t>The harm to avoid: people who need support but are not selected.</a:t>
            </a:r>
          </a:p>
        </p:txBody>
      </p:sp>
      <p:sp>
        <p:nvSpPr>
          <p:cNvPr id="29" name="Rounded Rectangle 28"/>
          <p:cNvSpPr/>
          <p:nvPr/>
        </p:nvSpPr>
        <p:spPr>
          <a:xfrm>
            <a:off x="6245352" y="3794760"/>
            <a:ext cx="5394960" cy="160020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3941064"/>
            <a:ext cx="4992624" cy="274320"/>
          </a:xfrm>
          <a:prstGeom prst="rect">
            <a:avLst/>
          </a:prstGeom>
          <a:noFill/>
        </p:spPr>
        <p:txBody>
          <a:bodyPr wrap="square" anchor="t" lIns="0" rIns="0" tIns="0" bIns="0">
            <a:spAutoFit/>
          </a:bodyPr>
          <a:lstStyle/>
          <a:p>
            <a:pPr algn="l">
              <a:spcAft>
                <a:spcPts val="600"/>
              </a:spcAft>
            </a:pPr>
            <a:r>
              <a:rPr sz="1200" b="1" i="0">
                <a:solidFill>
                  <a:srgbClr val="D9573A"/>
                </a:solidFill>
                <a:latin typeface="Calibri"/>
              </a:rPr>
              <a:t>NEVER IN SCOPE</a:t>
            </a:r>
          </a:p>
        </p:txBody>
      </p:sp>
      <p:sp>
        <p:nvSpPr>
          <p:cNvPr id="31" name="TextBox 30"/>
          <p:cNvSpPr txBox="1"/>
          <p:nvPr/>
        </p:nvSpPr>
        <p:spPr>
          <a:xfrm>
            <a:off x="6446520" y="4251960"/>
            <a:ext cx="4992624" cy="1033271"/>
          </a:xfrm>
          <a:prstGeom prst="rect">
            <a:avLst/>
          </a:prstGeom>
          <a:noFill/>
        </p:spPr>
        <p:txBody>
          <a:bodyPr wrap="square" anchor="t" lIns="0" rIns="0" tIns="0" bIns="0">
            <a:spAutoFit/>
          </a:bodyPr>
          <a:lstStyle/>
          <a:p>
            <a:pPr algn="l" marL="182880" indent="-182880">
              <a:spcAft>
                <a:spcPts val="500"/>
              </a:spcAft>
              <a:buClr>
                <a:srgbClr val="D9573A"/>
              </a:buClr>
              <a:buFont typeface="Arial"/>
              <a:buChar char="•"/>
            </a:pPr>
            <a:r>
              <a:rPr sz="1400" b="0" i="0">
                <a:solidFill>
                  <a:srgbClr val="1B2B3A"/>
                </a:solidFill>
                <a:latin typeface="Calibri"/>
              </a:rPr>
              <a:t>Sanctions, detention or surveillance.</a:t>
            </a:r>
          </a:p>
          <a:p>
            <a:pPr algn="l" marL="182880" indent="-182880">
              <a:spcAft>
                <a:spcPts val="500"/>
              </a:spcAft>
              <a:buClr>
                <a:srgbClr val="D9573A"/>
              </a:buClr>
              <a:buFont typeface="Arial"/>
              <a:buChar char="•"/>
            </a:pPr>
            <a:r>
              <a:rPr sz="1400" b="0" i="0">
                <a:solidFill>
                  <a:srgbClr val="1B2B3A"/>
                </a:solidFill>
                <a:latin typeface="Calibri"/>
              </a:rPr>
              <a:t>The same score used for control would turn every conclusion here upside down.</a:t>
            </a:r>
          </a:p>
        </p:txBody>
      </p:sp>
      <p:sp>
        <p:nvSpPr>
          <p:cNvPr id="32" name="TextBox 31"/>
          <p:cNvSpPr txBox="1"/>
          <p:nvPr/>
        </p:nvSpPr>
        <p:spPr>
          <a:xfrm>
            <a:off x="548640" y="5623560"/>
            <a:ext cx="11094415" cy="274320"/>
          </a:xfrm>
          <a:prstGeom prst="rect">
            <a:avLst/>
          </a:prstGeom>
          <a:noFill/>
        </p:spPr>
        <p:txBody>
          <a:bodyPr wrap="square" anchor="t" lIns="0" rIns="0" tIns="0" bIns="0">
            <a:spAutoFit/>
          </a:bodyPr>
          <a:lstStyle/>
          <a:p>
            <a:pPr algn="l">
              <a:spcAft>
                <a:spcPts val="600"/>
              </a:spcAft>
            </a:pPr>
            <a:r>
              <a:rPr sz="1300" b="0" i="1">
                <a:solidFill>
                  <a:srgbClr val="5F6E7C"/>
                </a:solidFill>
                <a:latin typeface="Calibri"/>
              </a:rPr>
              <a:t>Caveat: the target is </a:t>
            </a:r>
            <a:r>
              <a:rPr sz="1300" b="1" i="1">
                <a:solidFill>
                  <a:srgbClr val="5F6E7C"/>
                </a:solidFill>
                <a:latin typeface="Calibri"/>
              </a:rPr>
              <a:t>recorded re-arrest</a:t>
            </a:r>
            <a:r>
              <a:rPr sz="1300" b="0" i="1">
                <a:solidFill>
                  <a:srgbClr val="5F6E7C"/>
                </a:solidFill>
                <a:latin typeface="Calibri"/>
              </a:rPr>
              <a:t>, which is only a proxy for need.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INTRO · DATA</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1" i="0">
                <a:solidFill>
                  <a:srgbClr val="D9573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Georgia parolees, official split, training-only EDA</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3</a:t>
            </a:r>
          </a:p>
        </p:txBody>
      </p:sp>
      <p:sp>
        <p:nvSpPr>
          <p:cNvPr id="7" name="TextBox 6"/>
          <p:cNvSpPr txBox="1"/>
          <p:nvPr/>
        </p:nvSpPr>
        <p:spPr>
          <a:xfrm>
            <a:off x="548640" y="1645920"/>
            <a:ext cx="2743200" cy="566928"/>
          </a:xfrm>
          <a:prstGeom prst="rect">
            <a:avLst/>
          </a:prstGeom>
          <a:noFill/>
        </p:spPr>
        <p:txBody>
          <a:bodyPr wrap="square" anchor="t" lIns="0" rIns="0" tIns="0" bIns="0">
            <a:spAutoFit/>
          </a:bodyPr>
          <a:lstStyle/>
          <a:p>
            <a:pPr algn="l">
              <a:spcAft>
                <a:spcPts val="600"/>
              </a:spcAft>
            </a:pPr>
            <a:r>
              <a:rPr sz="2600" b="1" i="0">
                <a:solidFill>
                  <a:srgbClr val="24506E"/>
                </a:solidFill>
                <a:latin typeface="Calibri"/>
              </a:rPr>
              <a:t>18,028 / 7,807</a:t>
            </a:r>
          </a:p>
        </p:txBody>
      </p:sp>
      <p:sp>
        <p:nvSpPr>
          <p:cNvPr id="8" name="TextBox 7"/>
          <p:cNvSpPr txBox="1"/>
          <p:nvPr/>
        </p:nvSpPr>
        <p:spPr>
          <a:xfrm>
            <a:off x="548640" y="2058670"/>
            <a:ext cx="2743200"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training / evaluation records
(official NIJ split, released 2013–2015)</a:t>
            </a:r>
          </a:p>
        </p:txBody>
      </p:sp>
      <p:sp>
        <p:nvSpPr>
          <p:cNvPr id="9" name="TextBox 8"/>
          <p:cNvSpPr txBox="1"/>
          <p:nvPr/>
        </p:nvSpPr>
        <p:spPr>
          <a:xfrm>
            <a:off x="548640" y="2971800"/>
            <a:ext cx="2743200" cy="566928"/>
          </a:xfrm>
          <a:prstGeom prst="rect">
            <a:avLst/>
          </a:prstGeom>
          <a:noFill/>
        </p:spPr>
        <p:txBody>
          <a:bodyPr wrap="square" anchor="t" lIns="0" rIns="0" tIns="0" bIns="0">
            <a:spAutoFit/>
          </a:bodyPr>
          <a:lstStyle/>
          <a:p>
            <a:pPr algn="l">
              <a:spcAft>
                <a:spcPts val="600"/>
              </a:spcAft>
            </a:pPr>
            <a:r>
              <a:rPr sz="3400" b="1" i="0">
                <a:solidFill>
                  <a:srgbClr val="D9573A"/>
                </a:solidFill>
                <a:latin typeface="Calibri"/>
              </a:rPr>
              <a:t>57.8%</a:t>
            </a:r>
          </a:p>
        </p:txBody>
      </p:sp>
      <p:sp>
        <p:nvSpPr>
          <p:cNvPr id="10" name="TextBox 9"/>
          <p:cNvSpPr txBox="1"/>
          <p:nvPr/>
        </p:nvSpPr>
        <p:spPr>
          <a:xfrm>
            <a:off x="548640" y="3511550"/>
            <a:ext cx="2743200"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re-arrested within 3 years
(training data)</a:t>
            </a:r>
          </a:p>
        </p:txBody>
      </p:sp>
      <p:sp>
        <p:nvSpPr>
          <p:cNvPr id="11" name="TextBox 10"/>
          <p:cNvSpPr txBox="1"/>
          <p:nvPr/>
        </p:nvSpPr>
        <p:spPr>
          <a:xfrm>
            <a:off x="548640" y="4297680"/>
            <a:ext cx="2743200" cy="566928"/>
          </a:xfrm>
          <a:prstGeom prst="rect">
            <a:avLst/>
          </a:prstGeom>
          <a:noFill/>
        </p:spPr>
        <p:txBody>
          <a:bodyPr wrap="square" anchor="t" lIns="0" rIns="0" tIns="0" bIns="0">
            <a:spAutoFit/>
          </a:bodyPr>
          <a:lstStyle/>
          <a:p>
            <a:pPr algn="l">
              <a:spcAft>
                <a:spcPts val="600"/>
              </a:spcAft>
            </a:pPr>
            <a:r>
              <a:rPr sz="2600" b="1" i="0">
                <a:solidFill>
                  <a:srgbClr val="1F7A70"/>
                </a:solidFill>
                <a:latin typeface="Calibri"/>
              </a:rPr>
              <a:t>12.3% · 12.9%</a:t>
            </a:r>
          </a:p>
        </p:txBody>
      </p:sp>
      <p:sp>
        <p:nvSpPr>
          <p:cNvPr id="12" name="TextBox 11"/>
          <p:cNvSpPr txBox="1"/>
          <p:nvPr/>
        </p:nvSpPr>
        <p:spPr>
          <a:xfrm>
            <a:off x="548640" y="4710430"/>
            <a:ext cx="2743200"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missing: Gang_Affiliated ·
Prison_Offense</a:t>
            </a:r>
          </a:p>
        </p:txBody>
      </p:sp>
      <p:pic>
        <p:nvPicPr>
          <p:cNvPr id="13" name="Picture 12" descr="eda_overview.png"/>
          <p:cNvPicPr>
            <a:picLocks noChangeAspect="1"/>
          </p:cNvPicPr>
          <p:nvPr/>
        </p:nvPicPr>
        <p:blipFill>
          <a:blip r:embed="rId2"/>
          <a:stretch>
            <a:fillRect/>
          </a:stretch>
        </p:blipFill>
        <p:spPr>
          <a:xfrm>
            <a:off x="3520440" y="1595888"/>
            <a:ext cx="8119872" cy="2980423"/>
          </a:xfrm>
          <a:prstGeom prst="rect">
            <a:avLst/>
          </a:prstGeom>
        </p:spPr>
      </p:pic>
      <p:sp>
        <p:nvSpPr>
          <p:cNvPr id="14" name="Rounded Rectangle 13"/>
          <p:cNvSpPr/>
          <p:nvPr/>
        </p:nvSpPr>
        <p:spPr>
          <a:xfrm>
            <a:off x="3520440" y="4846320"/>
            <a:ext cx="8119872" cy="114300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21608" y="4956048"/>
            <a:ext cx="7717536" cy="960120"/>
          </a:xfrm>
          <a:prstGeom prst="rect">
            <a:avLst/>
          </a:prstGeom>
          <a:noFill/>
        </p:spPr>
        <p:txBody>
          <a:bodyPr wrap="square" anchor="t" lIns="0" rIns="0" tIns="0" bIns="0">
            <a:spAutoFit/>
          </a:bodyPr>
          <a:lstStyle/>
          <a:p>
            <a:pPr algn="l" marL="182880" indent="-182880">
              <a:spcAft>
                <a:spcPts val="400"/>
              </a:spcAft>
              <a:buClr>
                <a:srgbClr val="2A9D8F"/>
              </a:buClr>
              <a:buFont typeface="Arial"/>
              <a:buChar char="•"/>
            </a:pPr>
            <a:r>
              <a:rPr sz="1350" b="0" i="0">
                <a:solidFill>
                  <a:srgbClr val="1B2B3A"/>
                </a:solidFill>
                <a:latin typeface="Calibri"/>
              </a:rPr>
              <a:t>Base rates: </a:t>
            </a:r>
            <a:r>
              <a:rPr sz="1350" b="1" i="0">
                <a:solidFill>
                  <a:srgbClr val="1B2B3A"/>
                </a:solidFill>
                <a:latin typeface="Calibri"/>
              </a:rPr>
              <a:t>Black ≈ White</a:t>
            </a:r>
            <a:r>
              <a:rPr sz="1350" b="0" i="0">
                <a:solidFill>
                  <a:srgbClr val="1B2B3A"/>
                </a:solidFill>
                <a:latin typeface="Calibri"/>
              </a:rPr>
              <a:t>; women </a:t>
            </a:r>
            <a:r>
              <a:rPr sz="1350" b="1" i="0">
                <a:solidFill>
                  <a:srgbClr val="1B2B3A"/>
                </a:solidFill>
                <a:latin typeface="Calibri"/>
              </a:rPr>
              <a:t>0.45</a:t>
            </a:r>
            <a:r>
              <a:rPr sz="1350" b="0" i="0">
                <a:solidFill>
                  <a:srgbClr val="1B2B3A"/>
                </a:solidFill>
                <a:latin typeface="Calibri"/>
              </a:rPr>
              <a:t> vs men </a:t>
            </a:r>
            <a:r>
              <a:rPr sz="1350" b="1" i="0">
                <a:solidFill>
                  <a:srgbClr val="1B2B3A"/>
                </a:solidFill>
                <a:latin typeface="Calibri"/>
              </a:rPr>
              <a:t>0.59</a:t>
            </a:r>
            <a:r>
              <a:rPr sz="1350" b="0" i="0">
                <a:solidFill>
                  <a:srgbClr val="1B2B3A"/>
                </a:solidFill>
                <a:latin typeface="Calibri"/>
              </a:rPr>
              <a:t>.</a:t>
            </a:r>
          </a:p>
          <a:p>
            <a:pPr algn="l" marL="182880" indent="-182880">
              <a:spcAft>
                <a:spcPts val="400"/>
              </a:spcAft>
              <a:buClr>
                <a:srgbClr val="2A9D8F"/>
              </a:buClr>
              <a:buFont typeface="Arial"/>
              <a:buChar char="•"/>
            </a:pPr>
            <a:r>
              <a:rPr sz="1350" b="0" i="0">
                <a:solidFill>
                  <a:srgbClr val="1B2B3A"/>
                </a:solidFill>
                <a:latin typeface="Calibri"/>
              </a:rPr>
              <a:t>Target = new arrest within 3 years (cumulative). NIJ scored annual forecasts, so results are </a:t>
            </a:r>
            <a:r>
              <a:rPr sz="1350" b="1" i="0">
                <a:solidFill>
                  <a:srgbClr val="1B2B3A"/>
                </a:solidFill>
                <a:latin typeface="Calibri"/>
              </a:rPr>
              <a:t>not comparable</a:t>
            </a:r>
            <a:r>
              <a:rPr sz="1350" b="0" i="0">
                <a:solidFill>
                  <a:srgbClr val="1B2B3A"/>
                </a:solidFill>
                <a:latin typeface="Calibri"/>
              </a:rPr>
              <a:t> with the leaderboard.</a:t>
            </a:r>
          </a:p>
        </p:txBody>
      </p:sp>
      <p:sp>
        <p:nvSpPr>
          <p:cNvPr id="16" name="TextBox 15"/>
          <p:cNvSpPr txBox="1"/>
          <p:nvPr/>
        </p:nvSpPr>
        <p:spPr>
          <a:xfrm>
            <a:off x="548640" y="6053328"/>
            <a:ext cx="2834640" cy="274320"/>
          </a:xfrm>
          <a:prstGeom prst="rect">
            <a:avLst/>
          </a:prstGeom>
          <a:noFill/>
        </p:spPr>
        <p:txBody>
          <a:bodyPr wrap="square" anchor="t" lIns="0" rIns="0" tIns="0" bIns="0">
            <a:spAutoFit/>
          </a:bodyPr>
          <a:lstStyle/>
          <a:p>
            <a:pPr algn="l">
              <a:spcAft>
                <a:spcPts val="600"/>
              </a:spcAft>
            </a:pPr>
            <a:r>
              <a:rPr sz="1250" b="1" i="1">
                <a:solidFill>
                  <a:srgbClr val="1F7A70"/>
                </a:solidFill>
                <a:latin typeface="Calibri"/>
              </a:rPr>
              <a:t>“The missingness is structured” → P2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FEATURES · ELIGIBILITY</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1" i="0">
                <a:solidFill>
                  <a:srgbClr val="D9573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Only information known when supervision starts</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4</a:t>
            </a:r>
          </a:p>
        </p:txBody>
      </p:sp>
      <p:sp>
        <p:nvSpPr>
          <p:cNvPr id="7" name="Rounded Rectangle 6"/>
          <p:cNvSpPr/>
          <p:nvPr/>
        </p:nvSpPr>
        <p:spPr>
          <a:xfrm>
            <a:off x="548640" y="1691640"/>
            <a:ext cx="3484778" cy="233172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47088"/>
            <a:ext cx="3027578"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IN THE MODEL</a:t>
            </a:r>
          </a:p>
        </p:txBody>
      </p:sp>
      <p:sp>
        <p:nvSpPr>
          <p:cNvPr id="9" name="TextBox 8"/>
          <p:cNvSpPr txBox="1"/>
          <p:nvPr/>
        </p:nvSpPr>
        <p:spPr>
          <a:xfrm>
            <a:off x="777240" y="2176272"/>
            <a:ext cx="3027578" cy="685800"/>
          </a:xfrm>
          <a:prstGeom prst="rect">
            <a:avLst/>
          </a:prstGeom>
          <a:noFill/>
        </p:spPr>
        <p:txBody>
          <a:bodyPr wrap="square" anchor="t" lIns="0" rIns="0" tIns="0" bIns="0">
            <a:spAutoFit/>
          </a:bodyPr>
          <a:lstStyle/>
          <a:p>
            <a:pPr algn="l">
              <a:spcAft>
                <a:spcPts val="600"/>
              </a:spcAft>
            </a:pPr>
            <a:r>
              <a:rPr sz="4000" b="1" i="0">
                <a:solidFill>
                  <a:srgbClr val="1F7A70"/>
                </a:solidFill>
                <a:latin typeface="Calibri"/>
              </a:rPr>
              <a:t>29</a:t>
            </a:r>
          </a:p>
        </p:txBody>
      </p:sp>
      <p:sp>
        <p:nvSpPr>
          <p:cNvPr id="10" name="TextBox 9"/>
          <p:cNvSpPr txBox="1"/>
          <p:nvPr/>
        </p:nvSpPr>
        <p:spPr>
          <a:xfrm>
            <a:off x="777240" y="2971800"/>
            <a:ext cx="3027578" cy="100584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baseline fields known at the start of supervision</a:t>
            </a:r>
          </a:p>
        </p:txBody>
      </p:sp>
      <p:sp>
        <p:nvSpPr>
          <p:cNvPr id="11" name="Rounded Rectangle 10"/>
          <p:cNvSpPr/>
          <p:nvPr/>
        </p:nvSpPr>
        <p:spPr>
          <a:xfrm>
            <a:off x="4353458" y="1691640"/>
            <a:ext cx="3484778" cy="2331720"/>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82058" y="1847088"/>
            <a:ext cx="3027578" cy="274320"/>
          </a:xfrm>
          <a:prstGeom prst="rect">
            <a:avLst/>
          </a:prstGeom>
          <a:noFill/>
        </p:spPr>
        <p:txBody>
          <a:bodyPr wrap="square" anchor="t" lIns="0" rIns="0" tIns="0" bIns="0">
            <a:spAutoFit/>
          </a:bodyPr>
          <a:lstStyle/>
          <a:p>
            <a:pPr algn="l">
              <a:spcAft>
                <a:spcPts val="600"/>
              </a:spcAft>
            </a:pPr>
            <a:r>
              <a:rPr sz="1200" b="1" i="0">
                <a:solidFill>
                  <a:srgbClr val="24506E"/>
                </a:solidFill>
                <a:latin typeface="Calibri"/>
              </a:rPr>
              <a:t>AUDIT ONLY</a:t>
            </a:r>
          </a:p>
        </p:txBody>
      </p:sp>
      <p:sp>
        <p:nvSpPr>
          <p:cNvPr id="13" name="TextBox 12"/>
          <p:cNvSpPr txBox="1"/>
          <p:nvPr/>
        </p:nvSpPr>
        <p:spPr>
          <a:xfrm>
            <a:off x="4582058" y="2176272"/>
            <a:ext cx="3027578" cy="685800"/>
          </a:xfrm>
          <a:prstGeom prst="rect">
            <a:avLst/>
          </a:prstGeom>
          <a:noFill/>
        </p:spPr>
        <p:txBody>
          <a:bodyPr wrap="square" anchor="t" lIns="0" rIns="0" tIns="0" bIns="0">
            <a:spAutoFit/>
          </a:bodyPr>
          <a:lstStyle/>
          <a:p>
            <a:pPr algn="l">
              <a:spcAft>
                <a:spcPts val="600"/>
              </a:spcAft>
            </a:pPr>
            <a:r>
              <a:rPr sz="4000" b="1" i="0">
                <a:solidFill>
                  <a:srgbClr val="24506E"/>
                </a:solidFill>
                <a:latin typeface="Calibri"/>
              </a:rPr>
              <a:t>3</a:t>
            </a:r>
          </a:p>
        </p:txBody>
      </p:sp>
      <p:sp>
        <p:nvSpPr>
          <p:cNvPr id="14" name="TextBox 13"/>
          <p:cNvSpPr txBox="1"/>
          <p:nvPr/>
        </p:nvSpPr>
        <p:spPr>
          <a:xfrm>
            <a:off x="4582058" y="2971800"/>
            <a:ext cx="3027578" cy="100584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race, gender and residence PUMA: excluded from the models, used to audit outcomes</a:t>
            </a:r>
          </a:p>
        </p:txBody>
      </p:sp>
      <p:sp>
        <p:nvSpPr>
          <p:cNvPr id="15" name="Rounded Rectangle 14"/>
          <p:cNvSpPr/>
          <p:nvPr/>
        </p:nvSpPr>
        <p:spPr>
          <a:xfrm>
            <a:off x="8158276" y="1691640"/>
            <a:ext cx="3484778" cy="233172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6876" y="1847088"/>
            <a:ext cx="3027578" cy="274320"/>
          </a:xfrm>
          <a:prstGeom prst="rect">
            <a:avLst/>
          </a:prstGeom>
          <a:noFill/>
        </p:spPr>
        <p:txBody>
          <a:bodyPr wrap="square" anchor="t" lIns="0" rIns="0" tIns="0" bIns="0">
            <a:spAutoFit/>
          </a:bodyPr>
          <a:lstStyle/>
          <a:p>
            <a:pPr algn="l">
              <a:spcAft>
                <a:spcPts val="600"/>
              </a:spcAft>
            </a:pPr>
            <a:r>
              <a:rPr sz="1200" b="1" i="0">
                <a:solidFill>
                  <a:srgbClr val="D9573A"/>
                </a:solidFill>
                <a:latin typeface="Calibri"/>
              </a:rPr>
              <a:t>EXCLUDED</a:t>
            </a:r>
          </a:p>
        </p:txBody>
      </p:sp>
      <p:sp>
        <p:nvSpPr>
          <p:cNvPr id="17" name="TextBox 16"/>
          <p:cNvSpPr txBox="1"/>
          <p:nvPr/>
        </p:nvSpPr>
        <p:spPr>
          <a:xfrm>
            <a:off x="8386876" y="2176272"/>
            <a:ext cx="3027578" cy="685800"/>
          </a:xfrm>
          <a:prstGeom prst="rect">
            <a:avLst/>
          </a:prstGeom>
          <a:noFill/>
        </p:spPr>
        <p:txBody>
          <a:bodyPr wrap="square" anchor="t" lIns="0" rIns="0" tIns="0" bIns="0">
            <a:spAutoFit/>
          </a:bodyPr>
          <a:lstStyle/>
          <a:p>
            <a:pPr algn="l">
              <a:spcAft>
                <a:spcPts val="600"/>
              </a:spcAft>
            </a:pPr>
            <a:r>
              <a:rPr sz="3200" b="1" i="0">
                <a:solidFill>
                  <a:srgbClr val="D9573A"/>
                </a:solidFill>
                <a:latin typeface="Calibri"/>
              </a:rPr>
              <a:t>post-release</a:t>
            </a:r>
          </a:p>
        </p:txBody>
      </p:sp>
      <p:sp>
        <p:nvSpPr>
          <p:cNvPr id="18" name="TextBox 17"/>
          <p:cNvSpPr txBox="1"/>
          <p:nvPr/>
        </p:nvSpPr>
        <p:spPr>
          <a:xfrm>
            <a:off x="8386876" y="2971800"/>
            <a:ext cx="3027578" cy="100584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employment, drug tests, violations… anything recorded after release</a:t>
            </a:r>
          </a:p>
        </p:txBody>
      </p:sp>
      <p:sp>
        <p:nvSpPr>
          <p:cNvPr id="19" name="Rounded Rectangle 18"/>
          <p:cNvSpPr/>
          <p:nvPr/>
        </p:nvSpPr>
        <p:spPr>
          <a:xfrm>
            <a:off x="548640" y="4297680"/>
            <a:ext cx="11094415" cy="146304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4462272"/>
            <a:ext cx="3200400" cy="274320"/>
          </a:xfrm>
          <a:prstGeom prst="rect">
            <a:avLst/>
          </a:prstGeom>
          <a:noFill/>
        </p:spPr>
        <p:txBody>
          <a:bodyPr wrap="square" anchor="t" lIns="0" rIns="0" tIns="0" bIns="0">
            <a:spAutoFit/>
          </a:bodyPr>
          <a:lstStyle/>
          <a:p>
            <a:pPr algn="l">
              <a:spcAft>
                <a:spcPts val="600"/>
              </a:spcAft>
            </a:pPr>
            <a:r>
              <a:rPr sz="1200" b="1" i="0">
                <a:solidFill>
                  <a:srgbClr val="24506E"/>
                </a:solidFill>
                <a:latin typeface="Calibri"/>
              </a:rPr>
              <a:t>POSITIVE CONTROL</a:t>
            </a:r>
          </a:p>
        </p:txBody>
      </p:sp>
      <p:sp>
        <p:nvSpPr>
          <p:cNvPr id="21" name="TextBox 20"/>
          <p:cNvSpPr txBox="1"/>
          <p:nvPr/>
        </p:nvSpPr>
        <p:spPr>
          <a:xfrm>
            <a:off x="822959" y="4800600"/>
            <a:ext cx="4023360" cy="731520"/>
          </a:xfrm>
          <a:prstGeom prst="rect">
            <a:avLst/>
          </a:prstGeom>
          <a:noFill/>
        </p:spPr>
        <p:txBody>
          <a:bodyPr wrap="square" anchor="t" lIns="0" rIns="0" tIns="0" bIns="0">
            <a:spAutoFit/>
          </a:bodyPr>
          <a:lstStyle/>
          <a:p>
            <a:pPr algn="l">
              <a:spcAft>
                <a:spcPts val="600"/>
              </a:spcAft>
            </a:pPr>
            <a:r>
              <a:rPr sz="3200" b="1" i="0">
                <a:solidFill>
                  <a:srgbClr val="D9573A"/>
                </a:solidFill>
                <a:latin typeface="Calibri"/>
              </a:rPr>
              <a:t>AUC 0.729 → 0.813</a:t>
            </a:r>
          </a:p>
        </p:txBody>
      </p:sp>
      <p:sp>
        <p:nvSpPr>
          <p:cNvPr id="22" name="TextBox 21"/>
          <p:cNvSpPr txBox="1"/>
          <p:nvPr/>
        </p:nvSpPr>
        <p:spPr>
          <a:xfrm>
            <a:off x="5120640" y="4297680"/>
            <a:ext cx="6309360" cy="1463040"/>
          </a:xfrm>
          <a:prstGeom prst="rect">
            <a:avLst/>
          </a:prstGeom>
          <a:noFill/>
        </p:spPr>
        <p:txBody>
          <a:bodyPr wrap="square" anchor="ctr" lIns="0" rIns="0" tIns="0" bIns="0">
            <a:spAutoFit/>
          </a:bodyPr>
          <a:lstStyle/>
          <a:p>
            <a:pPr algn="l" marL="182880" indent="-182880">
              <a:spcAft>
                <a:spcPts val="600"/>
              </a:spcAft>
              <a:buClr>
                <a:srgbClr val="24506E"/>
              </a:buClr>
              <a:buFont typeface="Arial"/>
              <a:buChar char="•"/>
            </a:pPr>
            <a:r>
              <a:rPr sz="1500" b="0" i="0">
                <a:solidFill>
                  <a:srgbClr val="1B2B3A"/>
                </a:solidFill>
                <a:latin typeface="Calibri"/>
              </a:rPr>
              <a:t>Adding the post-release fields back lifts AUC by 0.08.</a:t>
            </a:r>
          </a:p>
          <a:p>
            <a:pPr algn="l" marL="182880" indent="-182880">
              <a:spcAft>
                <a:spcPts val="600"/>
              </a:spcAft>
              <a:buClr>
                <a:srgbClr val="24506E"/>
              </a:buClr>
              <a:buFont typeface="Arial"/>
              <a:buChar char="•"/>
            </a:pPr>
            <a:r>
              <a:rPr sz="1500" b="0" i="0">
                <a:solidFill>
                  <a:srgbClr val="1B2B3A"/>
                </a:solidFill>
                <a:latin typeface="Calibri"/>
              </a:rPr>
              <a:t>They really do leak outcome information — which is </a:t>
            </a:r>
            <a:r>
              <a:rPr sz="1500" b="1" i="0">
                <a:solidFill>
                  <a:srgbClr val="1B2B3A"/>
                </a:solidFill>
                <a:latin typeface="Calibri"/>
              </a:rPr>
              <a:t>why they are excluded</a:t>
            </a:r>
            <a:r>
              <a:rPr sz="1500" b="0" i="0">
                <a:solidFill>
                  <a:srgbClr val="1B2B3A"/>
                </a:solidFill>
                <a:latin typeface="Calibri"/>
              </a:rPr>
              <a:t>.</a:t>
            </a:r>
          </a:p>
        </p:txBody>
      </p:sp>
      <p:sp>
        <p:nvSpPr>
          <p:cNvPr id="23" name="TextBox 22"/>
          <p:cNvSpPr txBox="1"/>
          <p:nvPr/>
        </p:nvSpPr>
        <p:spPr>
          <a:xfrm>
            <a:off x="548640" y="6126480"/>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src/recidivism/config.py · artifacts/deep_review/INELIGIBLE_timing_positive_control.csv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FEATURES · LEAKAGE</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1" i="0">
                <a:solidFill>
                  <a:srgbClr val="D9573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The leak we found: gender was encoded in missingness</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5</a:t>
            </a:r>
          </a:p>
        </p:txBody>
      </p:sp>
      <p:sp>
        <p:nvSpPr>
          <p:cNvPr id="7" name="Rounded Rectangle 6"/>
          <p:cNvSpPr/>
          <p:nvPr/>
        </p:nvSpPr>
        <p:spPr>
          <a:xfrm>
            <a:off x="548640" y="1645920"/>
            <a:ext cx="3515258" cy="169164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92224"/>
            <a:ext cx="3112922" cy="274320"/>
          </a:xfrm>
          <a:prstGeom prst="rect">
            <a:avLst/>
          </a:prstGeom>
          <a:noFill/>
        </p:spPr>
        <p:txBody>
          <a:bodyPr wrap="square" anchor="t" lIns="0" rIns="0" tIns="0" bIns="0">
            <a:spAutoFit/>
          </a:bodyPr>
          <a:lstStyle/>
          <a:p>
            <a:pPr algn="l">
              <a:spcAft>
                <a:spcPts val="600"/>
              </a:spcAft>
            </a:pPr>
            <a:r>
              <a:rPr sz="1200" b="1" i="0">
                <a:solidFill>
                  <a:srgbClr val="D9573A"/>
                </a:solidFill>
                <a:latin typeface="Calibri"/>
              </a:rPr>
              <a:t>WHAT HAPPENED</a:t>
            </a:r>
          </a:p>
        </p:txBody>
      </p:sp>
      <p:sp>
        <p:nvSpPr>
          <p:cNvPr id="9" name="TextBox 8"/>
          <p:cNvSpPr txBox="1"/>
          <p:nvPr/>
        </p:nvSpPr>
        <p:spPr>
          <a:xfrm>
            <a:off x="749808" y="2103120"/>
            <a:ext cx="3112922" cy="1124712"/>
          </a:xfrm>
          <a:prstGeom prst="rect">
            <a:avLst/>
          </a:prstGeom>
          <a:noFill/>
        </p:spPr>
        <p:txBody>
          <a:bodyPr wrap="square" anchor="t" lIns="0" rIns="0" tIns="0" bIns="0">
            <a:spAutoFit/>
          </a:bodyPr>
          <a:lstStyle/>
          <a:p>
            <a:pPr algn="l">
              <a:spcAft>
                <a:spcPts val="500"/>
              </a:spcAft>
            </a:pPr>
            <a:r>
              <a:rPr sz="1350" b="0" i="0">
                <a:solidFill>
                  <a:srgbClr val="1B2B3A"/>
                </a:solidFill>
                <a:latin typeface="Calibri"/>
              </a:rPr>
              <a:t>Gang_Affiliated is missing for </a:t>
            </a:r>
            <a:r>
              <a:rPr sz="1350" b="1" i="0">
                <a:solidFill>
                  <a:srgbClr val="1B2B3A"/>
                </a:solidFill>
                <a:latin typeface="Calibri"/>
              </a:rPr>
              <a:t>every woman</a:t>
            </a:r>
            <a:r>
              <a:rPr sz="1350" b="0" i="0">
                <a:solidFill>
                  <a:srgbClr val="1B2B3A"/>
                </a:solidFill>
                <a:latin typeface="Calibri"/>
              </a:rPr>
              <a:t> and </a:t>
            </a:r>
            <a:r>
              <a:rPr sz="1350" b="1" i="0">
                <a:solidFill>
                  <a:srgbClr val="1B2B3A"/>
                </a:solidFill>
                <a:latin typeface="Calibri"/>
              </a:rPr>
              <a:t>no man</a:t>
            </a:r>
            <a:r>
              <a:rPr sz="1350" b="0" i="0">
                <a:solidFill>
                  <a:srgbClr val="1B2B3A"/>
                </a:solidFill>
                <a:latin typeface="Calibri"/>
              </a:rPr>
              <a:t>. Keep missingness as a feature → gender recovered at </a:t>
            </a:r>
            <a:r>
              <a:rPr sz="1350" b="1" i="0">
                <a:solidFill>
                  <a:srgbClr val="1B2B3A"/>
                </a:solidFill>
                <a:latin typeface="Calibri"/>
              </a:rPr>
              <a:t>AUC 1.000</a:t>
            </a:r>
            <a:r>
              <a:rPr sz="1350" b="0" i="0">
                <a:solidFill>
                  <a:srgbClr val="1B2B3A"/>
                </a:solidFill>
                <a:latin typeface="Calibri"/>
              </a:rPr>
              <a:t>; TabICL treats NaN as a category, so it effectively saw gender.</a:t>
            </a:r>
          </a:p>
        </p:txBody>
      </p:sp>
      <p:sp>
        <p:nvSpPr>
          <p:cNvPr id="10" name="Rounded Rectangle 9"/>
          <p:cNvSpPr/>
          <p:nvPr/>
        </p:nvSpPr>
        <p:spPr>
          <a:xfrm>
            <a:off x="4338218" y="1645920"/>
            <a:ext cx="3515258" cy="169164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39386" y="1792224"/>
            <a:ext cx="3112922"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THE FIX</a:t>
            </a:r>
          </a:p>
        </p:txBody>
      </p:sp>
      <p:sp>
        <p:nvSpPr>
          <p:cNvPr id="12" name="TextBox 11"/>
          <p:cNvSpPr txBox="1"/>
          <p:nvPr/>
        </p:nvSpPr>
        <p:spPr>
          <a:xfrm>
            <a:off x="4539386" y="2103120"/>
            <a:ext cx="3112922" cy="1124712"/>
          </a:xfrm>
          <a:prstGeom prst="rect">
            <a:avLst/>
          </a:prstGeom>
          <a:noFill/>
        </p:spPr>
        <p:txBody>
          <a:bodyPr wrap="square" anchor="t" lIns="0" rIns="0" tIns="0" bIns="0">
            <a:spAutoFit/>
          </a:bodyPr>
          <a:lstStyle/>
          <a:p>
            <a:pPr algn="l">
              <a:spcAft>
                <a:spcPts val="500"/>
              </a:spcAft>
            </a:pPr>
            <a:r>
              <a:rPr sz="1350" b="0" i="0">
                <a:solidFill>
                  <a:srgbClr val="1B2B3A"/>
                </a:solidFill>
                <a:latin typeface="Calibri"/>
              </a:rPr>
              <a:t>Fill missing values with the mode, plus a </a:t>
            </a:r>
            <a:r>
              <a:rPr sz="1350" b="1" i="0">
                <a:solidFill>
                  <a:srgbClr val="1B2B3A"/>
                </a:solidFill>
                <a:latin typeface="Calibri"/>
              </a:rPr>
              <a:t>regression test</a:t>
            </a:r>
            <a:r>
              <a:rPr sz="1350" b="0" i="0">
                <a:solidFill>
                  <a:srgbClr val="1B2B3A"/>
                </a:solidFill>
                <a:latin typeface="Calibri"/>
              </a:rPr>
              <a:t> so the leak cannot return.</a:t>
            </a:r>
          </a:p>
        </p:txBody>
      </p:sp>
      <p:sp>
        <p:nvSpPr>
          <p:cNvPr id="13" name="Rounded Rectangle 12"/>
          <p:cNvSpPr/>
          <p:nvPr/>
        </p:nvSpPr>
        <p:spPr>
          <a:xfrm>
            <a:off x="8127796" y="1645920"/>
            <a:ext cx="3515258" cy="1691640"/>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8964" y="1792224"/>
            <a:ext cx="3112922" cy="274320"/>
          </a:xfrm>
          <a:prstGeom prst="rect">
            <a:avLst/>
          </a:prstGeom>
          <a:noFill/>
        </p:spPr>
        <p:txBody>
          <a:bodyPr wrap="square" anchor="t" lIns="0" rIns="0" tIns="0" bIns="0">
            <a:spAutoFit/>
          </a:bodyPr>
          <a:lstStyle/>
          <a:p>
            <a:pPr algn="l">
              <a:spcAft>
                <a:spcPts val="600"/>
              </a:spcAft>
            </a:pPr>
            <a:r>
              <a:rPr sz="1200" b="1" i="0">
                <a:solidFill>
                  <a:srgbClr val="24506E"/>
                </a:solidFill>
                <a:latin typeface="Calibri"/>
              </a:rPr>
              <a:t>WHAT REMAINS</a:t>
            </a:r>
          </a:p>
        </p:txBody>
      </p:sp>
      <p:sp>
        <p:nvSpPr>
          <p:cNvPr id="15" name="TextBox 14"/>
          <p:cNvSpPr txBox="1"/>
          <p:nvPr/>
        </p:nvSpPr>
        <p:spPr>
          <a:xfrm>
            <a:off x="8328964" y="2103120"/>
            <a:ext cx="3112922" cy="1124712"/>
          </a:xfrm>
          <a:prstGeom prst="rect">
            <a:avLst/>
          </a:prstGeom>
          <a:noFill/>
        </p:spPr>
        <p:txBody>
          <a:bodyPr wrap="square" anchor="t" lIns="0" rIns="0" tIns="0" bIns="0">
            <a:spAutoFit/>
          </a:bodyPr>
          <a:lstStyle/>
          <a:p>
            <a:pPr algn="l">
              <a:spcAft>
                <a:spcPts val="500"/>
              </a:spcAft>
            </a:pPr>
            <a:r>
              <a:rPr sz="1350" b="0" i="0">
                <a:solidFill>
                  <a:srgbClr val="1B2B3A"/>
                </a:solidFill>
                <a:latin typeface="Calibri"/>
              </a:rPr>
              <a:t>After the fix, gender is </a:t>
            </a:r>
            <a:r>
              <a:rPr sz="1350" b="1" i="0">
                <a:solidFill>
                  <a:srgbClr val="1B2B3A"/>
                </a:solidFill>
                <a:latin typeface="Calibri"/>
              </a:rPr>
              <a:t>still recoverable at AUC 0.776</a:t>
            </a:r>
            <a:r>
              <a:rPr sz="1350" b="0" i="0">
                <a:solidFill>
                  <a:srgbClr val="1B2B3A"/>
                </a:solidFill>
                <a:latin typeface="Calibri"/>
              </a:rPr>
              <a:t> from the other inputs. P5 picks this up.</a:t>
            </a:r>
          </a:p>
        </p:txBody>
      </p:sp>
      <p:pic>
        <p:nvPicPr>
          <p:cNvPr id="16" name="Picture 15" descr="proxy_recovery.png"/>
          <p:cNvPicPr>
            <a:picLocks noChangeAspect="1"/>
          </p:cNvPicPr>
          <p:nvPr/>
        </p:nvPicPr>
        <p:blipFill>
          <a:blip r:embed="rId2"/>
          <a:stretch>
            <a:fillRect/>
          </a:stretch>
        </p:blipFill>
        <p:spPr>
          <a:xfrm>
            <a:off x="2515400" y="3520440"/>
            <a:ext cx="7160895" cy="2560320"/>
          </a:xfrm>
          <a:prstGeom prst="rect">
            <a:avLst/>
          </a:prstGeom>
        </p:spPr>
      </p:pic>
      <p:sp>
        <p:nvSpPr>
          <p:cNvPr id="17" name="TextBox 16"/>
          <p:cNvSpPr txBox="1"/>
          <p:nvPr/>
        </p:nvSpPr>
        <p:spPr>
          <a:xfrm>
            <a:off x="548640" y="6144768"/>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artifacts/figures/proxy_recovery.png · artifacts/proxy_recovery.csv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MODELS · DESIGN</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1" i="0">
                <a:solidFill>
                  <a:srgbClr val="D9573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Three models, each tuned by cross-validation</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6</a:t>
            </a:r>
          </a:p>
        </p:txBody>
      </p:sp>
      <p:sp>
        <p:nvSpPr>
          <p:cNvPr id="7" name="Rounded Rectangle 6"/>
          <p:cNvSpPr/>
          <p:nvPr/>
        </p:nvSpPr>
        <p:spPr>
          <a:xfrm>
            <a:off x="548640" y="1691640"/>
            <a:ext cx="3484778" cy="2788920"/>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874519"/>
            <a:ext cx="457200" cy="457200"/>
          </a:xfrm>
          <a:prstGeom prst="ellipse">
            <a:avLst/>
          </a:prstGeom>
          <a:solidFill>
            <a:srgbClr val="2450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1</a:t>
            </a:r>
          </a:p>
        </p:txBody>
      </p:sp>
      <p:sp>
        <p:nvSpPr>
          <p:cNvPr id="9" name="TextBox 8"/>
          <p:cNvSpPr txBox="1"/>
          <p:nvPr/>
        </p:nvSpPr>
        <p:spPr>
          <a:xfrm>
            <a:off x="1371600" y="1920240"/>
            <a:ext cx="2478938" cy="411480"/>
          </a:xfrm>
          <a:prstGeom prst="rect">
            <a:avLst/>
          </a:prstGeom>
          <a:noFill/>
        </p:spPr>
        <p:txBody>
          <a:bodyPr wrap="square" anchor="t" lIns="0" rIns="0" tIns="0" bIns="0">
            <a:spAutoFit/>
          </a:bodyPr>
          <a:lstStyle/>
          <a:p>
            <a:pPr algn="l">
              <a:spcAft>
                <a:spcPts val="600"/>
              </a:spcAft>
            </a:pPr>
            <a:r>
              <a:rPr sz="1800" b="1" i="0">
                <a:solidFill>
                  <a:srgbClr val="1B2B3A"/>
                </a:solidFill>
                <a:latin typeface="Calibri"/>
              </a:rPr>
              <a:t>L1 logistic regression</a:t>
            </a:r>
          </a:p>
        </p:txBody>
      </p:sp>
      <p:sp>
        <p:nvSpPr>
          <p:cNvPr id="10" name="TextBox 9"/>
          <p:cNvSpPr txBox="1"/>
          <p:nvPr/>
        </p:nvSpPr>
        <p:spPr>
          <a:xfrm>
            <a:off x="777240" y="2560320"/>
            <a:ext cx="3027578" cy="228600"/>
          </a:xfrm>
          <a:prstGeom prst="rect">
            <a:avLst/>
          </a:prstGeom>
          <a:noFill/>
        </p:spPr>
        <p:txBody>
          <a:bodyPr wrap="square" anchor="t" lIns="0" rIns="0" tIns="0" bIns="0">
            <a:spAutoFit/>
          </a:bodyPr>
          <a:lstStyle/>
          <a:p>
            <a:pPr algn="l">
              <a:spcAft>
                <a:spcPts val="600"/>
              </a:spcAft>
            </a:pPr>
            <a:r>
              <a:rPr sz="1100" b="1" i="0">
                <a:solidFill>
                  <a:srgbClr val="24506E"/>
                </a:solidFill>
                <a:latin typeface="Calibri"/>
              </a:rPr>
              <a:t>ENCODING</a:t>
            </a:r>
          </a:p>
        </p:txBody>
      </p:sp>
      <p:sp>
        <p:nvSpPr>
          <p:cNvPr id="11" name="TextBox 10"/>
          <p:cNvSpPr txBox="1"/>
          <p:nvPr/>
        </p:nvSpPr>
        <p:spPr>
          <a:xfrm>
            <a:off x="777240" y="2807208"/>
            <a:ext cx="3027578" cy="82296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One-hot</a:t>
            </a:r>
          </a:p>
        </p:txBody>
      </p:sp>
      <p:sp>
        <p:nvSpPr>
          <p:cNvPr id="12" name="TextBox 11"/>
          <p:cNvSpPr txBox="1"/>
          <p:nvPr/>
        </p:nvSpPr>
        <p:spPr>
          <a:xfrm>
            <a:off x="777240" y="3291840"/>
            <a:ext cx="3027578" cy="228600"/>
          </a:xfrm>
          <a:prstGeom prst="rect">
            <a:avLst/>
          </a:prstGeom>
          <a:noFill/>
        </p:spPr>
        <p:txBody>
          <a:bodyPr wrap="square" anchor="t" lIns="0" rIns="0" tIns="0" bIns="0">
            <a:spAutoFit/>
          </a:bodyPr>
          <a:lstStyle/>
          <a:p>
            <a:pPr algn="l">
              <a:spcAft>
                <a:spcPts val="600"/>
              </a:spcAft>
            </a:pPr>
            <a:r>
              <a:rPr sz="1100" b="1" i="0">
                <a:solidFill>
                  <a:srgbClr val="24506E"/>
                </a:solidFill>
                <a:latin typeface="Calibri"/>
              </a:rPr>
              <a:t>TUNING</a:t>
            </a:r>
          </a:p>
        </p:txBody>
      </p:sp>
      <p:sp>
        <p:nvSpPr>
          <p:cNvPr id="13" name="TextBox 12"/>
          <p:cNvSpPr txBox="1"/>
          <p:nvPr/>
        </p:nvSpPr>
        <p:spPr>
          <a:xfrm>
            <a:off x="777240" y="3538728"/>
            <a:ext cx="3027578" cy="82296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5-fold grid search
C = 0.2154</a:t>
            </a:r>
          </a:p>
        </p:txBody>
      </p:sp>
      <p:sp>
        <p:nvSpPr>
          <p:cNvPr id="14" name="Rounded Rectangle 13"/>
          <p:cNvSpPr/>
          <p:nvPr/>
        </p:nvSpPr>
        <p:spPr>
          <a:xfrm>
            <a:off x="4353458" y="1691640"/>
            <a:ext cx="3484778" cy="278892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82058" y="1874519"/>
            <a:ext cx="457200" cy="457200"/>
          </a:xfrm>
          <a:prstGeom prst="ellipse">
            <a:avLst/>
          </a:prstGeom>
          <a:solidFill>
            <a:srgbClr val="1F7A7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2</a:t>
            </a:r>
          </a:p>
        </p:txBody>
      </p:sp>
      <p:sp>
        <p:nvSpPr>
          <p:cNvPr id="16" name="TextBox 15"/>
          <p:cNvSpPr txBox="1"/>
          <p:nvPr/>
        </p:nvSpPr>
        <p:spPr>
          <a:xfrm>
            <a:off x="5176418" y="1920240"/>
            <a:ext cx="2478938" cy="411480"/>
          </a:xfrm>
          <a:prstGeom prst="rect">
            <a:avLst/>
          </a:prstGeom>
          <a:noFill/>
        </p:spPr>
        <p:txBody>
          <a:bodyPr wrap="square" anchor="t" lIns="0" rIns="0" tIns="0" bIns="0">
            <a:spAutoFit/>
          </a:bodyPr>
          <a:lstStyle/>
          <a:p>
            <a:pPr algn="l">
              <a:spcAft>
                <a:spcPts val="600"/>
              </a:spcAft>
            </a:pPr>
            <a:r>
              <a:rPr sz="1800" b="1" i="0">
                <a:solidFill>
                  <a:srgbClr val="1B2B3A"/>
                </a:solidFill>
                <a:latin typeface="Calibri"/>
              </a:rPr>
              <a:t>XGBoost</a:t>
            </a:r>
          </a:p>
        </p:txBody>
      </p:sp>
      <p:sp>
        <p:nvSpPr>
          <p:cNvPr id="17" name="TextBox 16"/>
          <p:cNvSpPr txBox="1"/>
          <p:nvPr/>
        </p:nvSpPr>
        <p:spPr>
          <a:xfrm>
            <a:off x="4582058" y="2560320"/>
            <a:ext cx="3027578" cy="228600"/>
          </a:xfrm>
          <a:prstGeom prst="rect">
            <a:avLst/>
          </a:prstGeom>
          <a:noFill/>
        </p:spPr>
        <p:txBody>
          <a:bodyPr wrap="square" anchor="t" lIns="0" rIns="0" tIns="0" bIns="0">
            <a:spAutoFit/>
          </a:bodyPr>
          <a:lstStyle/>
          <a:p>
            <a:pPr algn="l">
              <a:spcAft>
                <a:spcPts val="600"/>
              </a:spcAft>
            </a:pPr>
            <a:r>
              <a:rPr sz="1100" b="1" i="0">
                <a:solidFill>
                  <a:srgbClr val="1F7A70"/>
                </a:solidFill>
                <a:latin typeface="Calibri"/>
              </a:rPr>
              <a:t>ENCODING</a:t>
            </a:r>
          </a:p>
        </p:txBody>
      </p:sp>
      <p:sp>
        <p:nvSpPr>
          <p:cNvPr id="18" name="TextBox 17"/>
          <p:cNvSpPr txBox="1"/>
          <p:nvPr/>
        </p:nvSpPr>
        <p:spPr>
          <a:xfrm>
            <a:off x="4582058" y="2807208"/>
            <a:ext cx="3027578" cy="82296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Ordinal encoding for count fields</a:t>
            </a:r>
          </a:p>
        </p:txBody>
      </p:sp>
      <p:sp>
        <p:nvSpPr>
          <p:cNvPr id="19" name="TextBox 18"/>
          <p:cNvSpPr txBox="1"/>
          <p:nvPr/>
        </p:nvSpPr>
        <p:spPr>
          <a:xfrm>
            <a:off x="4582058" y="3291840"/>
            <a:ext cx="3027578" cy="228600"/>
          </a:xfrm>
          <a:prstGeom prst="rect">
            <a:avLst/>
          </a:prstGeom>
          <a:noFill/>
        </p:spPr>
        <p:txBody>
          <a:bodyPr wrap="square" anchor="t" lIns="0" rIns="0" tIns="0" bIns="0">
            <a:spAutoFit/>
          </a:bodyPr>
          <a:lstStyle/>
          <a:p>
            <a:pPr algn="l">
              <a:spcAft>
                <a:spcPts val="600"/>
              </a:spcAft>
            </a:pPr>
            <a:r>
              <a:rPr sz="1100" b="1" i="0">
                <a:solidFill>
                  <a:srgbClr val="1F7A70"/>
                </a:solidFill>
                <a:latin typeface="Calibri"/>
              </a:rPr>
              <a:t>TUNING</a:t>
            </a:r>
          </a:p>
        </p:txBody>
      </p:sp>
      <p:sp>
        <p:nvSpPr>
          <p:cNvPr id="20" name="TextBox 19"/>
          <p:cNvSpPr txBox="1"/>
          <p:nvPr/>
        </p:nvSpPr>
        <p:spPr>
          <a:xfrm>
            <a:off x="4582058" y="3538728"/>
            <a:ext cx="3027578" cy="82296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5-fold random search, 60 draws
Deeper trees overfit → rejected</a:t>
            </a:r>
          </a:p>
        </p:txBody>
      </p:sp>
      <p:sp>
        <p:nvSpPr>
          <p:cNvPr id="21" name="Rounded Rectangle 20"/>
          <p:cNvSpPr/>
          <p:nvPr/>
        </p:nvSpPr>
        <p:spPr>
          <a:xfrm>
            <a:off x="8158276" y="1691640"/>
            <a:ext cx="3484778" cy="278892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386876" y="1874519"/>
            <a:ext cx="457200" cy="457200"/>
          </a:xfrm>
          <a:prstGeom prst="ellipse">
            <a:avLst/>
          </a:prstGeom>
          <a:solidFill>
            <a:srgbClr val="D957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i="0">
                <a:solidFill>
                  <a:srgbClr val="FFFFFF"/>
                </a:solidFill>
                <a:latin typeface="Calibri"/>
              </a:rPr>
              <a:t>3</a:t>
            </a:r>
          </a:p>
        </p:txBody>
      </p:sp>
      <p:sp>
        <p:nvSpPr>
          <p:cNvPr id="23" name="TextBox 22"/>
          <p:cNvSpPr txBox="1"/>
          <p:nvPr/>
        </p:nvSpPr>
        <p:spPr>
          <a:xfrm>
            <a:off x="8981236" y="1920240"/>
            <a:ext cx="2478938" cy="411480"/>
          </a:xfrm>
          <a:prstGeom prst="rect">
            <a:avLst/>
          </a:prstGeom>
          <a:noFill/>
        </p:spPr>
        <p:txBody>
          <a:bodyPr wrap="square" anchor="t" lIns="0" rIns="0" tIns="0" bIns="0">
            <a:spAutoFit/>
          </a:bodyPr>
          <a:lstStyle/>
          <a:p>
            <a:pPr algn="l">
              <a:spcAft>
                <a:spcPts val="600"/>
              </a:spcAft>
            </a:pPr>
            <a:r>
              <a:rPr sz="1800" b="1" i="0">
                <a:solidFill>
                  <a:srgbClr val="1B2B3A"/>
                </a:solidFill>
                <a:latin typeface="Calibri"/>
              </a:rPr>
              <a:t>TabICLv2</a:t>
            </a:r>
          </a:p>
        </p:txBody>
      </p:sp>
      <p:sp>
        <p:nvSpPr>
          <p:cNvPr id="24" name="TextBox 23"/>
          <p:cNvSpPr txBox="1"/>
          <p:nvPr/>
        </p:nvSpPr>
        <p:spPr>
          <a:xfrm>
            <a:off x="8386876" y="2560320"/>
            <a:ext cx="3027578" cy="228600"/>
          </a:xfrm>
          <a:prstGeom prst="rect">
            <a:avLst/>
          </a:prstGeom>
          <a:noFill/>
        </p:spPr>
        <p:txBody>
          <a:bodyPr wrap="square" anchor="t" lIns="0" rIns="0" tIns="0" bIns="0">
            <a:spAutoFit/>
          </a:bodyPr>
          <a:lstStyle/>
          <a:p>
            <a:pPr algn="l">
              <a:spcAft>
                <a:spcPts val="600"/>
              </a:spcAft>
            </a:pPr>
            <a:r>
              <a:rPr sz="1100" b="1" i="0">
                <a:solidFill>
                  <a:srgbClr val="D9573A"/>
                </a:solidFill>
                <a:latin typeface="Calibri"/>
              </a:rPr>
              <a:t>ENCODING</a:t>
            </a:r>
          </a:p>
        </p:txBody>
      </p:sp>
      <p:sp>
        <p:nvSpPr>
          <p:cNvPr id="25" name="TextBox 24"/>
          <p:cNvSpPr txBox="1"/>
          <p:nvPr/>
        </p:nvSpPr>
        <p:spPr>
          <a:xfrm>
            <a:off x="8386876" y="2807208"/>
            <a:ext cx="3027578" cy="82296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Mixed types, handled natively</a:t>
            </a:r>
          </a:p>
        </p:txBody>
      </p:sp>
      <p:sp>
        <p:nvSpPr>
          <p:cNvPr id="26" name="TextBox 25"/>
          <p:cNvSpPr txBox="1"/>
          <p:nvPr/>
        </p:nvSpPr>
        <p:spPr>
          <a:xfrm>
            <a:off x="8386876" y="3291840"/>
            <a:ext cx="3027578" cy="228600"/>
          </a:xfrm>
          <a:prstGeom prst="rect">
            <a:avLst/>
          </a:prstGeom>
          <a:noFill/>
        </p:spPr>
        <p:txBody>
          <a:bodyPr wrap="square" anchor="t" lIns="0" rIns="0" tIns="0" bIns="0">
            <a:spAutoFit/>
          </a:bodyPr>
          <a:lstStyle/>
          <a:p>
            <a:pPr algn="l">
              <a:spcAft>
                <a:spcPts val="600"/>
              </a:spcAft>
            </a:pPr>
            <a:r>
              <a:rPr sz="1100" b="1" i="0">
                <a:solidFill>
                  <a:srgbClr val="D9573A"/>
                </a:solidFill>
                <a:latin typeface="Calibri"/>
              </a:rPr>
              <a:t>TUNING</a:t>
            </a:r>
          </a:p>
        </p:txBody>
      </p:sp>
      <p:sp>
        <p:nvSpPr>
          <p:cNvPr id="27" name="TextBox 26"/>
          <p:cNvSpPr txBox="1"/>
          <p:nvPr/>
        </p:nvSpPr>
        <p:spPr>
          <a:xfrm>
            <a:off x="8386876" y="3538728"/>
            <a:ext cx="3027578" cy="82296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16 ensemble members
Results level off at about 8</a:t>
            </a:r>
          </a:p>
        </p:txBody>
      </p:sp>
      <p:sp>
        <p:nvSpPr>
          <p:cNvPr id="28" name="Rounded Rectangle 27"/>
          <p:cNvSpPr/>
          <p:nvPr/>
        </p:nvSpPr>
        <p:spPr>
          <a:xfrm>
            <a:off x="548640" y="4754880"/>
            <a:ext cx="11094415" cy="118872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59" y="4901184"/>
            <a:ext cx="3017520" cy="731520"/>
          </a:xfrm>
          <a:prstGeom prst="rect">
            <a:avLst/>
          </a:prstGeom>
          <a:noFill/>
        </p:spPr>
        <p:txBody>
          <a:bodyPr wrap="square" anchor="t" lIns="0" rIns="0" tIns="0" bIns="0">
            <a:spAutoFit/>
          </a:bodyPr>
          <a:lstStyle/>
          <a:p>
            <a:pPr algn="l">
              <a:spcAft>
                <a:spcPts val="600"/>
              </a:spcAft>
            </a:pPr>
            <a:r>
              <a:rPr sz="3400" b="1" i="0">
                <a:solidFill>
                  <a:srgbClr val="24506E"/>
                </a:solidFill>
                <a:latin typeface="Calibri"/>
              </a:rPr>
              <a:t>0.729–0.733</a:t>
            </a:r>
          </a:p>
        </p:txBody>
      </p:sp>
      <p:sp>
        <p:nvSpPr>
          <p:cNvPr id="30" name="TextBox 29"/>
          <p:cNvSpPr txBox="1"/>
          <p:nvPr/>
        </p:nvSpPr>
        <p:spPr>
          <a:xfrm>
            <a:off x="4023359" y="4919472"/>
            <a:ext cx="7315200" cy="914400"/>
          </a:xfrm>
          <a:prstGeom prst="rect">
            <a:avLst/>
          </a:prstGeom>
          <a:noFill/>
        </p:spPr>
        <p:txBody>
          <a:bodyPr wrap="square" anchor="ctr" lIns="0" rIns="0" tIns="0" bIns="0">
            <a:spAutoFit/>
          </a:bodyPr>
          <a:lstStyle/>
          <a:p>
            <a:pPr algn="l">
              <a:spcAft>
                <a:spcPts val="600"/>
              </a:spcAft>
            </a:pPr>
            <a:r>
              <a:rPr sz="1500" b="0" i="0">
                <a:solidFill>
                  <a:srgbClr val="1B2B3A"/>
                </a:solidFill>
                <a:latin typeface="Calibri"/>
              </a:rPr>
              <a:t>Test AUC of </a:t>
            </a:r>
            <a:r>
              <a:rPr sz="1500" b="1" i="0">
                <a:solidFill>
                  <a:srgbClr val="1B2B3A"/>
                </a:solidFill>
                <a:latin typeface="Calibri"/>
              </a:rPr>
              <a:t>five other ML candidates</a:t>
            </a:r>
            <a:r>
              <a:rPr sz="1500" b="0" i="0">
                <a:solidFill>
                  <a:srgbClr val="1B2B3A"/>
                </a:solidFill>
                <a:latin typeface="Calibri"/>
              </a:rPr>
              <a:t> — CatBoost, LightGBM, EBM, HistGB, random forest. Model family barely matters on these features.</a:t>
            </a:r>
          </a:p>
        </p:txBody>
      </p:sp>
      <p:sp>
        <p:nvSpPr>
          <p:cNvPr id="31" name="TextBox 30"/>
          <p:cNvSpPr txBox="1"/>
          <p:nvPr/>
        </p:nvSpPr>
        <p:spPr>
          <a:xfrm>
            <a:off x="548640" y="6126480"/>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artifacts/ml_model_comparison.csv · artifacts/figures/estimator_sweep.png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MODELS · PERFORMANCE</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1" i="0">
                <a:solidFill>
                  <a:srgbClr val="D9573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Statistical performance: effectively a tie</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7</a:t>
            </a:r>
          </a:p>
        </p:txBody>
      </p:sp>
      <p:graphicFrame>
        <p:nvGraphicFramePr>
          <p:cNvPr id="7" name="Table 6"/>
          <p:cNvGraphicFramePr>
            <a:graphicFrameLocks noGrp="1"/>
          </p:cNvGraphicFramePr>
          <p:nvPr/>
        </p:nvGraphicFramePr>
        <p:xfrm>
          <a:off x="548640" y="1691640"/>
          <a:ext cx="6492240" cy="1609344"/>
        </p:xfrm>
        <a:graphic>
          <a:graphicData uri="http://schemas.openxmlformats.org/drawingml/2006/table">
            <a:tbl>
              <a:tblPr firstRow="0" bandRow="0">
                <a:tableStyleId>{5C22544A-7EE6-4342-B048-85BDC9FD1C3A}</a:tableStyleId>
              </a:tblPr>
              <a:tblGrid>
                <a:gridCol w="2103120"/>
                <a:gridCol w="1097280"/>
                <a:gridCol w="1097280"/>
                <a:gridCol w="1097280"/>
                <a:gridCol w="1097280"/>
              </a:tblGrid>
              <a:tr h="402336">
                <a:tc>
                  <a:txBody>
                    <a:bodyPr/>
                    <a:lstStyle/>
                    <a:p>
                      <a:pPr algn="l"/>
                      <a:r>
                        <a:rPr sz="1400" b="1" i="0">
                          <a:solidFill>
                            <a:srgbClr val="FFFFFF"/>
                          </a:solidFill>
                          <a:latin typeface="Calibri"/>
                        </a:rPr>
                        <a:t>Model</a:t>
                      </a:r>
                    </a:p>
                  </a:txBody>
                  <a:tcPr marL="91440" marR="91440" marT="27432" marB="27432" anchor="ctr">
                    <a:solidFill>
                      <a:srgbClr val="24506E"/>
                    </a:solidFill>
                  </a:tcPr>
                </a:tc>
                <a:tc>
                  <a:txBody>
                    <a:bodyPr/>
                    <a:lstStyle/>
                    <a:p>
                      <a:pPr algn="r"/>
                      <a:r>
                        <a:rPr sz="1400" b="1" i="0">
                          <a:solidFill>
                            <a:srgbClr val="FFFFFF"/>
                          </a:solidFill>
                          <a:latin typeface="Calibri"/>
                        </a:rPr>
                        <a:t>ROC AUC</a:t>
                      </a:r>
                    </a:p>
                  </a:txBody>
                  <a:tcPr marL="91440" marR="91440" marT="27432" marB="27432" anchor="ctr">
                    <a:solidFill>
                      <a:srgbClr val="24506E"/>
                    </a:solidFill>
                  </a:tcPr>
                </a:tc>
                <a:tc>
                  <a:txBody>
                    <a:bodyPr/>
                    <a:lstStyle/>
                    <a:p>
                      <a:pPr algn="r"/>
                      <a:r>
                        <a:rPr sz="1400" b="1" i="0">
                          <a:solidFill>
                            <a:srgbClr val="FFFFFF"/>
                          </a:solidFill>
                          <a:latin typeface="Calibri"/>
                        </a:rPr>
                        <a:t>Brier ↓</a:t>
                      </a:r>
                    </a:p>
                  </a:txBody>
                  <a:tcPr marL="91440" marR="91440" marT="27432" marB="27432" anchor="ctr">
                    <a:solidFill>
                      <a:srgbClr val="24506E"/>
                    </a:solidFill>
                  </a:tcPr>
                </a:tc>
                <a:tc>
                  <a:txBody>
                    <a:bodyPr/>
                    <a:lstStyle/>
                    <a:p>
                      <a:pPr algn="r"/>
                      <a:r>
                        <a:rPr sz="1400" b="1" i="0">
                          <a:solidFill>
                            <a:srgbClr val="FFFFFF"/>
                          </a:solidFill>
                          <a:latin typeface="Calibri"/>
                        </a:rPr>
                        <a:t>ECE ↓</a:t>
                      </a:r>
                    </a:p>
                  </a:txBody>
                  <a:tcPr marL="91440" marR="91440" marT="27432" marB="27432" anchor="ctr">
                    <a:solidFill>
                      <a:srgbClr val="24506E"/>
                    </a:solidFill>
                  </a:tcPr>
                </a:tc>
                <a:tc>
                  <a:txBody>
                    <a:bodyPr/>
                    <a:lstStyle/>
                    <a:p>
                      <a:pPr algn="r"/>
                      <a:r>
                        <a:rPr sz="1400" b="1" i="0">
                          <a:solidFill>
                            <a:srgbClr val="FFFFFF"/>
                          </a:solidFill>
                          <a:latin typeface="Calibri"/>
                        </a:rPr>
                        <a:t>Fit + predict</a:t>
                      </a:r>
                    </a:p>
                  </a:txBody>
                  <a:tcPr marL="91440" marR="91440" marT="27432" marB="27432" anchor="ctr">
                    <a:solidFill>
                      <a:srgbClr val="24506E"/>
                    </a:solidFill>
                  </a:tcPr>
                </a:tc>
              </a:tr>
              <a:tr h="402336">
                <a:tc>
                  <a:txBody>
                    <a:bodyPr/>
                    <a:lstStyle/>
                    <a:p>
                      <a:pPr algn="l"/>
                      <a:r>
                        <a:rPr sz="1400" b="1" i="0">
                          <a:solidFill>
                            <a:srgbClr val="1B2B3A"/>
                          </a:solidFill>
                          <a:latin typeface="Calibri"/>
                        </a:rPr>
                        <a:t>Logistic regression</a:t>
                      </a:r>
                    </a:p>
                  </a:txBody>
                  <a:tcPr marL="91440" marR="91440" marT="27432" marB="27432" anchor="ctr">
                    <a:solidFill>
                      <a:srgbClr val="FFFFFF"/>
                    </a:solidFill>
                  </a:tcPr>
                </a:tc>
                <a:tc>
                  <a:txBody>
                    <a:bodyPr/>
                    <a:lstStyle/>
                    <a:p>
                      <a:pPr algn="r"/>
                      <a:r>
                        <a:rPr sz="1400" b="0" i="0">
                          <a:solidFill>
                            <a:srgbClr val="1B2B3A"/>
                          </a:solidFill>
                          <a:latin typeface="Calibri"/>
                        </a:rPr>
                        <a:t>0.7298</a:t>
                      </a:r>
                    </a:p>
                  </a:txBody>
                  <a:tcPr marL="91440" marR="91440" marT="27432" marB="27432" anchor="ctr">
                    <a:solidFill>
                      <a:srgbClr val="FFFFFF"/>
                    </a:solidFill>
                  </a:tcPr>
                </a:tc>
                <a:tc>
                  <a:txBody>
                    <a:bodyPr/>
                    <a:lstStyle/>
                    <a:p>
                      <a:pPr algn="r"/>
                      <a:r>
                        <a:rPr sz="1400" b="0" i="0">
                          <a:solidFill>
                            <a:srgbClr val="1B2B3A"/>
                          </a:solidFill>
                          <a:latin typeface="Calibri"/>
                        </a:rPr>
                        <a:t>0.2054</a:t>
                      </a:r>
                    </a:p>
                  </a:txBody>
                  <a:tcPr marL="91440" marR="91440" marT="27432" marB="27432" anchor="ctr">
                    <a:solidFill>
                      <a:srgbClr val="FFFFFF"/>
                    </a:solidFill>
                  </a:tcPr>
                </a:tc>
                <a:tc>
                  <a:txBody>
                    <a:bodyPr/>
                    <a:lstStyle/>
                    <a:p>
                      <a:pPr algn="r"/>
                      <a:r>
                        <a:rPr sz="1400" b="0" i="0">
                          <a:solidFill>
                            <a:srgbClr val="1B2B3A"/>
                          </a:solidFill>
                          <a:latin typeface="Calibri"/>
                        </a:rPr>
                        <a:t>0.0129</a:t>
                      </a:r>
                    </a:p>
                  </a:txBody>
                  <a:tcPr marL="91440" marR="91440" marT="27432" marB="27432" anchor="ctr">
                    <a:solidFill>
                      <a:srgbClr val="FFFFFF"/>
                    </a:solidFill>
                  </a:tcPr>
                </a:tc>
                <a:tc>
                  <a:txBody>
                    <a:bodyPr/>
                    <a:lstStyle/>
                    <a:p>
                      <a:pPr algn="r"/>
                      <a:r>
                        <a:rPr sz="1400" b="0" i="0">
                          <a:solidFill>
                            <a:srgbClr val="1B2B3A"/>
                          </a:solidFill>
                          <a:latin typeface="Calibri"/>
                        </a:rPr>
                        <a:t>1.0 s</a:t>
                      </a:r>
                    </a:p>
                  </a:txBody>
                  <a:tcPr marL="91440" marR="91440" marT="27432" marB="27432" anchor="ctr">
                    <a:solidFill>
                      <a:srgbClr val="FFFFFF"/>
                    </a:solidFill>
                  </a:tcPr>
                </a:tc>
              </a:tr>
              <a:tr h="402336">
                <a:tc>
                  <a:txBody>
                    <a:bodyPr/>
                    <a:lstStyle/>
                    <a:p>
                      <a:pPr algn="l"/>
                      <a:r>
                        <a:rPr sz="1400" b="1" i="0">
                          <a:solidFill>
                            <a:srgbClr val="1B2B3A"/>
                          </a:solidFill>
                          <a:latin typeface="Calibri"/>
                        </a:rPr>
                        <a:t>XGBoost</a:t>
                      </a:r>
                    </a:p>
                  </a:txBody>
                  <a:tcPr marL="91440" marR="91440" marT="27432" marB="27432" anchor="ctr">
                    <a:solidFill>
                      <a:srgbClr val="F1F5F8"/>
                    </a:solidFill>
                  </a:tcPr>
                </a:tc>
                <a:tc>
                  <a:txBody>
                    <a:bodyPr/>
                    <a:lstStyle/>
                    <a:p>
                      <a:pPr algn="r"/>
                      <a:r>
                        <a:rPr sz="1400" b="0" i="0">
                          <a:solidFill>
                            <a:srgbClr val="1B2B3A"/>
                          </a:solidFill>
                          <a:latin typeface="Calibri"/>
                        </a:rPr>
                        <a:t>0.7324</a:t>
                      </a:r>
                    </a:p>
                  </a:txBody>
                  <a:tcPr marL="91440" marR="91440" marT="27432" marB="27432" anchor="ctr">
                    <a:solidFill>
                      <a:srgbClr val="F1F5F8"/>
                    </a:solidFill>
                  </a:tcPr>
                </a:tc>
                <a:tc>
                  <a:txBody>
                    <a:bodyPr/>
                    <a:lstStyle/>
                    <a:p>
                      <a:pPr algn="r"/>
                      <a:r>
                        <a:rPr sz="1400" b="0" i="0">
                          <a:solidFill>
                            <a:srgbClr val="1B2B3A"/>
                          </a:solidFill>
                          <a:latin typeface="Calibri"/>
                        </a:rPr>
                        <a:t>0.2045</a:t>
                      </a:r>
                    </a:p>
                  </a:txBody>
                  <a:tcPr marL="91440" marR="91440" marT="27432" marB="27432" anchor="ctr">
                    <a:solidFill>
                      <a:srgbClr val="F1F5F8"/>
                    </a:solidFill>
                  </a:tcPr>
                </a:tc>
                <a:tc>
                  <a:txBody>
                    <a:bodyPr/>
                    <a:lstStyle/>
                    <a:p>
                      <a:pPr algn="r"/>
                      <a:r>
                        <a:rPr sz="1400" b="0" i="0">
                          <a:solidFill>
                            <a:srgbClr val="1B2B3A"/>
                          </a:solidFill>
                          <a:latin typeface="Calibri"/>
                        </a:rPr>
                        <a:t>0.0112</a:t>
                      </a:r>
                    </a:p>
                  </a:txBody>
                  <a:tcPr marL="91440" marR="91440" marT="27432" marB="27432" anchor="ctr">
                    <a:solidFill>
                      <a:srgbClr val="F1F5F8"/>
                    </a:solidFill>
                  </a:tcPr>
                </a:tc>
                <a:tc>
                  <a:txBody>
                    <a:bodyPr/>
                    <a:lstStyle/>
                    <a:p>
                      <a:pPr algn="r"/>
                      <a:r>
                        <a:rPr sz="1400" b="0" i="0">
                          <a:solidFill>
                            <a:srgbClr val="1B2B3A"/>
                          </a:solidFill>
                          <a:latin typeface="Calibri"/>
                        </a:rPr>
                        <a:t>8.7 s</a:t>
                      </a:r>
                    </a:p>
                  </a:txBody>
                  <a:tcPr marL="91440" marR="91440" marT="27432" marB="27432" anchor="ctr">
                    <a:solidFill>
                      <a:srgbClr val="F1F5F8"/>
                    </a:solidFill>
                  </a:tcPr>
                </a:tc>
              </a:tr>
              <a:tr h="402336">
                <a:tc>
                  <a:txBody>
                    <a:bodyPr/>
                    <a:lstStyle/>
                    <a:p>
                      <a:pPr algn="l"/>
                      <a:r>
                        <a:rPr sz="1400" b="1" i="0">
                          <a:solidFill>
                            <a:srgbClr val="1B2B3A"/>
                          </a:solidFill>
                          <a:latin typeface="Calibri"/>
                        </a:rPr>
                        <a:t>TabICLv2</a:t>
                      </a:r>
                    </a:p>
                  </a:txBody>
                  <a:tcPr marL="91440" marR="91440" marT="27432" marB="27432" anchor="ctr">
                    <a:solidFill>
                      <a:srgbClr val="FFFFFF"/>
                    </a:solidFill>
                  </a:tcPr>
                </a:tc>
                <a:tc>
                  <a:txBody>
                    <a:bodyPr/>
                    <a:lstStyle/>
                    <a:p>
                      <a:pPr algn="r"/>
                      <a:r>
                        <a:rPr sz="1400" b="0" i="0">
                          <a:solidFill>
                            <a:srgbClr val="1B2B3A"/>
                          </a:solidFill>
                          <a:latin typeface="Calibri"/>
                        </a:rPr>
                        <a:t>0.7328</a:t>
                      </a:r>
                    </a:p>
                  </a:txBody>
                  <a:tcPr marL="91440" marR="91440" marT="27432" marB="27432" anchor="ctr">
                    <a:solidFill>
                      <a:srgbClr val="FFFFFF"/>
                    </a:solidFill>
                  </a:tcPr>
                </a:tc>
                <a:tc>
                  <a:txBody>
                    <a:bodyPr/>
                    <a:lstStyle/>
                    <a:p>
                      <a:pPr algn="r"/>
                      <a:r>
                        <a:rPr sz="1400" b="0" i="0">
                          <a:solidFill>
                            <a:srgbClr val="1B2B3A"/>
                          </a:solidFill>
                          <a:latin typeface="Calibri"/>
                        </a:rPr>
                        <a:t>0.2044</a:t>
                      </a:r>
                    </a:p>
                  </a:txBody>
                  <a:tcPr marL="91440" marR="91440" marT="27432" marB="27432" anchor="ctr">
                    <a:solidFill>
                      <a:srgbClr val="FFFFFF"/>
                    </a:solidFill>
                  </a:tcPr>
                </a:tc>
                <a:tc>
                  <a:txBody>
                    <a:bodyPr/>
                    <a:lstStyle/>
                    <a:p>
                      <a:pPr algn="r"/>
                      <a:r>
                        <a:rPr sz="1400" b="0" i="0">
                          <a:solidFill>
                            <a:srgbClr val="1B2B3A"/>
                          </a:solidFill>
                          <a:latin typeface="Calibri"/>
                        </a:rPr>
                        <a:t>0.0199</a:t>
                      </a:r>
                    </a:p>
                  </a:txBody>
                  <a:tcPr marL="91440" marR="91440" marT="27432" marB="27432" anchor="ctr">
                    <a:solidFill>
                      <a:srgbClr val="FFFFFF"/>
                    </a:solidFill>
                  </a:tcPr>
                </a:tc>
                <a:tc>
                  <a:txBody>
                    <a:bodyPr/>
                    <a:lstStyle/>
                    <a:p>
                      <a:pPr algn="r"/>
                      <a:r>
                        <a:rPr sz="1400" b="0" i="0">
                          <a:solidFill>
                            <a:srgbClr val="1B2B3A"/>
                          </a:solidFill>
                          <a:latin typeface="Calibri"/>
                        </a:rPr>
                        <a:t>41.8 s</a:t>
                      </a:r>
                    </a:p>
                  </a:txBody>
                  <a:tcPr marL="91440" marR="91440" marT="27432" marB="27432" anchor="ctr">
                    <a:solidFill>
                      <a:srgbClr val="FFFFFF"/>
                    </a:solidFill>
                  </a:tcPr>
                </a:tc>
              </a:tr>
            </a:tbl>
          </a:graphicData>
        </a:graphic>
      </p:graphicFrame>
      <p:sp>
        <p:nvSpPr>
          <p:cNvPr id="8" name="TextBox 7"/>
          <p:cNvSpPr txBox="1"/>
          <p:nvPr/>
        </p:nvSpPr>
        <p:spPr>
          <a:xfrm>
            <a:off x="7452360" y="1691640"/>
            <a:ext cx="4187952" cy="274320"/>
          </a:xfrm>
          <a:prstGeom prst="rect">
            <a:avLst/>
          </a:prstGeom>
          <a:noFill/>
        </p:spPr>
        <p:txBody>
          <a:bodyPr wrap="square" anchor="t" lIns="0" rIns="0" tIns="0" bIns="0">
            <a:spAutoFit/>
          </a:bodyPr>
          <a:lstStyle/>
          <a:p>
            <a:pPr algn="l">
              <a:spcAft>
                <a:spcPts val="600"/>
              </a:spcAft>
            </a:pPr>
            <a:r>
              <a:rPr sz="1200" b="1" i="0">
                <a:solidFill>
                  <a:srgbClr val="24506E"/>
                </a:solidFill>
                <a:latin typeface="Calibri"/>
              </a:rPr>
              <a:t>HOW GOOD IS 0.73?</a:t>
            </a:r>
          </a:p>
        </p:txBody>
      </p:sp>
      <p:sp>
        <p:nvSpPr>
          <p:cNvPr id="9" name="Rectangle 8"/>
          <p:cNvSpPr/>
          <p:nvPr/>
        </p:nvSpPr>
        <p:spPr>
          <a:xfrm>
            <a:off x="7452360" y="2560320"/>
            <a:ext cx="697992" cy="384048"/>
          </a:xfrm>
          <a:prstGeom prst="rect">
            <a:avLst/>
          </a:prstGeom>
          <a:solidFill>
            <a:srgbClr val="E4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2633472"/>
            <a:ext cx="697992" cy="256032"/>
          </a:xfrm>
          <a:prstGeom prst="rect">
            <a:avLst/>
          </a:prstGeom>
          <a:noFill/>
        </p:spPr>
        <p:txBody>
          <a:bodyPr wrap="square" anchor="t" lIns="0" rIns="0" tIns="0" bIns="0">
            <a:spAutoFit/>
          </a:bodyPr>
          <a:lstStyle/>
          <a:p>
            <a:pPr algn="ctr">
              <a:spcAft>
                <a:spcPts val="600"/>
              </a:spcAft>
            </a:pPr>
            <a:r>
              <a:rPr sz="1050" b="1" i="0">
                <a:solidFill>
                  <a:srgbClr val="1B2B3A"/>
                </a:solidFill>
                <a:latin typeface="Calibri"/>
              </a:rPr>
              <a:t>Poor</a:t>
            </a:r>
          </a:p>
        </p:txBody>
      </p:sp>
      <p:sp>
        <p:nvSpPr>
          <p:cNvPr id="11" name="Rectangle 10"/>
          <p:cNvSpPr/>
          <p:nvPr/>
        </p:nvSpPr>
        <p:spPr>
          <a:xfrm>
            <a:off x="8150352" y="2560320"/>
            <a:ext cx="1256385" cy="384048"/>
          </a:xfrm>
          <a:prstGeom prst="rect">
            <a:avLst/>
          </a:prstGeom>
          <a:solidFill>
            <a:srgbClr val="F3D9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0352" y="2633472"/>
            <a:ext cx="1256385" cy="256032"/>
          </a:xfrm>
          <a:prstGeom prst="rect">
            <a:avLst/>
          </a:prstGeom>
          <a:noFill/>
        </p:spPr>
        <p:txBody>
          <a:bodyPr wrap="square" anchor="t" lIns="0" rIns="0" tIns="0" bIns="0">
            <a:spAutoFit/>
          </a:bodyPr>
          <a:lstStyle/>
          <a:p>
            <a:pPr algn="ctr">
              <a:spcAft>
                <a:spcPts val="600"/>
              </a:spcAft>
            </a:pPr>
            <a:r>
              <a:rPr sz="1050" b="1" i="0">
                <a:solidFill>
                  <a:srgbClr val="1B2B3A"/>
                </a:solidFill>
                <a:latin typeface="Calibri"/>
              </a:rPr>
              <a:t>Fair</a:t>
            </a:r>
          </a:p>
        </p:txBody>
      </p:sp>
      <p:sp>
        <p:nvSpPr>
          <p:cNvPr id="13" name="Rectangle 12"/>
          <p:cNvSpPr/>
          <p:nvPr/>
        </p:nvSpPr>
        <p:spPr>
          <a:xfrm>
            <a:off x="9406737" y="2560320"/>
            <a:ext cx="977188" cy="384048"/>
          </a:xfrm>
          <a:prstGeom prst="rect">
            <a:avLst/>
          </a:prstGeom>
          <a:solidFill>
            <a:srgbClr val="BFD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06737" y="2633472"/>
            <a:ext cx="977188" cy="256032"/>
          </a:xfrm>
          <a:prstGeom prst="rect">
            <a:avLst/>
          </a:prstGeom>
          <a:noFill/>
        </p:spPr>
        <p:txBody>
          <a:bodyPr wrap="square" anchor="t" lIns="0" rIns="0" tIns="0" bIns="0">
            <a:spAutoFit/>
          </a:bodyPr>
          <a:lstStyle/>
          <a:p>
            <a:pPr algn="ctr">
              <a:spcAft>
                <a:spcPts val="600"/>
              </a:spcAft>
            </a:pPr>
            <a:r>
              <a:rPr sz="1050" b="1" i="0">
                <a:solidFill>
                  <a:srgbClr val="1B2B3A"/>
                </a:solidFill>
                <a:latin typeface="Calibri"/>
              </a:rPr>
              <a:t>Good</a:t>
            </a:r>
          </a:p>
        </p:txBody>
      </p:sp>
      <p:sp>
        <p:nvSpPr>
          <p:cNvPr id="15" name="Rectangle 14"/>
          <p:cNvSpPr/>
          <p:nvPr/>
        </p:nvSpPr>
        <p:spPr>
          <a:xfrm>
            <a:off x="10383926" y="2560320"/>
            <a:ext cx="1256385" cy="384048"/>
          </a:xfrm>
          <a:prstGeom prst="rect">
            <a:avLst/>
          </a:prstGeom>
          <a:solidFill>
            <a:srgbClr val="7CC2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383926" y="2633472"/>
            <a:ext cx="1256385" cy="256032"/>
          </a:xfrm>
          <a:prstGeom prst="rect">
            <a:avLst/>
          </a:prstGeom>
          <a:noFill/>
        </p:spPr>
        <p:txBody>
          <a:bodyPr wrap="square" anchor="t" lIns="0" rIns="0" tIns="0" bIns="0">
            <a:spAutoFit/>
          </a:bodyPr>
          <a:lstStyle/>
          <a:p>
            <a:pPr algn="ctr">
              <a:spcAft>
                <a:spcPts val="600"/>
              </a:spcAft>
            </a:pPr>
            <a:r>
              <a:rPr sz="1050" b="1" i="0">
                <a:solidFill>
                  <a:srgbClr val="1B2B3A"/>
                </a:solidFill>
                <a:latin typeface="Calibri"/>
              </a:rPr>
              <a:t>Excellent</a:t>
            </a:r>
          </a:p>
        </p:txBody>
      </p:sp>
      <p:sp>
        <p:nvSpPr>
          <p:cNvPr id="17" name="Isosceles Triangle 16"/>
          <p:cNvSpPr/>
          <p:nvPr/>
        </p:nvSpPr>
        <p:spPr>
          <a:xfrm rot="10800000">
            <a:off x="8755636" y="2340863"/>
            <a:ext cx="182880" cy="164592"/>
          </a:xfrm>
          <a:prstGeom prst="triangle">
            <a:avLst/>
          </a:prstGeom>
          <a:solidFill>
            <a:srgbClr val="D95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32676" y="2057400"/>
            <a:ext cx="1828800" cy="256032"/>
          </a:xfrm>
          <a:prstGeom prst="rect">
            <a:avLst/>
          </a:prstGeom>
          <a:noFill/>
        </p:spPr>
        <p:txBody>
          <a:bodyPr wrap="square" anchor="t" lIns="0" rIns="0" tIns="0" bIns="0">
            <a:spAutoFit/>
          </a:bodyPr>
          <a:lstStyle/>
          <a:p>
            <a:pPr algn="ctr">
              <a:spcAft>
                <a:spcPts val="600"/>
              </a:spcAft>
            </a:pPr>
            <a:r>
              <a:rPr sz="1150" b="1" i="0">
                <a:solidFill>
                  <a:srgbClr val="D9573A"/>
                </a:solidFill>
                <a:latin typeface="Calibri"/>
              </a:rPr>
              <a:t>Georgia score 0.60</a:t>
            </a:r>
          </a:p>
        </p:txBody>
      </p:sp>
      <p:sp>
        <p:nvSpPr>
          <p:cNvPr id="19" name="Isosceles Triangle 18"/>
          <p:cNvSpPr/>
          <p:nvPr/>
        </p:nvSpPr>
        <p:spPr>
          <a:xfrm rot="10800000">
            <a:off x="10610870" y="2340863"/>
            <a:ext cx="182880" cy="164592"/>
          </a:xfrm>
          <a:prstGeom prst="triangle">
            <a:avLst/>
          </a:prstGeom>
          <a:solidFill>
            <a:srgbClr val="1F7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7910" y="2057400"/>
            <a:ext cx="1828800" cy="256032"/>
          </a:xfrm>
          <a:prstGeom prst="rect">
            <a:avLst/>
          </a:prstGeom>
          <a:noFill/>
        </p:spPr>
        <p:txBody>
          <a:bodyPr wrap="square" anchor="t" lIns="0" rIns="0" tIns="0" bIns="0">
            <a:spAutoFit/>
          </a:bodyPr>
          <a:lstStyle/>
          <a:p>
            <a:pPr algn="ctr">
              <a:spcAft>
                <a:spcPts val="600"/>
              </a:spcAft>
            </a:pPr>
            <a:r>
              <a:rPr sz="1150" b="1" i="0">
                <a:solidFill>
                  <a:srgbClr val="1F7A70"/>
                </a:solidFill>
                <a:latin typeface="Calibri"/>
              </a:rPr>
              <a:t>Our models 0.73</a:t>
            </a:r>
          </a:p>
        </p:txBody>
      </p:sp>
      <p:sp>
        <p:nvSpPr>
          <p:cNvPr id="21" name="TextBox 20"/>
          <p:cNvSpPr txBox="1"/>
          <p:nvPr/>
        </p:nvSpPr>
        <p:spPr>
          <a:xfrm>
            <a:off x="7452360" y="3063239"/>
            <a:ext cx="4187952" cy="502920"/>
          </a:xfrm>
          <a:prstGeom prst="rect">
            <a:avLst/>
          </a:prstGeom>
          <a:noFill/>
        </p:spPr>
        <p:txBody>
          <a:bodyPr wrap="square" anchor="t" lIns="0" rIns="0" tIns="0" bIns="0">
            <a:spAutoFit/>
          </a:bodyPr>
          <a:lstStyle/>
          <a:p>
            <a:pPr algn="l">
              <a:spcAft>
                <a:spcPts val="600"/>
              </a:spcAft>
            </a:pPr>
            <a:r>
              <a:rPr sz="950" b="0" i="0">
                <a:solidFill>
                  <a:srgbClr val="5F6E7C"/>
                </a:solidFill>
                <a:latin typeface="Calibri"/>
              </a:rPr>
              <a:t>Bands from Desmarais &amp; Singh (2013), CSG Justice Center, Table 2; anchored via Rice &amp; Harris (2005).</a:t>
            </a:r>
          </a:p>
        </p:txBody>
      </p:sp>
      <p:sp>
        <p:nvSpPr>
          <p:cNvPr id="22" name="Rounded Rectangle 21"/>
          <p:cNvSpPr/>
          <p:nvPr/>
        </p:nvSpPr>
        <p:spPr>
          <a:xfrm>
            <a:off x="548640" y="3749039"/>
            <a:ext cx="3515258" cy="1965960"/>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886200"/>
            <a:ext cx="3108960" cy="274320"/>
          </a:xfrm>
          <a:prstGeom prst="rect">
            <a:avLst/>
          </a:prstGeom>
          <a:noFill/>
        </p:spPr>
        <p:txBody>
          <a:bodyPr wrap="square" anchor="t" lIns="0" rIns="0" tIns="0" bIns="0">
            <a:spAutoFit/>
          </a:bodyPr>
          <a:lstStyle/>
          <a:p>
            <a:pPr algn="l">
              <a:spcAft>
                <a:spcPts val="600"/>
              </a:spcAft>
            </a:pPr>
            <a:r>
              <a:rPr sz="1200" b="1" i="0">
                <a:solidFill>
                  <a:srgbClr val="24506E"/>
                </a:solidFill>
                <a:latin typeface="Calibri"/>
              </a:rPr>
              <a:t>REAL BUT SMALL</a:t>
            </a:r>
          </a:p>
        </p:txBody>
      </p:sp>
      <p:sp>
        <p:nvSpPr>
          <p:cNvPr id="24" name="TextBox 23"/>
          <p:cNvSpPr txBox="1"/>
          <p:nvPr/>
        </p:nvSpPr>
        <p:spPr>
          <a:xfrm>
            <a:off x="749808" y="4206240"/>
            <a:ext cx="3108960" cy="548640"/>
          </a:xfrm>
          <a:prstGeom prst="rect">
            <a:avLst/>
          </a:prstGeom>
          <a:noFill/>
        </p:spPr>
        <p:txBody>
          <a:bodyPr wrap="square" anchor="t" lIns="0" rIns="0" tIns="0" bIns="0">
            <a:spAutoFit/>
          </a:bodyPr>
          <a:lstStyle/>
          <a:p>
            <a:pPr algn="l">
              <a:spcAft>
                <a:spcPts val="600"/>
              </a:spcAft>
            </a:pPr>
            <a:r>
              <a:rPr sz="2600" b="1" i="0">
                <a:solidFill>
                  <a:srgbClr val="24506E"/>
                </a:solidFill>
                <a:latin typeface="Calibri"/>
              </a:rPr>
              <a:t>+0.0025</a:t>
            </a:r>
          </a:p>
        </p:txBody>
      </p:sp>
      <p:sp>
        <p:nvSpPr>
          <p:cNvPr id="25" name="TextBox 24"/>
          <p:cNvSpPr txBox="1"/>
          <p:nvPr/>
        </p:nvSpPr>
        <p:spPr>
          <a:xfrm>
            <a:off x="749808" y="4754880"/>
            <a:ext cx="3108960" cy="914400"/>
          </a:xfrm>
          <a:prstGeom prst="rect">
            <a:avLst/>
          </a:prstGeom>
          <a:noFill/>
        </p:spPr>
        <p:txBody>
          <a:bodyPr wrap="square" anchor="t" lIns="0" rIns="0" tIns="0" bIns="0">
            <a:spAutoFit/>
          </a:bodyPr>
          <a:lstStyle/>
          <a:p>
            <a:pPr algn="l">
              <a:spcAft>
                <a:spcPts val="600"/>
              </a:spcAft>
            </a:pPr>
            <a:r>
              <a:rPr sz="1300" b="0" i="0">
                <a:solidFill>
                  <a:srgbClr val="1B2B3A"/>
                </a:solidFill>
                <a:latin typeface="Calibri"/>
              </a:rPr>
              <a:t>XGBoost vs logistic AUC; paired 95% CI [0.0006, 0.0044].</a:t>
            </a:r>
          </a:p>
        </p:txBody>
      </p:sp>
      <p:sp>
        <p:nvSpPr>
          <p:cNvPr id="26" name="Rounded Rectangle 25"/>
          <p:cNvSpPr/>
          <p:nvPr/>
        </p:nvSpPr>
        <p:spPr>
          <a:xfrm>
            <a:off x="4338218" y="3749039"/>
            <a:ext cx="3515258" cy="196596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39386" y="3886200"/>
            <a:ext cx="310896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BRIER: NIJ'S SCORE</a:t>
            </a:r>
          </a:p>
        </p:txBody>
      </p:sp>
      <p:sp>
        <p:nvSpPr>
          <p:cNvPr id="28" name="TextBox 27"/>
          <p:cNvSpPr txBox="1"/>
          <p:nvPr/>
        </p:nvSpPr>
        <p:spPr>
          <a:xfrm>
            <a:off x="4539386" y="4206240"/>
            <a:ext cx="3108960" cy="548640"/>
          </a:xfrm>
          <a:prstGeom prst="rect">
            <a:avLst/>
          </a:prstGeom>
          <a:noFill/>
        </p:spPr>
        <p:txBody>
          <a:bodyPr wrap="square" anchor="t" lIns="0" rIns="0" tIns="0" bIns="0">
            <a:spAutoFit/>
          </a:bodyPr>
          <a:lstStyle/>
          <a:p>
            <a:pPr algn="l">
              <a:spcAft>
                <a:spcPts val="600"/>
              </a:spcAft>
            </a:pPr>
            <a:r>
              <a:rPr sz="2600" b="1" i="0">
                <a:solidFill>
                  <a:srgbClr val="1F7A70"/>
                </a:solidFill>
                <a:latin typeface="Calibri"/>
              </a:rPr>
              <a:t>≈16% better</a:t>
            </a:r>
          </a:p>
        </p:txBody>
      </p:sp>
      <p:sp>
        <p:nvSpPr>
          <p:cNvPr id="29" name="TextBox 28"/>
          <p:cNvSpPr txBox="1"/>
          <p:nvPr/>
        </p:nvSpPr>
        <p:spPr>
          <a:xfrm>
            <a:off x="4539386" y="4754880"/>
            <a:ext cx="3108960" cy="914400"/>
          </a:xfrm>
          <a:prstGeom prst="rect">
            <a:avLst/>
          </a:prstGeom>
          <a:noFill/>
        </p:spPr>
        <p:txBody>
          <a:bodyPr wrap="square" anchor="t" lIns="0" rIns="0" tIns="0" bIns="0">
            <a:spAutoFit/>
          </a:bodyPr>
          <a:lstStyle/>
          <a:p>
            <a:pPr algn="l">
              <a:spcAft>
                <a:spcPts val="600"/>
              </a:spcAft>
            </a:pPr>
            <a:r>
              <a:rPr sz="1300" b="0" i="0">
                <a:solidFill>
                  <a:srgbClr val="1B2B3A"/>
                </a:solidFill>
                <a:latin typeface="Calibri"/>
              </a:rPr>
              <a:t>than predicting the base rate for everyone (0.245). Brier = mean (p − y)², lower is better.</a:t>
            </a:r>
          </a:p>
        </p:txBody>
      </p:sp>
      <p:sp>
        <p:nvSpPr>
          <p:cNvPr id="30" name="Rounded Rectangle 29"/>
          <p:cNvSpPr/>
          <p:nvPr/>
        </p:nvSpPr>
        <p:spPr>
          <a:xfrm>
            <a:off x="8127796" y="3749039"/>
            <a:ext cx="3515258" cy="196596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28964" y="3886200"/>
            <a:ext cx="3108960" cy="274320"/>
          </a:xfrm>
          <a:prstGeom prst="rect">
            <a:avLst/>
          </a:prstGeom>
          <a:noFill/>
        </p:spPr>
        <p:txBody>
          <a:bodyPr wrap="square" anchor="t" lIns="0" rIns="0" tIns="0" bIns="0">
            <a:spAutoFit/>
          </a:bodyPr>
          <a:lstStyle/>
          <a:p>
            <a:pPr algn="l">
              <a:spcAft>
                <a:spcPts val="600"/>
              </a:spcAft>
            </a:pPr>
            <a:r>
              <a:rPr sz="1200" b="1" i="0">
                <a:solidFill>
                  <a:srgbClr val="D9573A"/>
                </a:solidFill>
                <a:latin typeface="Calibri"/>
              </a:rPr>
              <a:t>CALIBRATION</a:t>
            </a:r>
          </a:p>
        </p:txBody>
      </p:sp>
      <p:sp>
        <p:nvSpPr>
          <p:cNvPr id="32" name="TextBox 31"/>
          <p:cNvSpPr txBox="1"/>
          <p:nvPr/>
        </p:nvSpPr>
        <p:spPr>
          <a:xfrm>
            <a:off x="8328964" y="4206240"/>
            <a:ext cx="3108960" cy="548640"/>
          </a:xfrm>
          <a:prstGeom prst="rect">
            <a:avLst/>
          </a:prstGeom>
          <a:noFill/>
        </p:spPr>
        <p:txBody>
          <a:bodyPr wrap="square" anchor="t" lIns="0" rIns="0" tIns="0" bIns="0">
            <a:spAutoFit/>
          </a:bodyPr>
          <a:lstStyle/>
          <a:p>
            <a:pPr algn="l">
              <a:spcAft>
                <a:spcPts val="600"/>
              </a:spcAft>
            </a:pPr>
            <a:r>
              <a:rPr sz="2600" b="1" i="0">
                <a:solidFill>
                  <a:srgbClr val="D9573A"/>
                </a:solidFill>
                <a:latin typeface="Calibri"/>
              </a:rPr>
              <a:t>0.999 · 1.005 · 0.913</a:t>
            </a:r>
          </a:p>
        </p:txBody>
      </p:sp>
      <p:sp>
        <p:nvSpPr>
          <p:cNvPr id="33" name="TextBox 32"/>
          <p:cNvSpPr txBox="1"/>
          <p:nvPr/>
        </p:nvSpPr>
        <p:spPr>
          <a:xfrm>
            <a:off x="8328964" y="4754880"/>
            <a:ext cx="3108960" cy="914400"/>
          </a:xfrm>
          <a:prstGeom prst="rect">
            <a:avLst/>
          </a:prstGeom>
          <a:noFill/>
        </p:spPr>
        <p:txBody>
          <a:bodyPr wrap="square" anchor="t" lIns="0" rIns="0" tIns="0" bIns="0">
            <a:spAutoFit/>
          </a:bodyPr>
          <a:lstStyle/>
          <a:p>
            <a:pPr algn="l">
              <a:spcAft>
                <a:spcPts val="600"/>
              </a:spcAft>
            </a:pPr>
            <a:r>
              <a:rPr sz="1300" b="0" i="0">
                <a:solidFill>
                  <a:srgbClr val="1B2B3A"/>
                </a:solidFill>
                <a:latin typeface="Calibri"/>
              </a:rPr>
              <a:t>Cox slopes: does 70% mean 70%? LR and XGB ≈ perfect; TabICL slightly too extreme.</a:t>
            </a:r>
          </a:p>
        </p:txBody>
      </p:sp>
      <p:sp>
        <p:nvSpPr>
          <p:cNvPr id="34" name="TextBox 33"/>
          <p:cNvSpPr txBox="1"/>
          <p:nvPr/>
        </p:nvSpPr>
        <p:spPr>
          <a:xfrm>
            <a:off x="548640" y="5897880"/>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paired_comparisons.csv · validation_baselines.csv · calibration_tests.csv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MODELS · THE CLIENT'S REAL QUESTION</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1" i="0">
                <a:solidFill>
                  <a:srgbClr val="D9573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Better than the current tool — in dollars?</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8</a:t>
            </a:r>
          </a:p>
        </p:txBody>
      </p:sp>
      <p:sp>
        <p:nvSpPr>
          <p:cNvPr id="7" name="Rounded Rectangle 6"/>
          <p:cNvSpPr/>
          <p:nvPr/>
        </p:nvSpPr>
        <p:spPr>
          <a:xfrm>
            <a:off x="548640" y="1691640"/>
            <a:ext cx="4206240" cy="429768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3749039" cy="274320"/>
          </a:xfrm>
          <a:prstGeom prst="rect">
            <a:avLst/>
          </a:prstGeom>
          <a:noFill/>
        </p:spPr>
        <p:txBody>
          <a:bodyPr wrap="square" anchor="t" lIns="0" rIns="0" tIns="0" bIns="0">
            <a:spAutoFit/>
          </a:bodyPr>
          <a:lstStyle/>
          <a:p>
            <a:pPr algn="l">
              <a:spcAft>
                <a:spcPts val="600"/>
              </a:spcAft>
            </a:pPr>
            <a:r>
              <a:rPr sz="1200" b="1" i="0">
                <a:solidFill>
                  <a:srgbClr val="24506E"/>
                </a:solidFill>
                <a:latin typeface="Calibri"/>
              </a:rPr>
              <a:t>SCENARIO (ASSUMED, NOT ESTIMATED)</a:t>
            </a:r>
          </a:p>
        </p:txBody>
      </p:sp>
      <p:sp>
        <p:nvSpPr>
          <p:cNvPr id="9" name="TextBox 8"/>
          <p:cNvSpPr txBox="1"/>
          <p:nvPr/>
        </p:nvSpPr>
        <p:spPr>
          <a:xfrm>
            <a:off x="777240" y="2240280"/>
            <a:ext cx="1828800" cy="411480"/>
          </a:xfrm>
          <a:prstGeom prst="rect">
            <a:avLst/>
          </a:prstGeom>
          <a:noFill/>
        </p:spPr>
        <p:txBody>
          <a:bodyPr wrap="square" anchor="t" lIns="0" rIns="0" tIns="0" bIns="0">
            <a:spAutoFit/>
          </a:bodyPr>
          <a:lstStyle/>
          <a:p>
            <a:pPr algn="l">
              <a:spcAft>
                <a:spcPts val="600"/>
              </a:spcAft>
            </a:pPr>
            <a:r>
              <a:rPr sz="2400" b="1" i="0">
                <a:solidFill>
                  <a:srgbClr val="24506E"/>
                </a:solidFill>
                <a:latin typeface="Calibri"/>
              </a:rPr>
              <a:t>1,561</a:t>
            </a:r>
          </a:p>
        </p:txBody>
      </p:sp>
      <p:sp>
        <p:nvSpPr>
          <p:cNvPr id="10" name="TextBox 9"/>
          <p:cNvSpPr txBox="1"/>
          <p:nvPr/>
        </p:nvSpPr>
        <p:spPr>
          <a:xfrm>
            <a:off x="777240" y="2651760"/>
            <a:ext cx="1828800" cy="320040"/>
          </a:xfrm>
          <a:prstGeom prst="rect">
            <a:avLst/>
          </a:prstGeom>
          <a:noFill/>
        </p:spPr>
        <p:txBody>
          <a:bodyPr wrap="square" anchor="t" lIns="0" rIns="0" tIns="0" bIns="0">
            <a:spAutoFit/>
          </a:bodyPr>
          <a:lstStyle/>
          <a:p>
            <a:pPr algn="l">
              <a:spcAft>
                <a:spcPts val="600"/>
              </a:spcAft>
            </a:pPr>
            <a:r>
              <a:rPr sz="1150" b="0" i="0">
                <a:solidFill>
                  <a:srgbClr val="5F6E7C"/>
                </a:solidFill>
                <a:latin typeface="Calibri"/>
              </a:rPr>
              <a:t>offers (20% capacity)</a:t>
            </a:r>
          </a:p>
        </p:txBody>
      </p:sp>
      <p:sp>
        <p:nvSpPr>
          <p:cNvPr id="11" name="TextBox 10"/>
          <p:cNvSpPr txBox="1"/>
          <p:nvPr/>
        </p:nvSpPr>
        <p:spPr>
          <a:xfrm>
            <a:off x="2697480" y="2240280"/>
            <a:ext cx="1828800" cy="411480"/>
          </a:xfrm>
          <a:prstGeom prst="rect">
            <a:avLst/>
          </a:prstGeom>
          <a:noFill/>
        </p:spPr>
        <p:txBody>
          <a:bodyPr wrap="square" anchor="t" lIns="0" rIns="0" tIns="0" bIns="0">
            <a:spAutoFit/>
          </a:bodyPr>
          <a:lstStyle/>
          <a:p>
            <a:pPr algn="l">
              <a:spcAft>
                <a:spcPts val="600"/>
              </a:spcAft>
            </a:pPr>
            <a:r>
              <a:rPr sz="2400" b="1" i="0">
                <a:solidFill>
                  <a:srgbClr val="24506E"/>
                </a:solidFill>
                <a:latin typeface="Calibri"/>
              </a:rPr>
              <a:t>$5,000</a:t>
            </a:r>
          </a:p>
        </p:txBody>
      </p:sp>
      <p:sp>
        <p:nvSpPr>
          <p:cNvPr id="12" name="TextBox 11"/>
          <p:cNvSpPr txBox="1"/>
          <p:nvPr/>
        </p:nvSpPr>
        <p:spPr>
          <a:xfrm>
            <a:off x="2697480" y="2651760"/>
            <a:ext cx="1828800" cy="320040"/>
          </a:xfrm>
          <a:prstGeom prst="rect">
            <a:avLst/>
          </a:prstGeom>
          <a:noFill/>
        </p:spPr>
        <p:txBody>
          <a:bodyPr wrap="square" anchor="t" lIns="0" rIns="0" tIns="0" bIns="0">
            <a:spAutoFit/>
          </a:bodyPr>
          <a:lstStyle/>
          <a:p>
            <a:pPr algn="l">
              <a:spcAft>
                <a:spcPts val="600"/>
              </a:spcAft>
            </a:pPr>
            <a:r>
              <a:rPr sz="1150" b="0" i="0">
                <a:solidFill>
                  <a:srgbClr val="5F6E7C"/>
                </a:solidFill>
                <a:latin typeface="Calibri"/>
              </a:rPr>
              <a:t>support cost / person</a:t>
            </a:r>
          </a:p>
        </p:txBody>
      </p:sp>
      <p:sp>
        <p:nvSpPr>
          <p:cNvPr id="13" name="TextBox 12"/>
          <p:cNvSpPr txBox="1"/>
          <p:nvPr/>
        </p:nvSpPr>
        <p:spPr>
          <a:xfrm>
            <a:off x="777240" y="3154680"/>
            <a:ext cx="1828800" cy="411480"/>
          </a:xfrm>
          <a:prstGeom prst="rect">
            <a:avLst/>
          </a:prstGeom>
          <a:noFill/>
        </p:spPr>
        <p:txBody>
          <a:bodyPr wrap="square" anchor="t" lIns="0" rIns="0" tIns="0" bIns="0">
            <a:spAutoFit/>
          </a:bodyPr>
          <a:lstStyle/>
          <a:p>
            <a:pPr algn="l">
              <a:spcAft>
                <a:spcPts val="600"/>
              </a:spcAft>
            </a:pPr>
            <a:r>
              <a:rPr sz="2400" b="1" i="0">
                <a:solidFill>
                  <a:srgbClr val="24506E"/>
                </a:solidFill>
                <a:latin typeface="Calibri"/>
              </a:rPr>
              <a:t>$50,000</a:t>
            </a:r>
          </a:p>
        </p:txBody>
      </p:sp>
      <p:sp>
        <p:nvSpPr>
          <p:cNvPr id="14" name="TextBox 13"/>
          <p:cNvSpPr txBox="1"/>
          <p:nvPr/>
        </p:nvSpPr>
        <p:spPr>
          <a:xfrm>
            <a:off x="777240" y="3566160"/>
            <a:ext cx="1828800" cy="320040"/>
          </a:xfrm>
          <a:prstGeom prst="rect">
            <a:avLst/>
          </a:prstGeom>
          <a:noFill/>
        </p:spPr>
        <p:txBody>
          <a:bodyPr wrap="square" anchor="t" lIns="0" rIns="0" tIns="0" bIns="0">
            <a:spAutoFit/>
          </a:bodyPr>
          <a:lstStyle/>
          <a:p>
            <a:pPr algn="l">
              <a:spcAft>
                <a:spcPts val="600"/>
              </a:spcAft>
            </a:pPr>
            <a:r>
              <a:rPr sz="1150" b="0" i="0">
                <a:solidFill>
                  <a:srgbClr val="5F6E7C"/>
                </a:solidFill>
                <a:latin typeface="Calibri"/>
              </a:rPr>
              <a:t>cost of a re-arrest</a:t>
            </a:r>
          </a:p>
        </p:txBody>
      </p:sp>
      <p:sp>
        <p:nvSpPr>
          <p:cNvPr id="15" name="TextBox 14"/>
          <p:cNvSpPr txBox="1"/>
          <p:nvPr/>
        </p:nvSpPr>
        <p:spPr>
          <a:xfrm>
            <a:off x="2697480" y="3154680"/>
            <a:ext cx="1828800" cy="411480"/>
          </a:xfrm>
          <a:prstGeom prst="rect">
            <a:avLst/>
          </a:prstGeom>
          <a:noFill/>
        </p:spPr>
        <p:txBody>
          <a:bodyPr wrap="square" anchor="t" lIns="0" rIns="0" tIns="0" bIns="0">
            <a:spAutoFit/>
          </a:bodyPr>
          <a:lstStyle/>
          <a:p>
            <a:pPr algn="l">
              <a:spcAft>
                <a:spcPts val="600"/>
              </a:spcAft>
            </a:pPr>
            <a:r>
              <a:rPr sz="2400" b="1" i="0">
                <a:solidFill>
                  <a:srgbClr val="24506E"/>
                </a:solidFill>
                <a:latin typeface="Calibri"/>
              </a:rPr>
              <a:t>20%</a:t>
            </a:r>
          </a:p>
        </p:txBody>
      </p:sp>
      <p:sp>
        <p:nvSpPr>
          <p:cNvPr id="16" name="TextBox 15"/>
          <p:cNvSpPr txBox="1"/>
          <p:nvPr/>
        </p:nvSpPr>
        <p:spPr>
          <a:xfrm>
            <a:off x="2697480" y="3566160"/>
            <a:ext cx="1828800" cy="320040"/>
          </a:xfrm>
          <a:prstGeom prst="rect">
            <a:avLst/>
          </a:prstGeom>
          <a:noFill/>
        </p:spPr>
        <p:txBody>
          <a:bodyPr wrap="square" anchor="t" lIns="0" rIns="0" tIns="0" bIns="0">
            <a:spAutoFit/>
          </a:bodyPr>
          <a:lstStyle/>
          <a:p>
            <a:pPr algn="l">
              <a:spcAft>
                <a:spcPts val="600"/>
              </a:spcAft>
            </a:pPr>
            <a:r>
              <a:rPr sz="1150" b="0" i="0">
                <a:solidFill>
                  <a:srgbClr val="5F6E7C"/>
                </a:solidFill>
                <a:latin typeface="Calibri"/>
              </a:rPr>
              <a:t>re-arrests prevented</a:t>
            </a:r>
          </a:p>
        </p:txBody>
      </p:sp>
      <p:sp>
        <p:nvSpPr>
          <p:cNvPr id="17" name="TextBox 16"/>
          <p:cNvSpPr txBox="1"/>
          <p:nvPr/>
        </p:nvSpPr>
        <p:spPr>
          <a:xfrm>
            <a:off x="777240" y="4114800"/>
            <a:ext cx="3749039" cy="1783080"/>
          </a:xfrm>
          <a:prstGeom prst="rect">
            <a:avLst/>
          </a:prstGeom>
          <a:noFill/>
        </p:spPr>
        <p:txBody>
          <a:bodyPr wrap="square" anchor="t" lIns="0" rIns="0" tIns="0" bIns="0">
            <a:spAutoFit/>
          </a:bodyPr>
          <a:lstStyle/>
          <a:p>
            <a:pPr algn="l">
              <a:spcAft>
                <a:spcPts val="700"/>
              </a:spcAft>
            </a:pPr>
            <a:r>
              <a:rPr sz="1300" b="1" i="0">
                <a:solidFill>
                  <a:srgbClr val="1B2B3A"/>
                </a:solidFill>
                <a:latin typeface="Calibri"/>
              </a:rPr>
              <a:t>Net value = re-arrested among offers × $10,000 − offers × $5,000</a:t>
            </a:r>
          </a:p>
          <a:p>
            <a:pPr algn="l">
              <a:spcAft>
                <a:spcPts val="700"/>
              </a:spcAft>
            </a:pPr>
            <a:r>
              <a:rPr sz="1300" b="0" i="0">
                <a:solidFill>
                  <a:srgbClr val="1B2B3A"/>
                </a:solidFill>
                <a:latin typeface="Calibri"/>
              </a:rPr>
              <a:t>Logistic: 1,285 × $10k − 1,561 × $5k = </a:t>
            </a:r>
            <a:r>
              <a:rPr sz="1300" b="1" i="0">
                <a:solidFill>
                  <a:srgbClr val="1B2B3A"/>
                </a:solidFill>
                <a:latin typeface="Calibri"/>
              </a:rPr>
              <a:t>$5.045M</a:t>
            </a:r>
          </a:p>
          <a:p>
            <a:pPr algn="l">
              <a:spcAft>
                <a:spcPts val="700"/>
              </a:spcAft>
            </a:pPr>
            <a:r>
              <a:rPr sz="1300" b="0" i="0">
                <a:solidFill>
                  <a:srgbClr val="5F6E7C"/>
                </a:solidFill>
                <a:latin typeface="Calibri"/>
              </a:rPr>
              <a:t>Programme cost is the same for every ranking → only </a:t>
            </a:r>
            <a:r>
              <a:rPr sz="1300" b="1" i="0">
                <a:solidFill>
                  <a:srgbClr val="5F6E7C"/>
                </a:solidFill>
                <a:latin typeface="Calibri"/>
              </a:rPr>
              <a:t>precision</a:t>
            </a:r>
            <a:r>
              <a:rPr sz="1300" b="0" i="0">
                <a:solidFill>
                  <a:srgbClr val="5F6E7C"/>
                </a:solidFill>
                <a:latin typeface="Calibri"/>
              </a:rPr>
              <a:t> differs.</a:t>
            </a:r>
          </a:p>
        </p:txBody>
      </p:sp>
      <p:graphicFrame>
        <p:nvGraphicFramePr>
          <p:cNvPr id="18" name="Chart 17"/>
          <p:cNvGraphicFramePr>
            <a:graphicFrameLocks noGrp="1"/>
          </p:cNvGraphicFramePr>
          <p:nvPr/>
        </p:nvGraphicFramePr>
        <p:xfrm>
          <a:off x="5029200" y="1645920"/>
          <a:ext cx="6629400" cy="3246120"/>
        </p:xfrm>
        <a:graphic>
          <a:graphicData uri="http://schemas.openxmlformats.org/drawingml/2006/chart">
            <c:chart xmlns:c="http://schemas.openxmlformats.org/drawingml/2006/chart" r:id="rId2"/>
          </a:graphicData>
        </a:graphic>
      </p:graphicFrame>
      <p:sp>
        <p:nvSpPr>
          <p:cNvPr id="19" name="Rounded Rectangle 18"/>
          <p:cNvSpPr/>
          <p:nvPr/>
        </p:nvSpPr>
        <p:spPr>
          <a:xfrm>
            <a:off x="5029200" y="5029200"/>
            <a:ext cx="6611112" cy="96012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30368" y="5102352"/>
            <a:ext cx="1737360" cy="822960"/>
          </a:xfrm>
          <a:prstGeom prst="rect">
            <a:avLst/>
          </a:prstGeom>
          <a:noFill/>
        </p:spPr>
        <p:txBody>
          <a:bodyPr wrap="square" anchor="ctr" lIns="0" rIns="0" tIns="0" bIns="0">
            <a:spAutoFit/>
          </a:bodyPr>
          <a:lstStyle/>
          <a:p>
            <a:pPr algn="l">
              <a:spcAft>
                <a:spcPts val="600"/>
              </a:spcAft>
            </a:pPr>
            <a:r>
              <a:rPr sz="2400" b="1" i="0">
                <a:solidFill>
                  <a:srgbClr val="1F7A70"/>
                </a:solidFill>
                <a:latin typeface="Calibri"/>
              </a:rPr>
              <a:t>12% vs 15%</a:t>
            </a:r>
          </a:p>
        </p:txBody>
      </p:sp>
      <p:sp>
        <p:nvSpPr>
          <p:cNvPr id="21" name="TextBox 20"/>
          <p:cNvSpPr txBox="1"/>
          <p:nvPr/>
        </p:nvSpPr>
        <p:spPr>
          <a:xfrm>
            <a:off x="7086600" y="5102352"/>
            <a:ext cx="4434840" cy="822960"/>
          </a:xfrm>
          <a:prstGeom prst="rect">
            <a:avLst/>
          </a:prstGeom>
          <a:noFill/>
        </p:spPr>
        <p:txBody>
          <a:bodyPr wrap="square" anchor="ctr" lIns="0" rIns="0" tIns="0" bIns="0">
            <a:spAutoFit/>
          </a:bodyPr>
          <a:lstStyle/>
          <a:p>
            <a:pPr algn="l">
              <a:spcAft>
                <a:spcPts val="600"/>
              </a:spcAft>
            </a:pPr>
            <a:r>
              <a:rPr sz="1250" b="0" i="0">
                <a:solidFill>
                  <a:srgbClr val="1B2B3A"/>
                </a:solidFill>
                <a:latin typeface="Calibri"/>
              </a:rPr>
              <a:t>Break-even effect (= 10% / precision) with our ranking vs the historical score. Models win at every capacity 5–50% (A2).</a:t>
            </a:r>
          </a:p>
        </p:txBody>
      </p:sp>
      <p:sp>
        <p:nvSpPr>
          <p:cNvPr id="22" name="TextBox 21"/>
          <p:cNvSpPr txBox="1"/>
          <p:nvPr/>
        </p:nvSpPr>
        <p:spPr>
          <a:xfrm>
            <a:off x="548640" y="6126480"/>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incumbent_economics.csv · incumbent_capacity_sweep.csv · incumbent_effectiveness_sweep.csv. Dollar figures are scenarios, not causal estimates.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INTERPRETABILITY · GLOBAL</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1" i="0">
                <a:solidFill>
                  <a:srgbClr val="D9573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Global drivers: what moves the score</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9</a:t>
            </a:r>
          </a:p>
        </p:txBody>
      </p:sp>
      <p:pic>
        <p:nvPicPr>
          <p:cNvPr id="7" name="Picture 6" descr="shap_summary.png"/>
          <p:cNvPicPr>
            <a:picLocks noChangeAspect="1"/>
          </p:cNvPicPr>
          <p:nvPr/>
        </p:nvPicPr>
        <p:blipFill>
          <a:blip r:embed="rId2"/>
          <a:stretch>
            <a:fillRect/>
          </a:stretch>
        </p:blipFill>
        <p:spPr>
          <a:xfrm>
            <a:off x="548640" y="1829435"/>
            <a:ext cx="7772400" cy="3884929"/>
          </a:xfrm>
          <a:prstGeom prst="rect">
            <a:avLst/>
          </a:prstGeom>
        </p:spPr>
      </p:pic>
      <p:sp>
        <p:nvSpPr>
          <p:cNvPr id="8" name="TextBox 7"/>
          <p:cNvSpPr txBox="1"/>
          <p:nvPr/>
        </p:nvSpPr>
        <p:spPr>
          <a:xfrm>
            <a:off x="8641080" y="1645920"/>
            <a:ext cx="2999232" cy="274320"/>
          </a:xfrm>
          <a:prstGeom prst="rect">
            <a:avLst/>
          </a:prstGeom>
          <a:noFill/>
        </p:spPr>
        <p:txBody>
          <a:bodyPr wrap="square" anchor="t" lIns="0" rIns="0" tIns="0" bIns="0">
            <a:spAutoFit/>
          </a:bodyPr>
          <a:lstStyle/>
          <a:p>
            <a:pPr algn="l">
              <a:spcAft>
                <a:spcPts val="600"/>
              </a:spcAft>
            </a:pPr>
            <a:r>
              <a:rPr sz="1150" b="1" i="0">
                <a:solidFill>
                  <a:srgbClr val="24506E"/>
                </a:solidFill>
                <a:latin typeface="Calibri"/>
              </a:rPr>
              <a:t>LOGISTIC, IN PROBABILITY POINTS</a:t>
            </a:r>
          </a:p>
        </p:txBody>
      </p:sp>
      <p:sp>
        <p:nvSpPr>
          <p:cNvPr id="9" name="Rounded Rectangle 8"/>
          <p:cNvSpPr/>
          <p:nvPr/>
        </p:nvSpPr>
        <p:spPr>
          <a:xfrm>
            <a:off x="8641080" y="2011680"/>
            <a:ext cx="2999232" cy="141732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23959" y="2139696"/>
            <a:ext cx="2633472" cy="566928"/>
          </a:xfrm>
          <a:prstGeom prst="rect">
            <a:avLst/>
          </a:prstGeom>
          <a:noFill/>
        </p:spPr>
        <p:txBody>
          <a:bodyPr wrap="square" anchor="t" lIns="0" rIns="0" tIns="0" bIns="0">
            <a:spAutoFit/>
          </a:bodyPr>
          <a:lstStyle/>
          <a:p>
            <a:pPr algn="l">
              <a:spcAft>
                <a:spcPts val="600"/>
              </a:spcAft>
            </a:pPr>
            <a:r>
              <a:rPr sz="3400" b="1" i="0">
                <a:solidFill>
                  <a:srgbClr val="1F7A70"/>
                </a:solidFill>
                <a:latin typeface="Calibri"/>
              </a:rPr>
              <a:t>−27 pts</a:t>
            </a:r>
          </a:p>
        </p:txBody>
      </p:sp>
      <p:sp>
        <p:nvSpPr>
          <p:cNvPr id="11" name="TextBox 10"/>
          <p:cNvSpPr txBox="1"/>
          <p:nvPr/>
        </p:nvSpPr>
        <p:spPr>
          <a:xfrm>
            <a:off x="8823959" y="2679446"/>
            <a:ext cx="2633472"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age 23–27 → 48+
PDP, all three models: −27 / −26 / −29</a:t>
            </a:r>
          </a:p>
        </p:txBody>
      </p:sp>
      <p:sp>
        <p:nvSpPr>
          <p:cNvPr id="12" name="Rounded Rectangle 11"/>
          <p:cNvSpPr/>
          <p:nvPr/>
        </p:nvSpPr>
        <p:spPr>
          <a:xfrm>
            <a:off x="8641080" y="3611880"/>
            <a:ext cx="2999232" cy="118872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23959" y="3739896"/>
            <a:ext cx="2633472" cy="566928"/>
          </a:xfrm>
          <a:prstGeom prst="rect">
            <a:avLst/>
          </a:prstGeom>
          <a:noFill/>
        </p:spPr>
        <p:txBody>
          <a:bodyPr wrap="square" anchor="t" lIns="0" rIns="0" tIns="0" bIns="0">
            <a:spAutoFit/>
          </a:bodyPr>
          <a:lstStyle/>
          <a:p>
            <a:pPr algn="l">
              <a:spcAft>
                <a:spcPts val="600"/>
              </a:spcAft>
            </a:pPr>
            <a:r>
              <a:rPr sz="3400" b="1" i="0">
                <a:solidFill>
                  <a:srgbClr val="D9573A"/>
                </a:solidFill>
                <a:latin typeface="Calibri"/>
              </a:rPr>
              <a:t>+17 pts</a:t>
            </a:r>
          </a:p>
        </p:txBody>
      </p:sp>
      <p:sp>
        <p:nvSpPr>
          <p:cNvPr id="14" name="TextBox 13"/>
          <p:cNvSpPr txBox="1"/>
          <p:nvPr/>
        </p:nvSpPr>
        <p:spPr>
          <a:xfrm>
            <a:off x="8823959" y="4279646"/>
            <a:ext cx="2633472"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recorded gang affiliation
PDP, all three models: +17 / +16 / +17</a:t>
            </a:r>
          </a:p>
        </p:txBody>
      </p:sp>
      <p:sp>
        <p:nvSpPr>
          <p:cNvPr id="15" name="TextBox 14"/>
          <p:cNvSpPr txBox="1"/>
          <p:nvPr/>
        </p:nvSpPr>
        <p:spPr>
          <a:xfrm>
            <a:off x="8641080" y="4983480"/>
            <a:ext cx="2999232" cy="91440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SHAP beeswarm on all 7,807 evaluation people: importance and direction in one chart.</a:t>
            </a:r>
          </a:p>
        </p:txBody>
      </p:sp>
      <p:sp>
        <p:nvSpPr>
          <p:cNvPr id="16" name="TextBox 15"/>
          <p:cNvSpPr txBox="1"/>
          <p:nvPr/>
        </p:nvSpPr>
        <p:spPr>
          <a:xfrm>
            <a:off x="548640" y="6126480"/>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shap_summary.png · shap_importance_full.csv · probability_contrasts.csv · pdp_contrasts.csv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INTERPRETABILITY · MODEL-AGNOSTIC</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1" i="0">
                <a:solidFill>
                  <a:srgbClr val="D9573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Looking from outside: PDP/ICE for all three models</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10</a:t>
            </a:r>
          </a:p>
        </p:txBody>
      </p:sp>
      <p:pic>
        <p:nvPicPr>
          <p:cNvPr id="7" name="Picture 6" descr="pdp_ice.png"/>
          <p:cNvPicPr>
            <a:picLocks noChangeAspect="1"/>
          </p:cNvPicPr>
          <p:nvPr/>
        </p:nvPicPr>
        <p:blipFill>
          <a:blip r:embed="rId2"/>
          <a:stretch>
            <a:fillRect/>
          </a:stretch>
        </p:blipFill>
        <p:spPr>
          <a:xfrm>
            <a:off x="548640" y="1554480"/>
            <a:ext cx="5761279" cy="4480560"/>
          </a:xfrm>
          <a:prstGeom prst="rect">
            <a:avLst/>
          </a:prstGeom>
        </p:spPr>
      </p:pic>
      <p:sp>
        <p:nvSpPr>
          <p:cNvPr id="8" name="TextBox 7"/>
          <p:cNvSpPr txBox="1"/>
          <p:nvPr/>
        </p:nvSpPr>
        <p:spPr>
          <a:xfrm>
            <a:off x="6720840" y="1691640"/>
            <a:ext cx="4919472" cy="274320"/>
          </a:xfrm>
          <a:prstGeom prst="rect">
            <a:avLst/>
          </a:prstGeom>
          <a:noFill/>
        </p:spPr>
        <p:txBody>
          <a:bodyPr wrap="square" anchor="t" lIns="0" rIns="0" tIns="0" bIns="0">
            <a:spAutoFit/>
          </a:bodyPr>
          <a:lstStyle/>
          <a:p>
            <a:pPr algn="l">
              <a:spcAft>
                <a:spcPts val="600"/>
              </a:spcAft>
            </a:pPr>
            <a:r>
              <a:rPr sz="1200" b="1" i="0">
                <a:solidFill>
                  <a:srgbClr val="24506E"/>
                </a:solidFill>
                <a:latin typeface="Calibri"/>
              </a:rPr>
              <a:t>THREE EXPLANATION ROUTES</a:t>
            </a:r>
          </a:p>
        </p:txBody>
      </p:sp>
      <p:sp>
        <p:nvSpPr>
          <p:cNvPr id="9" name="Rounded Rectangle 8"/>
          <p:cNvSpPr/>
          <p:nvPr/>
        </p:nvSpPr>
        <p:spPr>
          <a:xfrm>
            <a:off x="6720840" y="2057400"/>
            <a:ext cx="4919472" cy="896112"/>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2057400"/>
            <a:ext cx="1234440" cy="896112"/>
          </a:xfrm>
          <a:prstGeom prst="rect">
            <a:avLst/>
          </a:prstGeom>
          <a:noFill/>
        </p:spPr>
        <p:txBody>
          <a:bodyPr wrap="square" anchor="ctr" lIns="0" rIns="0" tIns="0" bIns="0">
            <a:spAutoFit/>
          </a:bodyPr>
          <a:lstStyle/>
          <a:p>
            <a:pPr algn="l">
              <a:spcAft>
                <a:spcPts val="600"/>
              </a:spcAft>
            </a:pPr>
            <a:r>
              <a:rPr sz="1500" b="1" i="0">
                <a:solidFill>
                  <a:srgbClr val="24506E"/>
                </a:solidFill>
                <a:latin typeface="Calibri"/>
              </a:rPr>
              <a:t>Logistic</a:t>
            </a:r>
          </a:p>
        </p:txBody>
      </p:sp>
      <p:sp>
        <p:nvSpPr>
          <p:cNvPr id="11" name="TextBox 10"/>
          <p:cNvSpPr txBox="1"/>
          <p:nvPr/>
        </p:nvSpPr>
        <p:spPr>
          <a:xfrm>
            <a:off x="8138160" y="2057400"/>
            <a:ext cx="3383280" cy="896112"/>
          </a:xfrm>
          <a:prstGeom prst="rect">
            <a:avLst/>
          </a:prstGeom>
          <a:noFill/>
        </p:spPr>
        <p:txBody>
          <a:bodyPr wrap="square" anchor="ctr" lIns="0" rIns="0" tIns="0" bIns="0">
            <a:spAutoFit/>
          </a:bodyPr>
          <a:lstStyle/>
          <a:p>
            <a:pPr algn="l">
              <a:spcAft>
                <a:spcPts val="600"/>
              </a:spcAft>
            </a:pPr>
            <a:r>
              <a:rPr sz="1300" b="0" i="0">
                <a:solidFill>
                  <a:srgbClr val="1B2B3A"/>
                </a:solidFill>
                <a:latin typeface="Calibri"/>
              </a:rPr>
              <a:t>Coefficients read directly: the model is the explanation.</a:t>
            </a:r>
          </a:p>
        </p:txBody>
      </p:sp>
      <p:sp>
        <p:nvSpPr>
          <p:cNvPr id="12" name="Rounded Rectangle 11"/>
          <p:cNvSpPr/>
          <p:nvPr/>
        </p:nvSpPr>
        <p:spPr>
          <a:xfrm>
            <a:off x="6720840" y="3081528"/>
            <a:ext cx="4919472" cy="896112"/>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0" y="3081528"/>
            <a:ext cx="1234440" cy="896112"/>
          </a:xfrm>
          <a:prstGeom prst="rect">
            <a:avLst/>
          </a:prstGeom>
          <a:noFill/>
        </p:spPr>
        <p:txBody>
          <a:bodyPr wrap="square" anchor="ctr" lIns="0" rIns="0" tIns="0" bIns="0">
            <a:spAutoFit/>
          </a:bodyPr>
          <a:lstStyle/>
          <a:p>
            <a:pPr algn="l">
              <a:spcAft>
                <a:spcPts val="600"/>
              </a:spcAft>
            </a:pPr>
            <a:r>
              <a:rPr sz="1500" b="1" i="0">
                <a:solidFill>
                  <a:srgbClr val="1F7A70"/>
                </a:solidFill>
                <a:latin typeface="Calibri"/>
              </a:rPr>
              <a:t>XGBoost</a:t>
            </a:r>
          </a:p>
        </p:txBody>
      </p:sp>
      <p:sp>
        <p:nvSpPr>
          <p:cNvPr id="14" name="TextBox 13"/>
          <p:cNvSpPr txBox="1"/>
          <p:nvPr/>
        </p:nvSpPr>
        <p:spPr>
          <a:xfrm>
            <a:off x="8138160" y="3081528"/>
            <a:ext cx="3383280" cy="896112"/>
          </a:xfrm>
          <a:prstGeom prst="rect">
            <a:avLst/>
          </a:prstGeom>
          <a:noFill/>
        </p:spPr>
        <p:txBody>
          <a:bodyPr wrap="square" anchor="ctr" lIns="0" rIns="0" tIns="0" bIns="0">
            <a:spAutoFit/>
          </a:bodyPr>
          <a:lstStyle/>
          <a:p>
            <a:pPr algn="l">
              <a:spcAft>
                <a:spcPts val="600"/>
              </a:spcAft>
            </a:pPr>
            <a:r>
              <a:rPr sz="1300" b="0" i="0">
                <a:solidFill>
                  <a:srgbClr val="1B2B3A"/>
                </a:solidFill>
                <a:latin typeface="Calibri"/>
              </a:rPr>
              <a:t>Needs SHAP; a depth-3 surrogate tree reproduces only R² = 0.61.</a:t>
            </a:r>
          </a:p>
        </p:txBody>
      </p:sp>
      <p:sp>
        <p:nvSpPr>
          <p:cNvPr id="15" name="Rounded Rectangle 14"/>
          <p:cNvSpPr/>
          <p:nvPr/>
        </p:nvSpPr>
        <p:spPr>
          <a:xfrm>
            <a:off x="6720840" y="4105656"/>
            <a:ext cx="4919472" cy="896112"/>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03720" y="4105656"/>
            <a:ext cx="1234440" cy="896112"/>
          </a:xfrm>
          <a:prstGeom prst="rect">
            <a:avLst/>
          </a:prstGeom>
          <a:noFill/>
        </p:spPr>
        <p:txBody>
          <a:bodyPr wrap="square" anchor="ctr" lIns="0" rIns="0" tIns="0" bIns="0">
            <a:spAutoFit/>
          </a:bodyPr>
          <a:lstStyle/>
          <a:p>
            <a:pPr algn="l">
              <a:spcAft>
                <a:spcPts val="600"/>
              </a:spcAft>
            </a:pPr>
            <a:r>
              <a:rPr sz="1500" b="1" i="0">
                <a:solidFill>
                  <a:srgbClr val="D9573A"/>
                </a:solidFill>
                <a:latin typeface="Calibri"/>
              </a:rPr>
              <a:t>TabICL</a:t>
            </a:r>
          </a:p>
        </p:txBody>
      </p:sp>
      <p:sp>
        <p:nvSpPr>
          <p:cNvPr id="17" name="TextBox 16"/>
          <p:cNvSpPr txBox="1"/>
          <p:nvPr/>
        </p:nvSpPr>
        <p:spPr>
          <a:xfrm>
            <a:off x="8138160" y="4105656"/>
            <a:ext cx="3383280" cy="896112"/>
          </a:xfrm>
          <a:prstGeom prst="rect">
            <a:avLst/>
          </a:prstGeom>
          <a:noFill/>
        </p:spPr>
        <p:txBody>
          <a:bodyPr wrap="square" anchor="ctr" lIns="0" rIns="0" tIns="0" bIns="0">
            <a:spAutoFit/>
          </a:bodyPr>
          <a:lstStyle/>
          <a:p>
            <a:pPr algn="l">
              <a:spcAft>
                <a:spcPts val="600"/>
              </a:spcAft>
            </a:pPr>
            <a:r>
              <a:rPr sz="1300" b="0" i="0">
                <a:solidFill>
                  <a:srgbClr val="1B2B3A"/>
                </a:solidFill>
                <a:latin typeface="Calibri"/>
              </a:rPr>
              <a:t>No native attribution: PDP/ICE is the only view.</a:t>
            </a:r>
          </a:p>
        </p:txBody>
      </p:sp>
      <p:sp>
        <p:nvSpPr>
          <p:cNvPr id="18" name="TextBox 17"/>
          <p:cNvSpPr txBox="1"/>
          <p:nvPr/>
        </p:nvSpPr>
        <p:spPr>
          <a:xfrm>
            <a:off x="6720840" y="5212080"/>
            <a:ext cx="4919472" cy="822960"/>
          </a:xfrm>
          <a:prstGeom prst="rect">
            <a:avLst/>
          </a:prstGeom>
          <a:noFill/>
        </p:spPr>
        <p:txBody>
          <a:bodyPr wrap="square" anchor="t" lIns="0" rIns="0" tIns="0" bIns="0">
            <a:spAutoFit/>
          </a:bodyPr>
          <a:lstStyle/>
          <a:p>
            <a:pPr algn="l">
              <a:spcAft>
                <a:spcPts val="600"/>
              </a:spcAft>
            </a:pPr>
            <a:r>
              <a:rPr sz="1300" b="0" i="0">
                <a:solidFill>
                  <a:srgbClr val="1B2B3A"/>
                </a:solidFill>
                <a:latin typeface="Calibri"/>
              </a:rPr>
              <a:t>PDP = average effect; ICE = one curve per person. Age, prior felony arrests and the Georgia score: </a:t>
            </a:r>
            <a:r>
              <a:rPr sz="1300" b="1" i="0">
                <a:solidFill>
                  <a:srgbClr val="1B2B3A"/>
                </a:solidFill>
                <a:latin typeface="Calibri"/>
              </a:rPr>
              <a:t>all three models agree risk falls with age.</a:t>
            </a:r>
          </a:p>
        </p:txBody>
      </p:sp>
      <p:sp>
        <p:nvSpPr>
          <p:cNvPr id="19" name="TextBox 18"/>
          <p:cNvSpPr txBox="1"/>
          <p:nvPr/>
        </p:nvSpPr>
        <p:spPr>
          <a:xfrm>
            <a:off x="548640" y="6144768"/>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pdp_ice.png · interpretability_summary.json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INTERPRETABILITY · LOCAL</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1" i="0">
                <a:solidFill>
                  <a:srgbClr val="D9573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Explaining one person — and checking it is faithful</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11</a:t>
            </a:r>
          </a:p>
        </p:txBody>
      </p:sp>
      <p:pic>
        <p:nvPicPr>
          <p:cNvPr id="7" name="Picture 6" descr="shap_individual.png"/>
          <p:cNvPicPr>
            <a:picLocks noChangeAspect="1"/>
          </p:cNvPicPr>
          <p:nvPr/>
        </p:nvPicPr>
        <p:blipFill>
          <a:blip r:embed="rId2"/>
          <a:stretch>
            <a:fillRect/>
          </a:stretch>
        </p:blipFill>
        <p:spPr>
          <a:xfrm>
            <a:off x="1803245" y="1554480"/>
            <a:ext cx="8585204" cy="3246120"/>
          </a:xfrm>
          <a:prstGeom prst="rect">
            <a:avLst/>
          </a:prstGeom>
        </p:spPr>
      </p:pic>
      <p:sp>
        <p:nvSpPr>
          <p:cNvPr id="8" name="Rounded Rectangle 7"/>
          <p:cNvSpPr/>
          <p:nvPr/>
        </p:nvSpPr>
        <p:spPr>
          <a:xfrm>
            <a:off x="548640" y="4892040"/>
            <a:ext cx="3515258" cy="1143000"/>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020055"/>
            <a:ext cx="3149498" cy="566928"/>
          </a:xfrm>
          <a:prstGeom prst="rect">
            <a:avLst/>
          </a:prstGeom>
          <a:noFill/>
        </p:spPr>
        <p:txBody>
          <a:bodyPr wrap="square" anchor="t" lIns="0" rIns="0" tIns="0" bIns="0">
            <a:spAutoFit/>
          </a:bodyPr>
          <a:lstStyle/>
          <a:p>
            <a:pPr algn="l">
              <a:spcAft>
                <a:spcPts val="600"/>
              </a:spcAft>
            </a:pPr>
            <a:r>
              <a:rPr sz="2200" b="1" i="0">
                <a:solidFill>
                  <a:srgbClr val="24506E"/>
                </a:solidFill>
                <a:latin typeface="Calibri"/>
              </a:rPr>
              <a:t>0.25 → 0.41–0.43</a:t>
            </a:r>
          </a:p>
        </p:txBody>
      </p:sp>
      <p:sp>
        <p:nvSpPr>
          <p:cNvPr id="10" name="TextBox 9"/>
          <p:cNvSpPr txBox="1"/>
          <p:nvPr/>
        </p:nvSpPr>
        <p:spPr>
          <a:xfrm>
            <a:off x="731520" y="5369306"/>
            <a:ext cx="3149498"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LIME local fit (R²) after moving it to the raw feature space</a:t>
            </a:r>
          </a:p>
        </p:txBody>
      </p:sp>
      <p:sp>
        <p:nvSpPr>
          <p:cNvPr id="11" name="Rounded Rectangle 10"/>
          <p:cNvSpPr/>
          <p:nvPr/>
        </p:nvSpPr>
        <p:spPr>
          <a:xfrm>
            <a:off x="4338218" y="4892040"/>
            <a:ext cx="3515258" cy="114300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1098" y="5020055"/>
            <a:ext cx="3149498" cy="566928"/>
          </a:xfrm>
          <a:prstGeom prst="rect">
            <a:avLst/>
          </a:prstGeom>
          <a:noFill/>
        </p:spPr>
        <p:txBody>
          <a:bodyPr wrap="square" anchor="t" lIns="0" rIns="0" tIns="0" bIns="0">
            <a:spAutoFit/>
          </a:bodyPr>
          <a:lstStyle/>
          <a:p>
            <a:pPr algn="l">
              <a:spcAft>
                <a:spcPts val="600"/>
              </a:spcAft>
            </a:pPr>
            <a:r>
              <a:rPr sz="2200" b="1" i="0">
                <a:solidFill>
                  <a:srgbClr val="1F7A70"/>
                </a:solidFill>
                <a:latin typeface="Calibri"/>
              </a:rPr>
              <a:t>3 cases × 3 seeds</a:t>
            </a:r>
          </a:p>
        </p:txBody>
      </p:sp>
      <p:sp>
        <p:nvSpPr>
          <p:cNvPr id="13" name="TextBox 12"/>
          <p:cNvSpPr txBox="1"/>
          <p:nvPr/>
        </p:nvSpPr>
        <p:spPr>
          <a:xfrm>
            <a:off x="4521098" y="5369306"/>
            <a:ext cx="3149498"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highest, median and lowest risk, each with three random seeds</a:t>
            </a:r>
          </a:p>
        </p:txBody>
      </p:sp>
      <p:sp>
        <p:nvSpPr>
          <p:cNvPr id="14" name="Rounded Rectangle 13"/>
          <p:cNvSpPr/>
          <p:nvPr/>
        </p:nvSpPr>
        <p:spPr>
          <a:xfrm>
            <a:off x="8127796" y="4892040"/>
            <a:ext cx="3515258" cy="114300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0676" y="5020055"/>
            <a:ext cx="3149498" cy="566928"/>
          </a:xfrm>
          <a:prstGeom prst="rect">
            <a:avLst/>
          </a:prstGeom>
          <a:noFill/>
        </p:spPr>
        <p:txBody>
          <a:bodyPr wrap="square" anchor="t" lIns="0" rIns="0" tIns="0" bIns="0">
            <a:spAutoFit/>
          </a:bodyPr>
          <a:lstStyle/>
          <a:p>
            <a:pPr algn="l">
              <a:spcAft>
                <a:spcPts val="600"/>
              </a:spcAft>
            </a:pPr>
            <a:r>
              <a:rPr sz="2200" b="1" i="0">
                <a:solidFill>
                  <a:srgbClr val="D9573A"/>
                </a:solidFill>
                <a:latin typeface="Calibri"/>
              </a:rPr>
              <a:t>63 / 63</a:t>
            </a:r>
          </a:p>
        </p:txBody>
      </p:sp>
      <p:sp>
        <p:nvSpPr>
          <p:cNvPr id="16" name="TextBox 15"/>
          <p:cNvSpPr txBox="1"/>
          <p:nvPr/>
        </p:nvSpPr>
        <p:spPr>
          <a:xfrm>
            <a:off x="8310676" y="5369306"/>
            <a:ext cx="3149498"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feature conditions keep the same sign across seeds</a:t>
            </a:r>
          </a:p>
        </p:txBody>
      </p:sp>
      <p:sp>
        <p:nvSpPr>
          <p:cNvPr id="17" name="TextBox 16"/>
          <p:cNvSpPr txBox="1"/>
          <p:nvPr/>
        </p:nvSpPr>
        <p:spPr>
          <a:xfrm>
            <a:off x="548640" y="6144768"/>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shap_individual.png · lime_individual.png · lime_fidelity.csv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INTERPRETABILITY · XPER</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1" i="0">
                <a:solidFill>
                  <a:srgbClr val="D9573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Explaining performance with XPER: methods disagree on order</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12</a:t>
            </a:r>
          </a:p>
        </p:txBody>
      </p:sp>
      <p:pic>
        <p:nvPicPr>
          <p:cNvPr id="7" name="Picture 6" descr="xper.png"/>
          <p:cNvPicPr>
            <a:picLocks noChangeAspect="1"/>
          </p:cNvPicPr>
          <p:nvPr/>
        </p:nvPicPr>
        <p:blipFill>
          <a:blip r:embed="rId2"/>
          <a:stretch>
            <a:fillRect/>
          </a:stretch>
        </p:blipFill>
        <p:spPr>
          <a:xfrm>
            <a:off x="548640" y="1615168"/>
            <a:ext cx="8138160" cy="2896142"/>
          </a:xfrm>
          <a:prstGeom prst="rect">
            <a:avLst/>
          </a:prstGeom>
        </p:spPr>
      </p:pic>
      <p:sp>
        <p:nvSpPr>
          <p:cNvPr id="8" name="Rounded Rectangle 7"/>
          <p:cNvSpPr/>
          <p:nvPr/>
        </p:nvSpPr>
        <p:spPr>
          <a:xfrm>
            <a:off x="8915400" y="1645920"/>
            <a:ext cx="2724912" cy="1325880"/>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98280" y="1773936"/>
            <a:ext cx="2359152" cy="566928"/>
          </a:xfrm>
          <a:prstGeom prst="rect">
            <a:avLst/>
          </a:prstGeom>
          <a:noFill/>
        </p:spPr>
        <p:txBody>
          <a:bodyPr wrap="square" anchor="t" lIns="0" rIns="0" tIns="0" bIns="0">
            <a:spAutoFit/>
          </a:bodyPr>
          <a:lstStyle/>
          <a:p>
            <a:pPr algn="l">
              <a:spcAft>
                <a:spcPts val="600"/>
              </a:spcAft>
            </a:pPr>
            <a:r>
              <a:rPr sz="3000" b="1" i="0">
                <a:solidFill>
                  <a:srgbClr val="24506E"/>
                </a:solidFill>
                <a:latin typeface="Calibri"/>
              </a:rPr>
              <a:t>≈ 0.47</a:t>
            </a:r>
          </a:p>
        </p:txBody>
      </p:sp>
      <p:sp>
        <p:nvSpPr>
          <p:cNvPr id="10" name="TextBox 9"/>
          <p:cNvSpPr txBox="1"/>
          <p:nvPr/>
        </p:nvSpPr>
        <p:spPr>
          <a:xfrm>
            <a:off x="9098280" y="2250186"/>
            <a:ext cx="2359152"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benchmark AUC share</a:t>
            </a:r>
          </a:p>
        </p:txBody>
      </p:sp>
      <p:sp>
        <p:nvSpPr>
          <p:cNvPr id="11" name="Rounded Rectangle 10"/>
          <p:cNvSpPr/>
          <p:nvPr/>
        </p:nvSpPr>
        <p:spPr>
          <a:xfrm>
            <a:off x="8915400" y="3154680"/>
            <a:ext cx="2724912" cy="132588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98280" y="3282696"/>
            <a:ext cx="2359152" cy="566928"/>
          </a:xfrm>
          <a:prstGeom prst="rect">
            <a:avLst/>
          </a:prstGeom>
          <a:noFill/>
        </p:spPr>
        <p:txBody>
          <a:bodyPr wrap="square" anchor="t" lIns="0" rIns="0" tIns="0" bIns="0">
            <a:spAutoFit/>
          </a:bodyPr>
          <a:lstStyle/>
          <a:p>
            <a:pPr algn="l">
              <a:spcAft>
                <a:spcPts val="600"/>
              </a:spcAft>
            </a:pPr>
            <a:r>
              <a:rPr sz="3000" b="1" i="0">
                <a:solidFill>
                  <a:srgbClr val="1F7A70"/>
                </a:solidFill>
                <a:latin typeface="Calibri"/>
              </a:rPr>
              <a:t>+0.09</a:t>
            </a:r>
          </a:p>
        </p:txBody>
      </p:sp>
      <p:sp>
        <p:nvSpPr>
          <p:cNvPr id="13" name="TextBox 12"/>
          <p:cNvSpPr txBox="1"/>
          <p:nvPr/>
        </p:nvSpPr>
        <p:spPr>
          <a:xfrm>
            <a:off x="9098280" y="3758946"/>
            <a:ext cx="2359152"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AUC contributed by age</a:t>
            </a:r>
          </a:p>
        </p:txBody>
      </p:sp>
      <p:sp>
        <p:nvSpPr>
          <p:cNvPr id="14" name="Rounded Rectangle 13"/>
          <p:cNvSpPr/>
          <p:nvPr/>
        </p:nvSpPr>
        <p:spPr>
          <a:xfrm>
            <a:off x="548640" y="4754880"/>
            <a:ext cx="3515258" cy="1280160"/>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901184"/>
            <a:ext cx="3112922" cy="274320"/>
          </a:xfrm>
          <a:prstGeom prst="rect">
            <a:avLst/>
          </a:prstGeom>
          <a:noFill/>
        </p:spPr>
        <p:txBody>
          <a:bodyPr wrap="square" anchor="t" lIns="0" rIns="0" tIns="0" bIns="0">
            <a:spAutoFit/>
          </a:bodyPr>
          <a:lstStyle/>
          <a:p>
            <a:pPr algn="l">
              <a:spcAft>
                <a:spcPts val="600"/>
              </a:spcAft>
            </a:pPr>
            <a:r>
              <a:rPr sz="1200" b="1" i="0">
                <a:solidFill>
                  <a:srgbClr val="24506E"/>
                </a:solidFill>
                <a:latin typeface="Calibri"/>
              </a:rPr>
              <a:t>RANK AGREEMENT</a:t>
            </a:r>
          </a:p>
        </p:txBody>
      </p:sp>
      <p:sp>
        <p:nvSpPr>
          <p:cNvPr id="16" name="TextBox 15"/>
          <p:cNvSpPr txBox="1"/>
          <p:nvPr/>
        </p:nvSpPr>
        <p:spPr>
          <a:xfrm>
            <a:off x="749808" y="5212080"/>
            <a:ext cx="3112922" cy="713231"/>
          </a:xfrm>
          <a:prstGeom prst="rect">
            <a:avLst/>
          </a:prstGeom>
          <a:noFill/>
        </p:spPr>
        <p:txBody>
          <a:bodyPr wrap="square" anchor="t" lIns="0" rIns="0" tIns="0" bIns="0">
            <a:spAutoFit/>
          </a:bodyPr>
          <a:lstStyle/>
          <a:p>
            <a:pPr algn="l">
              <a:spcAft>
                <a:spcPts val="500"/>
              </a:spcAft>
            </a:pPr>
            <a:r>
              <a:rPr sz="1350" b="0" i="0">
                <a:solidFill>
                  <a:srgbClr val="1B2B3A"/>
                </a:solidFill>
                <a:latin typeface="Calibri"/>
              </a:rPr>
              <a:t>Spearman </a:t>
            </a:r>
            <a:r>
              <a:rPr sz="1350" b="1" i="0">
                <a:solidFill>
                  <a:srgbClr val="1B2B3A"/>
                </a:solidFill>
                <a:latin typeface="Calibri"/>
              </a:rPr>
              <a:t>0.77–0.81</a:t>
            </a:r>
            <a:r>
              <a:rPr sz="1350" b="0" i="0">
                <a:solidFill>
                  <a:srgbClr val="1B2B3A"/>
                </a:solidFill>
                <a:latin typeface="Calibri"/>
              </a:rPr>
              <a:t> SHAP vs permutation; only </a:t>
            </a:r>
            <a:r>
              <a:rPr sz="1350" b="1" i="0">
                <a:solidFill>
                  <a:srgbClr val="1B2B3A"/>
                </a:solidFill>
                <a:latin typeface="Calibri"/>
              </a:rPr>
              <a:t>0.53–0.60</a:t>
            </a:r>
            <a:r>
              <a:rPr sz="1350" b="0" i="0">
                <a:solidFill>
                  <a:srgbClr val="1B2B3A"/>
                </a:solidFill>
                <a:latin typeface="Calibri"/>
              </a:rPr>
              <a:t> either vs XPER.</a:t>
            </a:r>
          </a:p>
        </p:txBody>
      </p:sp>
      <p:sp>
        <p:nvSpPr>
          <p:cNvPr id="17" name="Rounded Rectangle 16"/>
          <p:cNvSpPr/>
          <p:nvPr/>
        </p:nvSpPr>
        <p:spPr>
          <a:xfrm>
            <a:off x="4338218" y="4754880"/>
            <a:ext cx="3515258" cy="128016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9386" y="4901184"/>
            <a:ext cx="3112922"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SHARED DRIVERS</a:t>
            </a:r>
          </a:p>
        </p:txBody>
      </p:sp>
      <p:sp>
        <p:nvSpPr>
          <p:cNvPr id="19" name="TextBox 18"/>
          <p:cNvSpPr txBox="1"/>
          <p:nvPr/>
        </p:nvSpPr>
        <p:spPr>
          <a:xfrm>
            <a:off x="4539386" y="5212080"/>
            <a:ext cx="3112922" cy="713231"/>
          </a:xfrm>
          <a:prstGeom prst="rect">
            <a:avLst/>
          </a:prstGeom>
          <a:noFill/>
        </p:spPr>
        <p:txBody>
          <a:bodyPr wrap="square" anchor="t" lIns="0" rIns="0" tIns="0" bIns="0">
            <a:spAutoFit/>
          </a:bodyPr>
          <a:lstStyle/>
          <a:p>
            <a:pPr algn="l">
              <a:spcAft>
                <a:spcPts val="500"/>
              </a:spcAft>
            </a:pPr>
            <a:r>
              <a:rPr sz="1350" b="0" i="0">
                <a:solidFill>
                  <a:srgbClr val="1B2B3A"/>
                </a:solidFill>
                <a:latin typeface="Calibri"/>
              </a:rPr>
              <a:t>The three methods share </a:t>
            </a:r>
            <a:r>
              <a:rPr sz="1350" b="1" i="0">
                <a:solidFill>
                  <a:srgbClr val="1B2B3A"/>
                </a:solidFill>
                <a:latin typeface="Calibri"/>
              </a:rPr>
              <a:t>8–10 of their top-10</a:t>
            </a:r>
            <a:r>
              <a:rPr sz="1350" b="0" i="0">
                <a:solidFill>
                  <a:srgbClr val="1B2B3A"/>
                </a:solidFill>
                <a:latin typeface="Calibri"/>
              </a:rPr>
              <a:t> features.</a:t>
            </a:r>
          </a:p>
        </p:txBody>
      </p:sp>
      <p:sp>
        <p:nvSpPr>
          <p:cNvPr id="20" name="Rounded Rectangle 19"/>
          <p:cNvSpPr/>
          <p:nvPr/>
        </p:nvSpPr>
        <p:spPr>
          <a:xfrm>
            <a:off x="8127796" y="4754880"/>
            <a:ext cx="3515258" cy="128016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8964" y="4901184"/>
            <a:ext cx="3112922" cy="274320"/>
          </a:xfrm>
          <a:prstGeom prst="rect">
            <a:avLst/>
          </a:prstGeom>
          <a:noFill/>
        </p:spPr>
        <p:txBody>
          <a:bodyPr wrap="square" anchor="t" lIns="0" rIns="0" tIns="0" bIns="0">
            <a:spAutoFit/>
          </a:bodyPr>
          <a:lstStyle/>
          <a:p>
            <a:pPr algn="l">
              <a:spcAft>
                <a:spcPts val="600"/>
              </a:spcAft>
            </a:pPr>
            <a:r>
              <a:rPr sz="1200" b="1" i="0">
                <a:solidFill>
                  <a:srgbClr val="D9573A"/>
                </a:solidFill>
                <a:latin typeface="Calibri"/>
              </a:rPr>
              <a:t>TAKEAWAY</a:t>
            </a:r>
          </a:p>
        </p:txBody>
      </p:sp>
      <p:sp>
        <p:nvSpPr>
          <p:cNvPr id="22" name="TextBox 21"/>
          <p:cNvSpPr txBox="1"/>
          <p:nvPr/>
        </p:nvSpPr>
        <p:spPr>
          <a:xfrm>
            <a:off x="8328964" y="5212080"/>
            <a:ext cx="3112922" cy="713231"/>
          </a:xfrm>
          <a:prstGeom prst="rect">
            <a:avLst/>
          </a:prstGeom>
          <a:noFill/>
        </p:spPr>
        <p:txBody>
          <a:bodyPr wrap="square" anchor="t" lIns="0" rIns="0" tIns="0" bIns="0">
            <a:spAutoFit/>
          </a:bodyPr>
          <a:lstStyle/>
          <a:p>
            <a:pPr algn="l">
              <a:spcAft>
                <a:spcPts val="500"/>
              </a:spcAft>
            </a:pPr>
            <a:r>
              <a:rPr sz="1350" b="0" i="0">
                <a:solidFill>
                  <a:srgbClr val="1B2B3A"/>
                </a:solidFill>
                <a:latin typeface="Calibri"/>
              </a:rPr>
              <a:t>Quote the </a:t>
            </a:r>
            <a:r>
              <a:rPr sz="1350" b="1" i="0">
                <a:solidFill>
                  <a:srgbClr val="1B2B3A"/>
                </a:solidFill>
                <a:latin typeface="Calibri"/>
              </a:rPr>
              <a:t>set</a:t>
            </a:r>
            <a:r>
              <a:rPr sz="1350" b="0" i="0">
                <a:solidFill>
                  <a:srgbClr val="1B2B3A"/>
                </a:solidFill>
                <a:latin typeface="Calibri"/>
              </a:rPr>
              <a:t> of main drivers, not their exact ranking.</a:t>
            </a:r>
          </a:p>
        </p:txBody>
      </p:sp>
      <p:sp>
        <p:nvSpPr>
          <p:cNvPr id="23" name="TextBox 22"/>
          <p:cNvSpPr txBox="1"/>
          <p:nvPr/>
        </p:nvSpPr>
        <p:spPr>
          <a:xfrm>
            <a:off x="548640" y="6144768"/>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xper.png · explanation_agreement.png · global_surrogate.png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FAIRNESS · RACE</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1" i="0">
                <a:solidFill>
                  <a:srgbClr val="D9573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Race (1): excluding race is not the same as being fair</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13</a:t>
            </a:r>
          </a:p>
        </p:txBody>
      </p:sp>
      <p:sp>
        <p:nvSpPr>
          <p:cNvPr id="7" name="TextBox 6"/>
          <p:cNvSpPr txBox="1"/>
          <p:nvPr/>
        </p:nvSpPr>
        <p:spPr>
          <a:xfrm>
            <a:off x="548640" y="1481328"/>
            <a:ext cx="11094415" cy="320040"/>
          </a:xfrm>
          <a:prstGeom prst="rect">
            <a:avLst/>
          </a:prstGeom>
          <a:noFill/>
        </p:spPr>
        <p:txBody>
          <a:bodyPr wrap="square" anchor="t" lIns="0" rIns="0" tIns="0" bIns="0">
            <a:spAutoFit/>
          </a:bodyPr>
          <a:lstStyle/>
          <a:p>
            <a:pPr algn="l">
              <a:spcAft>
                <a:spcPts val="600"/>
              </a:spcAft>
            </a:pPr>
            <a:r>
              <a:rPr sz="1350" b="0" i="0">
                <a:solidFill>
                  <a:srgbClr val="5F6E7C"/>
                </a:solidFill>
                <a:latin typeface="Calibri"/>
              </a:rPr>
              <a:t>Primary metric: </a:t>
            </a:r>
            <a:r>
              <a:rPr sz="1350" b="1" i="0">
                <a:solidFill>
                  <a:srgbClr val="5F6E7C"/>
                </a:solidFill>
                <a:latin typeface="Calibri"/>
              </a:rPr>
              <a:t>FNR</a:t>
            </a:r>
            <a:r>
              <a:rPr sz="1350" b="0" i="0">
                <a:solidFill>
                  <a:srgbClr val="5F6E7C"/>
                </a:solidFill>
                <a:latin typeface="Calibri"/>
              </a:rPr>
              <a:t> — re-arrested but not selected for support, i.e. missed help. All results at the deployed top-20% rule.</a:t>
            </a:r>
          </a:p>
        </p:txBody>
      </p:sp>
      <p:sp>
        <p:nvSpPr>
          <p:cNvPr id="8" name="Rounded Rectangle 7"/>
          <p:cNvSpPr/>
          <p:nvPr/>
        </p:nvSpPr>
        <p:spPr>
          <a:xfrm>
            <a:off x="548640" y="1965960"/>
            <a:ext cx="3291840" cy="251460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03120"/>
            <a:ext cx="2834640" cy="274320"/>
          </a:xfrm>
          <a:prstGeom prst="rect">
            <a:avLst/>
          </a:prstGeom>
          <a:noFill/>
        </p:spPr>
        <p:txBody>
          <a:bodyPr wrap="square" anchor="t" lIns="0" rIns="0" tIns="0" bIns="0">
            <a:spAutoFit/>
          </a:bodyPr>
          <a:lstStyle/>
          <a:p>
            <a:pPr algn="l">
              <a:spcAft>
                <a:spcPts val="600"/>
              </a:spcAft>
            </a:pPr>
            <a:r>
              <a:rPr sz="1200" b="1" i="0">
                <a:solidFill>
                  <a:srgbClr val="24506E"/>
                </a:solidFill>
                <a:latin typeface="Calibri"/>
              </a:rPr>
              <a:t>BASE RATES</a:t>
            </a:r>
          </a:p>
        </p:txBody>
      </p:sp>
      <p:sp>
        <p:nvSpPr>
          <p:cNvPr id="10" name="TextBox 9"/>
          <p:cNvSpPr txBox="1"/>
          <p:nvPr/>
        </p:nvSpPr>
        <p:spPr>
          <a:xfrm>
            <a:off x="777240" y="2468880"/>
            <a:ext cx="1463040" cy="548640"/>
          </a:xfrm>
          <a:prstGeom prst="rect">
            <a:avLst/>
          </a:prstGeom>
          <a:noFill/>
        </p:spPr>
        <p:txBody>
          <a:bodyPr wrap="square" anchor="t" lIns="0" rIns="0" tIns="0" bIns="0">
            <a:spAutoFit/>
          </a:bodyPr>
          <a:lstStyle/>
          <a:p>
            <a:pPr algn="l">
              <a:spcAft>
                <a:spcPts val="600"/>
              </a:spcAft>
            </a:pPr>
            <a:r>
              <a:rPr sz="3600" b="1" i="0">
                <a:solidFill>
                  <a:srgbClr val="24506E"/>
                </a:solidFill>
                <a:latin typeface="Calibri"/>
              </a:rPr>
              <a:t>0.582</a:t>
            </a:r>
          </a:p>
        </p:txBody>
      </p:sp>
      <p:sp>
        <p:nvSpPr>
          <p:cNvPr id="11" name="TextBox 10"/>
          <p:cNvSpPr txBox="1"/>
          <p:nvPr/>
        </p:nvSpPr>
        <p:spPr>
          <a:xfrm>
            <a:off x="2148840" y="2633472"/>
            <a:ext cx="1463040" cy="365760"/>
          </a:xfrm>
          <a:prstGeom prst="rect">
            <a:avLst/>
          </a:prstGeom>
          <a:noFill/>
        </p:spPr>
        <p:txBody>
          <a:bodyPr wrap="square" anchor="t" lIns="0" rIns="0" tIns="0" bIns="0">
            <a:spAutoFit/>
          </a:bodyPr>
          <a:lstStyle/>
          <a:p>
            <a:pPr algn="l">
              <a:spcAft>
                <a:spcPts val="600"/>
              </a:spcAft>
            </a:pPr>
            <a:r>
              <a:rPr sz="1400" b="0" i="0">
                <a:solidFill>
                  <a:srgbClr val="5F6E7C"/>
                </a:solidFill>
                <a:latin typeface="Calibri"/>
              </a:rPr>
              <a:t>Black</a:t>
            </a:r>
          </a:p>
        </p:txBody>
      </p:sp>
      <p:sp>
        <p:nvSpPr>
          <p:cNvPr id="12" name="TextBox 11"/>
          <p:cNvSpPr txBox="1"/>
          <p:nvPr/>
        </p:nvSpPr>
        <p:spPr>
          <a:xfrm>
            <a:off x="777240" y="3154680"/>
            <a:ext cx="1463040" cy="548640"/>
          </a:xfrm>
          <a:prstGeom prst="rect">
            <a:avLst/>
          </a:prstGeom>
          <a:noFill/>
        </p:spPr>
        <p:txBody>
          <a:bodyPr wrap="square" anchor="t" lIns="0" rIns="0" tIns="0" bIns="0">
            <a:spAutoFit/>
          </a:bodyPr>
          <a:lstStyle/>
          <a:p>
            <a:pPr algn="l">
              <a:spcAft>
                <a:spcPts val="600"/>
              </a:spcAft>
            </a:pPr>
            <a:r>
              <a:rPr sz="3600" b="1" i="0">
                <a:solidFill>
                  <a:srgbClr val="2A9D8F"/>
                </a:solidFill>
                <a:latin typeface="Calibri"/>
              </a:rPr>
              <a:t>0.564</a:t>
            </a:r>
          </a:p>
        </p:txBody>
      </p:sp>
      <p:sp>
        <p:nvSpPr>
          <p:cNvPr id="13" name="TextBox 12"/>
          <p:cNvSpPr txBox="1"/>
          <p:nvPr/>
        </p:nvSpPr>
        <p:spPr>
          <a:xfrm>
            <a:off x="2148840" y="3319272"/>
            <a:ext cx="1463040" cy="365760"/>
          </a:xfrm>
          <a:prstGeom prst="rect">
            <a:avLst/>
          </a:prstGeom>
          <a:noFill/>
        </p:spPr>
        <p:txBody>
          <a:bodyPr wrap="square" anchor="t" lIns="0" rIns="0" tIns="0" bIns="0">
            <a:spAutoFit/>
          </a:bodyPr>
          <a:lstStyle/>
          <a:p>
            <a:pPr algn="l">
              <a:spcAft>
                <a:spcPts val="600"/>
              </a:spcAft>
            </a:pPr>
            <a:r>
              <a:rPr sz="1400" b="0" i="0">
                <a:solidFill>
                  <a:srgbClr val="5F6E7C"/>
                </a:solidFill>
                <a:latin typeface="Calibri"/>
              </a:rPr>
              <a:t>White</a:t>
            </a:r>
          </a:p>
        </p:txBody>
      </p:sp>
      <p:sp>
        <p:nvSpPr>
          <p:cNvPr id="14" name="TextBox 13"/>
          <p:cNvSpPr txBox="1"/>
          <p:nvPr/>
        </p:nvSpPr>
        <p:spPr>
          <a:xfrm>
            <a:off x="777240" y="3794760"/>
            <a:ext cx="2834640" cy="640080"/>
          </a:xfrm>
          <a:prstGeom prst="rect">
            <a:avLst/>
          </a:prstGeom>
          <a:noFill/>
        </p:spPr>
        <p:txBody>
          <a:bodyPr wrap="square" anchor="t" lIns="0" rIns="0" tIns="0" bIns="0">
            <a:spAutoFit/>
          </a:bodyPr>
          <a:lstStyle/>
          <a:p>
            <a:pPr algn="l">
              <a:spcAft>
                <a:spcPts val="600"/>
              </a:spcAft>
            </a:pPr>
            <a:r>
              <a:rPr sz="1200" b="0" i="0">
                <a:solidFill>
                  <a:srgbClr val="1B2B3A"/>
                </a:solidFill>
                <a:latin typeface="Calibri"/>
              </a:rPr>
              <a:t>Almost equal: the data does not force a gap. (Contrast: COMPAS / ProPublica 2016.)</a:t>
            </a:r>
          </a:p>
        </p:txBody>
      </p:sp>
      <p:sp>
        <p:nvSpPr>
          <p:cNvPr id="15" name="Rounded Rectangle 14"/>
          <p:cNvSpPr/>
          <p:nvPr/>
        </p:nvSpPr>
        <p:spPr>
          <a:xfrm>
            <a:off x="4114800" y="1965960"/>
            <a:ext cx="3626967" cy="251460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15968" y="2112264"/>
            <a:ext cx="3224631"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WHAT EXCLUSION GUARANTEES</a:t>
            </a:r>
          </a:p>
        </p:txBody>
      </p:sp>
      <p:sp>
        <p:nvSpPr>
          <p:cNvPr id="17" name="TextBox 16"/>
          <p:cNvSpPr txBox="1"/>
          <p:nvPr/>
        </p:nvSpPr>
        <p:spPr>
          <a:xfrm>
            <a:off x="4315968" y="2423160"/>
            <a:ext cx="3224631" cy="1947672"/>
          </a:xfrm>
          <a:prstGeom prst="rect">
            <a:avLst/>
          </a:prstGeom>
          <a:noFill/>
        </p:spPr>
        <p:txBody>
          <a:bodyPr wrap="square" anchor="t" lIns="0" rIns="0" tIns="0" bIns="0">
            <a:spAutoFit/>
          </a:bodyPr>
          <a:lstStyle/>
          <a:p>
            <a:pPr algn="l" marL="182880" indent="-182880">
              <a:spcAft>
                <a:spcPts val="800"/>
              </a:spcAft>
              <a:buClr>
                <a:srgbClr val="1F7A70"/>
              </a:buClr>
              <a:buFont typeface="Arial"/>
              <a:buChar char="•"/>
            </a:pPr>
            <a:r>
              <a:rPr sz="1400" b="0" i="0">
                <a:solidFill>
                  <a:srgbClr val="1B2B3A"/>
                </a:solidFill>
                <a:latin typeface="Calibri"/>
              </a:rPr>
              <a:t>Two people who differ only in race get </a:t>
            </a:r>
            <a:r>
              <a:rPr sz="1400" b="1" i="0">
                <a:solidFill>
                  <a:srgbClr val="1B2B3A"/>
                </a:solidFill>
                <a:latin typeface="Calibri"/>
              </a:rPr>
              <a:t>exactly the same score</a:t>
            </a:r>
            <a:r>
              <a:rPr sz="1400" b="0" i="0">
                <a:solidFill>
                  <a:srgbClr val="1B2B3A"/>
                </a:solidFill>
                <a:latin typeface="Calibri"/>
              </a:rPr>
              <a:t>.</a:t>
            </a:r>
          </a:p>
          <a:p>
            <a:pPr algn="l" marL="182880" indent="-182880">
              <a:spcAft>
                <a:spcPts val="800"/>
              </a:spcAft>
              <a:buClr>
                <a:srgbClr val="1F7A70"/>
              </a:buClr>
              <a:buFont typeface="Arial"/>
              <a:buChar char="•"/>
            </a:pPr>
            <a:r>
              <a:rPr sz="1400" b="0" i="0">
                <a:solidFill>
                  <a:srgbClr val="1B2B3A"/>
                </a:solidFill>
                <a:latin typeface="Calibri"/>
              </a:rPr>
              <a:t>Adding race back changes AUC by </a:t>
            </a:r>
            <a:r>
              <a:rPr sz="1400" b="1" i="0">
                <a:solidFill>
                  <a:srgbClr val="1B2B3A"/>
                </a:solidFill>
                <a:latin typeface="Calibri"/>
              </a:rPr>
              <a:t>≤ 0.001</a:t>
            </a:r>
            <a:r>
              <a:rPr sz="1400" b="0" i="0">
                <a:solidFill>
                  <a:srgbClr val="1B2B3A"/>
                </a:solidFill>
                <a:latin typeface="Calibri"/>
              </a:rPr>
              <a:t>.</a:t>
            </a:r>
          </a:p>
        </p:txBody>
      </p:sp>
      <p:sp>
        <p:nvSpPr>
          <p:cNvPr id="18" name="Rounded Rectangle 17"/>
          <p:cNvSpPr/>
          <p:nvPr/>
        </p:nvSpPr>
        <p:spPr>
          <a:xfrm>
            <a:off x="8016087" y="1965960"/>
            <a:ext cx="3626967" cy="251460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7255" y="2112264"/>
            <a:ext cx="3224631" cy="274320"/>
          </a:xfrm>
          <a:prstGeom prst="rect">
            <a:avLst/>
          </a:prstGeom>
          <a:noFill/>
        </p:spPr>
        <p:txBody>
          <a:bodyPr wrap="square" anchor="t" lIns="0" rIns="0" tIns="0" bIns="0">
            <a:spAutoFit/>
          </a:bodyPr>
          <a:lstStyle/>
          <a:p>
            <a:pPr algn="l">
              <a:spcAft>
                <a:spcPts val="600"/>
              </a:spcAft>
            </a:pPr>
            <a:r>
              <a:rPr sz="1200" b="1" i="0">
                <a:solidFill>
                  <a:srgbClr val="D9573A"/>
                </a:solidFill>
                <a:latin typeface="Calibri"/>
              </a:rPr>
              <a:t>WHAT IT DOES NOT GUARANTEE</a:t>
            </a:r>
          </a:p>
        </p:txBody>
      </p:sp>
      <p:sp>
        <p:nvSpPr>
          <p:cNvPr id="20" name="TextBox 19"/>
          <p:cNvSpPr txBox="1"/>
          <p:nvPr/>
        </p:nvSpPr>
        <p:spPr>
          <a:xfrm>
            <a:off x="8217255" y="2423160"/>
            <a:ext cx="3224631" cy="1947672"/>
          </a:xfrm>
          <a:prstGeom prst="rect">
            <a:avLst/>
          </a:prstGeom>
          <a:noFill/>
        </p:spPr>
        <p:txBody>
          <a:bodyPr wrap="square" anchor="t" lIns="0" rIns="0" tIns="0" bIns="0">
            <a:spAutoFit/>
          </a:bodyPr>
          <a:lstStyle/>
          <a:p>
            <a:pPr algn="l" marL="182880" indent="-182880">
              <a:spcAft>
                <a:spcPts val="800"/>
              </a:spcAft>
              <a:buClr>
                <a:srgbClr val="D9573A"/>
              </a:buClr>
              <a:buFont typeface="Arial"/>
              <a:buChar char="•"/>
            </a:pPr>
            <a:r>
              <a:rPr sz="1400" b="0" i="0">
                <a:solidFill>
                  <a:srgbClr val="1B2B3A"/>
                </a:solidFill>
                <a:latin typeface="Calibri"/>
              </a:rPr>
              <a:t>Race is still recoverable at </a:t>
            </a:r>
            <a:r>
              <a:rPr sz="1400" b="1" i="0">
                <a:solidFill>
                  <a:srgbClr val="1B2B3A"/>
                </a:solidFill>
                <a:latin typeface="Calibri"/>
              </a:rPr>
              <a:t>AUC 0.708</a:t>
            </a:r>
            <a:r>
              <a:rPr sz="1400" b="0" i="0">
                <a:solidFill>
                  <a:srgbClr val="1B2B3A"/>
                </a:solidFill>
                <a:latin typeface="Calibri"/>
              </a:rPr>
              <a:t> from the remaining features.</a:t>
            </a:r>
          </a:p>
          <a:p>
            <a:pPr algn="l" marL="182880" indent="-182880">
              <a:spcAft>
                <a:spcPts val="800"/>
              </a:spcAft>
              <a:buClr>
                <a:srgbClr val="D9573A"/>
              </a:buClr>
              <a:buFont typeface="Arial"/>
              <a:buChar char="•"/>
            </a:pPr>
            <a:r>
              <a:rPr sz="1400" b="0" i="0">
                <a:solidFill>
                  <a:srgbClr val="1B2B3A"/>
                </a:solidFill>
                <a:latin typeface="Calibri"/>
              </a:rPr>
              <a:t>Criminal-history variables carry part of the same information — and are the core of risk assessment.</a:t>
            </a:r>
          </a:p>
        </p:txBody>
      </p:sp>
      <p:sp>
        <p:nvSpPr>
          <p:cNvPr id="21" name="Rounded Rectangle 20"/>
          <p:cNvSpPr/>
          <p:nvPr/>
        </p:nvSpPr>
        <p:spPr>
          <a:xfrm>
            <a:off x="548640" y="4709160"/>
            <a:ext cx="11094415" cy="1143000"/>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4709160"/>
            <a:ext cx="10545775" cy="1143000"/>
          </a:xfrm>
          <a:prstGeom prst="rect">
            <a:avLst/>
          </a:prstGeom>
          <a:noFill/>
        </p:spPr>
        <p:txBody>
          <a:bodyPr wrap="square" anchor="ctr" lIns="0" rIns="0" tIns="0" bIns="0">
            <a:spAutoFit/>
          </a:bodyPr>
          <a:lstStyle/>
          <a:p>
            <a:pPr algn="l">
              <a:spcAft>
                <a:spcPts val="600"/>
              </a:spcAft>
            </a:pPr>
            <a:r>
              <a:rPr sz="1600" b="0" i="1">
                <a:solidFill>
                  <a:srgbClr val="24506E"/>
                </a:solidFill>
                <a:latin typeface="Calibri"/>
              </a:rPr>
              <a:t>“Excluding race guarantees the model never uses it directly. It cannot guarantee equal outcomes. That is why we </a:t>
            </a:r>
            <a:r>
              <a:rPr sz="1600" b="1" i="1">
                <a:solidFill>
                  <a:srgbClr val="24506E"/>
                </a:solidFill>
                <a:latin typeface="Calibri"/>
              </a:rPr>
              <a:t>audit outcomes, not inputs</a:t>
            </a:r>
            <a:r>
              <a:rPr sz="1600" b="0" i="1">
                <a:solidFill>
                  <a:srgbClr val="24506E"/>
                </a:solidFill>
                <a:latin typeface="Calibri"/>
              </a:rPr>
              <a:t>.”</a:t>
            </a:r>
          </a:p>
        </p:txBody>
      </p:sp>
      <p:sp>
        <p:nvSpPr>
          <p:cNvPr id="23" name="TextBox 22"/>
          <p:cNvSpPr txBox="1"/>
          <p:nvPr/>
        </p:nvSpPr>
        <p:spPr>
          <a:xfrm>
            <a:off x="548640" y="6144768"/>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race_ab_test.csv · proxy_recovery.csv · fairness_impossibility.csv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FAIRNESS · RACE</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1" i="0">
                <a:solidFill>
                  <a:srgbClr val="D9573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Race (2): the outcome audit, with three caveats</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14</a:t>
            </a:r>
          </a:p>
        </p:txBody>
      </p:sp>
      <p:pic>
        <p:nvPicPr>
          <p:cNvPr id="7" name="Picture 6" descr="fairness_race_gaps.png"/>
          <p:cNvPicPr>
            <a:picLocks noChangeAspect="1"/>
          </p:cNvPicPr>
          <p:nvPr/>
        </p:nvPicPr>
        <p:blipFill>
          <a:blip r:embed="rId2"/>
          <a:stretch>
            <a:fillRect/>
          </a:stretch>
        </p:blipFill>
        <p:spPr>
          <a:xfrm>
            <a:off x="548640" y="1557265"/>
            <a:ext cx="5760720" cy="2792493"/>
          </a:xfrm>
          <a:prstGeom prst="rect">
            <a:avLst/>
          </a:prstGeom>
        </p:spPr>
      </p:pic>
      <p:sp>
        <p:nvSpPr>
          <p:cNvPr id="8" name="TextBox 7"/>
          <p:cNvSpPr txBox="1"/>
          <p:nvPr/>
        </p:nvSpPr>
        <p:spPr>
          <a:xfrm>
            <a:off x="6583680" y="1600200"/>
            <a:ext cx="5029200" cy="274320"/>
          </a:xfrm>
          <a:prstGeom prst="rect">
            <a:avLst/>
          </a:prstGeom>
          <a:noFill/>
        </p:spPr>
        <p:txBody>
          <a:bodyPr wrap="square" anchor="t" lIns="0" rIns="0" tIns="0" bIns="0">
            <a:spAutoFit/>
          </a:bodyPr>
          <a:lstStyle/>
          <a:p>
            <a:pPr algn="l">
              <a:spcAft>
                <a:spcPts val="600"/>
              </a:spcAft>
            </a:pPr>
            <a:r>
              <a:rPr sz="1200" b="1" i="0">
                <a:solidFill>
                  <a:srgbClr val="24506E"/>
                </a:solidFill>
                <a:latin typeface="Calibri"/>
              </a:rPr>
              <a:t>RESULT  (LOGISTIC / XGBOOST / TABICL)</a:t>
            </a:r>
          </a:p>
        </p:txBody>
      </p:sp>
      <p:sp>
        <p:nvSpPr>
          <p:cNvPr id="9" name="TextBox 8"/>
          <p:cNvSpPr txBox="1"/>
          <p:nvPr/>
        </p:nvSpPr>
        <p:spPr>
          <a:xfrm>
            <a:off x="6583680" y="1938528"/>
            <a:ext cx="5029200" cy="365760"/>
          </a:xfrm>
          <a:prstGeom prst="rect">
            <a:avLst/>
          </a:prstGeom>
          <a:noFill/>
        </p:spPr>
        <p:txBody>
          <a:bodyPr wrap="square" anchor="t" lIns="0" rIns="0" tIns="0" bIns="0">
            <a:spAutoFit/>
          </a:bodyPr>
          <a:lstStyle/>
          <a:p>
            <a:pPr algn="l">
              <a:spcAft>
                <a:spcPts val="600"/>
              </a:spcAft>
            </a:pPr>
            <a:r>
              <a:rPr sz="1900" b="1" i="0">
                <a:solidFill>
                  <a:srgbClr val="24506E"/>
                </a:solidFill>
                <a:latin typeface="Calibri"/>
              </a:rPr>
              <a:t>−0.005 / −0.017 / −0.023</a:t>
            </a:r>
          </a:p>
        </p:txBody>
      </p:sp>
      <p:sp>
        <p:nvSpPr>
          <p:cNvPr id="10" name="TextBox 9"/>
          <p:cNvSpPr txBox="1"/>
          <p:nvPr/>
        </p:nvSpPr>
        <p:spPr>
          <a:xfrm>
            <a:off x="6583680" y="2304288"/>
            <a:ext cx="5029200" cy="4114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FNR gap, Black − White</a:t>
            </a:r>
          </a:p>
        </p:txBody>
      </p:sp>
      <p:sp>
        <p:nvSpPr>
          <p:cNvPr id="11" name="TextBox 10"/>
          <p:cNvSpPr txBox="1"/>
          <p:nvPr/>
        </p:nvSpPr>
        <p:spPr>
          <a:xfrm>
            <a:off x="6583680" y="2743200"/>
            <a:ext cx="5029200" cy="365760"/>
          </a:xfrm>
          <a:prstGeom prst="rect">
            <a:avLst/>
          </a:prstGeom>
          <a:noFill/>
        </p:spPr>
        <p:txBody>
          <a:bodyPr wrap="square" anchor="t" lIns="0" rIns="0" tIns="0" bIns="0">
            <a:spAutoFit/>
          </a:bodyPr>
          <a:lstStyle/>
          <a:p>
            <a:pPr algn="l">
              <a:spcAft>
                <a:spcPts val="600"/>
              </a:spcAft>
            </a:pPr>
            <a:r>
              <a:rPr sz="1900" b="1" i="0">
                <a:solidFill>
                  <a:srgbClr val="1F7A70"/>
                </a:solidFill>
                <a:latin typeface="Calibri"/>
              </a:rPr>
              <a:t>within ±5 pts</a:t>
            </a:r>
          </a:p>
        </p:txBody>
      </p:sp>
      <p:sp>
        <p:nvSpPr>
          <p:cNvPr id="12" name="TextBox 11"/>
          <p:cNvSpPr txBox="1"/>
          <p:nvPr/>
        </p:nvSpPr>
        <p:spPr>
          <a:xfrm>
            <a:off x="6583680" y="3108960"/>
            <a:ext cx="5029200" cy="4114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every gap, by TOST equivalence; none significant after Holm</a:t>
            </a:r>
          </a:p>
        </p:txBody>
      </p:sp>
      <p:sp>
        <p:nvSpPr>
          <p:cNvPr id="13" name="TextBox 12"/>
          <p:cNvSpPr txBox="1"/>
          <p:nvPr/>
        </p:nvSpPr>
        <p:spPr>
          <a:xfrm>
            <a:off x="6583680" y="3547872"/>
            <a:ext cx="5029200" cy="365760"/>
          </a:xfrm>
          <a:prstGeom prst="rect">
            <a:avLst/>
          </a:prstGeom>
          <a:noFill/>
        </p:spPr>
        <p:txBody>
          <a:bodyPr wrap="square" anchor="t" lIns="0" rIns="0" tIns="0" bIns="0">
            <a:spAutoFit/>
          </a:bodyPr>
          <a:lstStyle/>
          <a:p>
            <a:pPr algn="l">
              <a:spcAft>
                <a:spcPts val="600"/>
              </a:spcAft>
            </a:pPr>
            <a:r>
              <a:rPr sz="1900" b="1" i="0">
                <a:solidFill>
                  <a:srgbClr val="24506E"/>
                </a:solidFill>
                <a:latin typeface="Calibri"/>
              </a:rPr>
              <a:t>0.93 / 0.89 / 0.87</a:t>
            </a:r>
          </a:p>
        </p:txBody>
      </p:sp>
      <p:sp>
        <p:nvSpPr>
          <p:cNvPr id="14" name="TextBox 13"/>
          <p:cNvSpPr txBox="1"/>
          <p:nvPr/>
        </p:nvSpPr>
        <p:spPr>
          <a:xfrm>
            <a:off x="6583680" y="3913632"/>
            <a:ext cx="5029200" cy="4114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selection-rate ratio White : Black — above the four-fifths rule</a:t>
            </a:r>
          </a:p>
        </p:txBody>
      </p:sp>
      <p:sp>
        <p:nvSpPr>
          <p:cNvPr id="15" name="Rounded Rectangle 14"/>
          <p:cNvSpPr/>
          <p:nvPr/>
        </p:nvSpPr>
        <p:spPr>
          <a:xfrm>
            <a:off x="548640" y="4526280"/>
            <a:ext cx="3515258" cy="150876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31520" y="4663440"/>
            <a:ext cx="347472" cy="347472"/>
          </a:xfrm>
          <a:prstGeom prst="ellipse">
            <a:avLst/>
          </a:prstGeom>
          <a:solidFill>
            <a:srgbClr val="D957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libri"/>
              </a:rPr>
              <a:t>1</a:t>
            </a:r>
          </a:p>
        </p:txBody>
      </p:sp>
      <p:sp>
        <p:nvSpPr>
          <p:cNvPr id="17" name="TextBox 16"/>
          <p:cNvSpPr txBox="1"/>
          <p:nvPr/>
        </p:nvSpPr>
        <p:spPr>
          <a:xfrm>
            <a:off x="1188719" y="4663440"/>
            <a:ext cx="2743200" cy="347472"/>
          </a:xfrm>
          <a:prstGeom prst="rect">
            <a:avLst/>
          </a:prstGeom>
          <a:noFill/>
        </p:spPr>
        <p:txBody>
          <a:bodyPr wrap="square" anchor="ctr" lIns="0" rIns="0" tIns="0" bIns="0">
            <a:spAutoFit/>
          </a:bodyPr>
          <a:lstStyle/>
          <a:p>
            <a:pPr algn="l">
              <a:spcAft>
                <a:spcPts val="600"/>
              </a:spcAft>
            </a:pPr>
            <a:r>
              <a:rPr sz="1400" b="1" i="0">
                <a:solidFill>
                  <a:srgbClr val="D9573A"/>
                </a:solidFill>
                <a:latin typeface="Calibri"/>
              </a:rPr>
              <a:t>Direction is reversed</a:t>
            </a:r>
          </a:p>
        </p:txBody>
      </p:sp>
      <p:sp>
        <p:nvSpPr>
          <p:cNvPr id="18" name="TextBox 17"/>
          <p:cNvSpPr txBox="1"/>
          <p:nvPr/>
        </p:nvSpPr>
        <p:spPr>
          <a:xfrm>
            <a:off x="731520" y="5074920"/>
            <a:ext cx="3145536" cy="960120"/>
          </a:xfrm>
          <a:prstGeom prst="rect">
            <a:avLst/>
          </a:prstGeom>
          <a:noFill/>
        </p:spPr>
        <p:txBody>
          <a:bodyPr wrap="square" anchor="t" lIns="0" rIns="0" tIns="0" bIns="0">
            <a:spAutoFit/>
          </a:bodyPr>
          <a:lstStyle/>
          <a:p>
            <a:pPr algn="l">
              <a:spcAft>
                <a:spcPts val="600"/>
              </a:spcAft>
            </a:pPr>
            <a:r>
              <a:rPr sz="1200" b="0" i="0">
                <a:solidFill>
                  <a:srgbClr val="1B2B3A"/>
                </a:solidFill>
                <a:latin typeface="Calibri"/>
              </a:rPr>
              <a:t>XGBoost and TabICL select ~2 pts </a:t>
            </a:r>
            <a:r>
              <a:rPr sz="1200" b="1" i="0">
                <a:solidFill>
                  <a:srgbClr val="1B2B3A"/>
                </a:solidFill>
                <a:latin typeface="Calibri"/>
              </a:rPr>
              <a:t>more</a:t>
            </a:r>
            <a:r>
              <a:rPr sz="1200" b="0" i="0">
                <a:solidFill>
                  <a:srgbClr val="1B2B3A"/>
                </a:solidFill>
                <a:latin typeface="Calibri"/>
              </a:rPr>
              <a:t> Black people — here that means more help. Used for sanctions, the same gap would be harm.</a:t>
            </a:r>
          </a:p>
        </p:txBody>
      </p:sp>
      <p:sp>
        <p:nvSpPr>
          <p:cNvPr id="19" name="Rounded Rectangle 18"/>
          <p:cNvSpPr/>
          <p:nvPr/>
        </p:nvSpPr>
        <p:spPr>
          <a:xfrm>
            <a:off x="4338218" y="4526280"/>
            <a:ext cx="3515258" cy="150876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521098" y="4663440"/>
            <a:ext cx="347472" cy="347472"/>
          </a:xfrm>
          <a:prstGeom prst="ellipse">
            <a:avLst/>
          </a:prstGeom>
          <a:solidFill>
            <a:srgbClr val="D957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libri"/>
              </a:rPr>
              <a:t>2</a:t>
            </a:r>
          </a:p>
        </p:txBody>
      </p:sp>
      <p:sp>
        <p:nvSpPr>
          <p:cNvPr id="21" name="TextBox 20"/>
          <p:cNvSpPr txBox="1"/>
          <p:nvPr/>
        </p:nvSpPr>
        <p:spPr>
          <a:xfrm>
            <a:off x="4978298" y="4663440"/>
            <a:ext cx="2743200" cy="347472"/>
          </a:xfrm>
          <a:prstGeom prst="rect">
            <a:avLst/>
          </a:prstGeom>
          <a:noFill/>
        </p:spPr>
        <p:txBody>
          <a:bodyPr wrap="square" anchor="ctr" lIns="0" rIns="0" tIns="0" bIns="0">
            <a:spAutoFit/>
          </a:bodyPr>
          <a:lstStyle/>
          <a:p>
            <a:pPr algn="l">
              <a:spcAft>
                <a:spcPts val="600"/>
              </a:spcAft>
            </a:pPr>
            <a:r>
              <a:rPr sz="1400" b="1" i="0">
                <a:solidFill>
                  <a:srgbClr val="D9573A"/>
                </a:solidFill>
                <a:latin typeface="Calibri"/>
              </a:rPr>
              <a:t>The label may be biased</a:t>
            </a:r>
          </a:p>
        </p:txBody>
      </p:sp>
      <p:sp>
        <p:nvSpPr>
          <p:cNvPr id="22" name="TextBox 21"/>
          <p:cNvSpPr txBox="1"/>
          <p:nvPr/>
        </p:nvSpPr>
        <p:spPr>
          <a:xfrm>
            <a:off x="4521098" y="5074920"/>
            <a:ext cx="3145536" cy="960120"/>
          </a:xfrm>
          <a:prstGeom prst="rect">
            <a:avLst/>
          </a:prstGeom>
          <a:noFill/>
        </p:spPr>
        <p:txBody>
          <a:bodyPr wrap="square" anchor="t" lIns="0" rIns="0" tIns="0" bIns="0">
            <a:spAutoFit/>
          </a:bodyPr>
          <a:lstStyle/>
          <a:p>
            <a:pPr algn="l">
              <a:spcAft>
                <a:spcPts val="600"/>
              </a:spcAft>
            </a:pPr>
            <a:r>
              <a:rPr sz="1200" b="0" i="0">
                <a:solidFill>
                  <a:srgbClr val="1B2B3A"/>
                </a:solidFill>
                <a:latin typeface="Calibri"/>
              </a:rPr>
              <a:t>We measure </a:t>
            </a:r>
            <a:r>
              <a:rPr sz="1200" b="1" i="0">
                <a:solidFill>
                  <a:srgbClr val="1B2B3A"/>
                </a:solidFill>
                <a:latin typeface="Calibri"/>
              </a:rPr>
              <a:t>recorded arrest</a:t>
            </a:r>
            <a:r>
              <a:rPr sz="1200" b="0" i="0">
                <a:solidFill>
                  <a:srgbClr val="1B2B3A"/>
                </a:solidFill>
                <a:latin typeface="Calibri"/>
              </a:rPr>
              <a:t>, not reoffending. Differences in policing intensity cannot be seen in this data.</a:t>
            </a:r>
          </a:p>
        </p:txBody>
      </p:sp>
      <p:sp>
        <p:nvSpPr>
          <p:cNvPr id="23" name="Rounded Rectangle 22"/>
          <p:cNvSpPr/>
          <p:nvPr/>
        </p:nvSpPr>
        <p:spPr>
          <a:xfrm>
            <a:off x="8127796" y="4526280"/>
            <a:ext cx="3515258" cy="150876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310676" y="4663440"/>
            <a:ext cx="347472" cy="347472"/>
          </a:xfrm>
          <a:prstGeom prst="ellipse">
            <a:avLst/>
          </a:prstGeom>
          <a:solidFill>
            <a:srgbClr val="D957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i="0">
                <a:solidFill>
                  <a:srgbClr val="FFFFFF"/>
                </a:solidFill>
                <a:latin typeface="Calibri"/>
              </a:rPr>
              <a:t>3</a:t>
            </a:r>
          </a:p>
        </p:txBody>
      </p:sp>
      <p:sp>
        <p:nvSpPr>
          <p:cNvPr id="25" name="TextBox 24"/>
          <p:cNvSpPr txBox="1"/>
          <p:nvPr/>
        </p:nvSpPr>
        <p:spPr>
          <a:xfrm>
            <a:off x="8767876" y="4663440"/>
            <a:ext cx="2743200" cy="347472"/>
          </a:xfrm>
          <a:prstGeom prst="rect">
            <a:avLst/>
          </a:prstGeom>
          <a:noFill/>
        </p:spPr>
        <p:txBody>
          <a:bodyPr wrap="square" anchor="ctr" lIns="0" rIns="0" tIns="0" bIns="0">
            <a:spAutoFit/>
          </a:bodyPr>
          <a:lstStyle/>
          <a:p>
            <a:pPr algn="l">
              <a:spcAft>
                <a:spcPts val="600"/>
              </a:spcAft>
            </a:pPr>
            <a:r>
              <a:rPr sz="1400" b="1" i="0">
                <a:solidFill>
                  <a:srgbClr val="D9573A"/>
                </a:solidFill>
                <a:latin typeface="Calibri"/>
              </a:rPr>
              <a:t>Prediction quality differs</a:t>
            </a:r>
          </a:p>
        </p:txBody>
      </p:sp>
      <p:sp>
        <p:nvSpPr>
          <p:cNvPr id="26" name="TextBox 25"/>
          <p:cNvSpPr txBox="1"/>
          <p:nvPr/>
        </p:nvSpPr>
        <p:spPr>
          <a:xfrm>
            <a:off x="8310676" y="5074920"/>
            <a:ext cx="3145536" cy="960120"/>
          </a:xfrm>
          <a:prstGeom prst="rect">
            <a:avLst/>
          </a:prstGeom>
          <a:noFill/>
        </p:spPr>
        <p:txBody>
          <a:bodyPr wrap="square" anchor="t" lIns="0" rIns="0" tIns="0" bIns="0">
            <a:spAutoFit/>
          </a:bodyPr>
          <a:lstStyle/>
          <a:p>
            <a:pPr algn="l">
              <a:spcAft>
                <a:spcPts val="600"/>
              </a:spcAft>
            </a:pPr>
            <a:r>
              <a:rPr sz="1200" b="0" i="0">
                <a:solidFill>
                  <a:srgbClr val="1B2B3A"/>
                </a:solidFill>
                <a:latin typeface="Calibri"/>
              </a:rPr>
              <a:t>Within-group AUC </a:t>
            </a:r>
            <a:r>
              <a:rPr sz="1200" b="1" i="0">
                <a:solidFill>
                  <a:srgbClr val="1B2B3A"/>
                </a:solidFill>
                <a:latin typeface="Calibri"/>
              </a:rPr>
              <a:t>0.718–0.721</a:t>
            </a:r>
            <a:r>
              <a:rPr sz="1200" b="0" i="0">
                <a:solidFill>
                  <a:srgbClr val="1B2B3A"/>
                </a:solidFill>
                <a:latin typeface="Calibri"/>
              </a:rPr>
              <a:t> for Black vs </a:t>
            </a:r>
            <a:r>
              <a:rPr sz="1200" b="1" i="0">
                <a:solidFill>
                  <a:srgbClr val="1B2B3A"/>
                </a:solidFill>
                <a:latin typeface="Calibri"/>
              </a:rPr>
              <a:t>0.746–0.748</a:t>
            </a:r>
            <a:r>
              <a:rPr sz="1200" b="0" i="0">
                <a:solidFill>
                  <a:srgbClr val="1B2B3A"/>
                </a:solidFill>
                <a:latin typeface="Calibri"/>
              </a:rPr>
              <a:t> for White people.</a:t>
            </a:r>
          </a:p>
        </p:txBody>
      </p:sp>
      <p:sp>
        <p:nvSpPr>
          <p:cNvPr id="27" name="TextBox 26"/>
          <p:cNvSpPr txBox="1"/>
          <p:nvPr/>
        </p:nvSpPr>
        <p:spPr>
          <a:xfrm>
            <a:off x="548640" y="6144768"/>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fairness_inference.csv · fairness_tests_holm.csv · fairness_by_group.csv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FAIRNESS · GENDER</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1" i="0">
                <a:solidFill>
                  <a:srgbClr val="D9573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Gender (1): women are over-predicted, yet selected less</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15</a:t>
            </a:r>
          </a:p>
        </p:txBody>
      </p:sp>
      <p:pic>
        <p:nvPicPr>
          <p:cNvPr id="7" name="Picture 6" descr="fairness_gender_gaps.png"/>
          <p:cNvPicPr>
            <a:picLocks noChangeAspect="1"/>
          </p:cNvPicPr>
          <p:nvPr/>
        </p:nvPicPr>
        <p:blipFill>
          <a:blip r:embed="rId2"/>
          <a:stretch>
            <a:fillRect/>
          </a:stretch>
        </p:blipFill>
        <p:spPr>
          <a:xfrm>
            <a:off x="548640" y="1557265"/>
            <a:ext cx="5760720" cy="2792493"/>
          </a:xfrm>
          <a:prstGeom prst="rect">
            <a:avLst/>
          </a:prstGeom>
        </p:spPr>
      </p:pic>
      <p:sp>
        <p:nvSpPr>
          <p:cNvPr id="8" name="TextBox 7"/>
          <p:cNvSpPr txBox="1"/>
          <p:nvPr/>
        </p:nvSpPr>
        <p:spPr>
          <a:xfrm>
            <a:off x="6583680" y="1600200"/>
            <a:ext cx="5029200" cy="274320"/>
          </a:xfrm>
          <a:prstGeom prst="rect">
            <a:avLst/>
          </a:prstGeom>
          <a:noFill/>
        </p:spPr>
        <p:txBody>
          <a:bodyPr wrap="square" anchor="t" lIns="0" rIns="0" tIns="0" bIns="0">
            <a:spAutoFit/>
          </a:bodyPr>
          <a:lstStyle/>
          <a:p>
            <a:pPr algn="l">
              <a:spcAft>
                <a:spcPts val="600"/>
              </a:spcAft>
            </a:pPr>
            <a:r>
              <a:rPr sz="1200" b="1" i="0">
                <a:solidFill>
                  <a:srgbClr val="24506E"/>
                </a:solidFill>
                <a:latin typeface="Calibri"/>
              </a:rPr>
              <a:t>LOGISTIC / XGBOOST / TABICL</a:t>
            </a:r>
          </a:p>
        </p:txBody>
      </p:sp>
      <p:sp>
        <p:nvSpPr>
          <p:cNvPr id="9" name="TextBox 8"/>
          <p:cNvSpPr txBox="1"/>
          <p:nvPr/>
        </p:nvSpPr>
        <p:spPr>
          <a:xfrm>
            <a:off x="6583680" y="1938528"/>
            <a:ext cx="5029200" cy="365760"/>
          </a:xfrm>
          <a:prstGeom prst="rect">
            <a:avLst/>
          </a:prstGeom>
          <a:noFill/>
        </p:spPr>
        <p:txBody>
          <a:bodyPr wrap="square" anchor="t" lIns="0" rIns="0" tIns="0" bIns="0">
            <a:spAutoFit/>
          </a:bodyPr>
          <a:lstStyle/>
          <a:p>
            <a:pPr algn="l">
              <a:spcAft>
                <a:spcPts val="600"/>
              </a:spcAft>
            </a:pPr>
            <a:r>
              <a:rPr sz="1900" b="1" i="0">
                <a:solidFill>
                  <a:srgbClr val="D9573A"/>
                </a:solidFill>
                <a:latin typeface="Calibri"/>
              </a:rPr>
              <a:t>−0.096 / −0.112 / −0.124</a:t>
            </a:r>
          </a:p>
        </p:txBody>
      </p:sp>
      <p:sp>
        <p:nvSpPr>
          <p:cNvPr id="10" name="TextBox 9"/>
          <p:cNvSpPr txBox="1"/>
          <p:nvPr/>
        </p:nvSpPr>
        <p:spPr>
          <a:xfrm>
            <a:off x="6583680" y="2304288"/>
            <a:ext cx="5029200" cy="4114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FNR gap, men − women: shared by all three models (feature set)</a:t>
            </a:r>
          </a:p>
        </p:txBody>
      </p:sp>
      <p:sp>
        <p:nvSpPr>
          <p:cNvPr id="11" name="TextBox 10"/>
          <p:cNvSpPr txBox="1"/>
          <p:nvPr/>
        </p:nvSpPr>
        <p:spPr>
          <a:xfrm>
            <a:off x="6583680" y="2743200"/>
            <a:ext cx="5029200" cy="365760"/>
          </a:xfrm>
          <a:prstGeom prst="rect">
            <a:avLst/>
          </a:prstGeom>
          <a:noFill/>
        </p:spPr>
        <p:txBody>
          <a:bodyPr wrap="square" anchor="t" lIns="0" rIns="0" tIns="0" bIns="0">
            <a:spAutoFit/>
          </a:bodyPr>
          <a:lstStyle/>
          <a:p>
            <a:pPr algn="l">
              <a:spcAft>
                <a:spcPts val="600"/>
              </a:spcAft>
            </a:pPr>
            <a:r>
              <a:rPr sz="1900" b="1" i="0">
                <a:solidFill>
                  <a:srgbClr val="24506E"/>
                </a:solidFill>
                <a:latin typeface="Calibri"/>
              </a:rPr>
              <a:t>0.55 / 0.52 / 0.49</a:t>
            </a:r>
          </a:p>
        </p:txBody>
      </p:sp>
      <p:sp>
        <p:nvSpPr>
          <p:cNvPr id="12" name="TextBox 11"/>
          <p:cNvSpPr txBox="1"/>
          <p:nvPr/>
        </p:nvSpPr>
        <p:spPr>
          <a:xfrm>
            <a:off x="6583680" y="3108960"/>
            <a:ext cx="5029200" cy="4114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selection-rate ratio women : men — about half</a:t>
            </a:r>
          </a:p>
        </p:txBody>
      </p:sp>
      <p:sp>
        <p:nvSpPr>
          <p:cNvPr id="13" name="TextBox 12"/>
          <p:cNvSpPr txBox="1"/>
          <p:nvPr/>
        </p:nvSpPr>
        <p:spPr>
          <a:xfrm>
            <a:off x="6583680" y="3547872"/>
            <a:ext cx="5029200" cy="365760"/>
          </a:xfrm>
          <a:prstGeom prst="rect">
            <a:avLst/>
          </a:prstGeom>
          <a:noFill/>
        </p:spPr>
        <p:txBody>
          <a:bodyPr wrap="square" anchor="t" lIns="0" rIns="0" tIns="0" bIns="0">
            <a:spAutoFit/>
          </a:bodyPr>
          <a:lstStyle/>
          <a:p>
            <a:pPr algn="l">
              <a:spcAft>
                <a:spcPts val="600"/>
              </a:spcAft>
            </a:pPr>
            <a:r>
              <a:rPr sz="1900" b="1" i="0">
                <a:solidFill>
                  <a:srgbClr val="1F7A70"/>
                </a:solidFill>
                <a:latin typeface="Calibri"/>
              </a:rPr>
              <a:t>0.52 vs 0.454</a:t>
            </a:r>
          </a:p>
        </p:txBody>
      </p:sp>
      <p:sp>
        <p:nvSpPr>
          <p:cNvPr id="14" name="TextBox 13"/>
          <p:cNvSpPr txBox="1"/>
          <p:nvPr/>
        </p:nvSpPr>
        <p:spPr>
          <a:xfrm>
            <a:off x="6583680" y="3913632"/>
            <a:ext cx="5029200" cy="4114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women's mean predicted score vs observed re-arrest rate</a:t>
            </a:r>
          </a:p>
        </p:txBody>
      </p:sp>
      <p:sp>
        <p:nvSpPr>
          <p:cNvPr id="15" name="Rounded Rectangle 14"/>
          <p:cNvSpPr/>
          <p:nvPr/>
        </p:nvSpPr>
        <p:spPr>
          <a:xfrm>
            <a:off x="548640" y="4526280"/>
            <a:ext cx="5440680" cy="1508760"/>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4672584"/>
            <a:ext cx="5038344" cy="274320"/>
          </a:xfrm>
          <a:prstGeom prst="rect">
            <a:avLst/>
          </a:prstGeom>
          <a:noFill/>
        </p:spPr>
        <p:txBody>
          <a:bodyPr wrap="square" anchor="t" lIns="0" rIns="0" tIns="0" bIns="0">
            <a:spAutoFit/>
          </a:bodyPr>
          <a:lstStyle/>
          <a:p>
            <a:pPr algn="l">
              <a:spcAft>
                <a:spcPts val="600"/>
              </a:spcAft>
            </a:pPr>
            <a:r>
              <a:rPr sz="1200" b="1" i="0">
                <a:solidFill>
                  <a:srgbClr val="24506E"/>
                </a:solidFill>
                <a:latin typeface="Calibri"/>
              </a:rPr>
              <a:t>IMPOSSIBILITY RESULT</a:t>
            </a:r>
          </a:p>
        </p:txBody>
      </p:sp>
      <p:sp>
        <p:nvSpPr>
          <p:cNvPr id="17" name="TextBox 16"/>
          <p:cNvSpPr txBox="1"/>
          <p:nvPr/>
        </p:nvSpPr>
        <p:spPr>
          <a:xfrm>
            <a:off x="749808" y="4983480"/>
            <a:ext cx="5038344" cy="941831"/>
          </a:xfrm>
          <a:prstGeom prst="rect">
            <a:avLst/>
          </a:prstGeom>
          <a:noFill/>
        </p:spPr>
        <p:txBody>
          <a:bodyPr wrap="square" anchor="t" lIns="0" rIns="0" tIns="0" bIns="0">
            <a:spAutoFit/>
          </a:bodyPr>
          <a:lstStyle/>
          <a:p>
            <a:pPr algn="l">
              <a:spcAft>
                <a:spcPts val="500"/>
              </a:spcAft>
            </a:pPr>
            <a:r>
              <a:rPr sz="1350" b="0" i="0">
                <a:solidFill>
                  <a:srgbClr val="1B2B3A"/>
                </a:solidFill>
                <a:latin typeface="Calibri"/>
              </a:rPr>
              <a:t>Base rates differ by ~14 pts (men </a:t>
            </a:r>
            <a:r>
              <a:rPr sz="1350" b="1" i="0">
                <a:solidFill>
                  <a:srgbClr val="1B2B3A"/>
                </a:solidFill>
                <a:latin typeface="Calibri"/>
              </a:rPr>
              <a:t>0.591</a:t>
            </a:r>
            <a:r>
              <a:rPr sz="1350" b="0" i="0">
                <a:solidFill>
                  <a:srgbClr val="1B2B3A"/>
                </a:solidFill>
                <a:latin typeface="Calibri"/>
              </a:rPr>
              <a:t>, women </a:t>
            </a:r>
            <a:r>
              <a:rPr sz="1350" b="1" i="0">
                <a:solidFill>
                  <a:srgbClr val="1B2B3A"/>
                </a:solidFill>
                <a:latin typeface="Calibri"/>
              </a:rPr>
              <a:t>0.454</a:t>
            </a:r>
            <a:r>
              <a:rPr sz="1350" b="0" i="0">
                <a:solidFill>
                  <a:srgbClr val="1B2B3A"/>
                </a:solidFill>
                <a:latin typeface="Calibri"/>
              </a:rPr>
              <a:t>): calibration and equal error rates </a:t>
            </a:r>
            <a:r>
              <a:rPr sz="1350" b="1" i="0">
                <a:solidFill>
                  <a:srgbClr val="1B2B3A"/>
                </a:solidFill>
                <a:latin typeface="Calibri"/>
              </a:rPr>
              <a:t>cannot both hold</a:t>
            </a:r>
            <a:r>
              <a:rPr sz="1350" b="0" i="0">
                <a:solidFill>
                  <a:srgbClr val="1B2B3A"/>
                </a:solidFill>
                <a:latin typeface="Calibri"/>
              </a:rPr>
              <a:t>.</a:t>
            </a:r>
          </a:p>
        </p:txBody>
      </p:sp>
      <p:sp>
        <p:nvSpPr>
          <p:cNvPr id="18" name="Rounded Rectangle 17"/>
          <p:cNvSpPr/>
          <p:nvPr/>
        </p:nvSpPr>
        <p:spPr>
          <a:xfrm>
            <a:off x="6199631" y="4526280"/>
            <a:ext cx="5440680" cy="150876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799" y="4672584"/>
            <a:ext cx="5038344" cy="274320"/>
          </a:xfrm>
          <a:prstGeom prst="rect">
            <a:avLst/>
          </a:prstGeom>
          <a:noFill/>
        </p:spPr>
        <p:txBody>
          <a:bodyPr wrap="square" anchor="t" lIns="0" rIns="0" tIns="0" bIns="0">
            <a:spAutoFit/>
          </a:bodyPr>
          <a:lstStyle/>
          <a:p>
            <a:pPr algn="l">
              <a:spcAft>
                <a:spcPts val="600"/>
              </a:spcAft>
            </a:pPr>
            <a:r>
              <a:rPr sz="1200" b="1" i="0">
                <a:solidFill>
                  <a:srgbClr val="D9573A"/>
                </a:solidFill>
                <a:latin typeface="Calibri"/>
              </a:rPr>
              <a:t>OVER-PREDICTION HELPS WOMEN HERE</a:t>
            </a:r>
          </a:p>
        </p:txBody>
      </p:sp>
      <p:sp>
        <p:nvSpPr>
          <p:cNvPr id="20" name="TextBox 19"/>
          <p:cNvSpPr txBox="1"/>
          <p:nvPr/>
        </p:nvSpPr>
        <p:spPr>
          <a:xfrm>
            <a:off x="6400799" y="4983480"/>
            <a:ext cx="5038344" cy="941831"/>
          </a:xfrm>
          <a:prstGeom prst="rect">
            <a:avLst/>
          </a:prstGeom>
          <a:noFill/>
        </p:spPr>
        <p:txBody>
          <a:bodyPr wrap="square" anchor="t" lIns="0" rIns="0" tIns="0" bIns="0">
            <a:spAutoFit/>
          </a:bodyPr>
          <a:lstStyle/>
          <a:p>
            <a:pPr algn="l">
              <a:spcAft>
                <a:spcPts val="500"/>
              </a:spcAft>
            </a:pPr>
            <a:r>
              <a:rPr sz="1350" b="0" i="0">
                <a:solidFill>
                  <a:srgbClr val="1B2B3A"/>
                </a:solidFill>
                <a:latin typeface="Calibri"/>
              </a:rPr>
              <a:t>Recalibrating by gender would lower their scores, select fewer women and </a:t>
            </a:r>
            <a:r>
              <a:rPr sz="1350" b="1" i="0">
                <a:solidFill>
                  <a:srgbClr val="1B2B3A"/>
                </a:solidFill>
                <a:latin typeface="Calibri"/>
              </a:rPr>
              <a:t>widen</a:t>
            </a:r>
            <a:r>
              <a:rPr sz="1350" b="0" i="0">
                <a:solidFill>
                  <a:srgbClr val="1B2B3A"/>
                </a:solidFill>
                <a:latin typeface="Calibri"/>
              </a:rPr>
              <a:t> the FNR gap. (Cf. State v. Loomis.)</a:t>
            </a:r>
          </a:p>
        </p:txBody>
      </p:sp>
      <p:sp>
        <p:nvSpPr>
          <p:cNvPr id="21" name="TextBox 20"/>
          <p:cNvSpPr txBox="1"/>
          <p:nvPr/>
        </p:nvSpPr>
        <p:spPr>
          <a:xfrm>
            <a:off x="548640" y="6144768"/>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fairness_impossibility.csv · fairness_inference.csv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FAIRNESS · GENDER</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1" i="0">
                <a:solidFill>
                  <a:srgbClr val="D9573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Gender (2): cause found, mitigated, validated out of sample</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16</a:t>
            </a:r>
          </a:p>
        </p:txBody>
      </p:sp>
      <p:pic>
        <p:nvPicPr>
          <p:cNvPr id="7" name="Picture 6" descr="fpdp_gender_focus.png"/>
          <p:cNvPicPr>
            <a:picLocks noChangeAspect="1"/>
          </p:cNvPicPr>
          <p:nvPr/>
        </p:nvPicPr>
        <p:blipFill>
          <a:blip r:embed="rId2"/>
          <a:stretch>
            <a:fillRect/>
          </a:stretch>
        </p:blipFill>
        <p:spPr>
          <a:xfrm>
            <a:off x="548640" y="1560873"/>
            <a:ext cx="7498079" cy="2364653"/>
          </a:xfrm>
          <a:prstGeom prst="rect">
            <a:avLst/>
          </a:prstGeom>
        </p:spPr>
      </p:pic>
      <p:sp>
        <p:nvSpPr>
          <p:cNvPr id="8" name="Rounded Rectangle 7"/>
          <p:cNvSpPr/>
          <p:nvPr/>
        </p:nvSpPr>
        <p:spPr>
          <a:xfrm>
            <a:off x="8321040" y="1600200"/>
            <a:ext cx="3319272" cy="228600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22208" y="1746504"/>
            <a:ext cx="2916936" cy="274320"/>
          </a:xfrm>
          <a:prstGeom prst="rect">
            <a:avLst/>
          </a:prstGeom>
          <a:noFill/>
        </p:spPr>
        <p:txBody>
          <a:bodyPr wrap="square" anchor="t" lIns="0" rIns="0" tIns="0" bIns="0">
            <a:spAutoFit/>
          </a:bodyPr>
          <a:lstStyle/>
          <a:p>
            <a:pPr algn="l">
              <a:spcAft>
                <a:spcPts val="600"/>
              </a:spcAft>
            </a:pPr>
            <a:r>
              <a:rPr sz="1200" b="1" i="0">
                <a:solidFill>
                  <a:srgbClr val="D9573A"/>
                </a:solidFill>
                <a:latin typeface="Calibri"/>
              </a:rPr>
              <a:t>FPDP → GANG_AFFILIATED</a:t>
            </a:r>
          </a:p>
        </p:txBody>
      </p:sp>
      <p:sp>
        <p:nvSpPr>
          <p:cNvPr id="10" name="TextBox 9"/>
          <p:cNvSpPr txBox="1"/>
          <p:nvPr/>
        </p:nvSpPr>
        <p:spPr>
          <a:xfrm>
            <a:off x="8522208" y="2057400"/>
            <a:ext cx="2916936" cy="1719072"/>
          </a:xfrm>
          <a:prstGeom prst="rect">
            <a:avLst/>
          </a:prstGeom>
          <a:noFill/>
        </p:spPr>
        <p:txBody>
          <a:bodyPr wrap="square" anchor="t" lIns="0" rIns="0" tIns="0" bIns="0">
            <a:spAutoFit/>
          </a:bodyPr>
          <a:lstStyle/>
          <a:p>
            <a:pPr algn="l">
              <a:spcAft>
                <a:spcPts val="500"/>
              </a:spcAft>
            </a:pPr>
            <a:r>
              <a:rPr sz="1300" b="0" i="0">
                <a:solidFill>
                  <a:srgbClr val="1B2B3A"/>
                </a:solidFill>
                <a:latin typeface="Calibri"/>
              </a:rPr>
              <a:t>Never recorded for women; raw field has </a:t>
            </a:r>
            <a:r>
              <a:rPr sz="1300" b="1" i="0">
                <a:solidFill>
                  <a:srgbClr val="1B2B3A"/>
                </a:solidFill>
                <a:latin typeface="Calibri"/>
              </a:rPr>
              <a:t>Cramér's V = 1.0</a:t>
            </a:r>
            <a:r>
              <a:rPr sz="1300" b="0" i="0">
                <a:solidFill>
                  <a:srgbClr val="1B2B3A"/>
                </a:solidFill>
                <a:latin typeface="Calibri"/>
              </a:rPr>
              <a:t> with gender. It reflects record-keeping, not behaviour.</a:t>
            </a:r>
          </a:p>
        </p:txBody>
      </p:sp>
      <p:sp>
        <p:nvSpPr>
          <p:cNvPr id="11" name="TextBox 10"/>
          <p:cNvSpPr txBox="1"/>
          <p:nvPr/>
        </p:nvSpPr>
        <p:spPr>
          <a:xfrm>
            <a:off x="548640" y="4114800"/>
            <a:ext cx="5943600" cy="274320"/>
          </a:xfrm>
          <a:prstGeom prst="rect">
            <a:avLst/>
          </a:prstGeom>
          <a:noFill/>
        </p:spPr>
        <p:txBody>
          <a:bodyPr wrap="square" anchor="t" lIns="0" rIns="0" tIns="0" bIns="0">
            <a:spAutoFit/>
          </a:bodyPr>
          <a:lstStyle/>
          <a:p>
            <a:pPr algn="l">
              <a:spcAft>
                <a:spcPts val="600"/>
              </a:spcAft>
            </a:pPr>
            <a:r>
              <a:rPr sz="1150" b="1" i="0">
                <a:solidFill>
                  <a:srgbClr val="24506E"/>
                </a:solidFill>
                <a:latin typeface="Calibri"/>
              </a:rPr>
              <a:t>MITIGATION: DROP THE FIELD, REFIT  ·  5-FOLD NESTED, OUT-OF-FOLD</a:t>
            </a:r>
          </a:p>
        </p:txBody>
      </p:sp>
      <p:graphicFrame>
        <p:nvGraphicFramePr>
          <p:cNvPr id="12" name="Table 11"/>
          <p:cNvGraphicFramePr>
            <a:graphicFrameLocks noGrp="1"/>
          </p:cNvGraphicFramePr>
          <p:nvPr/>
        </p:nvGraphicFramePr>
        <p:xfrm>
          <a:off x="548640" y="4434840"/>
          <a:ext cx="6035040" cy="1152144"/>
        </p:xfrm>
        <a:graphic>
          <a:graphicData uri="http://schemas.openxmlformats.org/drawingml/2006/table">
            <a:tbl>
              <a:tblPr firstRow="0" bandRow="0">
                <a:tableStyleId>{5C22544A-7EE6-4342-B048-85BDC9FD1C3A}</a:tableStyleId>
              </a:tblPr>
              <a:tblGrid>
                <a:gridCol w="1371600"/>
                <a:gridCol w="3200400"/>
                <a:gridCol w="1463040"/>
              </a:tblGrid>
              <a:tr h="384048">
                <a:tc>
                  <a:txBody>
                    <a:bodyPr/>
                    <a:lstStyle/>
                    <a:p>
                      <a:pPr algn="l"/>
                      <a:r>
                        <a:rPr sz="1350" b="1" i="0">
                          <a:solidFill>
                            <a:srgbClr val="FFFFFF"/>
                          </a:solidFill>
                          <a:latin typeface="Calibri"/>
                        </a:rPr>
                        <a:t>Model</a:t>
                      </a:r>
                    </a:p>
                  </a:txBody>
                  <a:tcPr marL="91440" marR="91440" marT="27432" marB="27432" anchor="ctr">
                    <a:solidFill>
                      <a:srgbClr val="24506E"/>
                    </a:solidFill>
                  </a:tcPr>
                </a:tc>
                <a:tc>
                  <a:txBody>
                    <a:bodyPr/>
                    <a:lstStyle/>
                    <a:p>
                      <a:pPr algn="r"/>
                      <a:r>
                        <a:rPr sz="1350" b="1" i="0">
                          <a:solidFill>
                            <a:srgbClr val="FFFFFF"/>
                          </a:solidFill>
                          <a:latin typeface="Calibri"/>
                        </a:rPr>
                        <a:t>Gender FNR gap (before → after)</a:t>
                      </a:r>
                    </a:p>
                  </a:txBody>
                  <a:tcPr marL="91440" marR="91440" marT="27432" marB="27432" anchor="ctr">
                    <a:solidFill>
                      <a:srgbClr val="24506E"/>
                    </a:solidFill>
                  </a:tcPr>
                </a:tc>
                <a:tc>
                  <a:txBody>
                    <a:bodyPr/>
                    <a:lstStyle/>
                    <a:p>
                      <a:pPr algn="r"/>
                      <a:r>
                        <a:rPr sz="1350" b="1" i="0">
                          <a:solidFill>
                            <a:srgbClr val="FFFFFF"/>
                          </a:solidFill>
                          <a:latin typeface="Calibri"/>
                        </a:rPr>
                        <a:t>AUC cost</a:t>
                      </a:r>
                    </a:p>
                  </a:txBody>
                  <a:tcPr marL="91440" marR="91440" marT="27432" marB="27432" anchor="ctr">
                    <a:solidFill>
                      <a:srgbClr val="24506E"/>
                    </a:solidFill>
                  </a:tcPr>
                </a:tc>
              </a:tr>
              <a:tr h="384048">
                <a:tc>
                  <a:txBody>
                    <a:bodyPr/>
                    <a:lstStyle/>
                    <a:p>
                      <a:pPr algn="l"/>
                      <a:r>
                        <a:rPr sz="1350" b="1" i="0">
                          <a:solidFill>
                            <a:srgbClr val="1B2B3A"/>
                          </a:solidFill>
                          <a:latin typeface="Calibri"/>
                        </a:rPr>
                        <a:t>Logistic</a:t>
                      </a:r>
                    </a:p>
                  </a:txBody>
                  <a:tcPr marL="91440" marR="91440" marT="27432" marB="27432" anchor="ctr">
                    <a:solidFill>
                      <a:srgbClr val="FFFFFF"/>
                    </a:solidFill>
                  </a:tcPr>
                </a:tc>
                <a:tc>
                  <a:txBody>
                    <a:bodyPr/>
                    <a:lstStyle/>
                    <a:p>
                      <a:pPr algn="r"/>
                      <a:r>
                        <a:rPr sz="1350" b="0" i="0">
                          <a:solidFill>
                            <a:srgbClr val="1B2B3A"/>
                          </a:solidFill>
                          <a:latin typeface="Calibri"/>
                        </a:rPr>
                        <a:t>−0.118 → −0.035</a:t>
                      </a:r>
                    </a:p>
                  </a:txBody>
                  <a:tcPr marL="91440" marR="91440" marT="27432" marB="27432" anchor="ctr">
                    <a:solidFill>
                      <a:srgbClr val="FFFFFF"/>
                    </a:solidFill>
                  </a:tcPr>
                </a:tc>
                <a:tc>
                  <a:txBody>
                    <a:bodyPr/>
                    <a:lstStyle/>
                    <a:p>
                      <a:pPr algn="r"/>
                      <a:r>
                        <a:rPr sz="1350" b="0" i="0">
                          <a:solidFill>
                            <a:srgbClr val="1B2B3A"/>
                          </a:solidFill>
                          <a:latin typeface="Calibri"/>
                        </a:rPr>
                        <a:t>−0.010</a:t>
                      </a:r>
                    </a:p>
                  </a:txBody>
                  <a:tcPr marL="91440" marR="91440" marT="27432" marB="27432" anchor="ctr">
                    <a:solidFill>
                      <a:srgbClr val="FFFFFF"/>
                    </a:solidFill>
                  </a:tcPr>
                </a:tc>
              </a:tr>
              <a:tr h="384048">
                <a:tc>
                  <a:txBody>
                    <a:bodyPr/>
                    <a:lstStyle/>
                    <a:p>
                      <a:pPr algn="l"/>
                      <a:r>
                        <a:rPr sz="1350" b="1" i="0">
                          <a:solidFill>
                            <a:srgbClr val="1B2B3A"/>
                          </a:solidFill>
                          <a:latin typeface="Calibri"/>
                        </a:rPr>
                        <a:t>XGBoost</a:t>
                      </a:r>
                    </a:p>
                  </a:txBody>
                  <a:tcPr marL="91440" marR="91440" marT="27432" marB="27432" anchor="ctr">
                    <a:solidFill>
                      <a:srgbClr val="F1F5F8"/>
                    </a:solidFill>
                  </a:tcPr>
                </a:tc>
                <a:tc>
                  <a:txBody>
                    <a:bodyPr/>
                    <a:lstStyle/>
                    <a:p>
                      <a:pPr algn="r"/>
                      <a:r>
                        <a:rPr sz="1350" b="0" i="0">
                          <a:solidFill>
                            <a:srgbClr val="1B2B3A"/>
                          </a:solidFill>
                          <a:latin typeface="Calibri"/>
                        </a:rPr>
                        <a:t>−0.127 → −0.034</a:t>
                      </a:r>
                    </a:p>
                  </a:txBody>
                  <a:tcPr marL="91440" marR="91440" marT="27432" marB="27432" anchor="ctr">
                    <a:solidFill>
                      <a:srgbClr val="F1F5F8"/>
                    </a:solidFill>
                  </a:tcPr>
                </a:tc>
                <a:tc>
                  <a:txBody>
                    <a:bodyPr/>
                    <a:lstStyle/>
                    <a:p>
                      <a:pPr algn="r"/>
                      <a:r>
                        <a:rPr sz="1350" b="0" i="0">
                          <a:solidFill>
                            <a:srgbClr val="1B2B3A"/>
                          </a:solidFill>
                          <a:latin typeface="Calibri"/>
                        </a:rPr>
                        <a:t>−0.009</a:t>
                      </a:r>
                    </a:p>
                  </a:txBody>
                  <a:tcPr marL="91440" marR="91440" marT="27432" marB="27432" anchor="ctr">
                    <a:solidFill>
                      <a:srgbClr val="F1F5F8"/>
                    </a:solidFill>
                  </a:tcPr>
                </a:tc>
              </a:tr>
            </a:tbl>
          </a:graphicData>
        </a:graphic>
      </p:graphicFrame>
      <p:sp>
        <p:nvSpPr>
          <p:cNvPr id="13" name="Rounded Rectangle 12"/>
          <p:cNvSpPr/>
          <p:nvPr/>
        </p:nvSpPr>
        <p:spPr>
          <a:xfrm>
            <a:off x="6812280" y="4114800"/>
            <a:ext cx="2148840" cy="192024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95160" y="4242816"/>
            <a:ext cx="1783080" cy="566928"/>
          </a:xfrm>
          <a:prstGeom prst="rect">
            <a:avLst/>
          </a:prstGeom>
          <a:noFill/>
        </p:spPr>
        <p:txBody>
          <a:bodyPr wrap="square" anchor="t" lIns="0" rIns="0" tIns="0" bIns="0">
            <a:spAutoFit/>
          </a:bodyPr>
          <a:lstStyle/>
          <a:p>
            <a:pPr algn="l">
              <a:spcAft>
                <a:spcPts val="600"/>
              </a:spcAft>
            </a:pPr>
            <a:r>
              <a:rPr sz="3200" b="1" i="0">
                <a:solidFill>
                  <a:srgbClr val="1F7A70"/>
                </a:solidFill>
                <a:latin typeface="Calibri"/>
              </a:rPr>
              <a:t>≈70%</a:t>
            </a:r>
          </a:p>
        </p:txBody>
      </p:sp>
      <p:sp>
        <p:nvSpPr>
          <p:cNvPr id="15" name="TextBox 14"/>
          <p:cNvSpPr txBox="1"/>
          <p:nvPr/>
        </p:nvSpPr>
        <p:spPr>
          <a:xfrm>
            <a:off x="6995160" y="4750815"/>
            <a:ext cx="1783080"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of the gap closed;
same field chosen in every fold</a:t>
            </a:r>
          </a:p>
        </p:txBody>
      </p:sp>
      <p:sp>
        <p:nvSpPr>
          <p:cNvPr id="16" name="Rounded Rectangle 15"/>
          <p:cNvSpPr/>
          <p:nvPr/>
        </p:nvSpPr>
        <p:spPr>
          <a:xfrm>
            <a:off x="9144000" y="4114800"/>
            <a:ext cx="2496312" cy="192024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45168" y="4261104"/>
            <a:ext cx="2093976" cy="274320"/>
          </a:xfrm>
          <a:prstGeom prst="rect">
            <a:avLst/>
          </a:prstGeom>
          <a:noFill/>
        </p:spPr>
        <p:txBody>
          <a:bodyPr wrap="square" anchor="t" lIns="0" rIns="0" tIns="0" bIns="0">
            <a:spAutoFit/>
          </a:bodyPr>
          <a:lstStyle/>
          <a:p>
            <a:pPr algn="l">
              <a:spcAft>
                <a:spcPts val="600"/>
              </a:spcAft>
            </a:pPr>
            <a:r>
              <a:rPr sz="1200" b="1" i="0">
                <a:solidFill>
                  <a:srgbClr val="24506E"/>
                </a:solidFill>
                <a:latin typeface="Calibri"/>
              </a:rPr>
              <a:t>COSTS · DECISION</a:t>
            </a:r>
          </a:p>
        </p:txBody>
      </p:sp>
      <p:sp>
        <p:nvSpPr>
          <p:cNvPr id="18" name="TextBox 17"/>
          <p:cNvSpPr txBox="1"/>
          <p:nvPr/>
        </p:nvSpPr>
        <p:spPr>
          <a:xfrm>
            <a:off x="9345168" y="4572000"/>
            <a:ext cx="2093976" cy="1353312"/>
          </a:xfrm>
          <a:prstGeom prst="rect">
            <a:avLst/>
          </a:prstGeom>
          <a:noFill/>
        </p:spPr>
        <p:txBody>
          <a:bodyPr wrap="square" anchor="t" lIns="0" rIns="0" tIns="0" bIns="0">
            <a:spAutoFit/>
          </a:bodyPr>
          <a:lstStyle/>
          <a:p>
            <a:pPr algn="l" marL="182880" indent="-182880">
              <a:spcAft>
                <a:spcPts val="300"/>
              </a:spcAft>
              <a:buClr>
                <a:srgbClr val="24506E"/>
              </a:buClr>
              <a:buFont typeface="Arial"/>
              <a:buChar char="•"/>
            </a:pPr>
            <a:r>
              <a:rPr sz="1200" b="0" i="0">
                <a:solidFill>
                  <a:srgbClr val="1B2B3A"/>
                </a:solidFill>
                <a:latin typeface="Calibri"/>
              </a:rPr>
              <a:t>Men's FNR +2 pts (partly levelling down).</a:t>
            </a:r>
          </a:p>
          <a:p>
            <a:pPr algn="l" marL="182880" indent="-182880">
              <a:spcAft>
                <a:spcPts val="300"/>
              </a:spcAft>
              <a:buClr>
                <a:srgbClr val="24506E"/>
              </a:buClr>
              <a:buFont typeface="Arial"/>
              <a:buChar char="•"/>
            </a:pPr>
            <a:r>
              <a:rPr sz="1200" b="0" i="0">
                <a:solidFill>
                  <a:srgbClr val="1B2B3A"/>
                </a:solidFill>
                <a:latin typeface="Calibri"/>
              </a:rPr>
              <a:t>Proposed as a </a:t>
            </a:r>
            <a:r>
              <a:rPr sz="1200" b="1" i="0">
                <a:solidFill>
                  <a:srgbClr val="1B2B3A"/>
                </a:solidFill>
                <a:latin typeface="Calibri"/>
              </a:rPr>
              <a:t>second pilot arm</a:t>
            </a:r>
            <a:r>
              <a:rPr sz="1200" b="0" i="0">
                <a:solidFill>
                  <a:srgbClr val="1B2B3A"/>
                </a:solidFill>
                <a:latin typeface="Calibri"/>
              </a:rPr>
              <a:t> (A11).</a:t>
            </a:r>
          </a:p>
        </p:txBody>
      </p:sp>
      <p:sp>
        <p:nvSpPr>
          <p:cNvPr id="19" name="TextBox 18"/>
          <p:cNvSpPr txBox="1"/>
          <p:nvPr/>
        </p:nvSpPr>
        <p:spPr>
          <a:xfrm>
            <a:off x="548640" y="6144768"/>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fpdp_gender.png · mitigation_nested_summary.csv · fairness_mitigation.csv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STABILITY · STRUCTURAL</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1" i="0">
                <a:solidFill>
                  <a:srgbClr val="D9573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Structural stability: 8 bootstrap refits</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17</a:t>
            </a:r>
          </a:p>
        </p:txBody>
      </p:sp>
      <p:graphicFrame>
        <p:nvGraphicFramePr>
          <p:cNvPr id="7" name="Table 6"/>
          <p:cNvGraphicFramePr>
            <a:graphicFrameLocks noGrp="1"/>
          </p:cNvGraphicFramePr>
          <p:nvPr/>
        </p:nvGraphicFramePr>
        <p:xfrm>
          <a:off x="548640" y="1645920"/>
          <a:ext cx="5852160" cy="1463040"/>
        </p:xfrm>
        <a:graphic>
          <a:graphicData uri="http://schemas.openxmlformats.org/drawingml/2006/table">
            <a:tbl>
              <a:tblPr firstRow="0" bandRow="0">
                <a:tableStyleId>{5C22544A-7EE6-4342-B048-85BDC9FD1C3A}</a:tableStyleId>
              </a:tblPr>
              <a:tblGrid>
                <a:gridCol w="1645920"/>
                <a:gridCol w="2377440"/>
                <a:gridCol w="1828800"/>
              </a:tblGrid>
              <a:tr h="365760">
                <a:tc>
                  <a:txBody>
                    <a:bodyPr/>
                    <a:lstStyle/>
                    <a:p>
                      <a:pPr algn="l"/>
                      <a:r>
                        <a:rPr sz="1350" b="1" i="0">
                          <a:solidFill>
                            <a:srgbClr val="FFFFFF"/>
                          </a:solidFill>
                          <a:latin typeface="Calibri"/>
                        </a:rPr>
                        <a:t>Model</a:t>
                      </a:r>
                    </a:p>
                  </a:txBody>
                  <a:tcPr marL="91440" marR="91440" marT="27432" marB="27432" anchor="ctr">
                    <a:solidFill>
                      <a:srgbClr val="24506E"/>
                    </a:solidFill>
                  </a:tcPr>
                </a:tc>
                <a:tc>
                  <a:txBody>
                    <a:bodyPr/>
                    <a:lstStyle/>
                    <a:p>
                      <a:pPr algn="r"/>
                      <a:r>
                        <a:rPr sz="1350" b="1" i="0">
                          <a:solidFill>
                            <a:srgbClr val="FFFFFF"/>
                          </a:solidFill>
                          <a:latin typeface="Calibri"/>
                        </a:rPr>
                        <a:t>Mean |Δp| between refits</a:t>
                      </a:r>
                    </a:p>
                  </a:txBody>
                  <a:tcPr marL="91440" marR="91440" marT="27432" marB="27432" anchor="ctr">
                    <a:solidFill>
                      <a:srgbClr val="24506E"/>
                    </a:solidFill>
                  </a:tcPr>
                </a:tc>
                <a:tc>
                  <a:txBody>
                    <a:bodyPr/>
                    <a:lstStyle/>
                    <a:p>
                      <a:pPr algn="r"/>
                      <a:r>
                        <a:rPr sz="1350" b="1" i="0">
                          <a:solidFill>
                            <a:srgbClr val="FFFFFF"/>
                          </a:solidFill>
                          <a:latin typeface="Calibri"/>
                        </a:rPr>
                        <a:t>Top-20% Jaccard</a:t>
                      </a:r>
                    </a:p>
                  </a:txBody>
                  <a:tcPr marL="91440" marR="91440" marT="27432" marB="27432" anchor="ctr">
                    <a:solidFill>
                      <a:srgbClr val="24506E"/>
                    </a:solidFill>
                  </a:tcPr>
                </a:tc>
              </a:tr>
              <a:tr h="365760">
                <a:tc>
                  <a:txBody>
                    <a:bodyPr/>
                    <a:lstStyle/>
                    <a:p>
                      <a:pPr algn="l"/>
                      <a:r>
                        <a:rPr sz="1350" b="1" i="0">
                          <a:solidFill>
                            <a:srgbClr val="1B2B3A"/>
                          </a:solidFill>
                          <a:latin typeface="Calibri"/>
                        </a:rPr>
                        <a:t>Logistic</a:t>
                      </a:r>
                    </a:p>
                  </a:txBody>
                  <a:tcPr marL="91440" marR="91440" marT="27432" marB="27432" anchor="ctr">
                    <a:solidFill>
                      <a:srgbClr val="E6F2F0"/>
                    </a:solidFill>
                  </a:tcPr>
                </a:tc>
                <a:tc>
                  <a:txBody>
                    <a:bodyPr/>
                    <a:lstStyle/>
                    <a:p>
                      <a:pPr algn="r"/>
                      <a:r>
                        <a:rPr sz="1350" b="0" i="0">
                          <a:solidFill>
                            <a:srgbClr val="1B2B3A"/>
                          </a:solidFill>
                          <a:latin typeface="Calibri"/>
                        </a:rPr>
                        <a:t>0.032</a:t>
                      </a:r>
                    </a:p>
                  </a:txBody>
                  <a:tcPr marL="91440" marR="91440" marT="27432" marB="27432" anchor="ctr">
                    <a:solidFill>
                      <a:srgbClr val="E6F2F0"/>
                    </a:solidFill>
                  </a:tcPr>
                </a:tc>
                <a:tc>
                  <a:txBody>
                    <a:bodyPr/>
                    <a:lstStyle/>
                    <a:p>
                      <a:pPr algn="r"/>
                      <a:r>
                        <a:rPr sz="1350" b="0" i="0">
                          <a:solidFill>
                            <a:srgbClr val="1B2B3A"/>
                          </a:solidFill>
                          <a:latin typeface="Calibri"/>
                        </a:rPr>
                        <a:t>0.77</a:t>
                      </a:r>
                    </a:p>
                  </a:txBody>
                  <a:tcPr marL="91440" marR="91440" marT="27432" marB="27432" anchor="ctr">
                    <a:solidFill>
                      <a:srgbClr val="E6F2F0"/>
                    </a:solidFill>
                  </a:tcPr>
                </a:tc>
              </a:tr>
              <a:tr h="365760">
                <a:tc>
                  <a:txBody>
                    <a:bodyPr/>
                    <a:lstStyle/>
                    <a:p>
                      <a:pPr algn="l"/>
                      <a:r>
                        <a:rPr sz="1350" b="1" i="0">
                          <a:solidFill>
                            <a:srgbClr val="1B2B3A"/>
                          </a:solidFill>
                          <a:latin typeface="Calibri"/>
                        </a:rPr>
                        <a:t>XGBoost</a:t>
                      </a:r>
                    </a:p>
                  </a:txBody>
                  <a:tcPr marL="91440" marR="91440" marT="27432" marB="27432" anchor="ctr">
                    <a:solidFill>
                      <a:srgbClr val="F1F5F8"/>
                    </a:solidFill>
                  </a:tcPr>
                </a:tc>
                <a:tc>
                  <a:txBody>
                    <a:bodyPr/>
                    <a:lstStyle/>
                    <a:p>
                      <a:pPr algn="r"/>
                      <a:r>
                        <a:rPr sz="1350" b="0" i="0">
                          <a:solidFill>
                            <a:srgbClr val="1B2B3A"/>
                          </a:solidFill>
                          <a:latin typeface="Calibri"/>
                        </a:rPr>
                        <a:t>0.035</a:t>
                      </a:r>
                    </a:p>
                  </a:txBody>
                  <a:tcPr marL="91440" marR="91440" marT="27432" marB="27432" anchor="ctr">
                    <a:solidFill>
                      <a:srgbClr val="F1F5F8"/>
                    </a:solidFill>
                  </a:tcPr>
                </a:tc>
                <a:tc>
                  <a:txBody>
                    <a:bodyPr/>
                    <a:lstStyle/>
                    <a:p>
                      <a:pPr algn="r"/>
                      <a:r>
                        <a:rPr sz="1350" b="0" i="0">
                          <a:solidFill>
                            <a:srgbClr val="1B2B3A"/>
                          </a:solidFill>
                          <a:latin typeface="Calibri"/>
                        </a:rPr>
                        <a:t>0.75</a:t>
                      </a:r>
                    </a:p>
                  </a:txBody>
                  <a:tcPr marL="91440" marR="91440" marT="27432" marB="27432" anchor="ctr">
                    <a:solidFill>
                      <a:srgbClr val="F1F5F8"/>
                    </a:solidFill>
                  </a:tcPr>
                </a:tc>
              </a:tr>
              <a:tr h="365760">
                <a:tc>
                  <a:txBody>
                    <a:bodyPr/>
                    <a:lstStyle/>
                    <a:p>
                      <a:pPr algn="l"/>
                      <a:r>
                        <a:rPr sz="1350" b="1" i="0">
                          <a:solidFill>
                            <a:srgbClr val="1B2B3A"/>
                          </a:solidFill>
                          <a:latin typeface="Calibri"/>
                        </a:rPr>
                        <a:t>TabICLv2</a:t>
                      </a:r>
                    </a:p>
                  </a:txBody>
                  <a:tcPr marL="91440" marR="91440" marT="27432" marB="27432" anchor="ctr">
                    <a:solidFill>
                      <a:srgbClr val="FFFFFF"/>
                    </a:solidFill>
                  </a:tcPr>
                </a:tc>
                <a:tc>
                  <a:txBody>
                    <a:bodyPr/>
                    <a:lstStyle/>
                    <a:p>
                      <a:pPr algn="r"/>
                      <a:r>
                        <a:rPr sz="1350" b="0" i="0">
                          <a:solidFill>
                            <a:srgbClr val="1B2B3A"/>
                          </a:solidFill>
                          <a:latin typeface="Calibri"/>
                        </a:rPr>
                        <a:t>0.035</a:t>
                      </a:r>
                    </a:p>
                  </a:txBody>
                  <a:tcPr marL="91440" marR="91440" marT="27432" marB="27432" anchor="ctr">
                    <a:solidFill>
                      <a:srgbClr val="FFFFFF"/>
                    </a:solidFill>
                  </a:tcPr>
                </a:tc>
                <a:tc>
                  <a:txBody>
                    <a:bodyPr/>
                    <a:lstStyle/>
                    <a:p>
                      <a:pPr algn="r"/>
                      <a:r>
                        <a:rPr sz="1350" b="0" i="0">
                          <a:solidFill>
                            <a:srgbClr val="1B2B3A"/>
                          </a:solidFill>
                          <a:latin typeface="Calibri"/>
                        </a:rPr>
                        <a:t>0.78</a:t>
                      </a:r>
                    </a:p>
                  </a:txBody>
                  <a:tcPr marL="91440" marR="91440" marT="27432" marB="27432" anchor="ctr">
                    <a:solidFill>
                      <a:srgbClr val="FFFFFF"/>
                    </a:solidFill>
                  </a:tcPr>
                </a:tc>
              </a:tr>
            </a:tbl>
          </a:graphicData>
        </a:graphic>
      </p:graphicFrame>
      <p:sp>
        <p:nvSpPr>
          <p:cNvPr id="8" name="Rounded Rectangle 7"/>
          <p:cNvSpPr/>
          <p:nvPr/>
        </p:nvSpPr>
        <p:spPr>
          <a:xfrm>
            <a:off x="6675120" y="1645920"/>
            <a:ext cx="2377440" cy="1481328"/>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0" y="1773936"/>
            <a:ext cx="2011680" cy="566928"/>
          </a:xfrm>
          <a:prstGeom prst="rect">
            <a:avLst/>
          </a:prstGeom>
          <a:noFill/>
        </p:spPr>
        <p:txBody>
          <a:bodyPr wrap="square" anchor="t" lIns="0" rIns="0" tIns="0" bIns="0">
            <a:spAutoFit/>
          </a:bodyPr>
          <a:lstStyle/>
          <a:p>
            <a:pPr algn="l">
              <a:spcAft>
                <a:spcPts val="600"/>
              </a:spcAft>
            </a:pPr>
            <a:r>
              <a:rPr sz="3000" b="1" i="0">
                <a:solidFill>
                  <a:srgbClr val="24506E"/>
                </a:solidFill>
                <a:latin typeface="Calibri"/>
              </a:rPr>
              <a:t>13–15%</a:t>
            </a:r>
          </a:p>
        </p:txBody>
      </p:sp>
      <p:sp>
        <p:nvSpPr>
          <p:cNvPr id="10" name="TextBox 9"/>
          <p:cNvSpPr txBox="1"/>
          <p:nvPr/>
        </p:nvSpPr>
        <p:spPr>
          <a:xfrm>
            <a:off x="6858000" y="2250186"/>
            <a:ext cx="2011680" cy="640080"/>
          </a:xfrm>
          <a:prstGeom prst="rect">
            <a:avLst/>
          </a:prstGeom>
          <a:noFill/>
        </p:spPr>
        <p:txBody>
          <a:bodyPr wrap="square" anchor="t" lIns="0" rIns="0" tIns="0" bIns="0">
            <a:spAutoFit/>
          </a:bodyPr>
          <a:lstStyle/>
          <a:p>
            <a:pPr algn="l">
              <a:spcAft>
                <a:spcPts val="600"/>
              </a:spcAft>
            </a:pPr>
            <a:r>
              <a:rPr sz="1150" b="0" i="0">
                <a:solidFill>
                  <a:srgbClr val="5F6E7C"/>
                </a:solidFill>
                <a:latin typeface="Calibri"/>
              </a:rPr>
              <a:t>of selected people change between refits (not 23%)</a:t>
            </a:r>
          </a:p>
        </p:txBody>
      </p:sp>
      <p:sp>
        <p:nvSpPr>
          <p:cNvPr id="11" name="Rounded Rectangle 10"/>
          <p:cNvSpPr/>
          <p:nvPr/>
        </p:nvSpPr>
        <p:spPr>
          <a:xfrm>
            <a:off x="9262872" y="1645920"/>
            <a:ext cx="2377440" cy="1481328"/>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45752" y="1773936"/>
            <a:ext cx="2011680" cy="566928"/>
          </a:xfrm>
          <a:prstGeom prst="rect">
            <a:avLst/>
          </a:prstGeom>
          <a:noFill/>
        </p:spPr>
        <p:txBody>
          <a:bodyPr wrap="square" anchor="t" lIns="0" rIns="0" tIns="0" bIns="0">
            <a:spAutoFit/>
          </a:bodyPr>
          <a:lstStyle/>
          <a:p>
            <a:pPr algn="l">
              <a:spcAft>
                <a:spcPts val="600"/>
              </a:spcAft>
            </a:pPr>
            <a:r>
              <a:rPr sz="3000" b="1" i="0">
                <a:solidFill>
                  <a:srgbClr val="1F7A70"/>
                </a:solidFill>
                <a:latin typeface="Calibri"/>
              </a:rPr>
              <a:t>28 / 28</a:t>
            </a:r>
          </a:p>
        </p:txBody>
      </p:sp>
      <p:sp>
        <p:nvSpPr>
          <p:cNvPr id="13" name="TextBox 12"/>
          <p:cNvSpPr txBox="1"/>
          <p:nvPr/>
        </p:nvSpPr>
        <p:spPr>
          <a:xfrm>
            <a:off x="9445752" y="2250186"/>
            <a:ext cx="2011680" cy="640080"/>
          </a:xfrm>
          <a:prstGeom prst="rect">
            <a:avLst/>
          </a:prstGeom>
          <a:noFill/>
        </p:spPr>
        <p:txBody>
          <a:bodyPr wrap="square" anchor="t" lIns="0" rIns="0" tIns="0" bIns="0">
            <a:spAutoFit/>
          </a:bodyPr>
          <a:lstStyle/>
          <a:p>
            <a:pPr algn="l">
              <a:spcAft>
                <a:spcPts val="600"/>
              </a:spcAft>
            </a:pPr>
            <a:r>
              <a:rPr sz="1150" b="0" i="0">
                <a:solidFill>
                  <a:srgbClr val="5F6E7C"/>
                </a:solidFill>
                <a:latin typeface="Calibri"/>
              </a:rPr>
              <a:t>refit pairs where logistic is more stable than XGBoost</a:t>
            </a:r>
          </a:p>
        </p:txBody>
      </p:sp>
      <p:pic>
        <p:nvPicPr>
          <p:cNvPr id="14" name="Picture 13" descr="structural_stability.png"/>
          <p:cNvPicPr>
            <a:picLocks noChangeAspect="1"/>
          </p:cNvPicPr>
          <p:nvPr/>
        </p:nvPicPr>
        <p:blipFill>
          <a:blip r:embed="rId2"/>
          <a:stretch>
            <a:fillRect/>
          </a:stretch>
        </p:blipFill>
        <p:spPr>
          <a:xfrm>
            <a:off x="957859" y="3337560"/>
            <a:ext cx="10275976" cy="2697480"/>
          </a:xfrm>
          <a:prstGeom prst="rect">
            <a:avLst/>
          </a:prstGeom>
        </p:spPr>
      </p:pic>
      <p:sp>
        <p:nvSpPr>
          <p:cNvPr id="15" name="TextBox 14"/>
          <p:cNvSpPr txBox="1"/>
          <p:nvPr/>
        </p:nvSpPr>
        <p:spPr>
          <a:xfrm>
            <a:off x="548640" y="6144768"/>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structural_stability.png · stability_summary.csv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STABILITY · INDIVIDUAL</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1" i="0">
                <a:solidFill>
                  <a:srgbClr val="D9573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Stability for one person: abstaining is not fairness-neutral</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18</a:t>
            </a:r>
          </a:p>
        </p:txBody>
      </p:sp>
      <p:sp>
        <p:nvSpPr>
          <p:cNvPr id="7" name="Rounded Rectangle 6"/>
          <p:cNvSpPr/>
          <p:nvPr/>
        </p:nvSpPr>
        <p:spPr>
          <a:xfrm>
            <a:off x="548640" y="1645920"/>
            <a:ext cx="2602153" cy="1234440"/>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73936"/>
            <a:ext cx="2236393" cy="566928"/>
          </a:xfrm>
          <a:prstGeom prst="rect">
            <a:avLst/>
          </a:prstGeom>
          <a:noFill/>
        </p:spPr>
        <p:txBody>
          <a:bodyPr wrap="square" anchor="t" lIns="0" rIns="0" tIns="0" bIns="0">
            <a:spAutoFit/>
          </a:bodyPr>
          <a:lstStyle/>
          <a:p>
            <a:pPr algn="l">
              <a:spcAft>
                <a:spcPts val="600"/>
              </a:spcAft>
            </a:pPr>
            <a:r>
              <a:rPr sz="2400" b="1" i="0">
                <a:solidFill>
                  <a:srgbClr val="24506E"/>
                </a:solidFill>
                <a:latin typeface="Calibri"/>
              </a:rPr>
              <a:t>≈13%</a:t>
            </a:r>
          </a:p>
        </p:txBody>
      </p:sp>
      <p:sp>
        <p:nvSpPr>
          <p:cNvPr id="9" name="TextBox 8"/>
          <p:cNvSpPr txBox="1"/>
          <p:nvPr/>
        </p:nvSpPr>
        <p:spPr>
          <a:xfrm>
            <a:off x="731520" y="2154936"/>
            <a:ext cx="2236393"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of decisions flip between refits; 32% of selected sit at that margin</a:t>
            </a:r>
          </a:p>
        </p:txBody>
      </p:sp>
      <p:sp>
        <p:nvSpPr>
          <p:cNvPr id="10" name="Rounded Rectangle 9"/>
          <p:cNvSpPr/>
          <p:nvPr/>
        </p:nvSpPr>
        <p:spPr>
          <a:xfrm>
            <a:off x="3379393" y="1645920"/>
            <a:ext cx="2602153" cy="123444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2273" y="1773936"/>
            <a:ext cx="2236393" cy="566928"/>
          </a:xfrm>
          <a:prstGeom prst="rect">
            <a:avLst/>
          </a:prstGeom>
          <a:noFill/>
        </p:spPr>
        <p:txBody>
          <a:bodyPr wrap="square" anchor="t" lIns="0" rIns="0" tIns="0" bIns="0">
            <a:spAutoFit/>
          </a:bodyPr>
          <a:lstStyle/>
          <a:p>
            <a:pPr algn="l">
              <a:spcAft>
                <a:spcPts val="600"/>
              </a:spcAft>
            </a:pPr>
            <a:r>
              <a:rPr sz="2400" b="1" i="0">
                <a:solidFill>
                  <a:srgbClr val="1F7A70"/>
                </a:solidFill>
                <a:latin typeface="Calibri"/>
              </a:rPr>
              <a:t>0.822 → 0.846</a:t>
            </a:r>
          </a:p>
        </p:txBody>
      </p:sp>
      <p:sp>
        <p:nvSpPr>
          <p:cNvPr id="12" name="TextBox 11"/>
          <p:cNvSpPr txBox="1"/>
          <p:nvPr/>
        </p:nvSpPr>
        <p:spPr>
          <a:xfrm>
            <a:off x="3562273" y="2154936"/>
            <a:ext cx="2236393"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precision when keeping only unanimous decisions (8/8)</a:t>
            </a:r>
          </a:p>
        </p:txBody>
      </p:sp>
      <p:sp>
        <p:nvSpPr>
          <p:cNvPr id="13" name="Rounded Rectangle 12"/>
          <p:cNvSpPr/>
          <p:nvPr/>
        </p:nvSpPr>
        <p:spPr>
          <a:xfrm>
            <a:off x="6210147" y="1645920"/>
            <a:ext cx="2602153" cy="123444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93027" y="1773936"/>
            <a:ext cx="2236393" cy="566928"/>
          </a:xfrm>
          <a:prstGeom prst="rect">
            <a:avLst/>
          </a:prstGeom>
          <a:noFill/>
        </p:spPr>
        <p:txBody>
          <a:bodyPr wrap="square" anchor="t" lIns="0" rIns="0" tIns="0" bIns="0">
            <a:spAutoFit/>
          </a:bodyPr>
          <a:lstStyle/>
          <a:p>
            <a:pPr algn="l">
              <a:spcAft>
                <a:spcPts val="600"/>
              </a:spcAft>
            </a:pPr>
            <a:r>
              <a:rPr sz="2400" b="1" i="0">
                <a:solidFill>
                  <a:srgbClr val="D9573A"/>
                </a:solidFill>
                <a:latin typeface="Calibri"/>
              </a:rPr>
              <a:t>−0.090 → −0.119</a:t>
            </a:r>
          </a:p>
        </p:txBody>
      </p:sp>
      <p:sp>
        <p:nvSpPr>
          <p:cNvPr id="15" name="TextBox 14"/>
          <p:cNvSpPr txBox="1"/>
          <p:nvPr/>
        </p:nvSpPr>
        <p:spPr>
          <a:xfrm>
            <a:off x="6393027" y="2154936"/>
            <a:ext cx="2236393"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gender FNR gap: abstention widens it</a:t>
            </a:r>
          </a:p>
        </p:txBody>
      </p:sp>
      <p:sp>
        <p:nvSpPr>
          <p:cNvPr id="16" name="Rounded Rectangle 15"/>
          <p:cNvSpPr/>
          <p:nvPr/>
        </p:nvSpPr>
        <p:spPr>
          <a:xfrm>
            <a:off x="9040901" y="1645920"/>
            <a:ext cx="2602153" cy="123444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23781" y="1773936"/>
            <a:ext cx="2236393" cy="566928"/>
          </a:xfrm>
          <a:prstGeom prst="rect">
            <a:avLst/>
          </a:prstGeom>
          <a:noFill/>
        </p:spPr>
        <p:txBody>
          <a:bodyPr wrap="square" anchor="t" lIns="0" rIns="0" tIns="0" bIns="0">
            <a:spAutoFit/>
          </a:bodyPr>
          <a:lstStyle/>
          <a:p>
            <a:pPr algn="l">
              <a:spcAft>
                <a:spcPts val="600"/>
              </a:spcAft>
            </a:pPr>
            <a:r>
              <a:rPr sz="2400" b="1" i="0">
                <a:solidFill>
                  <a:srgbClr val="D9573A"/>
                </a:solidFill>
                <a:latin typeface="Calibri"/>
              </a:rPr>
              <a:t>47% vs 30%</a:t>
            </a:r>
          </a:p>
        </p:txBody>
      </p:sp>
      <p:sp>
        <p:nvSpPr>
          <p:cNvPr id="18" name="TextBox 17"/>
          <p:cNvSpPr txBox="1"/>
          <p:nvPr/>
        </p:nvSpPr>
        <p:spPr>
          <a:xfrm>
            <a:off x="9223781" y="2154936"/>
            <a:ext cx="2236393" cy="640080"/>
          </a:xfrm>
          <a:prstGeom prst="rect">
            <a:avLst/>
          </a:prstGeom>
          <a:noFill/>
        </p:spPr>
        <p:txBody>
          <a:bodyPr wrap="square" anchor="t" lIns="0" rIns="0" tIns="0" bIns="0">
            <a:spAutoFit/>
          </a:bodyPr>
          <a:lstStyle/>
          <a:p>
            <a:pPr algn="l">
              <a:spcAft>
                <a:spcPts val="600"/>
              </a:spcAft>
            </a:pPr>
            <a:r>
              <a:rPr sz="1200" b="0" i="0">
                <a:solidFill>
                  <a:srgbClr val="5F6E7C"/>
                </a:solidFill>
                <a:latin typeface="Calibri"/>
              </a:rPr>
              <a:t>of selected women vs men sit at the margin</a:t>
            </a:r>
          </a:p>
        </p:txBody>
      </p:sp>
      <p:pic>
        <p:nvPicPr>
          <p:cNvPr id="19" name="Picture 18" descr="individual_stability.png"/>
          <p:cNvPicPr>
            <a:picLocks noChangeAspect="1"/>
          </p:cNvPicPr>
          <p:nvPr/>
        </p:nvPicPr>
        <p:blipFill>
          <a:blip r:embed="rId2"/>
          <a:stretch>
            <a:fillRect/>
          </a:stretch>
        </p:blipFill>
        <p:spPr>
          <a:xfrm>
            <a:off x="858344" y="3063240"/>
            <a:ext cx="10475005" cy="2971800"/>
          </a:xfrm>
          <a:prstGeom prst="rect">
            <a:avLst/>
          </a:prstGeom>
        </p:spPr>
      </p:pic>
      <p:sp>
        <p:nvSpPr>
          <p:cNvPr id="20" name="TextBox 19"/>
          <p:cNvSpPr txBox="1"/>
          <p:nvPr/>
        </p:nvSpPr>
        <p:spPr>
          <a:xfrm>
            <a:off x="548640" y="6144768"/>
            <a:ext cx="11094415" cy="228600"/>
          </a:xfrm>
          <a:prstGeom prst="rect">
            <a:avLst/>
          </a:prstGeom>
          <a:noFill/>
        </p:spPr>
        <p:txBody>
          <a:bodyPr wrap="square" anchor="t" lIns="0" rIns="0" tIns="0" bIns="0">
            <a:spAutoFit/>
          </a:bodyPr>
          <a:lstStyle/>
          <a:p>
            <a:pPr algn="l">
              <a:spcAft>
                <a:spcPts val="600"/>
              </a:spcAft>
            </a:pPr>
            <a:r>
              <a:rPr sz="950" b="0" i="0">
                <a:solidFill>
                  <a:srgbClr val="8795A2"/>
                </a:solidFill>
                <a:latin typeface="Calibri"/>
              </a:rPr>
              <a:t>Source: individual_stability.png · individual_stability_summary.csv · abstention_curve.csv  ·  links back to P5 (gender gap)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CONCLUSION · TRADE-OFFS</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1" i="0">
                <a:solidFill>
                  <a:srgbClr val="D9573A"/>
                </a:solidFill>
                <a:latin typeface="Calibri"/>
              </a:rPr>
              <a:t>Stability</a:t>
            </a:r>
            <a:r>
              <a:rPr sz="1050" b="0" i="0">
                <a:solidFill>
                  <a:srgbClr val="C5CED6"/>
                </a:solidFill>
                <a:latin typeface="Calibri"/>
              </a:rPr>
              <a:t>   ·   </a:t>
            </a:r>
            <a:r>
              <a:rPr sz="1050" b="0" i="0">
                <a:solidFill>
                  <a:srgbClr val="A3AFB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Pilot logistic regression; run XGBoost as the challenger</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19</a:t>
            </a:r>
          </a:p>
        </p:txBody>
      </p:sp>
      <p:pic>
        <p:nvPicPr>
          <p:cNvPr id="7" name="Picture 6" descr="tradeoff_matrix.png"/>
          <p:cNvPicPr>
            <a:picLocks noChangeAspect="1"/>
          </p:cNvPicPr>
          <p:nvPr/>
        </p:nvPicPr>
        <p:blipFill>
          <a:blip r:embed="rId2"/>
          <a:stretch>
            <a:fillRect/>
          </a:stretch>
        </p:blipFill>
        <p:spPr>
          <a:xfrm>
            <a:off x="548640" y="1516864"/>
            <a:ext cx="6035040" cy="4510071"/>
          </a:xfrm>
          <a:prstGeom prst="rect">
            <a:avLst/>
          </a:prstGeom>
        </p:spPr>
      </p:pic>
      <p:sp>
        <p:nvSpPr>
          <p:cNvPr id="8" name="Rounded Rectangle 7"/>
          <p:cNvSpPr/>
          <p:nvPr/>
        </p:nvSpPr>
        <p:spPr>
          <a:xfrm>
            <a:off x="6720840" y="1554480"/>
            <a:ext cx="4922215" cy="269748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1673352"/>
            <a:ext cx="4465015"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RECOMMENDATION</a:t>
            </a:r>
          </a:p>
        </p:txBody>
      </p:sp>
      <p:sp>
        <p:nvSpPr>
          <p:cNvPr id="10" name="TextBox 9"/>
          <p:cNvSpPr txBox="1"/>
          <p:nvPr/>
        </p:nvSpPr>
        <p:spPr>
          <a:xfrm>
            <a:off x="6949440" y="1965960"/>
            <a:ext cx="4465015" cy="594360"/>
          </a:xfrm>
          <a:prstGeom prst="rect">
            <a:avLst/>
          </a:prstGeom>
          <a:noFill/>
        </p:spPr>
        <p:txBody>
          <a:bodyPr wrap="square" anchor="t" lIns="0" rIns="0" tIns="0" bIns="0">
            <a:spAutoFit/>
          </a:bodyPr>
          <a:lstStyle/>
          <a:p>
            <a:pPr algn="l">
              <a:spcAft>
                <a:spcPts val="600"/>
              </a:spcAft>
            </a:pPr>
            <a:r>
              <a:rPr sz="1500" b="0" i="0">
                <a:solidFill>
                  <a:srgbClr val="1B2B3A"/>
                </a:solidFill>
                <a:latin typeface="Calibri"/>
              </a:rPr>
              <a:t>L1 logistic regression for a prospective </a:t>
            </a:r>
            <a:r>
              <a:rPr sz="1500" b="1" i="0">
                <a:solidFill>
                  <a:srgbClr val="1B2B3A"/>
                </a:solidFill>
                <a:latin typeface="Calibri"/>
              </a:rPr>
              <a:t>shadow pilot</a:t>
            </a:r>
            <a:r>
              <a:rPr sz="1500" b="0" i="0">
                <a:solidFill>
                  <a:srgbClr val="1B2B3A"/>
                </a:solidFill>
                <a:latin typeface="Calibri"/>
              </a:rPr>
              <a:t>; XGBoost as challenger.</a:t>
            </a:r>
          </a:p>
        </p:txBody>
      </p:sp>
      <p:sp>
        <p:nvSpPr>
          <p:cNvPr id="11" name="TextBox 10"/>
          <p:cNvSpPr txBox="1"/>
          <p:nvPr/>
        </p:nvSpPr>
        <p:spPr>
          <a:xfrm>
            <a:off x="6949440" y="2633472"/>
            <a:ext cx="4465015" cy="1600200"/>
          </a:xfrm>
          <a:prstGeom prst="rect">
            <a:avLst/>
          </a:prstGeom>
          <a:noFill/>
        </p:spPr>
        <p:txBody>
          <a:bodyPr wrap="square" anchor="t" lIns="0" rIns="0" tIns="0" bIns="0">
            <a:spAutoFit/>
          </a:bodyPr>
          <a:lstStyle/>
          <a:p>
            <a:pPr algn="l" marL="182880" indent="-182880">
              <a:spcAft>
                <a:spcPts val="300"/>
              </a:spcAft>
              <a:buClr>
                <a:srgbClr val="1F7A70"/>
              </a:buClr>
              <a:buFont typeface="Arial"/>
              <a:buChar char="•"/>
            </a:pPr>
            <a:r>
              <a:rPr sz="1250" b="0" i="0">
                <a:solidFill>
                  <a:srgbClr val="1B2B3A"/>
                </a:solidFill>
                <a:latin typeface="Calibri"/>
              </a:rPr>
              <a:t>Same people: Jaccard 0.850, only 254 differ; captured re-arrest difference CI includes 0.</a:t>
            </a:r>
          </a:p>
          <a:p>
            <a:pPr algn="l" marL="182880" indent="-182880">
              <a:spcAft>
                <a:spcPts val="300"/>
              </a:spcAft>
              <a:buClr>
                <a:srgbClr val="1F7A70"/>
              </a:buClr>
              <a:buFont typeface="Arial"/>
              <a:buChar char="•"/>
            </a:pPr>
            <a:r>
              <a:rPr sz="1250" b="0" i="0">
                <a:solidFill>
                  <a:srgbClr val="1B2B3A"/>
                </a:solidFill>
                <a:latin typeface="Calibri"/>
              </a:rPr>
              <a:t>More stable, directly interpretable, ~9× faster.</a:t>
            </a:r>
          </a:p>
          <a:p>
            <a:pPr algn="l" marL="182880" indent="-182880">
              <a:spcAft>
                <a:spcPts val="300"/>
              </a:spcAft>
              <a:buClr>
                <a:srgbClr val="1F7A70"/>
              </a:buClr>
              <a:buFont typeface="Arial"/>
              <a:buChar char="•"/>
            </a:pPr>
            <a:r>
              <a:rPr sz="1250" b="0" i="0">
                <a:solidFill>
                  <a:srgbClr val="1B2B3A"/>
                </a:solidFill>
                <a:latin typeface="Calibri"/>
              </a:rPr>
              <a:t>Calibration and fairness are tied — not a reason to choose.</a:t>
            </a:r>
          </a:p>
          <a:p>
            <a:pPr algn="l" marL="182880" indent="-182880">
              <a:spcAft>
                <a:spcPts val="300"/>
              </a:spcAft>
              <a:buClr>
                <a:srgbClr val="1F7A70"/>
              </a:buClr>
              <a:buFont typeface="Arial"/>
              <a:buChar char="•"/>
            </a:pPr>
            <a:r>
              <a:rPr sz="1250" b="1" i="0">
                <a:solidFill>
                  <a:srgbClr val="1B2B3A"/>
                </a:solidFill>
                <a:latin typeface="Calibri"/>
              </a:rPr>
              <a:t>Second arm without gang affiliation</a:t>
            </a:r>
            <a:r>
              <a:rPr sz="1250" b="0" i="0">
                <a:solidFill>
                  <a:srgbClr val="1B2B3A"/>
                </a:solidFill>
                <a:latin typeface="Calibri"/>
              </a:rPr>
              <a:t> (A11).</a:t>
            </a:r>
          </a:p>
        </p:txBody>
      </p:sp>
      <p:sp>
        <p:nvSpPr>
          <p:cNvPr id="12" name="Rounded Rectangle 11"/>
          <p:cNvSpPr/>
          <p:nvPr/>
        </p:nvSpPr>
        <p:spPr>
          <a:xfrm>
            <a:off x="6720840" y="4389120"/>
            <a:ext cx="4922215" cy="91440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22007" y="4535424"/>
            <a:ext cx="4519879" cy="274320"/>
          </a:xfrm>
          <a:prstGeom prst="rect">
            <a:avLst/>
          </a:prstGeom>
          <a:noFill/>
        </p:spPr>
        <p:txBody>
          <a:bodyPr wrap="square" anchor="t" lIns="0" rIns="0" tIns="0" bIns="0">
            <a:spAutoFit/>
          </a:bodyPr>
          <a:lstStyle/>
          <a:p>
            <a:pPr algn="l">
              <a:spcAft>
                <a:spcPts val="600"/>
              </a:spcAft>
            </a:pPr>
            <a:r>
              <a:rPr sz="1200" b="1" i="0">
                <a:solidFill>
                  <a:srgbClr val="D9573A"/>
                </a:solidFill>
                <a:latin typeface="Calibri"/>
              </a:rPr>
              <a:t>WHAT WOULD REVERSE IT</a:t>
            </a:r>
          </a:p>
        </p:txBody>
      </p:sp>
      <p:sp>
        <p:nvSpPr>
          <p:cNvPr id="14" name="TextBox 13"/>
          <p:cNvSpPr txBox="1"/>
          <p:nvPr/>
        </p:nvSpPr>
        <p:spPr>
          <a:xfrm>
            <a:off x="6922007" y="4846320"/>
            <a:ext cx="4519879" cy="347472"/>
          </a:xfrm>
          <a:prstGeom prst="rect">
            <a:avLst/>
          </a:prstGeom>
          <a:noFill/>
        </p:spPr>
        <p:txBody>
          <a:bodyPr wrap="square" anchor="t" lIns="0" rIns="0" tIns="0" bIns="0">
            <a:spAutoFit/>
          </a:bodyPr>
          <a:lstStyle/>
          <a:p>
            <a:pPr algn="l">
              <a:spcAft>
                <a:spcPts val="500"/>
              </a:spcAft>
            </a:pPr>
            <a:r>
              <a:rPr sz="1200" b="0" i="0">
                <a:solidFill>
                  <a:srgbClr val="1B2B3A"/>
                </a:solidFill>
                <a:latin typeface="Calibri"/>
              </a:rPr>
              <a:t>Scores quoted numerically to supervisees, or a scale where a few extra captured events matter.</a:t>
            </a:r>
          </a:p>
        </p:txBody>
      </p:sp>
      <p:sp>
        <p:nvSpPr>
          <p:cNvPr id="15" name="TextBox 14"/>
          <p:cNvSpPr txBox="1"/>
          <p:nvPr/>
        </p:nvSpPr>
        <p:spPr>
          <a:xfrm>
            <a:off x="6720840" y="5413248"/>
            <a:ext cx="4922215" cy="640080"/>
          </a:xfrm>
          <a:prstGeom prst="rect">
            <a:avLst/>
          </a:prstGeom>
          <a:noFill/>
        </p:spPr>
        <p:txBody>
          <a:bodyPr wrap="square" anchor="t" lIns="0" rIns="0" tIns="0" bIns="0">
            <a:spAutoFit/>
          </a:bodyPr>
          <a:lstStyle/>
          <a:p>
            <a:pPr algn="l">
              <a:spcAft>
                <a:spcPts val="600"/>
              </a:spcAft>
            </a:pPr>
            <a:r>
              <a:rPr sz="1150" b="1" i="0">
                <a:solidFill>
                  <a:srgbClr val="5F6E7C"/>
                </a:solidFill>
                <a:latin typeface="Calibri"/>
              </a:rPr>
              <a:t>Limits:</a:t>
            </a:r>
            <a:r>
              <a:rPr sz="1150" b="0" i="0">
                <a:solidFill>
                  <a:srgbClr val="5F6E7C"/>
                </a:solidFill>
                <a:latin typeface="Calibri"/>
              </a:rPr>
              <a:t> evaluation set inspected repeatedly; no temporal or external validation; no evidence yet that the support programme helps.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DEMO · APP</a:t>
            </a:r>
          </a:p>
        </p:txBody>
      </p:sp>
      <p:sp>
        <p:nvSpPr>
          <p:cNvPr id="3" name="TextBox 2"/>
          <p:cNvSpPr txBox="1"/>
          <p:nvPr/>
        </p:nvSpPr>
        <p:spPr>
          <a:xfrm>
            <a:off x="5852160" y="365760"/>
            <a:ext cx="5790895" cy="274320"/>
          </a:xfrm>
          <a:prstGeom prst="rect">
            <a:avLst/>
          </a:prstGeom>
          <a:noFill/>
        </p:spPr>
        <p:txBody>
          <a:bodyPr wrap="none" lIns="0" rIns="0" tIns="0" bIns="0">
            <a:spAutoFit/>
          </a:bodyPr>
          <a:lstStyle/>
          <a:p>
            <a:pPr algn="r"/>
            <a:r>
              <a:rPr sz="1050" b="0" i="0">
                <a:solidFill>
                  <a:srgbClr val="A3AFBA"/>
                </a:solidFill>
                <a:latin typeface="Calibri"/>
              </a:rPr>
              <a:t>Intro</a:t>
            </a:r>
            <a:r>
              <a:rPr sz="1050" b="0" i="0">
                <a:solidFill>
                  <a:srgbClr val="C5CED6"/>
                </a:solidFill>
                <a:latin typeface="Calibri"/>
              </a:rPr>
              <a:t>   ·   </a:t>
            </a:r>
            <a:r>
              <a:rPr sz="1050" b="0" i="0">
                <a:solidFill>
                  <a:srgbClr val="A3AFBA"/>
                </a:solidFill>
                <a:latin typeface="Calibri"/>
              </a:rPr>
              <a:t>Features</a:t>
            </a:r>
            <a:r>
              <a:rPr sz="1050" b="0" i="0">
                <a:solidFill>
                  <a:srgbClr val="C5CED6"/>
                </a:solidFill>
                <a:latin typeface="Calibri"/>
              </a:rPr>
              <a:t>   ·   </a:t>
            </a:r>
            <a:r>
              <a:rPr sz="1050" b="0" i="0">
                <a:solidFill>
                  <a:srgbClr val="A3AFBA"/>
                </a:solidFill>
                <a:latin typeface="Calibri"/>
              </a:rPr>
              <a:t>Models</a:t>
            </a:r>
            <a:r>
              <a:rPr sz="1050" b="0" i="0">
                <a:solidFill>
                  <a:srgbClr val="C5CED6"/>
                </a:solidFill>
                <a:latin typeface="Calibri"/>
              </a:rPr>
              <a:t>   ·   </a:t>
            </a:r>
            <a:r>
              <a:rPr sz="1050" b="0" i="0">
                <a:solidFill>
                  <a:srgbClr val="A3AFBA"/>
                </a:solidFill>
                <a:latin typeface="Calibri"/>
              </a:rPr>
              <a:t>Interpretability</a:t>
            </a:r>
            <a:r>
              <a:rPr sz="1050" b="0" i="0">
                <a:solidFill>
                  <a:srgbClr val="C5CED6"/>
                </a:solidFill>
                <a:latin typeface="Calibri"/>
              </a:rPr>
              <a:t>   ·   </a:t>
            </a:r>
            <a:r>
              <a:rPr sz="1050" b="0" i="0">
                <a:solidFill>
                  <a:srgbClr val="A3AFBA"/>
                </a:solidFill>
                <a:latin typeface="Calibri"/>
              </a:rPr>
              <a:t>Fairness</a:t>
            </a:r>
            <a:r>
              <a:rPr sz="1050" b="0" i="0">
                <a:solidFill>
                  <a:srgbClr val="C5CED6"/>
                </a:solidFill>
                <a:latin typeface="Calibri"/>
              </a:rPr>
              <a:t>   ·   </a:t>
            </a:r>
            <a:r>
              <a:rPr sz="1050" b="0" i="0">
                <a:solidFill>
                  <a:srgbClr val="A3AFBA"/>
                </a:solidFill>
                <a:latin typeface="Calibri"/>
              </a:rPr>
              <a:t>Stability</a:t>
            </a:r>
            <a:r>
              <a:rPr sz="1050" b="0" i="0">
                <a:solidFill>
                  <a:srgbClr val="C5CED6"/>
                </a:solidFill>
                <a:latin typeface="Calibri"/>
              </a:rPr>
              <a:t>   ·   </a:t>
            </a:r>
            <a:r>
              <a:rPr sz="1050" b="1" i="0">
                <a:solidFill>
                  <a:srgbClr val="D9573A"/>
                </a:solidFill>
                <a:latin typeface="Calibri"/>
              </a:rPr>
              <a:t>Demo</a:t>
            </a:r>
          </a:p>
        </p:txBody>
      </p:sp>
      <p:sp>
        <p:nvSpPr>
          <p:cNvPr id="4" name="TextBox 3"/>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The Streamlit app makes every trade-off testable</a:t>
            </a:r>
          </a:p>
        </p:txBody>
      </p:sp>
      <p:sp>
        <p:nvSpPr>
          <p:cNvPr id="5" name="TextBox 4"/>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6" name="TextBox 5"/>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20</a:t>
            </a:r>
          </a:p>
        </p:txBody>
      </p:sp>
      <p:sp>
        <p:nvSpPr>
          <p:cNvPr id="7" name="Rounded Rectangle 6"/>
          <p:cNvSpPr/>
          <p:nvPr/>
        </p:nvSpPr>
        <p:spPr>
          <a:xfrm>
            <a:off x="548640" y="2011680"/>
            <a:ext cx="2468880" cy="2743200"/>
          </a:xfrm>
          <a:prstGeom prst="roundRect">
            <a:avLst>
              <a:gd name="adj" fmla="val 6000"/>
            </a:avLst>
          </a:prstGeom>
          <a:solidFill>
            <a:srgbClr val="E7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59" y="2286000"/>
            <a:ext cx="731520" cy="731520"/>
          </a:xfrm>
          <a:prstGeom prst="ellipse">
            <a:avLst/>
          </a:prstGeom>
          <a:solidFill>
            <a:srgbClr val="2450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FFFFFF"/>
                </a:solidFill>
                <a:latin typeface="Calibri"/>
              </a:rPr>
              <a:t>1</a:t>
            </a:r>
          </a:p>
        </p:txBody>
      </p:sp>
      <p:sp>
        <p:nvSpPr>
          <p:cNvPr id="9" name="TextBox 8"/>
          <p:cNvSpPr txBox="1"/>
          <p:nvPr/>
        </p:nvSpPr>
        <p:spPr>
          <a:xfrm>
            <a:off x="822959" y="3246120"/>
            <a:ext cx="1920240" cy="411480"/>
          </a:xfrm>
          <a:prstGeom prst="rect">
            <a:avLst/>
          </a:prstGeom>
          <a:noFill/>
        </p:spPr>
        <p:txBody>
          <a:bodyPr wrap="square" anchor="t" lIns="0" rIns="0" tIns="0" bIns="0">
            <a:spAutoFit/>
          </a:bodyPr>
          <a:lstStyle/>
          <a:p>
            <a:pPr algn="l">
              <a:spcAft>
                <a:spcPts val="600"/>
              </a:spcAft>
            </a:pPr>
            <a:r>
              <a:rPr sz="2000" b="1" i="0">
                <a:solidFill>
                  <a:srgbClr val="1B2B3A"/>
                </a:solidFill>
                <a:latin typeface="Calibri"/>
              </a:rPr>
              <a:t>Scores</a:t>
            </a:r>
          </a:p>
        </p:txBody>
      </p:sp>
      <p:sp>
        <p:nvSpPr>
          <p:cNvPr id="10" name="TextBox 9"/>
          <p:cNvSpPr txBox="1"/>
          <p:nvPr/>
        </p:nvSpPr>
        <p:spPr>
          <a:xfrm>
            <a:off x="822959" y="3703320"/>
            <a:ext cx="1920240" cy="9144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One person's score from all three models</a:t>
            </a:r>
          </a:p>
        </p:txBody>
      </p:sp>
      <p:sp>
        <p:nvSpPr>
          <p:cNvPr id="11" name="Right Arrow 10"/>
          <p:cNvSpPr/>
          <p:nvPr/>
        </p:nvSpPr>
        <p:spPr>
          <a:xfrm>
            <a:off x="3090672" y="3246120"/>
            <a:ext cx="256032" cy="292608"/>
          </a:xfrm>
          <a:prstGeom prst="rightArrow">
            <a:avLst/>
          </a:prstGeom>
          <a:solidFill>
            <a:srgbClr val="A3A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19856" y="2011680"/>
            <a:ext cx="2468880" cy="2743200"/>
          </a:xfrm>
          <a:prstGeom prst="roundRect">
            <a:avLst>
              <a:gd name="adj" fmla="val 6000"/>
            </a:avLst>
          </a:prstGeom>
          <a:solidFill>
            <a:srgbClr val="E6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94176" y="2286000"/>
            <a:ext cx="731520" cy="731520"/>
          </a:xfrm>
          <a:prstGeom prst="ellipse">
            <a:avLst/>
          </a:prstGeom>
          <a:solidFill>
            <a:srgbClr val="1F7A7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FFFFFF"/>
                </a:solidFill>
                <a:latin typeface="Calibri"/>
              </a:rPr>
              <a:t>2</a:t>
            </a:r>
          </a:p>
        </p:txBody>
      </p:sp>
      <p:sp>
        <p:nvSpPr>
          <p:cNvPr id="14" name="TextBox 13"/>
          <p:cNvSpPr txBox="1"/>
          <p:nvPr/>
        </p:nvSpPr>
        <p:spPr>
          <a:xfrm>
            <a:off x="3694176" y="3246120"/>
            <a:ext cx="1920240" cy="411480"/>
          </a:xfrm>
          <a:prstGeom prst="rect">
            <a:avLst/>
          </a:prstGeom>
          <a:noFill/>
        </p:spPr>
        <p:txBody>
          <a:bodyPr wrap="square" anchor="t" lIns="0" rIns="0" tIns="0" bIns="0">
            <a:spAutoFit/>
          </a:bodyPr>
          <a:lstStyle/>
          <a:p>
            <a:pPr algn="l">
              <a:spcAft>
                <a:spcPts val="600"/>
              </a:spcAft>
            </a:pPr>
            <a:r>
              <a:rPr sz="2000" b="1" i="0">
                <a:solidFill>
                  <a:srgbClr val="1B2B3A"/>
                </a:solidFill>
                <a:latin typeface="Calibri"/>
              </a:rPr>
              <a:t>Explanation</a:t>
            </a:r>
          </a:p>
        </p:txBody>
      </p:sp>
      <p:sp>
        <p:nvSpPr>
          <p:cNvPr id="15" name="TextBox 14"/>
          <p:cNvSpPr txBox="1"/>
          <p:nvPr/>
        </p:nvSpPr>
        <p:spPr>
          <a:xfrm>
            <a:off x="3694176" y="3703320"/>
            <a:ext cx="1920240" cy="9144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Why this score: SHAP / LIME for that person</a:t>
            </a:r>
          </a:p>
        </p:txBody>
      </p:sp>
      <p:sp>
        <p:nvSpPr>
          <p:cNvPr id="16" name="Right Arrow 15"/>
          <p:cNvSpPr/>
          <p:nvPr/>
        </p:nvSpPr>
        <p:spPr>
          <a:xfrm>
            <a:off x="5961888" y="3246120"/>
            <a:ext cx="256032" cy="292608"/>
          </a:xfrm>
          <a:prstGeom prst="rightArrow">
            <a:avLst/>
          </a:prstGeom>
          <a:solidFill>
            <a:srgbClr val="A3A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91072" y="2011680"/>
            <a:ext cx="2468880" cy="274320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65392" y="2286000"/>
            <a:ext cx="731520" cy="731520"/>
          </a:xfrm>
          <a:prstGeom prst="ellipse">
            <a:avLst/>
          </a:prstGeom>
          <a:solidFill>
            <a:srgbClr val="C99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FFFFFF"/>
                </a:solidFill>
                <a:latin typeface="Calibri"/>
              </a:rPr>
              <a:t>3</a:t>
            </a:r>
          </a:p>
        </p:txBody>
      </p:sp>
      <p:sp>
        <p:nvSpPr>
          <p:cNvPr id="19" name="TextBox 18"/>
          <p:cNvSpPr txBox="1"/>
          <p:nvPr/>
        </p:nvSpPr>
        <p:spPr>
          <a:xfrm>
            <a:off x="6565392" y="3246120"/>
            <a:ext cx="1920240" cy="411480"/>
          </a:xfrm>
          <a:prstGeom prst="rect">
            <a:avLst/>
          </a:prstGeom>
          <a:noFill/>
        </p:spPr>
        <p:txBody>
          <a:bodyPr wrap="square" anchor="t" lIns="0" rIns="0" tIns="0" bIns="0">
            <a:spAutoFit/>
          </a:bodyPr>
          <a:lstStyle/>
          <a:p>
            <a:pPr algn="l">
              <a:spcAft>
                <a:spcPts val="600"/>
              </a:spcAft>
            </a:pPr>
            <a:r>
              <a:rPr sz="2000" b="1" i="0">
                <a:solidFill>
                  <a:srgbClr val="1B2B3A"/>
                </a:solidFill>
                <a:latin typeface="Calibri"/>
              </a:rPr>
              <a:t>Stability</a:t>
            </a:r>
          </a:p>
        </p:txBody>
      </p:sp>
      <p:sp>
        <p:nvSpPr>
          <p:cNvPr id="20" name="TextBox 19"/>
          <p:cNvSpPr txBox="1"/>
          <p:nvPr/>
        </p:nvSpPr>
        <p:spPr>
          <a:xfrm>
            <a:off x="6565392" y="3703320"/>
            <a:ext cx="1920240" cy="9144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How many of the 8 refits select them</a:t>
            </a:r>
          </a:p>
        </p:txBody>
      </p:sp>
      <p:sp>
        <p:nvSpPr>
          <p:cNvPr id="21" name="Right Arrow 20"/>
          <p:cNvSpPr/>
          <p:nvPr/>
        </p:nvSpPr>
        <p:spPr>
          <a:xfrm>
            <a:off x="8833104" y="3246120"/>
            <a:ext cx="256032" cy="292608"/>
          </a:xfrm>
          <a:prstGeom prst="rightArrow">
            <a:avLst/>
          </a:prstGeom>
          <a:solidFill>
            <a:srgbClr val="A3AF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162288" y="2011680"/>
            <a:ext cx="2468880" cy="2743200"/>
          </a:xfrm>
          <a:prstGeom prst="roundRect">
            <a:avLst>
              <a:gd name="adj" fmla="val 6000"/>
            </a:avLst>
          </a:prstGeom>
          <a:solidFill>
            <a:srgbClr val="FB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436608" y="2286000"/>
            <a:ext cx="731520" cy="731520"/>
          </a:xfrm>
          <a:prstGeom prst="ellipse">
            <a:avLst/>
          </a:prstGeom>
          <a:solidFill>
            <a:srgbClr val="D957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i="0">
                <a:solidFill>
                  <a:srgbClr val="FFFFFF"/>
                </a:solidFill>
                <a:latin typeface="Calibri"/>
              </a:rPr>
              <a:t>4</a:t>
            </a:r>
          </a:p>
        </p:txBody>
      </p:sp>
      <p:sp>
        <p:nvSpPr>
          <p:cNvPr id="24" name="TextBox 23"/>
          <p:cNvSpPr txBox="1"/>
          <p:nvPr/>
        </p:nvSpPr>
        <p:spPr>
          <a:xfrm>
            <a:off x="9436608" y="3246120"/>
            <a:ext cx="1920240" cy="411480"/>
          </a:xfrm>
          <a:prstGeom prst="rect">
            <a:avLst/>
          </a:prstGeom>
          <a:noFill/>
        </p:spPr>
        <p:txBody>
          <a:bodyPr wrap="square" anchor="t" lIns="0" rIns="0" tIns="0" bIns="0">
            <a:spAutoFit/>
          </a:bodyPr>
          <a:lstStyle/>
          <a:p>
            <a:pPr algn="l">
              <a:spcAft>
                <a:spcPts val="600"/>
              </a:spcAft>
            </a:pPr>
            <a:r>
              <a:rPr sz="2000" b="1" i="0">
                <a:solidFill>
                  <a:srgbClr val="1B2B3A"/>
                </a:solidFill>
                <a:latin typeface="Calibri"/>
              </a:rPr>
              <a:t>What-if</a:t>
            </a:r>
          </a:p>
        </p:txBody>
      </p:sp>
      <p:sp>
        <p:nvSpPr>
          <p:cNvPr id="25" name="TextBox 24"/>
          <p:cNvSpPr txBox="1"/>
          <p:nvPr/>
        </p:nvSpPr>
        <p:spPr>
          <a:xfrm>
            <a:off x="9436608" y="3703320"/>
            <a:ext cx="1920240" cy="9144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Edit an input and watch the score change</a:t>
            </a:r>
          </a:p>
        </p:txBody>
      </p:sp>
      <p:sp>
        <p:nvSpPr>
          <p:cNvPr id="26" name="Rounded Rectangle 25"/>
          <p:cNvSpPr/>
          <p:nvPr/>
        </p:nvSpPr>
        <p:spPr>
          <a:xfrm>
            <a:off x="548640" y="5074920"/>
            <a:ext cx="11094415" cy="82296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5074920"/>
            <a:ext cx="10545775" cy="822960"/>
          </a:xfrm>
          <a:prstGeom prst="rect">
            <a:avLst/>
          </a:prstGeom>
          <a:noFill/>
        </p:spPr>
        <p:txBody>
          <a:bodyPr wrap="square" anchor="ctr" lIns="0" rIns="0" tIns="0" bIns="0">
            <a:spAutoFit/>
          </a:bodyPr>
          <a:lstStyle/>
          <a:p>
            <a:pPr algn="l">
              <a:spcAft>
                <a:spcPts val="600"/>
              </a:spcAft>
            </a:pPr>
            <a:r>
              <a:rPr sz="1350" b="0" i="0">
                <a:solidFill>
                  <a:srgbClr val="5F6E7C"/>
                </a:solidFill>
                <a:latin typeface="Calibri"/>
              </a:rPr>
              <a:t>Backup: screenshots and a screen recording are ready if the live app fails.   ·   Run: streamlit run app.py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7FA"/>
        </a:solidFill>
        <a:effectLst/>
      </p:bgPr>
    </p:bg>
    <p:spTree>
      <p:nvGrpSpPr>
        <p:cNvPr id="1" name=""/>
        <p:cNvGrpSpPr/>
        <p:nvPr/>
      </p:nvGrpSpPr>
      <p:grpSpPr/>
      <p:sp>
        <p:nvSpPr>
          <p:cNvPr id="2" name="TextBox 1"/>
          <p:cNvSpPr txBox="1"/>
          <p:nvPr/>
        </p:nvSpPr>
        <p:spPr>
          <a:xfrm>
            <a:off x="640080" y="1371600"/>
            <a:ext cx="5486400" cy="320040"/>
          </a:xfrm>
          <a:prstGeom prst="rect">
            <a:avLst/>
          </a:prstGeom>
          <a:noFill/>
        </p:spPr>
        <p:txBody>
          <a:bodyPr wrap="square" anchor="t" lIns="0" rIns="0" tIns="0" bIns="0">
            <a:spAutoFit/>
          </a:bodyPr>
          <a:lstStyle/>
          <a:p>
            <a:pPr algn="l">
              <a:spcAft>
                <a:spcPts val="600"/>
              </a:spcAft>
            </a:pPr>
            <a:r>
              <a:rPr sz="1400" b="1" i="0">
                <a:solidFill>
                  <a:srgbClr val="1F7A70"/>
                </a:solidFill>
                <a:latin typeface="Calibri"/>
              </a:rPr>
              <a:t>APPENDIX</a:t>
            </a:r>
          </a:p>
        </p:txBody>
      </p:sp>
      <p:sp>
        <p:nvSpPr>
          <p:cNvPr id="3" name="TextBox 2"/>
          <p:cNvSpPr txBox="1"/>
          <p:nvPr/>
        </p:nvSpPr>
        <p:spPr>
          <a:xfrm>
            <a:off x="640080" y="1828800"/>
            <a:ext cx="6400800" cy="1463040"/>
          </a:xfrm>
          <a:prstGeom prst="rect">
            <a:avLst/>
          </a:prstGeom>
          <a:noFill/>
        </p:spPr>
        <p:txBody>
          <a:bodyPr wrap="square" anchor="t" lIns="0" rIns="0" tIns="0" bIns="0">
            <a:spAutoFit/>
          </a:bodyPr>
          <a:lstStyle/>
          <a:p>
            <a:pPr algn="l">
              <a:lnSpc>
                <a:spcPct val="95000"/>
              </a:lnSpc>
              <a:spcAft>
                <a:spcPts val="600"/>
              </a:spcAft>
            </a:pPr>
            <a:r>
              <a:rPr sz="4400" b="1" i="0">
                <a:solidFill>
                  <a:srgbClr val="1B2B3A"/>
                </a:solidFill>
                <a:latin typeface="Calibri"/>
              </a:rPr>
              <a:t>Supporting evidence
for questions</a:t>
            </a:r>
          </a:p>
        </p:txBody>
      </p:sp>
      <p:sp>
        <p:nvSpPr>
          <p:cNvPr id="4" name="TextBox 3"/>
          <p:cNvSpPr txBox="1"/>
          <p:nvPr/>
        </p:nvSpPr>
        <p:spPr>
          <a:xfrm>
            <a:off x="640080" y="3429000"/>
            <a:ext cx="5486400" cy="365760"/>
          </a:xfrm>
          <a:prstGeom prst="rect">
            <a:avLst/>
          </a:prstGeom>
          <a:noFill/>
        </p:spPr>
        <p:txBody>
          <a:bodyPr wrap="square" anchor="t" lIns="0" rIns="0" tIns="0" bIns="0">
            <a:spAutoFit/>
          </a:bodyPr>
          <a:lstStyle/>
          <a:p>
            <a:pPr algn="l">
              <a:spcAft>
                <a:spcPts val="600"/>
              </a:spcAft>
            </a:pPr>
            <a:r>
              <a:rPr sz="1600" b="0" i="0">
                <a:solidFill>
                  <a:srgbClr val="5F6E7C"/>
                </a:solidFill>
                <a:latin typeface="Calibri"/>
              </a:rPr>
              <a:t>Not presented — kept ready for Q&amp;A.</a:t>
            </a:r>
          </a:p>
        </p:txBody>
      </p:sp>
      <p:sp>
        <p:nvSpPr>
          <p:cNvPr id="5" name="TextBox 4"/>
          <p:cNvSpPr txBox="1"/>
          <p:nvPr/>
        </p:nvSpPr>
        <p:spPr>
          <a:xfrm>
            <a:off x="7223760" y="1417320"/>
            <a:ext cx="2286000" cy="4572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A1  Learning curve</a:t>
            </a:r>
          </a:p>
        </p:txBody>
      </p:sp>
      <p:sp>
        <p:nvSpPr>
          <p:cNvPr id="6" name="TextBox 5"/>
          <p:cNvSpPr txBox="1"/>
          <p:nvPr/>
        </p:nvSpPr>
        <p:spPr>
          <a:xfrm>
            <a:off x="7223760" y="1984248"/>
            <a:ext cx="2286000" cy="4572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A2  Economic sensitivity</a:t>
            </a:r>
          </a:p>
        </p:txBody>
      </p:sp>
      <p:sp>
        <p:nvSpPr>
          <p:cNvPr id="7" name="TextBox 6"/>
          <p:cNvSpPr txBox="1"/>
          <p:nvPr/>
        </p:nvSpPr>
        <p:spPr>
          <a:xfrm>
            <a:off x="7223760" y="2551176"/>
            <a:ext cx="2286000" cy="4572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A3  Explanation disagreement</a:t>
            </a:r>
          </a:p>
        </p:txBody>
      </p:sp>
      <p:sp>
        <p:nvSpPr>
          <p:cNvPr id="8" name="TextBox 7"/>
          <p:cNvSpPr txBox="1"/>
          <p:nvPr/>
        </p:nvSpPr>
        <p:spPr>
          <a:xfrm>
            <a:off x="7223760" y="3118104"/>
            <a:ext cx="2286000" cy="4572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A4  Global surrogate</a:t>
            </a:r>
          </a:p>
        </p:txBody>
      </p:sp>
      <p:sp>
        <p:nvSpPr>
          <p:cNvPr id="9" name="TextBox 8"/>
          <p:cNvSpPr txBox="1"/>
          <p:nvPr/>
        </p:nvSpPr>
        <p:spPr>
          <a:xfrm>
            <a:off x="7223760" y="3685032"/>
            <a:ext cx="2286000" cy="4572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A5  Threshold frontier</a:t>
            </a:r>
          </a:p>
        </p:txBody>
      </p:sp>
      <p:sp>
        <p:nvSpPr>
          <p:cNvPr id="10" name="TextBox 9"/>
          <p:cNvSpPr txBox="1"/>
          <p:nvPr/>
        </p:nvSpPr>
        <p:spPr>
          <a:xfrm>
            <a:off x="7223760" y="4251960"/>
            <a:ext cx="2286000" cy="4572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A6  Age</a:t>
            </a:r>
          </a:p>
        </p:txBody>
      </p:sp>
      <p:sp>
        <p:nvSpPr>
          <p:cNvPr id="11" name="TextBox 10"/>
          <p:cNvSpPr txBox="1"/>
          <p:nvPr/>
        </p:nvSpPr>
        <p:spPr>
          <a:xfrm>
            <a:off x="9601200" y="1417320"/>
            <a:ext cx="2286000" cy="4572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A7  Process log</a:t>
            </a:r>
          </a:p>
        </p:txBody>
      </p:sp>
      <p:sp>
        <p:nvSpPr>
          <p:cNvPr id="12" name="TextBox 11"/>
          <p:cNvSpPr txBox="1"/>
          <p:nvPr/>
        </p:nvSpPr>
        <p:spPr>
          <a:xfrm>
            <a:off x="9601200" y="1984248"/>
            <a:ext cx="2286000" cy="4572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A8  LIME</a:t>
            </a:r>
          </a:p>
        </p:txBody>
      </p:sp>
      <p:sp>
        <p:nvSpPr>
          <p:cNvPr id="13" name="TextBox 12"/>
          <p:cNvSpPr txBox="1"/>
          <p:nvPr/>
        </p:nvSpPr>
        <p:spPr>
          <a:xfrm>
            <a:off x="9601200" y="2551176"/>
            <a:ext cx="2286000" cy="4572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A9  Permutation importance</a:t>
            </a:r>
          </a:p>
        </p:txBody>
      </p:sp>
      <p:sp>
        <p:nvSpPr>
          <p:cNvPr id="14" name="TextBox 13"/>
          <p:cNvSpPr txBox="1"/>
          <p:nvPr/>
        </p:nvSpPr>
        <p:spPr>
          <a:xfrm>
            <a:off x="9601200" y="3118104"/>
            <a:ext cx="2286000" cy="4572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A10  Method overview</a:t>
            </a:r>
          </a:p>
        </p:txBody>
      </p:sp>
      <p:sp>
        <p:nvSpPr>
          <p:cNvPr id="15" name="TextBox 14"/>
          <p:cNvSpPr txBox="1"/>
          <p:nvPr/>
        </p:nvSpPr>
        <p:spPr>
          <a:xfrm>
            <a:off x="9601200" y="3685032"/>
            <a:ext cx="2286000" cy="457200"/>
          </a:xfrm>
          <a:prstGeom prst="rect">
            <a:avLst/>
          </a:prstGeom>
          <a:noFill/>
        </p:spPr>
        <p:txBody>
          <a:bodyPr wrap="square" anchor="t" lIns="0" rIns="0" tIns="0" bIns="0">
            <a:spAutoFit/>
          </a:bodyPr>
          <a:lstStyle/>
          <a:p>
            <a:pPr algn="l">
              <a:spcAft>
                <a:spcPts val="600"/>
              </a:spcAft>
            </a:pPr>
            <a:r>
              <a:rPr sz="1400" b="0" i="0">
                <a:solidFill>
                  <a:srgbClr val="1B2B3A"/>
                </a:solidFill>
                <a:latin typeface="Calibri"/>
              </a:rPr>
              <a:t>A11  No-gang pilot arm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A1 · LEARNING CURVE</a:t>
            </a:r>
          </a:p>
        </p:txBody>
      </p:sp>
      <p:sp>
        <p:nvSpPr>
          <p:cNvPr id="3" name="TextBox 2"/>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Which model for which agency size?</a:t>
            </a:r>
          </a:p>
        </p:txBody>
      </p:sp>
      <p:sp>
        <p:nvSpPr>
          <p:cNvPr id="4" name="TextBox 3"/>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5" name="TextBox 4"/>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A1</a:t>
            </a:r>
          </a:p>
        </p:txBody>
      </p:sp>
      <p:pic>
        <p:nvPicPr>
          <p:cNvPr id="6" name="Picture 5" descr="learning_curve.png"/>
          <p:cNvPicPr>
            <a:picLocks noChangeAspect="1"/>
          </p:cNvPicPr>
          <p:nvPr/>
        </p:nvPicPr>
        <p:blipFill>
          <a:blip r:embed="rId2"/>
          <a:stretch>
            <a:fillRect/>
          </a:stretch>
        </p:blipFill>
        <p:spPr>
          <a:xfrm>
            <a:off x="1110637" y="1554480"/>
            <a:ext cx="9970419" cy="3749039"/>
          </a:xfrm>
          <a:prstGeom prst="rect">
            <a:avLst/>
          </a:prstGeom>
        </p:spPr>
      </p:pic>
      <p:sp>
        <p:nvSpPr>
          <p:cNvPr id="7" name="Rounded Rectangle 6"/>
          <p:cNvSpPr/>
          <p:nvPr/>
        </p:nvSpPr>
        <p:spPr>
          <a:xfrm>
            <a:off x="548640" y="5440680"/>
            <a:ext cx="11094415" cy="73152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440680"/>
            <a:ext cx="10637215" cy="731520"/>
          </a:xfrm>
          <a:prstGeom prst="rect">
            <a:avLst/>
          </a:prstGeom>
          <a:noFill/>
        </p:spPr>
        <p:txBody>
          <a:bodyPr wrap="square" anchor="ctr" lIns="0" rIns="0" tIns="0" bIns="0">
            <a:spAutoFit/>
          </a:bodyPr>
          <a:lstStyle/>
          <a:p>
            <a:pPr algn="l">
              <a:spcAft>
                <a:spcPts val="600"/>
              </a:spcAft>
            </a:pPr>
            <a:r>
              <a:rPr sz="1300" b="0" i="0">
                <a:solidFill>
                  <a:srgbClr val="1B2B3A"/>
                </a:solidFill>
                <a:latin typeface="Calibri"/>
              </a:rPr>
              <a:t>Subsamples of one Georgia cohort test sample-size sensitivity; they do not validate transfer to other agencies.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A2 · ECONOMIC SENSITIVITY</a:t>
            </a:r>
          </a:p>
        </p:txBody>
      </p:sp>
      <p:sp>
        <p:nvSpPr>
          <p:cNvPr id="3" name="TextBox 2"/>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Model value is a scenario, stress-tested</a:t>
            </a:r>
          </a:p>
        </p:txBody>
      </p:sp>
      <p:sp>
        <p:nvSpPr>
          <p:cNvPr id="4" name="TextBox 3"/>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5" name="TextBox 4"/>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A2</a:t>
            </a:r>
          </a:p>
        </p:txBody>
      </p:sp>
      <p:pic>
        <p:nvPicPr>
          <p:cNvPr id="6" name="Picture 5" descr="incumbent_benchmark.png"/>
          <p:cNvPicPr>
            <a:picLocks noChangeAspect="1"/>
          </p:cNvPicPr>
          <p:nvPr/>
        </p:nvPicPr>
        <p:blipFill>
          <a:blip r:embed="rId2"/>
          <a:stretch>
            <a:fillRect/>
          </a:stretch>
        </p:blipFill>
        <p:spPr>
          <a:xfrm>
            <a:off x="548640" y="1892464"/>
            <a:ext cx="11094415" cy="3073071"/>
          </a:xfrm>
          <a:prstGeom prst="rect">
            <a:avLst/>
          </a:prstGeom>
        </p:spPr>
      </p:pic>
      <p:sp>
        <p:nvSpPr>
          <p:cNvPr id="7" name="Rounded Rectangle 6"/>
          <p:cNvSpPr/>
          <p:nvPr/>
        </p:nvSpPr>
        <p:spPr>
          <a:xfrm>
            <a:off x="548640" y="5440680"/>
            <a:ext cx="11094415" cy="73152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440680"/>
            <a:ext cx="10637215" cy="731520"/>
          </a:xfrm>
          <a:prstGeom prst="rect">
            <a:avLst/>
          </a:prstGeom>
          <a:noFill/>
        </p:spPr>
        <p:txBody>
          <a:bodyPr wrap="square" anchor="ctr" lIns="0" rIns="0" tIns="0" bIns="0">
            <a:spAutoFit/>
          </a:bodyPr>
          <a:lstStyle/>
          <a:p>
            <a:pPr algn="l">
              <a:spcAft>
                <a:spcPts val="600"/>
              </a:spcAft>
            </a:pPr>
            <a:r>
              <a:rPr sz="1300" b="0" i="0">
                <a:solidFill>
                  <a:srgbClr val="1B2B3A"/>
                </a:solidFill>
                <a:latin typeface="Calibri"/>
              </a:rPr>
              <a:t>At 20% capacity: logistic $5.045M, XGBoost $5.165M, historical score $2.725M, random $1.455M. Models beat the historical score at every capacity from 5% to 50%; a randomised pilot must estimate the real effect.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A3 · EXPLANATION DISAGREEMENT</a:t>
            </a:r>
          </a:p>
        </p:txBody>
      </p:sp>
      <p:sp>
        <p:nvSpPr>
          <p:cNvPr id="3" name="TextBox 2"/>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SHAP, permutation importance and XPER rank differently</a:t>
            </a:r>
          </a:p>
        </p:txBody>
      </p:sp>
      <p:sp>
        <p:nvSpPr>
          <p:cNvPr id="4" name="TextBox 3"/>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5" name="TextBox 4"/>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A3</a:t>
            </a:r>
          </a:p>
        </p:txBody>
      </p:sp>
      <p:pic>
        <p:nvPicPr>
          <p:cNvPr id="6" name="Picture 5" descr="explanation_agreement.png"/>
          <p:cNvPicPr>
            <a:picLocks noChangeAspect="1"/>
          </p:cNvPicPr>
          <p:nvPr/>
        </p:nvPicPr>
        <p:blipFill>
          <a:blip r:embed="rId2"/>
          <a:stretch>
            <a:fillRect/>
          </a:stretch>
        </p:blipFill>
        <p:spPr>
          <a:xfrm>
            <a:off x="548640" y="1963015"/>
            <a:ext cx="7498079" cy="3754929"/>
          </a:xfrm>
          <a:prstGeom prst="rect">
            <a:avLst/>
          </a:prstGeom>
        </p:spPr>
      </p:pic>
      <p:sp>
        <p:nvSpPr>
          <p:cNvPr id="7" name="Rounded Rectangle 6"/>
          <p:cNvSpPr/>
          <p:nvPr/>
        </p:nvSpPr>
        <p:spPr>
          <a:xfrm>
            <a:off x="8412480" y="1645920"/>
            <a:ext cx="3230575" cy="137160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645920"/>
            <a:ext cx="2773375" cy="1371600"/>
          </a:xfrm>
          <a:prstGeom prst="rect">
            <a:avLst/>
          </a:prstGeom>
          <a:noFill/>
        </p:spPr>
        <p:txBody>
          <a:bodyPr wrap="square" anchor="ctr" lIns="0" rIns="0" tIns="0" bIns="0">
            <a:spAutoFit/>
          </a:bodyPr>
          <a:lstStyle/>
          <a:p>
            <a:pPr algn="l">
              <a:spcAft>
                <a:spcPts val="600"/>
              </a:spcAft>
            </a:pPr>
            <a:r>
              <a:rPr sz="1400" b="0" i="0">
                <a:solidFill>
                  <a:srgbClr val="1B2B3A"/>
                </a:solidFill>
                <a:latin typeface="Calibri"/>
              </a:rPr>
              <a:t>Spearman 0.53–0.81; 8–10 of the top ten features shared. The set of drivers is robust, the order is method-dependent.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A4 · GLOBAL SURROGATE</a:t>
            </a:r>
          </a:p>
        </p:txBody>
      </p:sp>
      <p:sp>
        <p:nvSpPr>
          <p:cNvPr id="3" name="TextBox 2"/>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A depth-3 tree that mimics XGBoost</a:t>
            </a:r>
          </a:p>
        </p:txBody>
      </p:sp>
      <p:sp>
        <p:nvSpPr>
          <p:cNvPr id="4" name="TextBox 3"/>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5" name="TextBox 4"/>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A4</a:t>
            </a:r>
          </a:p>
        </p:txBody>
      </p:sp>
      <p:pic>
        <p:nvPicPr>
          <p:cNvPr id="6" name="Picture 5" descr="global_surrogate.png"/>
          <p:cNvPicPr>
            <a:picLocks noChangeAspect="1"/>
          </p:cNvPicPr>
          <p:nvPr/>
        </p:nvPicPr>
        <p:blipFill>
          <a:blip r:embed="rId2"/>
          <a:stretch>
            <a:fillRect/>
          </a:stretch>
        </p:blipFill>
        <p:spPr>
          <a:xfrm>
            <a:off x="1727033" y="1554480"/>
            <a:ext cx="8737627" cy="3749039"/>
          </a:xfrm>
          <a:prstGeom prst="rect">
            <a:avLst/>
          </a:prstGeom>
        </p:spPr>
      </p:pic>
      <p:sp>
        <p:nvSpPr>
          <p:cNvPr id="7" name="Rounded Rectangle 6"/>
          <p:cNvSpPr/>
          <p:nvPr/>
        </p:nvSpPr>
        <p:spPr>
          <a:xfrm>
            <a:off x="548640" y="5440680"/>
            <a:ext cx="11094415" cy="73152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440680"/>
            <a:ext cx="10637215" cy="731520"/>
          </a:xfrm>
          <a:prstGeom prst="rect">
            <a:avLst/>
          </a:prstGeom>
          <a:noFill/>
        </p:spPr>
        <p:txBody>
          <a:bodyPr wrap="square" anchor="ctr" lIns="0" rIns="0" tIns="0" bIns="0">
            <a:spAutoFit/>
          </a:bodyPr>
          <a:lstStyle/>
          <a:p>
            <a:pPr algn="l">
              <a:spcAft>
                <a:spcPts val="600"/>
              </a:spcAft>
            </a:pPr>
            <a:r>
              <a:rPr sz="1300" b="0" i="0">
                <a:solidFill>
                  <a:srgbClr val="1B2B3A"/>
                </a:solidFill>
                <a:latin typeface="Calibri"/>
              </a:rPr>
              <a:t>Test fidelity R² = 0.61: readable, but it misses much of what XGBoost does. A surrogate can give an illusion of interpretability.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A5 · THRESHOLD FRONTIER</a:t>
            </a:r>
          </a:p>
        </p:txBody>
      </p:sp>
      <p:sp>
        <p:nvSpPr>
          <p:cNvPr id="3" name="TextBox 2"/>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Group thresholds: the fairness/utility frontier</a:t>
            </a:r>
          </a:p>
        </p:txBody>
      </p:sp>
      <p:sp>
        <p:nvSpPr>
          <p:cNvPr id="4" name="TextBox 3"/>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5" name="TextBox 4"/>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A5</a:t>
            </a:r>
          </a:p>
        </p:txBody>
      </p:sp>
      <p:pic>
        <p:nvPicPr>
          <p:cNvPr id="6" name="Picture 5" descr="fairness_frontier.png"/>
          <p:cNvPicPr>
            <a:picLocks noChangeAspect="1"/>
          </p:cNvPicPr>
          <p:nvPr/>
        </p:nvPicPr>
        <p:blipFill>
          <a:blip r:embed="rId2"/>
          <a:stretch>
            <a:fillRect/>
          </a:stretch>
        </p:blipFill>
        <p:spPr>
          <a:xfrm>
            <a:off x="548640" y="1973971"/>
            <a:ext cx="11094415" cy="2910056"/>
          </a:xfrm>
          <a:prstGeom prst="rect">
            <a:avLst/>
          </a:prstGeom>
        </p:spPr>
      </p:pic>
      <p:sp>
        <p:nvSpPr>
          <p:cNvPr id="7" name="Rounded Rectangle 6"/>
          <p:cNvSpPr/>
          <p:nvPr/>
        </p:nvSpPr>
        <p:spPr>
          <a:xfrm>
            <a:off x="548640" y="5440680"/>
            <a:ext cx="11094415" cy="73152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440680"/>
            <a:ext cx="10637215" cy="731520"/>
          </a:xfrm>
          <a:prstGeom prst="rect">
            <a:avLst/>
          </a:prstGeom>
          <a:noFill/>
        </p:spPr>
        <p:txBody>
          <a:bodyPr wrap="square" anchor="ctr" lIns="0" rIns="0" tIns="0" bIns="0">
            <a:spAutoFit/>
          </a:bodyPr>
          <a:lstStyle/>
          <a:p>
            <a:pPr algn="l">
              <a:spcAft>
                <a:spcPts val="600"/>
              </a:spcAft>
            </a:pPr>
            <a:r>
              <a:rPr sz="1300" b="0" i="0">
                <a:solidFill>
                  <a:srgbClr val="1B2B3A"/>
                </a:solidFill>
                <a:latin typeface="Calibri"/>
              </a:rPr>
              <a:t>Optimised on the evaluation set, so optimistic. Group-specific thresholds by race or gender are disparate treatment.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A6 · AGE</a:t>
            </a:r>
          </a:p>
        </p:txBody>
      </p:sp>
      <p:sp>
        <p:nvSpPr>
          <p:cNvPr id="3" name="TextBox 2"/>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Age: the largest gap, and a policy choice</a:t>
            </a:r>
          </a:p>
        </p:txBody>
      </p:sp>
      <p:sp>
        <p:nvSpPr>
          <p:cNvPr id="4" name="TextBox 3"/>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5" name="TextBox 4"/>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A6</a:t>
            </a:r>
          </a:p>
        </p:txBody>
      </p:sp>
      <p:pic>
        <p:nvPicPr>
          <p:cNvPr id="6" name="Picture 5" descr="fpdp_age_focus.png"/>
          <p:cNvPicPr>
            <a:picLocks noChangeAspect="1"/>
          </p:cNvPicPr>
          <p:nvPr/>
        </p:nvPicPr>
        <p:blipFill>
          <a:blip r:embed="rId2"/>
          <a:stretch>
            <a:fillRect/>
          </a:stretch>
        </p:blipFill>
        <p:spPr>
          <a:xfrm>
            <a:off x="548640" y="1679589"/>
            <a:ext cx="11094415" cy="3498821"/>
          </a:xfrm>
          <a:prstGeom prst="rect">
            <a:avLst/>
          </a:prstGeom>
        </p:spPr>
      </p:pic>
      <p:sp>
        <p:nvSpPr>
          <p:cNvPr id="7" name="Rounded Rectangle 6"/>
          <p:cNvSpPr/>
          <p:nvPr/>
        </p:nvSpPr>
        <p:spPr>
          <a:xfrm>
            <a:off x="548640" y="5440680"/>
            <a:ext cx="11094415" cy="73152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440680"/>
            <a:ext cx="10637215" cy="731520"/>
          </a:xfrm>
          <a:prstGeom prst="rect">
            <a:avLst/>
          </a:prstGeom>
          <a:noFill/>
        </p:spPr>
        <p:txBody>
          <a:bodyPr wrap="square" anchor="ctr" lIns="0" rIns="0" tIns="0" bIns="0">
            <a:spAutoFit/>
          </a:bodyPr>
          <a:lstStyle/>
          <a:p>
            <a:pPr algn="l">
              <a:spcAft>
                <a:spcPts val="600"/>
              </a:spcAft>
            </a:pPr>
            <a:r>
              <a:rPr sz="1300" b="0" i="0">
                <a:solidFill>
                  <a:srgbClr val="1B2B3A"/>
                </a:solidFill>
                <a:latin typeface="Calibri"/>
              </a:rPr>
              <a:t>FNR gap &lt;33 − 33+: −0.23 to −0.24, mostly following base rates. Re-arrested 48+: 97% not selected, vs 49% at 18–22. Age is a validated, legally accepted risk factor and FPDP finds no candidate: it runs through criminal history. Rank by risk or by need is the client's policy choice.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A7 · PROCESS</a:t>
            </a:r>
          </a:p>
        </p:txBody>
      </p:sp>
      <p:sp>
        <p:nvSpPr>
          <p:cNvPr id="3" name="TextBox 2"/>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How we got here: what we tried, where we landed</a:t>
            </a:r>
          </a:p>
        </p:txBody>
      </p:sp>
      <p:sp>
        <p:nvSpPr>
          <p:cNvPr id="4" name="TextBox 3"/>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5" name="TextBox 4"/>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A7</a:t>
            </a:r>
          </a:p>
        </p:txBody>
      </p:sp>
      <p:pic>
        <p:nvPicPr>
          <p:cNvPr id="6" name="Picture 5" descr="improvement_journey.png"/>
          <p:cNvPicPr>
            <a:picLocks noChangeAspect="1"/>
          </p:cNvPicPr>
          <p:nvPr/>
        </p:nvPicPr>
        <p:blipFill>
          <a:blip r:embed="rId2"/>
          <a:stretch>
            <a:fillRect/>
          </a:stretch>
        </p:blipFill>
        <p:spPr>
          <a:xfrm>
            <a:off x="924757" y="1554480"/>
            <a:ext cx="10342179" cy="3749039"/>
          </a:xfrm>
          <a:prstGeom prst="rect">
            <a:avLst/>
          </a:prstGeom>
        </p:spPr>
      </p:pic>
      <p:sp>
        <p:nvSpPr>
          <p:cNvPr id="7" name="Rounded Rectangle 6"/>
          <p:cNvSpPr/>
          <p:nvPr/>
        </p:nvSpPr>
        <p:spPr>
          <a:xfrm>
            <a:off x="548640" y="5440680"/>
            <a:ext cx="11094415" cy="73152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440680"/>
            <a:ext cx="10637215" cy="731520"/>
          </a:xfrm>
          <a:prstGeom prst="rect">
            <a:avLst/>
          </a:prstGeom>
          <a:noFill/>
        </p:spPr>
        <p:txBody>
          <a:bodyPr wrap="square" anchor="ctr" lIns="0" rIns="0" tIns="0" bIns="0">
            <a:spAutoFit/>
          </a:bodyPr>
          <a:lstStyle/>
          <a:p>
            <a:pPr algn="l">
              <a:spcAft>
                <a:spcPts val="600"/>
              </a:spcAft>
            </a:pPr>
            <a:r>
              <a:rPr sz="1300" b="0" i="0">
                <a:solidFill>
                  <a:srgbClr val="1B2B3A"/>
                </a:solidFill>
                <a:latin typeface="Calibri"/>
              </a:rPr>
              <a:t>Full log in docs/JOURNEY.md — every step measured, including the attempts we rejected.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A8 · LIME</a:t>
            </a:r>
          </a:p>
        </p:txBody>
      </p:sp>
      <p:sp>
        <p:nvSpPr>
          <p:cNvPr id="3" name="TextBox 2"/>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LIME for three people, with its fidelity</a:t>
            </a:r>
          </a:p>
        </p:txBody>
      </p:sp>
      <p:sp>
        <p:nvSpPr>
          <p:cNvPr id="4" name="TextBox 3"/>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5" name="TextBox 4"/>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A8</a:t>
            </a:r>
          </a:p>
        </p:txBody>
      </p:sp>
      <p:pic>
        <p:nvPicPr>
          <p:cNvPr id="6" name="Picture 5" descr="lime_individual.png"/>
          <p:cNvPicPr>
            <a:picLocks noChangeAspect="1"/>
          </p:cNvPicPr>
          <p:nvPr/>
        </p:nvPicPr>
        <p:blipFill>
          <a:blip r:embed="rId2"/>
          <a:stretch>
            <a:fillRect/>
          </a:stretch>
        </p:blipFill>
        <p:spPr>
          <a:xfrm>
            <a:off x="548640" y="1589304"/>
            <a:ext cx="11094415" cy="3679391"/>
          </a:xfrm>
          <a:prstGeom prst="rect">
            <a:avLst/>
          </a:prstGeom>
        </p:spPr>
      </p:pic>
      <p:sp>
        <p:nvSpPr>
          <p:cNvPr id="7" name="Rounded Rectangle 6"/>
          <p:cNvSpPr/>
          <p:nvPr/>
        </p:nvSpPr>
        <p:spPr>
          <a:xfrm>
            <a:off x="548640" y="5440680"/>
            <a:ext cx="11094415" cy="73152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440680"/>
            <a:ext cx="10637215" cy="731520"/>
          </a:xfrm>
          <a:prstGeom prst="rect">
            <a:avLst/>
          </a:prstGeom>
          <a:noFill/>
        </p:spPr>
        <p:txBody>
          <a:bodyPr wrap="square" anchor="ctr" lIns="0" rIns="0" tIns="0" bIns="0">
            <a:spAutoFit/>
          </a:bodyPr>
          <a:lstStyle/>
          <a:p>
            <a:pPr algn="l">
              <a:spcAft>
                <a:spcPts val="600"/>
              </a:spcAft>
            </a:pPr>
            <a:r>
              <a:rPr sz="1300" b="0" i="0">
                <a:solidFill>
                  <a:srgbClr val="1B2B3A"/>
                </a:solidFill>
                <a:latin typeface="Calibri"/>
              </a:rPr>
              <a:t>Category-aware LIME on raw fields: local R² 0.33–0.49; every condition keeps its sign across three seeds. Quote it for direction, SHAP for size.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A9 · PERMUTATION IMPORTANCE</a:t>
            </a:r>
          </a:p>
        </p:txBody>
      </p:sp>
      <p:sp>
        <p:nvSpPr>
          <p:cNvPr id="3" name="TextBox 2"/>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Permutation importance: shuffle one field, measure the loss</a:t>
            </a:r>
          </a:p>
        </p:txBody>
      </p:sp>
      <p:sp>
        <p:nvSpPr>
          <p:cNvPr id="4" name="TextBox 3"/>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5" name="TextBox 4"/>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A9</a:t>
            </a:r>
          </a:p>
        </p:txBody>
      </p:sp>
      <p:pic>
        <p:nvPicPr>
          <p:cNvPr id="6" name="Picture 5" descr="permutation_importance_readable.png"/>
          <p:cNvPicPr>
            <a:picLocks noChangeAspect="1"/>
          </p:cNvPicPr>
          <p:nvPr/>
        </p:nvPicPr>
        <p:blipFill>
          <a:blip r:embed="rId2"/>
          <a:stretch>
            <a:fillRect/>
          </a:stretch>
        </p:blipFill>
        <p:spPr>
          <a:xfrm>
            <a:off x="548640" y="1745371"/>
            <a:ext cx="11094415" cy="3367257"/>
          </a:xfrm>
          <a:prstGeom prst="rect">
            <a:avLst/>
          </a:prstGeom>
        </p:spPr>
      </p:pic>
      <p:sp>
        <p:nvSpPr>
          <p:cNvPr id="7" name="Rounded Rectangle 6"/>
          <p:cNvSpPr/>
          <p:nvPr/>
        </p:nvSpPr>
        <p:spPr>
          <a:xfrm>
            <a:off x="548640" y="5440680"/>
            <a:ext cx="11094415" cy="73152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440680"/>
            <a:ext cx="10637215" cy="731520"/>
          </a:xfrm>
          <a:prstGeom prst="rect">
            <a:avLst/>
          </a:prstGeom>
          <a:noFill/>
        </p:spPr>
        <p:txBody>
          <a:bodyPr wrap="square" anchor="ctr" lIns="0" rIns="0" tIns="0" bIns="0">
            <a:spAutoFit/>
          </a:bodyPr>
          <a:lstStyle/>
          <a:p>
            <a:pPr algn="l">
              <a:spcAft>
                <a:spcPts val="600"/>
              </a:spcAft>
            </a:pPr>
            <a:r>
              <a:rPr sz="1300" b="0" i="0">
                <a:solidFill>
                  <a:srgbClr val="1B2B3A"/>
                </a:solidFill>
                <a:latin typeface="Calibri"/>
              </a:rPr>
              <a:t>Same drivers as SHAP and XPER. TabICLv2 was measured on 10 of 29 fields only: each shuffle needs a full foundation-model prediction pass.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A10 · METHOD OVERVIEW</a:t>
            </a:r>
          </a:p>
        </p:txBody>
      </p:sp>
      <p:sp>
        <p:nvSpPr>
          <p:cNvPr id="3" name="TextBox 2"/>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Which interpretability method, for which model</a:t>
            </a:r>
          </a:p>
        </p:txBody>
      </p:sp>
      <p:sp>
        <p:nvSpPr>
          <p:cNvPr id="4" name="TextBox 3"/>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5" name="TextBox 4"/>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A10</a:t>
            </a:r>
          </a:p>
        </p:txBody>
      </p:sp>
      <p:pic>
        <p:nvPicPr>
          <p:cNvPr id="6" name="Picture 5" descr="interpretability_matrix.png"/>
          <p:cNvPicPr>
            <a:picLocks noChangeAspect="1"/>
          </p:cNvPicPr>
          <p:nvPr/>
        </p:nvPicPr>
        <p:blipFill>
          <a:blip r:embed="rId2"/>
          <a:stretch>
            <a:fillRect/>
          </a:stretch>
        </p:blipFill>
        <p:spPr>
          <a:xfrm>
            <a:off x="548640" y="1554480"/>
            <a:ext cx="6240667" cy="4572000"/>
          </a:xfrm>
          <a:prstGeom prst="rect">
            <a:avLst/>
          </a:prstGeom>
        </p:spPr>
      </p:pic>
      <p:sp>
        <p:nvSpPr>
          <p:cNvPr id="7" name="Rounded Rectangle 6"/>
          <p:cNvSpPr/>
          <p:nvPr/>
        </p:nvSpPr>
        <p:spPr>
          <a:xfrm>
            <a:off x="7155067" y="1645920"/>
            <a:ext cx="4487987" cy="1097280"/>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83667" y="1645920"/>
            <a:ext cx="4030787" cy="1097280"/>
          </a:xfrm>
          <a:prstGeom prst="rect">
            <a:avLst/>
          </a:prstGeom>
          <a:noFill/>
        </p:spPr>
        <p:txBody>
          <a:bodyPr wrap="square" anchor="ctr" lIns="0" rIns="0" tIns="0" bIns="0">
            <a:spAutoFit/>
          </a:bodyPr>
          <a:lstStyle/>
          <a:p>
            <a:pPr algn="l">
              <a:spcAft>
                <a:spcPts val="600"/>
              </a:spcAft>
            </a:pPr>
            <a:r>
              <a:rPr sz="1400" b="0" i="0">
                <a:solidFill>
                  <a:srgbClr val="1B2B3A"/>
                </a:solidFill>
                <a:latin typeface="Calibri"/>
              </a:rPr>
              <a:t>Method × model, grouped into global, local and performance explanations.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5669280" cy="274320"/>
          </a:xfrm>
          <a:prstGeom prst="rect">
            <a:avLst/>
          </a:prstGeom>
          <a:noFill/>
        </p:spPr>
        <p:txBody>
          <a:bodyPr wrap="square" anchor="t" lIns="0" rIns="0" tIns="0" bIns="0">
            <a:spAutoFit/>
          </a:bodyPr>
          <a:lstStyle/>
          <a:p>
            <a:pPr algn="l">
              <a:spcAft>
                <a:spcPts val="600"/>
              </a:spcAft>
            </a:pPr>
            <a:r>
              <a:rPr sz="1200" b="1" i="0">
                <a:solidFill>
                  <a:srgbClr val="1F7A70"/>
                </a:solidFill>
                <a:latin typeface="Calibri"/>
              </a:rPr>
              <a:t>A11 · PILOT ARM 2</a:t>
            </a:r>
          </a:p>
        </p:txBody>
      </p:sp>
      <p:sp>
        <p:nvSpPr>
          <p:cNvPr id="3" name="TextBox 2"/>
          <p:cNvSpPr txBox="1"/>
          <p:nvPr/>
        </p:nvSpPr>
        <p:spPr>
          <a:xfrm>
            <a:off x="548640" y="713232"/>
            <a:ext cx="11094415" cy="685800"/>
          </a:xfrm>
          <a:prstGeom prst="rect">
            <a:avLst/>
          </a:prstGeom>
          <a:noFill/>
        </p:spPr>
        <p:txBody>
          <a:bodyPr wrap="square" anchor="t" lIns="0" rIns="0" tIns="0" bIns="0">
            <a:spAutoFit/>
          </a:bodyPr>
          <a:lstStyle/>
          <a:p>
            <a:pPr algn="l">
              <a:spcAft>
                <a:spcPts val="600"/>
              </a:spcAft>
            </a:pPr>
            <a:r>
              <a:rPr sz="2800" b="1" i="0">
                <a:solidFill>
                  <a:srgbClr val="1B2B3A"/>
                </a:solidFill>
                <a:latin typeface="Calibri"/>
              </a:rPr>
              <a:t>Dropping gang affiliation, re-evaluated on all four dimensions</a:t>
            </a:r>
          </a:p>
        </p:txBody>
      </p:sp>
      <p:sp>
        <p:nvSpPr>
          <p:cNvPr id="4" name="TextBox 3"/>
          <p:cNvSpPr txBox="1"/>
          <p:nvPr/>
        </p:nvSpPr>
        <p:spPr>
          <a:xfrm>
            <a:off x="548640" y="6419088"/>
            <a:ext cx="6400800" cy="228600"/>
          </a:xfrm>
          <a:prstGeom prst="rect">
            <a:avLst/>
          </a:prstGeom>
          <a:noFill/>
        </p:spPr>
        <p:txBody>
          <a:bodyPr wrap="square" anchor="t" lIns="0" rIns="0" tIns="0" bIns="0">
            <a:spAutoFit/>
          </a:bodyPr>
          <a:lstStyle/>
          <a:p>
            <a:pPr algn="l">
              <a:spcAft>
                <a:spcPts val="600"/>
              </a:spcAft>
            </a:pPr>
            <a:r>
              <a:rPr sz="1000" b="0" i="0">
                <a:solidFill>
                  <a:srgbClr val="8795A2"/>
                </a:solidFill>
                <a:latin typeface="Calibri"/>
              </a:rPr>
              <a:t>Team 11  ·  Trustworthy Recidivism Forecasting</a:t>
            </a:r>
          </a:p>
        </p:txBody>
      </p:sp>
      <p:sp>
        <p:nvSpPr>
          <p:cNvPr id="5" name="TextBox 4"/>
          <p:cNvSpPr txBox="1"/>
          <p:nvPr/>
        </p:nvSpPr>
        <p:spPr>
          <a:xfrm>
            <a:off x="10271455" y="6419088"/>
            <a:ext cx="1371600" cy="228600"/>
          </a:xfrm>
          <a:prstGeom prst="rect">
            <a:avLst/>
          </a:prstGeom>
          <a:noFill/>
        </p:spPr>
        <p:txBody>
          <a:bodyPr wrap="square" anchor="t" lIns="0" rIns="0" tIns="0" bIns="0">
            <a:spAutoFit/>
          </a:bodyPr>
          <a:lstStyle/>
          <a:p>
            <a:pPr algn="r">
              <a:spcAft>
                <a:spcPts val="600"/>
              </a:spcAft>
            </a:pPr>
            <a:r>
              <a:rPr sz="1000" b="0" i="0">
                <a:solidFill>
                  <a:srgbClr val="8795A2"/>
                </a:solidFill>
                <a:latin typeface="Calibri"/>
              </a:rPr>
              <a:t>A11</a:t>
            </a:r>
          </a:p>
        </p:txBody>
      </p:sp>
      <p:pic>
        <p:nvPicPr>
          <p:cNvPr id="6" name="Picture 5" descr="gang_variant_comparison.png"/>
          <p:cNvPicPr>
            <a:picLocks noChangeAspect="1"/>
          </p:cNvPicPr>
          <p:nvPr/>
        </p:nvPicPr>
        <p:blipFill>
          <a:blip r:embed="rId2"/>
          <a:stretch>
            <a:fillRect/>
          </a:stretch>
        </p:blipFill>
        <p:spPr>
          <a:xfrm>
            <a:off x="548640" y="1802411"/>
            <a:ext cx="7498079" cy="4076137"/>
          </a:xfrm>
          <a:prstGeom prst="rect">
            <a:avLst/>
          </a:prstGeom>
        </p:spPr>
      </p:pic>
      <p:sp>
        <p:nvSpPr>
          <p:cNvPr id="7" name="Rounded Rectangle 6"/>
          <p:cNvSpPr/>
          <p:nvPr/>
        </p:nvSpPr>
        <p:spPr>
          <a:xfrm>
            <a:off x="8412480" y="1645920"/>
            <a:ext cx="3230575" cy="1645919"/>
          </a:xfrm>
          <a:prstGeom prst="roundRect">
            <a:avLst>
              <a:gd name="adj" fmla="val 6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41080" y="1645920"/>
            <a:ext cx="2773375" cy="1645919"/>
          </a:xfrm>
          <a:prstGeom prst="rect">
            <a:avLst/>
          </a:prstGeom>
          <a:noFill/>
        </p:spPr>
        <p:txBody>
          <a:bodyPr wrap="square" anchor="ctr" lIns="0" rIns="0" tIns="0" bIns="0">
            <a:spAutoFit/>
          </a:bodyPr>
          <a:lstStyle/>
          <a:p>
            <a:pPr algn="l">
              <a:spcAft>
                <a:spcPts val="600"/>
              </a:spcAft>
            </a:pPr>
            <a:r>
              <a:rPr sz="1400" b="0" i="0">
                <a:solidFill>
                  <a:srgbClr val="1B2B3A"/>
                </a:solidFill>
                <a:latin typeface="Calibri"/>
              </a:rPr>
              <a:t>Gender gap closes; stability and drivers barely change; race stays within ±5 pts but flips sign. Cost: AUC −0.014, 27 fewer re-arrests captured.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