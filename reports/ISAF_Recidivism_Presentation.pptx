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64008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A useful score</a:t>
            </a:r>
            <a:br/>
            <a:r>
              <a:t>must earn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5852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>
                <a:solidFill>
                  <a:srgbClr val="F0F4F8"/>
                </a:solidFill>
                <a:latin typeface="Aptos"/>
              </a:defRPr>
            </a:pPr>
            <a:r>
              <a:t>Comparing logistic regression, XGBoost and TabICLv2 across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Ryan Balech and team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25,835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Georgia parole cohort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CLIENT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Start with the decision, not the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Prioritize limited, voluntary re-entry support at supervision start</a:t>
            </a:r>
          </a:p>
          <a:p>
            <a:pPr>
              <a:spcAft>
                <a:spcPts val="14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Estimate a recorded three-year arrest outcome — not inherent criminality</a:t>
            </a:r>
          </a:p>
          <a:p>
            <a:pPr>
              <a:spcAft>
                <a:spcPts val="14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Use only to expand help; never to justify sanctions, detention or surveillance</a:t>
            </a:r>
          </a:p>
          <a:p>
            <a:pPr>
              <a:spcAft>
                <a:spcPts val="14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Success means useful allocation without unacceptable subgroup harm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A clean test set and a strict time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39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77439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UNTOUCHED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77439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77439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Post-release violations, tests, programs and employment are excluded to prevent leakage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Race, gender and geography are excluded from scoring; race and gender remain in the audit layer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The official NIJ split preserves an honest final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Three models expose different trade-offs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Regularized linear score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550 shallow trees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Pretrained in-context transformer</a:t>
            </a:r>
            <a:br/>
            <a:br/>
            <a:r>
              <a:t>Two ensemble 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TabICLv2 wins narrowly; XGBoost calibrates best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32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664208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01368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0.2039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0428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BRIER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136392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27355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0.7336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776472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AUC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08576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745736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0.0118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248656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Model value is a scenario, not a causal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288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1,282–1,292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EVENTS CAPTURED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916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288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≈ 28.7%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916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288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$5.0–5.1M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317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ILLUSTRATIVE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Every assumption is editable in the client application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strong quasi-experimental pilot must estimate actual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The main drivers recur across model families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11384280" cy="3652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34640" y="6181344"/>
            <a:ext cx="6492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Permutation importance shows model reliance, not causal levers.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Fairness changes the preferred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ce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81328"/>
            <a:ext cx="7680960" cy="29061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41080" y="1664208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0807" y="1801368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0.042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0807" y="230428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GAP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3136392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7" y="3273552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0.107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0807" y="3776472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GAP · XGB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8006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F0F4F8"/>
                </a:solidFill>
                <a:latin typeface="Aptos"/>
              </a:defRPr>
            </a:pPr>
            <a:r>
              <a:t>TabICLv2 gender FPR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517550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700" b="1">
                <a:solidFill>
                  <a:srgbClr val="D64343"/>
                </a:solidFill>
                <a:latin typeface="Aptos"/>
              </a:defRPr>
            </a:pPr>
            <a:r>
              <a:t>0.273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Sampling stability is similar; temporal stability is unknown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659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0.022–0.023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4688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CI WIDTH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8288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9659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7B2CBF"/>
                </a:solidFill>
                <a:latin typeface="Aptos"/>
              </a:defRPr>
            </a:pPr>
            <a:r>
              <a:t>0.0079–0.0088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24688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CI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8288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9659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FB8500"/>
                </a:solidFill>
                <a:latin typeface="Aptos"/>
              </a:defRPr>
            </a:pPr>
            <a:r>
              <a:t>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4688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BOOTSTRAPS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8288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19659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D64343"/>
                </a:solidFill>
                <a:latin typeface="Aptos"/>
              </a:defRPr>
            </a:pPr>
            <a:r>
              <a:t>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24688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TIME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75887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Feature-destruction stress tests confirm material input reliance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later release cohort is a hard gate before operational launch</a:t>
            </a:r>
          </a:p>
          <a:p>
            <a:pPr>
              <a:spcAft>
                <a:spcPts val="14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Monitor calibration, input drift and subgroup gaps every quarter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Recommend XGBoost for a controlled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Near-tied accuracy</a:t>
            </a:r>
            <a:br/>
            <a:br/>
            <a:r>
              <a:t>Best calibration</a:t>
            </a:r>
            <a:br/>
            <a:br/>
            <a:r>
              <a:t>Smallest observed race and gender FPR gaps</a:t>
            </a:r>
            <a:br/>
            <a:br/>
            <a:r>
              <a:t>Fast operations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challenger</a:t>
            </a:r>
            <a:br/>
            <a:br/>
            <a:r>
              <a:t>Prospective shadow validation</a:t>
            </a:r>
            <a:br/>
            <a:br/>
            <a:r>
              <a:t>Appeal, override logs and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The application makes trade-offs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Performance and calibration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and gender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 and benefit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Held-out people and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Deployment is a staged evidence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594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FB8500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90195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SHADOW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2313432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Aptos"/>
              </a:defRPr>
            </a:pPr>
            <a:r>
              <a:t>Later cohort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59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828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296" y="1874519"/>
            <a:ext cx="594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FB850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7096" y="190195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7096" y="2313432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Aptos"/>
              </a:defRPr>
            </a:pPr>
            <a:r>
              <a:t>Impact + fairness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7" y="19659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828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874519"/>
            <a:ext cx="594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7B2CB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0024" y="190195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LAUNCH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0024" y="2313432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Aptos"/>
              </a:defRPr>
            </a:pPr>
            <a:r>
              <a:t>Narrow benefit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6256" y="19659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828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874519"/>
            <a:ext cx="5943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800" b="1">
                <a:solidFill>
                  <a:srgbClr val="7B2CB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2952" y="1901952"/>
            <a:ext cx="1920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MONITOR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2952" y="2313432"/>
            <a:ext cx="1920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F0F4F8"/>
                </a:solidFill>
                <a:latin typeface="Aptos"/>
              </a:defRPr>
            </a:pPr>
            <a:r>
              <a:t>Quarterly + stop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1480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Launch only if the score demonstrates benefit without unacceptable subgroup harm.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98932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828FA0"/>
                </a:solidFill>
                <a:latin typeface="Aptos"/>
              </a:defRPr>
            </a:pPr>
            <a:r>
              <a:t>Sources: NIJ challenge brief and data; TabICLv2 model card and papers. Full methodology in the repository.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