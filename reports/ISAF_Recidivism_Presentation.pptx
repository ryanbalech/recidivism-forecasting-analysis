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[P1 · 0:00 · 20s] Team 11. Our client sells risk-assessment tools to US community-supervision agencies. Their question: which three-year re-arrest model should they ship? We judged four dimensions — performance, interpretability, stability, fairness — not accuracy alone.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[P1 · 0:20 · 30s] The score prioritises VOLUNTARY re-entry support: employment, housing, treatment. Never sanctions or detention. Everything later depends on this: being selected means being offered help. Our target is recorded re-arrest, which is only a proxy for need.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[P1 · 0:50 · 40s] NIJ's own split: 18,028 training, 7,807 evaluation, Georgia 2013-2015. About 58% are re-arrested. Black and White men have almost the same rate; women are lower. On the right, missing values: the gang field is missing for EVERY woman and no man. The missingness is structured — over to [P2].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[P2 · 1:30 · 40s] We only use what is known when supervision starts: 29 fields. Race, gender and residence are never inputs; we keep them to audit who gets support. Everything recorded after release is excluded — and we proved why: adding those fields lifts AUC from 0.73 to 0.81, because they leak the outcome.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[P2 · 2:10 · 50s] The leak we found. Gang affiliation is missing for every woman. If missingness is kept, gender is recovered from our own inputs at AUC 1.00 — perfectly. TabICL treats a missing value as its own category, so it effectively saw gender. We fixed it with mode-filling and a regression test. But even after the fix, gender is still recoverable at 0.78: excluding an attribute is not removing it. [P5] picks this up.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[P3 · 3:00 · 50s] Three families, as the brief requires, each tuned by cross-validation on training data only. Logistic with L1, C chosen by grid search. XGBoost with a 60-draw random search; deeper trees overfit and were rejected. TabICL with 16 ensemble members; gains level off near 8. Six other ML models all land in the same narrow AUC band.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[P3 · 3:50 · 50s] Finding one: performance cannot pick the model. All three within 0.003 AUC. XGBoost beats logistic by 0.0025 on a PAIRED bootstrap — real, but small. Calibration: logistic and XGBoost are indistinguishable from perfect; TabICL's slope is 0.91, significantly below 1 — its probabilities are too extreme.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[P3 · 4:40 · 50s] The client's real question: is this better than the score agencies already have? The historical Georgia score in the data reaches 0.60 AUC; our models reach 0.73, and roughly double the scenario net value at 20% capacity. Caveats in the same breath: it is a historical score, and the dollars are a scenario. Over to [P4].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[P4 · 5:30 · 40s] What drives the score. This is a SHAP summary for all 7,807 people: each dot is a person, red means a high value of that field, and dots to the right raise risk. Age comes first in both models - young people (blue) sit on the right - then gang affiliation and prior record. Logistic draws straight bars because it is linear; XGBoost spreads out because it picks up interactions. The cards turn this into probability points with partial dependence, for all three models: set everyone to age 23-27, then to 48+, and the average predicted risk falls by 26 to 29 points; switching gang affiliation from No to Yes raises it by 16 to 17. The three models agree - including TabICL, which SHAP cannot reach. For logistic regression this PDP difference is exactly the course's average marginal effect.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[P4 · 6:10 · 40s] Now from the outside, without opening the model. Partial dependence shows the average effect of one feature; the faint individual curves show each person. All three models agree that risk falls with age. This is the only way we can look inside TabICL at all: it has no native attribution. XGBoost can be summarised by a small surrogate tree, but that tree reproduces only 61% of it. Logistic needs none of this: its coefficients are the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[P4 · 6:50 · 40s] One person, explained by both models. Red raises risk, green lowers it — this is what an appeal would contest. We checked faithfulness: LIME on raw features fits locally about twice as well as before, and all 63 conditions keep their sign across seeds. We quote LIME for direction and SHAP for size.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[P4 · 7:30 · 40s] Last, explaining PERFORMANCE rather than predictions — XPER, from this course. It splits the AUC itself into contributions: an uninformative model gets about 0.47, and each feature adds its share; age alone adds about 0.09. Compared with SHAP and permutation importance, the three methods agree on WHICH features matter but not on their order, because they answer different questions: prediction, loss, performance. So we quote the set, not the rank. Over to [P5].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[P5 · 8:10 · 45s] Fairness. Our primary metric is FNR: people later re-arrested but not offered support — the real harm here. Race first, the question everyone expects after COMPAS. Base rates are almost equal, so the data does not force a gap. Excluding race guarantees twins get the same score, but race is still recoverable at 0.71 through criminal history. So we audit outcomes, not inputs.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[P5 · 8:55 · 45s] The outcome audit: every race gap is within five points by an equivalence test, and none survives Holm correction. Three caveats: the small gap runs toward MORE support for Black people; the label is recorded arrest, which may carry policing bias; and prediction quality is lower for Black people, AUC 0.72 vs 0.75.</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[P5 · 9:40 · 45s] Gender is where we found a problem. Re-arrested women miss support 10 to 12 points more often, in all three models — so it comes from the features. Every model over-predicts women, yet selects them less: with different base rates, calibration and equal FNR cannot both hold. Age shows an even larger gap, but by design — age is a validated risk factor — so it is the client's policy choice; details in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[P5 · 10:25 · 45s] We located the cause with the course's FPDP: gang affiliation, never recorded for women. Dropping it, selected in every one of five training folds, closes about 70% of the gap out of sample for about one AUC point — at the cost of men's FNR rising two points. It is an option for the client, not applied to our recommended model. Over to [P6].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[P6 · 11:10 · 40s] Stability, in the course's sense: two samples from the same population should give the same model. Eight bootstrap refits, same resamples for all three models. Logistic drifts less than XGBoost on all 28 pairs. Jaccard around 0.77 means about 13% of the selected people change per refit.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[P6 · 11:50 · 50s] At the level of one person, about one decision in seven flips across refits. Referring contested cases to a human raises precision — but WIDENS the gender gap, because women sit at the margin more often. Abstention is not fairness-neutral.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[P6 · 12:40 · 60s] Reading across the four dimensions: performance is a tie; interpretability and stability favour logistic; fairness gaps are shared by all three. So: logistic for a shadow pilot, XGBoost as challenger. The two select 85% of the same people and the difference in captured re-arrests includes zero. We do NOT claim logistic is fairer or better calibrated. It reverses if the client quotes scores numerically, or operates at a scale where a dozen extra offers matter.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[P1 · 13:40 · 45s] Demo one person: scores from all three models, the explanation, how many of eight refits select them, then edit an input and watch the score move. If the app fails, switch to the screenshots.</a:t>
            </a:r>
          </a:p>
          <a:p/>
          <a:p>
            <a:r>
              <a:t>[APPENDIX CUES] A1 learning curve · A2 economics · A3 explanation disagreement · A4 global surrogate · A5 threshold frontier · A6 age · A7 process · A8 LIME · A9 permutation importance · A10 method overview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658368" y="530352"/>
            <a:ext cx="7315200" cy="274320"/>
          </a:xfrm>
          <a:prstGeom prst="rect">
            <a:avLst/>
          </a:prstGeom>
          <a:noFill/>
        </p:spPr>
        <p:txBody>
          <a:bodyPr wrap="square" anchor="t">
            <a:spAutoFit/>
          </a:bodyPr>
          <a:lstStyle/>
          <a:p>
            <a:pPr algn="l">
              <a:defRPr sz="1200" b="1">
                <a:solidFill>
                  <a:srgbClr val="FB8500"/>
                </a:solidFill>
                <a:latin typeface="Aptos"/>
              </a:defRPr>
            </a:pPr>
            <a:r>
              <a:t>TRUSTWORTHY AI / RECIDIVISM</a:t>
            </a:r>
          </a:p>
        </p:txBody>
      </p:sp>
      <p:sp>
        <p:nvSpPr>
          <p:cNvPr id="3" name="TextBox 2"/>
          <p:cNvSpPr txBox="1"/>
          <p:nvPr/>
        </p:nvSpPr>
        <p:spPr>
          <a:xfrm>
            <a:off x="658368" y="1298448"/>
            <a:ext cx="7315200" cy="1508760"/>
          </a:xfrm>
          <a:prstGeom prst="rect">
            <a:avLst/>
          </a:prstGeom>
          <a:noFill/>
        </p:spPr>
        <p:txBody>
          <a:bodyPr wrap="square" anchor="t">
            <a:spAutoFit/>
          </a:bodyPr>
          <a:lstStyle/>
          <a:p>
            <a:pPr algn="l">
              <a:defRPr sz="3600" b="1">
                <a:solidFill>
                  <a:srgbClr val="FFFFFF"/>
                </a:solidFill>
                <a:latin typeface="Aptos"/>
              </a:defRPr>
            </a:pPr>
            <a:r>
              <a:t>Forecasting risk,</a:t>
            </a:r>
            <a:br/>
            <a:r>
              <a:t>examining trade-offs</a:t>
            </a:r>
          </a:p>
        </p:txBody>
      </p:sp>
      <p:sp>
        <p:nvSpPr>
          <p:cNvPr id="4" name="TextBox 3"/>
          <p:cNvSpPr txBox="1"/>
          <p:nvPr/>
        </p:nvSpPr>
        <p:spPr>
          <a:xfrm>
            <a:off x="694944" y="3063240"/>
            <a:ext cx="6035040" cy="1280160"/>
          </a:xfrm>
          <a:prstGeom prst="rect">
            <a:avLst/>
          </a:prstGeom>
          <a:noFill/>
        </p:spPr>
        <p:txBody>
          <a:bodyPr wrap="square" anchor="t">
            <a:spAutoFit/>
          </a:bodyPr>
          <a:lstStyle/>
          <a:p>
            <a:pPr algn="l">
              <a:defRPr sz="1700" b="0">
                <a:solidFill>
                  <a:srgbClr val="F0F4F8"/>
                </a:solidFill>
                <a:latin typeface="Aptos"/>
              </a:defRPr>
            </a:pPr>
            <a:r>
              <a:t>For a risk-assessment software vendor: which three-year re-arrest model to ship, judged on performance, interpretability, stability and fairness</a:t>
            </a:r>
          </a:p>
        </p:txBody>
      </p:sp>
      <p:sp>
        <p:nvSpPr>
          <p:cNvPr id="5" name="TextBox 4"/>
          <p:cNvSpPr txBox="1"/>
          <p:nvPr/>
        </p:nvSpPr>
        <p:spPr>
          <a:xfrm>
            <a:off x="694944" y="6053328"/>
            <a:ext cx="6400800" cy="274320"/>
          </a:xfrm>
          <a:prstGeom prst="rect">
            <a:avLst/>
          </a:prstGeom>
          <a:noFill/>
        </p:spPr>
        <p:txBody>
          <a:bodyPr wrap="square" anchor="t">
            <a:spAutoFit/>
          </a:bodyPr>
          <a:lstStyle/>
          <a:p>
            <a:pPr algn="l">
              <a:defRPr sz="1100" b="0">
                <a:solidFill>
                  <a:srgbClr val="828FA0"/>
                </a:solidFill>
                <a:latin typeface="Aptos"/>
              </a:defRPr>
            </a:pPr>
            <a:r>
              <a:t>Team 11 · HEC Paris · Fall 2026</a:t>
            </a:r>
          </a:p>
        </p:txBody>
      </p:sp>
      <p:sp>
        <p:nvSpPr>
          <p:cNvPr id="6" name="Rounded Rectangle 5"/>
          <p:cNvSpPr/>
          <p:nvPr/>
        </p:nvSpPr>
        <p:spPr>
          <a:xfrm>
            <a:off x="7818120" y="822960"/>
            <a:ext cx="3337560" cy="5257800"/>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0" y="1097280"/>
            <a:ext cx="2880360" cy="365760"/>
          </a:xfrm>
          <a:prstGeom prst="rect">
            <a:avLst/>
          </a:prstGeom>
          <a:noFill/>
        </p:spPr>
        <p:txBody>
          <a:bodyPr wrap="square" anchor="t">
            <a:spAutoFit/>
          </a:bodyPr>
          <a:lstStyle/>
          <a:p>
            <a:pPr algn="ctr">
              <a:defRPr sz="2000" b="1">
                <a:solidFill>
                  <a:srgbClr val="7B2CBF"/>
                </a:solidFill>
                <a:latin typeface="Aptos"/>
              </a:defRPr>
            </a:pPr>
            <a:r>
              <a:t>0.60 → 0.73</a:t>
            </a:r>
          </a:p>
        </p:txBody>
      </p:sp>
      <p:sp>
        <p:nvSpPr>
          <p:cNvPr id="8" name="TextBox 7"/>
          <p:cNvSpPr txBox="1"/>
          <p:nvPr/>
        </p:nvSpPr>
        <p:spPr>
          <a:xfrm>
            <a:off x="8138160" y="1810512"/>
            <a:ext cx="2697480" cy="4023360"/>
          </a:xfrm>
          <a:prstGeom prst="rect">
            <a:avLst/>
          </a:prstGeom>
          <a:noFill/>
        </p:spPr>
        <p:txBody>
          <a:bodyPr wrap="square" anchor="t">
            <a:spAutoFit/>
          </a:bodyPr>
          <a:lstStyle/>
          <a:p>
            <a:pPr algn="ctr">
              <a:defRPr sz="1500" b="0">
                <a:solidFill>
                  <a:srgbClr val="F0F4F8"/>
                </a:solidFill>
                <a:latin typeface="Aptos"/>
              </a:defRPr>
            </a:pPr>
            <a:r>
              <a:t>Historical score vs our models (ROC AUC)</a:t>
            </a:r>
            <a:br/>
            <a:br/>
            <a:r>
              <a:t>3 model families</a:t>
            </a:r>
            <a:br/>
            <a:br/>
            <a:r>
              <a:t>1 recommendation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INTRO · CLIENT</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Our client, and the decision they sell</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91640"/>
            <a:ext cx="10698480" cy="4389120"/>
          </a:xfrm>
          <a:prstGeom prst="rect">
            <a:avLst/>
          </a:prstGeom>
          <a:noFill/>
        </p:spPr>
        <p:txBody>
          <a:bodyPr wrap="square">
            <a:spAutoFit/>
          </a:bodyPr>
          <a:lstStyle/>
          <a:p>
            <a:pPr>
              <a:spcAft>
                <a:spcPts val="1200"/>
              </a:spcAft>
              <a:defRPr sz="2100">
                <a:solidFill>
                  <a:srgbClr val="FFFFFF"/>
                </a:solidFill>
                <a:latin typeface="Aptos"/>
              </a:defRPr>
            </a:pPr>
            <a:r>
              <a:t>•  Client: a vendor selling risk tools to US community-supervision agencies</a:t>
            </a:r>
          </a:p>
          <a:p>
            <a:pPr>
              <a:spcAft>
                <a:spcPts val="1200"/>
              </a:spcAft>
              <a:defRPr sz="2100">
                <a:solidFill>
                  <a:srgbClr val="FFFFFF"/>
                </a:solidFill>
                <a:latin typeface="Aptos"/>
              </a:defRPr>
            </a:pPr>
            <a:r>
              <a:t>•  Decision: rank people at supervision start; the top 20% are offered voluntary re-entry support</a:t>
            </a:r>
          </a:p>
          <a:p>
            <a:pPr>
              <a:spcAft>
                <a:spcPts val="1200"/>
              </a:spcAft>
              <a:defRPr sz="2100">
                <a:solidFill>
                  <a:srgbClr val="FFFFFF"/>
                </a:solidFill>
                <a:latin typeface="Aptos"/>
              </a:defRPr>
            </a:pPr>
            <a:r>
              <a:t>•  Scope: support allocation only — never sanctions, detention or surveillance</a:t>
            </a:r>
          </a:p>
          <a:p>
            <a:pPr>
              <a:spcAft>
                <a:spcPts val="1200"/>
              </a:spcAft>
              <a:defRPr sz="2100">
                <a:solidFill>
                  <a:srgbClr val="FFFFFF"/>
                </a:solidFill>
                <a:latin typeface="Aptos"/>
              </a:defRPr>
            </a:pPr>
            <a:r>
              <a:t>•  Target: recorded re-arrest within 3 years — a proxy for need, not for offending</a:t>
            </a:r>
          </a:p>
        </p:txBody>
      </p:sp>
      <p:sp>
        <p:nvSpPr>
          <p:cNvPr id="6" name="TextBox 5"/>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7" name="TextBox 6"/>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INTRO · DATA</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Georgia parolees, official split, training-only EDA</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da_overview.png"/>
          <p:cNvPicPr>
            <a:picLocks noChangeAspect="1"/>
          </p:cNvPicPr>
          <p:nvPr/>
        </p:nvPicPr>
        <p:blipFill>
          <a:blip r:embed="rId2"/>
          <a:stretch>
            <a:fillRect/>
          </a:stretch>
        </p:blipFill>
        <p:spPr>
          <a:xfrm>
            <a:off x="365760" y="1554480"/>
            <a:ext cx="8229600" cy="3020700"/>
          </a:xfrm>
          <a:prstGeom prst="rect">
            <a:avLst/>
          </a:prstGeom>
        </p:spPr>
      </p:pic>
      <p:sp>
        <p:nvSpPr>
          <p:cNvPr id="6" name="Rounded Rectangle 5"/>
          <p:cNvSpPr/>
          <p:nvPr/>
        </p:nvSpPr>
        <p:spPr>
          <a:xfrm>
            <a:off x="9098280" y="1645920"/>
            <a:ext cx="2423160" cy="1261872"/>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08007" y="1783080"/>
            <a:ext cx="2194560" cy="438912"/>
          </a:xfrm>
          <a:prstGeom prst="rect">
            <a:avLst/>
          </a:prstGeom>
          <a:noFill/>
        </p:spPr>
        <p:txBody>
          <a:bodyPr wrap="square" anchor="t">
            <a:spAutoFit/>
          </a:bodyPr>
          <a:lstStyle/>
          <a:p>
            <a:pPr algn="ctr">
              <a:defRPr sz="2400" b="1">
                <a:solidFill>
                  <a:srgbClr val="FB8500"/>
                </a:solidFill>
                <a:latin typeface="Aptos"/>
              </a:defRPr>
            </a:pPr>
            <a:r>
              <a:t>57.8%</a:t>
            </a:r>
          </a:p>
        </p:txBody>
      </p:sp>
      <p:sp>
        <p:nvSpPr>
          <p:cNvPr id="8" name="TextBox 7"/>
          <p:cNvSpPr txBox="1"/>
          <p:nvPr/>
        </p:nvSpPr>
        <p:spPr>
          <a:xfrm>
            <a:off x="9208007" y="2304288"/>
            <a:ext cx="2194560" cy="274320"/>
          </a:xfrm>
          <a:prstGeom prst="rect">
            <a:avLst/>
          </a:prstGeom>
          <a:noFill/>
        </p:spPr>
        <p:txBody>
          <a:bodyPr wrap="square" anchor="t">
            <a:spAutoFit/>
          </a:bodyPr>
          <a:lstStyle/>
          <a:p>
            <a:pPr algn="ctr">
              <a:defRPr sz="1100" b="1">
                <a:solidFill>
                  <a:srgbClr val="FFFFFF"/>
                </a:solidFill>
                <a:latin typeface="Aptos"/>
              </a:defRPr>
            </a:pPr>
            <a:r>
              <a:t>RE-ARRESTED IN 3 YEARS</a:t>
            </a:r>
          </a:p>
        </p:txBody>
      </p:sp>
      <p:sp>
        <p:nvSpPr>
          <p:cNvPr id="9" name="TextBox 8"/>
          <p:cNvSpPr txBox="1"/>
          <p:nvPr/>
        </p:nvSpPr>
        <p:spPr>
          <a:xfrm>
            <a:off x="9208007" y="2615184"/>
            <a:ext cx="2194560" cy="164592"/>
          </a:xfrm>
          <a:prstGeom prst="rect">
            <a:avLst/>
          </a:prstGeom>
          <a:noFill/>
        </p:spPr>
        <p:txBody>
          <a:bodyPr wrap="square" anchor="t">
            <a:spAutoFit/>
          </a:bodyPr>
          <a:lstStyle/>
          <a:p>
            <a:pPr algn="ctr">
              <a:defRPr sz="800" b="0">
                <a:solidFill>
                  <a:srgbClr val="F0F4F8"/>
                </a:solidFill>
                <a:latin typeface="Aptos"/>
              </a:defRPr>
            </a:pPr>
            <a:r>
              <a:t>training data, as in the chart</a:t>
            </a:r>
          </a:p>
        </p:txBody>
      </p:sp>
      <p:sp>
        <p:nvSpPr>
          <p:cNvPr id="10" name="Rounded Rectangle 9"/>
          <p:cNvSpPr/>
          <p:nvPr/>
        </p:nvSpPr>
        <p:spPr>
          <a:xfrm>
            <a:off x="9098280" y="3108960"/>
            <a:ext cx="2423160" cy="1261872"/>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208007" y="3246120"/>
            <a:ext cx="2194560" cy="438912"/>
          </a:xfrm>
          <a:prstGeom prst="rect">
            <a:avLst/>
          </a:prstGeom>
          <a:noFill/>
        </p:spPr>
        <p:txBody>
          <a:bodyPr wrap="square" anchor="t">
            <a:spAutoFit/>
          </a:bodyPr>
          <a:lstStyle/>
          <a:p>
            <a:pPr algn="ctr">
              <a:defRPr sz="1800" b="1">
                <a:solidFill>
                  <a:srgbClr val="00B4B4"/>
                </a:solidFill>
                <a:latin typeface="Aptos"/>
              </a:defRPr>
            </a:pPr>
            <a:r>
              <a:t>18,028 / 7,807</a:t>
            </a:r>
          </a:p>
        </p:txBody>
      </p:sp>
      <p:sp>
        <p:nvSpPr>
          <p:cNvPr id="12" name="TextBox 11"/>
          <p:cNvSpPr txBox="1"/>
          <p:nvPr/>
        </p:nvSpPr>
        <p:spPr>
          <a:xfrm>
            <a:off x="9208007" y="3767328"/>
            <a:ext cx="2194560" cy="274320"/>
          </a:xfrm>
          <a:prstGeom prst="rect">
            <a:avLst/>
          </a:prstGeom>
          <a:noFill/>
        </p:spPr>
        <p:txBody>
          <a:bodyPr wrap="square" anchor="t">
            <a:spAutoFit/>
          </a:bodyPr>
          <a:lstStyle/>
          <a:p>
            <a:pPr algn="ctr">
              <a:defRPr sz="1100" b="1">
                <a:solidFill>
                  <a:srgbClr val="FFFFFF"/>
                </a:solidFill>
                <a:latin typeface="Aptos"/>
              </a:defRPr>
            </a:pPr>
            <a:r>
              <a:t>OFFICIAL SPLIT</a:t>
            </a:r>
          </a:p>
        </p:txBody>
      </p:sp>
      <p:sp>
        <p:nvSpPr>
          <p:cNvPr id="13" name="TextBox 12"/>
          <p:cNvSpPr txBox="1"/>
          <p:nvPr/>
        </p:nvSpPr>
        <p:spPr>
          <a:xfrm>
            <a:off x="9208007" y="4078224"/>
            <a:ext cx="2194560" cy="164592"/>
          </a:xfrm>
          <a:prstGeom prst="rect">
            <a:avLst/>
          </a:prstGeom>
          <a:noFill/>
        </p:spPr>
        <p:txBody>
          <a:bodyPr wrap="square" anchor="t">
            <a:spAutoFit/>
          </a:bodyPr>
          <a:lstStyle/>
          <a:p>
            <a:pPr algn="ctr">
              <a:defRPr sz="800" b="0">
                <a:solidFill>
                  <a:srgbClr val="F0F4F8"/>
                </a:solidFill>
                <a:latin typeface="Aptos"/>
              </a:defRPr>
            </a:pPr>
            <a:r>
              <a:t>train / evaluation · NIJ flag</a:t>
            </a:r>
          </a:p>
        </p:txBody>
      </p:sp>
      <p:sp>
        <p:nvSpPr>
          <p:cNvPr id="14" name="Rounded Rectangle 13"/>
          <p:cNvSpPr/>
          <p:nvPr/>
        </p:nvSpPr>
        <p:spPr>
          <a:xfrm>
            <a:off x="9098280" y="4572000"/>
            <a:ext cx="2423160" cy="1261872"/>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08007" y="4709160"/>
            <a:ext cx="2194560" cy="438912"/>
          </a:xfrm>
          <a:prstGeom prst="rect">
            <a:avLst/>
          </a:prstGeom>
          <a:noFill/>
        </p:spPr>
        <p:txBody>
          <a:bodyPr wrap="square" anchor="t">
            <a:spAutoFit/>
          </a:bodyPr>
          <a:lstStyle/>
          <a:p>
            <a:pPr algn="ctr">
              <a:defRPr sz="2000" b="1">
                <a:solidFill>
                  <a:srgbClr val="D64343"/>
                </a:solidFill>
                <a:latin typeface="Aptos"/>
              </a:defRPr>
            </a:pPr>
            <a:r>
              <a:t>100% of women</a:t>
            </a:r>
          </a:p>
        </p:txBody>
      </p:sp>
      <p:sp>
        <p:nvSpPr>
          <p:cNvPr id="16" name="TextBox 15"/>
          <p:cNvSpPr txBox="1"/>
          <p:nvPr/>
        </p:nvSpPr>
        <p:spPr>
          <a:xfrm>
            <a:off x="9208007" y="5230368"/>
            <a:ext cx="2194560" cy="274320"/>
          </a:xfrm>
          <a:prstGeom prst="rect">
            <a:avLst/>
          </a:prstGeom>
          <a:noFill/>
        </p:spPr>
        <p:txBody>
          <a:bodyPr wrap="square" anchor="t">
            <a:spAutoFit/>
          </a:bodyPr>
          <a:lstStyle/>
          <a:p>
            <a:pPr algn="ctr">
              <a:defRPr sz="1100" b="1">
                <a:solidFill>
                  <a:srgbClr val="FFFFFF"/>
                </a:solidFill>
                <a:latin typeface="Aptos"/>
              </a:defRPr>
            </a:pPr>
            <a:r>
              <a:t>GANG FIELD MISSING</a:t>
            </a:r>
          </a:p>
        </p:txBody>
      </p:sp>
      <p:sp>
        <p:nvSpPr>
          <p:cNvPr id="17" name="TextBox 16"/>
          <p:cNvSpPr txBox="1"/>
          <p:nvPr/>
        </p:nvSpPr>
        <p:spPr>
          <a:xfrm>
            <a:off x="9208007" y="5541264"/>
            <a:ext cx="2194560" cy="164592"/>
          </a:xfrm>
          <a:prstGeom prst="rect">
            <a:avLst/>
          </a:prstGeom>
          <a:noFill/>
        </p:spPr>
        <p:txBody>
          <a:bodyPr wrap="square" anchor="t">
            <a:spAutoFit/>
          </a:bodyPr>
          <a:lstStyle/>
          <a:p>
            <a:pPr algn="ctr">
              <a:defRPr sz="800" b="0">
                <a:solidFill>
                  <a:srgbClr val="F0F4F8"/>
                </a:solidFill>
                <a:latin typeface="Aptos"/>
              </a:defRPr>
            </a:pPr>
            <a:r>
              <a:t>and 0% of men → next part</a:t>
            </a:r>
          </a:p>
        </p:txBody>
      </p:sp>
      <p:sp>
        <p:nvSpPr>
          <p:cNvPr id="18" name="TextBox 17"/>
          <p:cNvSpPr txBox="1"/>
          <p:nvPr/>
        </p:nvSpPr>
        <p:spPr>
          <a:xfrm>
            <a:off x="914400" y="6263640"/>
            <a:ext cx="10058400" cy="274320"/>
          </a:xfrm>
          <a:prstGeom prst="rect">
            <a:avLst/>
          </a:prstGeom>
          <a:noFill/>
        </p:spPr>
        <p:txBody>
          <a:bodyPr wrap="square" anchor="t">
            <a:spAutoFit/>
          </a:bodyPr>
          <a:lstStyle/>
          <a:p>
            <a:pPr algn="ctr">
              <a:defRPr sz="1100" b="1">
                <a:solidFill>
                  <a:srgbClr val="FB8500"/>
                </a:solidFill>
                <a:latin typeface="Aptos"/>
              </a:defRPr>
            </a:pPr>
            <a:r>
              <a:t>Cumulative 3-year target: not comparable with NIJ's annual leaderboard. The missingness is structured.</a:t>
            </a:r>
          </a:p>
        </p:txBody>
      </p:sp>
      <p:sp>
        <p:nvSpPr>
          <p:cNvPr id="19" name="TextBox 18"/>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20" name="TextBox 19"/>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FEATURES · ELIGIBILITY</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Only information known when supervision starts</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45920"/>
            <a:ext cx="3520440" cy="4297680"/>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920240"/>
            <a:ext cx="3063240" cy="365760"/>
          </a:xfrm>
          <a:prstGeom prst="rect">
            <a:avLst/>
          </a:prstGeom>
          <a:noFill/>
        </p:spPr>
        <p:txBody>
          <a:bodyPr wrap="square" anchor="t">
            <a:spAutoFit/>
          </a:bodyPr>
          <a:lstStyle/>
          <a:p>
            <a:pPr algn="ctr">
              <a:defRPr sz="2000" b="1">
                <a:solidFill>
                  <a:srgbClr val="00B4B4"/>
                </a:solidFill>
                <a:latin typeface="Aptos"/>
              </a:defRPr>
            </a:pPr>
            <a:r>
              <a:t>IN THE MODEL</a:t>
            </a:r>
          </a:p>
        </p:txBody>
      </p:sp>
      <p:sp>
        <p:nvSpPr>
          <p:cNvPr id="7" name="TextBox 6"/>
          <p:cNvSpPr txBox="1"/>
          <p:nvPr/>
        </p:nvSpPr>
        <p:spPr>
          <a:xfrm>
            <a:off x="960119" y="2633472"/>
            <a:ext cx="2880360" cy="3063240"/>
          </a:xfrm>
          <a:prstGeom prst="rect">
            <a:avLst/>
          </a:prstGeom>
          <a:noFill/>
        </p:spPr>
        <p:txBody>
          <a:bodyPr wrap="square" anchor="t">
            <a:spAutoFit/>
          </a:bodyPr>
          <a:lstStyle/>
          <a:p>
            <a:pPr algn="ctr">
              <a:defRPr sz="1500" b="0">
                <a:solidFill>
                  <a:srgbClr val="F0F4F8"/>
                </a:solidFill>
                <a:latin typeface="Aptos"/>
              </a:defRPr>
            </a:pPr>
            <a:r>
              <a:t>29 baseline fields</a:t>
            </a:r>
            <a:br/>
            <a:br/>
            <a:r>
              <a:t>Age, prior arrests and convictions, offence, prison years, supervision level, Georgia's risk score</a:t>
            </a:r>
          </a:p>
        </p:txBody>
      </p:sp>
      <p:sp>
        <p:nvSpPr>
          <p:cNvPr id="8" name="Rounded Rectangle 7"/>
          <p:cNvSpPr/>
          <p:nvPr/>
        </p:nvSpPr>
        <p:spPr>
          <a:xfrm>
            <a:off x="4343400" y="1645920"/>
            <a:ext cx="3520440" cy="4297680"/>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920240"/>
            <a:ext cx="3063240" cy="365760"/>
          </a:xfrm>
          <a:prstGeom prst="rect">
            <a:avLst/>
          </a:prstGeom>
          <a:noFill/>
        </p:spPr>
        <p:txBody>
          <a:bodyPr wrap="square" anchor="t">
            <a:spAutoFit/>
          </a:bodyPr>
          <a:lstStyle/>
          <a:p>
            <a:pPr algn="ctr">
              <a:defRPr sz="2000" b="1">
                <a:solidFill>
                  <a:srgbClr val="7B2CBF"/>
                </a:solidFill>
                <a:latin typeface="Aptos"/>
              </a:defRPr>
            </a:pPr>
            <a:r>
              <a:t>AUDIT ONLY</a:t>
            </a:r>
          </a:p>
        </p:txBody>
      </p:sp>
      <p:sp>
        <p:nvSpPr>
          <p:cNvPr id="10" name="TextBox 9"/>
          <p:cNvSpPr txBox="1"/>
          <p:nvPr/>
        </p:nvSpPr>
        <p:spPr>
          <a:xfrm>
            <a:off x="4663440" y="2633472"/>
            <a:ext cx="2880360" cy="3063240"/>
          </a:xfrm>
          <a:prstGeom prst="rect">
            <a:avLst/>
          </a:prstGeom>
          <a:noFill/>
        </p:spPr>
        <p:txBody>
          <a:bodyPr wrap="square" anchor="t">
            <a:spAutoFit/>
          </a:bodyPr>
          <a:lstStyle/>
          <a:p>
            <a:pPr algn="ctr">
              <a:defRPr sz="1500" b="0">
                <a:solidFill>
                  <a:srgbClr val="F0F4F8"/>
                </a:solidFill>
                <a:latin typeface="Aptos"/>
              </a:defRPr>
            </a:pPr>
            <a:r>
              <a:t>Race, gender, residence (PUMA)</a:t>
            </a:r>
            <a:br/>
            <a:br/>
            <a:r>
              <a:t>Never model inputs — kept to measure who gets support</a:t>
            </a:r>
          </a:p>
        </p:txBody>
      </p:sp>
      <p:sp>
        <p:nvSpPr>
          <p:cNvPr id="11" name="Rounded Rectangle 10"/>
          <p:cNvSpPr/>
          <p:nvPr/>
        </p:nvSpPr>
        <p:spPr>
          <a:xfrm>
            <a:off x="8046720" y="1645920"/>
            <a:ext cx="3520440" cy="4297680"/>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5320" y="1920240"/>
            <a:ext cx="3063240" cy="365760"/>
          </a:xfrm>
          <a:prstGeom prst="rect">
            <a:avLst/>
          </a:prstGeom>
          <a:noFill/>
        </p:spPr>
        <p:txBody>
          <a:bodyPr wrap="square" anchor="t">
            <a:spAutoFit/>
          </a:bodyPr>
          <a:lstStyle/>
          <a:p>
            <a:pPr algn="ctr">
              <a:defRPr sz="2000" b="1">
                <a:solidFill>
                  <a:srgbClr val="D64343"/>
                </a:solidFill>
                <a:latin typeface="Aptos"/>
              </a:defRPr>
            </a:pPr>
            <a:r>
              <a:t>EXCLUDED</a:t>
            </a:r>
          </a:p>
        </p:txBody>
      </p:sp>
      <p:sp>
        <p:nvSpPr>
          <p:cNvPr id="13" name="TextBox 12"/>
          <p:cNvSpPr txBox="1"/>
          <p:nvPr/>
        </p:nvSpPr>
        <p:spPr>
          <a:xfrm>
            <a:off x="8366760" y="2633472"/>
            <a:ext cx="2880360" cy="3063240"/>
          </a:xfrm>
          <a:prstGeom prst="rect">
            <a:avLst/>
          </a:prstGeom>
          <a:noFill/>
        </p:spPr>
        <p:txBody>
          <a:bodyPr wrap="square" anchor="t">
            <a:spAutoFit/>
          </a:bodyPr>
          <a:lstStyle/>
          <a:p>
            <a:pPr algn="ctr">
              <a:defRPr sz="1500" b="0">
                <a:solidFill>
                  <a:srgbClr val="F0F4F8"/>
                </a:solidFill>
                <a:latin typeface="Aptos"/>
              </a:defRPr>
            </a:pPr>
            <a:r>
              <a:t>Everything after release: employment, drug tests, violations</a:t>
            </a:r>
            <a:br/>
            <a:br/>
            <a:r>
              <a:t>Positive control: adding them lifts AUC 0.729 → 0.813 — they leak the outcome</a:t>
            </a:r>
          </a:p>
        </p:txBody>
      </p:sp>
      <p:sp>
        <p:nvSpPr>
          <p:cNvPr id="14" name="TextBox 13"/>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5" name="TextBox 14"/>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FEATURES · LEAKAGE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The leak we found: gender was encoded in missingness</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roxy_recovery.png"/>
          <p:cNvPicPr>
            <a:picLocks noChangeAspect="1"/>
          </p:cNvPicPr>
          <p:nvPr/>
        </p:nvPicPr>
        <p:blipFill>
          <a:blip r:embed="rId2"/>
          <a:stretch>
            <a:fillRect/>
          </a:stretch>
        </p:blipFill>
        <p:spPr>
          <a:xfrm>
            <a:off x="365760" y="1554480"/>
            <a:ext cx="7680960" cy="2746265"/>
          </a:xfrm>
          <a:prstGeom prst="rect">
            <a:avLst/>
          </a:prstGeom>
        </p:spPr>
      </p:pic>
      <p:sp>
        <p:nvSpPr>
          <p:cNvPr id="6" name="Rounded Rectangle 5"/>
          <p:cNvSpPr/>
          <p:nvPr/>
        </p:nvSpPr>
        <p:spPr>
          <a:xfrm>
            <a:off x="8321040" y="1554480"/>
            <a:ext cx="3474720" cy="4480560"/>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49640" y="1828800"/>
            <a:ext cx="3017520" cy="365760"/>
          </a:xfrm>
          <a:prstGeom prst="rect">
            <a:avLst/>
          </a:prstGeom>
          <a:noFill/>
        </p:spPr>
        <p:txBody>
          <a:bodyPr wrap="square" anchor="t">
            <a:spAutoFit/>
          </a:bodyPr>
          <a:lstStyle/>
          <a:p>
            <a:pPr algn="ctr">
              <a:defRPr sz="2000" b="1">
                <a:solidFill>
                  <a:srgbClr val="D64343"/>
                </a:solidFill>
                <a:latin typeface="Aptos"/>
              </a:defRPr>
            </a:pPr>
            <a:r>
              <a:t>WHAT HAPPENED</a:t>
            </a:r>
          </a:p>
        </p:txBody>
      </p:sp>
      <p:sp>
        <p:nvSpPr>
          <p:cNvPr id="8" name="TextBox 7"/>
          <p:cNvSpPr txBox="1"/>
          <p:nvPr/>
        </p:nvSpPr>
        <p:spPr>
          <a:xfrm>
            <a:off x="8641080" y="2542032"/>
            <a:ext cx="2834639" cy="3246120"/>
          </a:xfrm>
          <a:prstGeom prst="rect">
            <a:avLst/>
          </a:prstGeom>
          <a:noFill/>
        </p:spPr>
        <p:txBody>
          <a:bodyPr wrap="square" anchor="t">
            <a:spAutoFit/>
          </a:bodyPr>
          <a:lstStyle/>
          <a:p>
            <a:pPr algn="ctr">
              <a:defRPr sz="1500" b="0">
                <a:solidFill>
                  <a:srgbClr val="F0F4F8"/>
                </a:solidFill>
                <a:latin typeface="Aptos"/>
              </a:defRPr>
            </a:pPr>
            <a:r>
              <a:t>Gang affiliation: missing for every woman, no man</a:t>
            </a:r>
            <a:br/>
            <a:br/>
            <a:r>
              <a:t>Keep missingness → gender recovered at AUC 1.000</a:t>
            </a:r>
            <a:br/>
            <a:br/>
            <a:r>
              <a:t>TabICL treated NaN as a category: it saw gender</a:t>
            </a:r>
            <a:br/>
            <a:br/>
            <a:r>
              <a:t>Fix: mode-fill + regression test. After: AUC 0.78</a:t>
            </a:r>
          </a:p>
        </p:txBody>
      </p:sp>
      <p:sp>
        <p:nvSpPr>
          <p:cNvPr id="9" name="TextBox 8"/>
          <p:cNvSpPr txBox="1"/>
          <p:nvPr/>
        </p:nvSpPr>
        <p:spPr>
          <a:xfrm>
            <a:off x="914400" y="6236208"/>
            <a:ext cx="10058400" cy="274320"/>
          </a:xfrm>
          <a:prstGeom prst="rect">
            <a:avLst/>
          </a:prstGeom>
          <a:noFill/>
        </p:spPr>
        <p:txBody>
          <a:bodyPr wrap="square" anchor="t">
            <a:spAutoFit/>
          </a:bodyPr>
          <a:lstStyle/>
          <a:p>
            <a:pPr algn="ctr">
              <a:defRPr sz="1100" b="1">
                <a:solidFill>
                  <a:srgbClr val="FB8500"/>
                </a:solidFill>
                <a:latin typeface="Aptos"/>
              </a:defRPr>
            </a:pPr>
            <a:r>
              <a:t>Excluding an attribute is not removing it: part of it survives in legitimate features. Fairness picks this up.</a:t>
            </a:r>
          </a:p>
        </p:txBody>
      </p:sp>
      <p:sp>
        <p:nvSpPr>
          <p:cNvPr id="10" name="TextBox 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1" name="TextBox 1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MODELS · DESIGN</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Three model families, each tuned by cross-validation</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45920"/>
            <a:ext cx="3520440" cy="4114800"/>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920240"/>
            <a:ext cx="3063240" cy="365760"/>
          </a:xfrm>
          <a:prstGeom prst="rect">
            <a:avLst/>
          </a:prstGeom>
          <a:noFill/>
        </p:spPr>
        <p:txBody>
          <a:bodyPr wrap="square" anchor="t">
            <a:spAutoFit/>
          </a:bodyPr>
          <a:lstStyle/>
          <a:p>
            <a:pPr algn="ctr">
              <a:defRPr sz="2000" b="1">
                <a:solidFill>
                  <a:srgbClr val="00B4B4"/>
                </a:solidFill>
                <a:latin typeface="Aptos"/>
              </a:defRPr>
            </a:pPr>
            <a:r>
              <a:t>LOGISTIC (L1)</a:t>
            </a:r>
          </a:p>
        </p:txBody>
      </p:sp>
      <p:sp>
        <p:nvSpPr>
          <p:cNvPr id="7" name="TextBox 6"/>
          <p:cNvSpPr txBox="1"/>
          <p:nvPr/>
        </p:nvSpPr>
        <p:spPr>
          <a:xfrm>
            <a:off x="960119" y="2633472"/>
            <a:ext cx="2880360" cy="2880360"/>
          </a:xfrm>
          <a:prstGeom prst="rect">
            <a:avLst/>
          </a:prstGeom>
          <a:noFill/>
        </p:spPr>
        <p:txBody>
          <a:bodyPr wrap="square" anchor="t">
            <a:spAutoFit/>
          </a:bodyPr>
          <a:lstStyle/>
          <a:p>
            <a:pPr algn="ctr">
              <a:defRPr sz="1500" b="0">
                <a:solidFill>
                  <a:srgbClr val="F0F4F8"/>
                </a:solidFill>
                <a:latin typeface="Aptos"/>
              </a:defRPr>
            </a:pPr>
            <a:r>
              <a:t>White box</a:t>
            </a:r>
            <a:br/>
            <a:br/>
            <a:r>
              <a:t>One-hot encoding</a:t>
            </a:r>
            <a:br/>
            <a:br/>
            <a:r>
              <a:t>5-fold grid search</a:t>
            </a:r>
            <a:br/>
            <a:r>
              <a:t>C = 0.2154</a:t>
            </a:r>
            <a:br/>
            <a:br/>
            <a:r>
              <a:t>Curve flat for C in [0.05, 1]</a:t>
            </a:r>
          </a:p>
        </p:txBody>
      </p:sp>
      <p:sp>
        <p:nvSpPr>
          <p:cNvPr id="8" name="Rounded Rectangle 7"/>
          <p:cNvSpPr/>
          <p:nvPr/>
        </p:nvSpPr>
        <p:spPr>
          <a:xfrm>
            <a:off x="4343400" y="1645920"/>
            <a:ext cx="3520440" cy="4114800"/>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920240"/>
            <a:ext cx="3063240" cy="365760"/>
          </a:xfrm>
          <a:prstGeom prst="rect">
            <a:avLst/>
          </a:prstGeom>
          <a:noFill/>
        </p:spPr>
        <p:txBody>
          <a:bodyPr wrap="square" anchor="t">
            <a:spAutoFit/>
          </a:bodyPr>
          <a:lstStyle/>
          <a:p>
            <a:pPr algn="ctr">
              <a:defRPr sz="2000" b="1">
                <a:solidFill>
                  <a:srgbClr val="FB8500"/>
                </a:solidFill>
                <a:latin typeface="Aptos"/>
              </a:defRPr>
            </a:pPr>
            <a:r>
              <a:t>XGBOOST</a:t>
            </a:r>
          </a:p>
        </p:txBody>
      </p:sp>
      <p:sp>
        <p:nvSpPr>
          <p:cNvPr id="10" name="TextBox 9"/>
          <p:cNvSpPr txBox="1"/>
          <p:nvPr/>
        </p:nvSpPr>
        <p:spPr>
          <a:xfrm>
            <a:off x="4663440" y="2633472"/>
            <a:ext cx="2880360" cy="2880360"/>
          </a:xfrm>
          <a:prstGeom prst="rect">
            <a:avLst/>
          </a:prstGeom>
          <a:noFill/>
        </p:spPr>
        <p:txBody>
          <a:bodyPr wrap="square" anchor="t">
            <a:spAutoFit/>
          </a:bodyPr>
          <a:lstStyle/>
          <a:p>
            <a:pPr algn="ctr">
              <a:defRPr sz="1500" b="0">
                <a:solidFill>
                  <a:srgbClr val="F0F4F8"/>
                </a:solidFill>
                <a:latin typeface="Aptos"/>
              </a:defRPr>
            </a:pPr>
            <a:r>
              <a:t>Machine learning</a:t>
            </a:r>
            <a:br/>
            <a:br/>
            <a:r>
              <a:t>Ordinal counts</a:t>
            </a:r>
            <a:br/>
            <a:br/>
            <a:r>
              <a:t>5-fold random search, 60 draws</a:t>
            </a:r>
            <a:br/>
            <a:br/>
            <a:r>
              <a:t>Deeper trees overfit: rejected</a:t>
            </a:r>
          </a:p>
        </p:txBody>
      </p:sp>
      <p:sp>
        <p:nvSpPr>
          <p:cNvPr id="11" name="Rounded Rectangle 10"/>
          <p:cNvSpPr/>
          <p:nvPr/>
        </p:nvSpPr>
        <p:spPr>
          <a:xfrm>
            <a:off x="8046720" y="1645920"/>
            <a:ext cx="3520440" cy="4114800"/>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5320" y="1920240"/>
            <a:ext cx="3063240" cy="365760"/>
          </a:xfrm>
          <a:prstGeom prst="rect">
            <a:avLst/>
          </a:prstGeom>
          <a:noFill/>
        </p:spPr>
        <p:txBody>
          <a:bodyPr wrap="square" anchor="t">
            <a:spAutoFit/>
          </a:bodyPr>
          <a:lstStyle/>
          <a:p>
            <a:pPr algn="ctr">
              <a:defRPr sz="2000" b="1">
                <a:solidFill>
                  <a:srgbClr val="7B2CBF"/>
                </a:solidFill>
                <a:latin typeface="Aptos"/>
              </a:defRPr>
            </a:pPr>
            <a:r>
              <a:t>TABICLv2</a:t>
            </a:r>
          </a:p>
        </p:txBody>
      </p:sp>
      <p:sp>
        <p:nvSpPr>
          <p:cNvPr id="13" name="TextBox 12"/>
          <p:cNvSpPr txBox="1"/>
          <p:nvPr/>
        </p:nvSpPr>
        <p:spPr>
          <a:xfrm>
            <a:off x="8366760" y="2633472"/>
            <a:ext cx="2880360" cy="2880360"/>
          </a:xfrm>
          <a:prstGeom prst="rect">
            <a:avLst/>
          </a:prstGeom>
          <a:noFill/>
        </p:spPr>
        <p:txBody>
          <a:bodyPr wrap="square" anchor="t">
            <a:spAutoFit/>
          </a:bodyPr>
          <a:lstStyle/>
          <a:p>
            <a:pPr algn="ctr">
              <a:defRPr sz="1500" b="0">
                <a:solidFill>
                  <a:srgbClr val="F0F4F8"/>
                </a:solidFill>
                <a:latin typeface="Aptos"/>
              </a:defRPr>
            </a:pPr>
            <a:r>
              <a:t>Foundation model</a:t>
            </a:r>
            <a:br/>
            <a:br/>
            <a:r>
              <a:t>Mixed types, mode-filled</a:t>
            </a:r>
            <a:br/>
            <a:br/>
            <a:r>
              <a:t>16-member ensemble</a:t>
            </a:r>
            <a:br/>
            <a:br/>
            <a:r>
              <a:t>Gains level off near 8</a:t>
            </a:r>
          </a:p>
        </p:txBody>
      </p:sp>
      <p:sp>
        <p:nvSpPr>
          <p:cNvPr id="14" name="TextBox 13"/>
          <p:cNvSpPr txBox="1"/>
          <p:nvPr/>
        </p:nvSpPr>
        <p:spPr>
          <a:xfrm>
            <a:off x="914400" y="6053328"/>
            <a:ext cx="10058400" cy="274320"/>
          </a:xfrm>
          <a:prstGeom prst="rect">
            <a:avLst/>
          </a:prstGeom>
          <a:noFill/>
        </p:spPr>
        <p:txBody>
          <a:bodyPr wrap="square" anchor="t">
            <a:spAutoFit/>
          </a:bodyPr>
          <a:lstStyle/>
          <a:p>
            <a:pPr algn="ctr">
              <a:defRPr sz="1300" b="1">
                <a:solidFill>
                  <a:srgbClr val="FB8500"/>
                </a:solidFill>
                <a:latin typeface="Aptos"/>
              </a:defRPr>
            </a:pPr>
            <a:r>
              <a:t>5 other ML candidates (CatBoost, LightGBM, EBM, …) all land at test AUC 0.729–0.733.</a:t>
            </a:r>
          </a:p>
        </p:txBody>
      </p:sp>
      <p:sp>
        <p:nvSpPr>
          <p:cNvPr id="15" name="TextBox 14"/>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6" name="TextBox 15"/>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MODELS · PERFORMANCE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Statistical performance: effectively a tie</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rformance_calibration.png"/>
          <p:cNvPicPr>
            <a:picLocks noChangeAspect="1"/>
          </p:cNvPicPr>
          <p:nvPr/>
        </p:nvPicPr>
        <p:blipFill>
          <a:blip r:embed="rId2"/>
          <a:stretch>
            <a:fillRect/>
          </a:stretch>
        </p:blipFill>
        <p:spPr>
          <a:xfrm>
            <a:off x="411480" y="1572768"/>
            <a:ext cx="7360920" cy="2782056"/>
          </a:xfrm>
          <a:prstGeom prst="rect">
            <a:avLst/>
          </a:prstGeom>
        </p:spPr>
      </p:pic>
      <p:sp>
        <p:nvSpPr>
          <p:cNvPr id="6" name="Rounded Rectangle 5"/>
          <p:cNvSpPr/>
          <p:nvPr/>
        </p:nvSpPr>
        <p:spPr>
          <a:xfrm>
            <a:off x="8458200" y="1737360"/>
            <a:ext cx="2423160" cy="1261872"/>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874519"/>
            <a:ext cx="2194560" cy="438912"/>
          </a:xfrm>
          <a:prstGeom prst="rect">
            <a:avLst/>
          </a:prstGeom>
          <a:noFill/>
        </p:spPr>
        <p:txBody>
          <a:bodyPr wrap="square" anchor="t">
            <a:spAutoFit/>
          </a:bodyPr>
          <a:lstStyle/>
          <a:p>
            <a:pPr algn="ctr">
              <a:defRPr sz="1500" b="1">
                <a:solidFill>
                  <a:srgbClr val="FB8500"/>
                </a:solidFill>
                <a:latin typeface="Aptos"/>
              </a:defRPr>
            </a:pPr>
            <a:r>
              <a:t>0.730 / 0.732 / 0.733</a:t>
            </a:r>
          </a:p>
        </p:txBody>
      </p:sp>
      <p:sp>
        <p:nvSpPr>
          <p:cNvPr id="8" name="TextBox 7"/>
          <p:cNvSpPr txBox="1"/>
          <p:nvPr/>
        </p:nvSpPr>
        <p:spPr>
          <a:xfrm>
            <a:off x="8567928" y="2395728"/>
            <a:ext cx="2194560" cy="274320"/>
          </a:xfrm>
          <a:prstGeom prst="rect">
            <a:avLst/>
          </a:prstGeom>
          <a:noFill/>
        </p:spPr>
        <p:txBody>
          <a:bodyPr wrap="square" anchor="t">
            <a:spAutoFit/>
          </a:bodyPr>
          <a:lstStyle/>
          <a:p>
            <a:pPr algn="ctr">
              <a:defRPr sz="1100" b="1">
                <a:solidFill>
                  <a:srgbClr val="FFFFFF"/>
                </a:solidFill>
                <a:latin typeface="Aptos"/>
              </a:defRPr>
            </a:pPr>
            <a:r>
              <a:t>AUC</a:t>
            </a:r>
          </a:p>
        </p:txBody>
      </p:sp>
      <p:sp>
        <p:nvSpPr>
          <p:cNvPr id="9" name="TextBox 8"/>
          <p:cNvSpPr txBox="1"/>
          <p:nvPr/>
        </p:nvSpPr>
        <p:spPr>
          <a:xfrm>
            <a:off x="8567928" y="2706624"/>
            <a:ext cx="2194560" cy="164592"/>
          </a:xfrm>
          <a:prstGeom prst="rect">
            <a:avLst/>
          </a:prstGeom>
          <a:noFill/>
        </p:spPr>
        <p:txBody>
          <a:bodyPr wrap="square" anchor="t">
            <a:spAutoFit/>
          </a:bodyPr>
          <a:lstStyle/>
          <a:p>
            <a:pPr algn="ctr">
              <a:defRPr sz="800" b="0">
                <a:solidFill>
                  <a:srgbClr val="F0F4F8"/>
                </a:solidFill>
                <a:latin typeface="Aptos"/>
              </a:defRPr>
            </a:pPr>
            <a:r>
              <a:t>logistic / XGBoost / TabICL</a:t>
            </a:r>
          </a:p>
        </p:txBody>
      </p:sp>
      <p:sp>
        <p:nvSpPr>
          <p:cNvPr id="10" name="Rounded Rectangle 9"/>
          <p:cNvSpPr/>
          <p:nvPr/>
        </p:nvSpPr>
        <p:spPr>
          <a:xfrm>
            <a:off x="8458200" y="3200400"/>
            <a:ext cx="2423160" cy="1261872"/>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67928" y="3337560"/>
            <a:ext cx="2194560" cy="438912"/>
          </a:xfrm>
          <a:prstGeom prst="rect">
            <a:avLst/>
          </a:prstGeom>
          <a:noFill/>
        </p:spPr>
        <p:txBody>
          <a:bodyPr wrap="square" anchor="t">
            <a:spAutoFit/>
          </a:bodyPr>
          <a:lstStyle/>
          <a:p>
            <a:pPr algn="ctr">
              <a:defRPr sz="2400" b="1">
                <a:solidFill>
                  <a:srgbClr val="00B4B4"/>
                </a:solidFill>
                <a:latin typeface="Aptos"/>
              </a:defRPr>
            </a:pPr>
            <a:r>
              <a:t>+0.0025</a:t>
            </a:r>
          </a:p>
        </p:txBody>
      </p:sp>
      <p:sp>
        <p:nvSpPr>
          <p:cNvPr id="12" name="TextBox 11"/>
          <p:cNvSpPr txBox="1"/>
          <p:nvPr/>
        </p:nvSpPr>
        <p:spPr>
          <a:xfrm>
            <a:off x="8567928" y="3858768"/>
            <a:ext cx="2194560" cy="274320"/>
          </a:xfrm>
          <a:prstGeom prst="rect">
            <a:avLst/>
          </a:prstGeom>
          <a:noFill/>
        </p:spPr>
        <p:txBody>
          <a:bodyPr wrap="square" anchor="t">
            <a:spAutoFit/>
          </a:bodyPr>
          <a:lstStyle/>
          <a:p>
            <a:pPr algn="ctr">
              <a:defRPr sz="1100" b="1">
                <a:solidFill>
                  <a:srgbClr val="FFFFFF"/>
                </a:solidFill>
                <a:latin typeface="Aptos"/>
              </a:defRPr>
            </a:pPr>
            <a:r>
              <a:t>AUC GAP · XGB − LOGIT</a:t>
            </a:r>
          </a:p>
        </p:txBody>
      </p:sp>
      <p:sp>
        <p:nvSpPr>
          <p:cNvPr id="13" name="TextBox 12"/>
          <p:cNvSpPr txBox="1"/>
          <p:nvPr/>
        </p:nvSpPr>
        <p:spPr>
          <a:xfrm>
            <a:off x="8567928" y="4169664"/>
            <a:ext cx="2194560" cy="164592"/>
          </a:xfrm>
          <a:prstGeom prst="rect">
            <a:avLst/>
          </a:prstGeom>
          <a:noFill/>
        </p:spPr>
        <p:txBody>
          <a:bodyPr wrap="square" anchor="t">
            <a:spAutoFit/>
          </a:bodyPr>
          <a:lstStyle/>
          <a:p>
            <a:pPr algn="ctr">
              <a:defRPr sz="800" b="0">
                <a:solidFill>
                  <a:srgbClr val="F0F4F8"/>
                </a:solidFill>
                <a:latin typeface="Aptos"/>
              </a:defRPr>
            </a:pPr>
            <a:r>
              <a:t>paired bootstrap: real, but small</a:t>
            </a:r>
          </a:p>
        </p:txBody>
      </p:sp>
      <p:sp>
        <p:nvSpPr>
          <p:cNvPr id="14" name="Rounded Rectangle 13"/>
          <p:cNvSpPr/>
          <p:nvPr/>
        </p:nvSpPr>
        <p:spPr>
          <a:xfrm>
            <a:off x="8458200" y="4663440"/>
            <a:ext cx="2423160" cy="1261872"/>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67928" y="4800600"/>
            <a:ext cx="2194560" cy="438912"/>
          </a:xfrm>
          <a:prstGeom prst="rect">
            <a:avLst/>
          </a:prstGeom>
          <a:noFill/>
        </p:spPr>
        <p:txBody>
          <a:bodyPr wrap="square" anchor="t">
            <a:spAutoFit/>
          </a:bodyPr>
          <a:lstStyle/>
          <a:p>
            <a:pPr algn="ctr">
              <a:defRPr sz="1600" b="1">
                <a:solidFill>
                  <a:srgbClr val="7B2CBF"/>
                </a:solidFill>
                <a:latin typeface="Aptos"/>
              </a:defRPr>
            </a:pPr>
            <a:r>
              <a:t>1.00 / 1.00 / 0.91</a:t>
            </a:r>
          </a:p>
        </p:txBody>
      </p:sp>
      <p:sp>
        <p:nvSpPr>
          <p:cNvPr id="16" name="TextBox 15"/>
          <p:cNvSpPr txBox="1"/>
          <p:nvPr/>
        </p:nvSpPr>
        <p:spPr>
          <a:xfrm>
            <a:off x="8567928" y="5321807"/>
            <a:ext cx="2194560" cy="274320"/>
          </a:xfrm>
          <a:prstGeom prst="rect">
            <a:avLst/>
          </a:prstGeom>
          <a:noFill/>
        </p:spPr>
        <p:txBody>
          <a:bodyPr wrap="square" anchor="t">
            <a:spAutoFit/>
          </a:bodyPr>
          <a:lstStyle/>
          <a:p>
            <a:pPr algn="ctr">
              <a:defRPr sz="1100" b="1">
                <a:solidFill>
                  <a:srgbClr val="FFFFFF"/>
                </a:solidFill>
                <a:latin typeface="Aptos"/>
              </a:defRPr>
            </a:pPr>
            <a:r>
              <a:t>CALIBRATION SLOPE</a:t>
            </a:r>
          </a:p>
        </p:txBody>
      </p:sp>
      <p:sp>
        <p:nvSpPr>
          <p:cNvPr id="17" name="TextBox 16"/>
          <p:cNvSpPr txBox="1"/>
          <p:nvPr/>
        </p:nvSpPr>
        <p:spPr>
          <a:xfrm>
            <a:off x="8567928" y="5632704"/>
            <a:ext cx="2194560" cy="164592"/>
          </a:xfrm>
          <a:prstGeom prst="rect">
            <a:avLst/>
          </a:prstGeom>
          <a:noFill/>
        </p:spPr>
        <p:txBody>
          <a:bodyPr wrap="square" anchor="t">
            <a:spAutoFit/>
          </a:bodyPr>
          <a:lstStyle/>
          <a:p>
            <a:pPr algn="ctr">
              <a:defRPr sz="800" b="0">
                <a:solidFill>
                  <a:srgbClr val="F0F4F8"/>
                </a:solidFill>
                <a:latin typeface="Aptos"/>
              </a:defRPr>
            </a:pPr>
            <a:r>
              <a:t>TabICL too extreme (significant)</a:t>
            </a:r>
          </a:p>
        </p:txBody>
      </p:sp>
      <p:sp>
        <p:nvSpPr>
          <p:cNvPr id="18" name="TextBox 17"/>
          <p:cNvSpPr txBox="1"/>
          <p:nvPr/>
        </p:nvSpPr>
        <p:spPr>
          <a:xfrm>
            <a:off x="914400" y="6263640"/>
            <a:ext cx="10058400" cy="274320"/>
          </a:xfrm>
          <a:prstGeom prst="rect">
            <a:avLst/>
          </a:prstGeom>
          <a:noFill/>
        </p:spPr>
        <p:txBody>
          <a:bodyPr wrap="square" anchor="t">
            <a:spAutoFit/>
          </a:bodyPr>
          <a:lstStyle/>
          <a:p>
            <a:pPr algn="ctr">
              <a:defRPr sz="1100" b="1">
                <a:solidFill>
                  <a:srgbClr val="828FA0"/>
                </a:solidFill>
                <a:latin typeface="Aptos"/>
              </a:defRPr>
            </a:pPr>
            <a:r>
              <a:t>All three within ~0.003 AUC. Performance alone cannot pick the model.</a:t>
            </a:r>
          </a:p>
        </p:txBody>
      </p:sp>
      <p:sp>
        <p:nvSpPr>
          <p:cNvPr id="19" name="TextBox 18"/>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20" name="TextBox 19"/>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MODELS · INCUMBENT</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The client's real question: better than today's score?</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ncumbent_benchmark.png"/>
          <p:cNvPicPr>
            <a:picLocks noChangeAspect="1"/>
          </p:cNvPicPr>
          <p:nvPr/>
        </p:nvPicPr>
        <p:blipFill>
          <a:blip r:embed="rId2"/>
          <a:stretch>
            <a:fillRect/>
          </a:stretch>
        </p:blipFill>
        <p:spPr>
          <a:xfrm>
            <a:off x="411480" y="1600200"/>
            <a:ext cx="7589520" cy="2102241"/>
          </a:xfrm>
          <a:prstGeom prst="rect">
            <a:avLst/>
          </a:prstGeom>
        </p:spPr>
      </p:pic>
      <p:sp>
        <p:nvSpPr>
          <p:cNvPr id="6" name="Rounded Rectangle 5"/>
          <p:cNvSpPr/>
          <p:nvPr/>
        </p:nvSpPr>
        <p:spPr>
          <a:xfrm>
            <a:off x="8458200" y="1737360"/>
            <a:ext cx="2423160" cy="1261872"/>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874519"/>
            <a:ext cx="2194560" cy="438912"/>
          </a:xfrm>
          <a:prstGeom prst="rect">
            <a:avLst/>
          </a:prstGeom>
          <a:noFill/>
        </p:spPr>
        <p:txBody>
          <a:bodyPr wrap="square" anchor="t">
            <a:spAutoFit/>
          </a:bodyPr>
          <a:lstStyle/>
          <a:p>
            <a:pPr algn="ctr">
              <a:defRPr sz="2400" b="1">
                <a:solidFill>
                  <a:srgbClr val="D64343"/>
                </a:solidFill>
                <a:latin typeface="Aptos"/>
              </a:defRPr>
            </a:pPr>
            <a:r>
              <a:t>0.60</a:t>
            </a:r>
          </a:p>
        </p:txBody>
      </p:sp>
      <p:sp>
        <p:nvSpPr>
          <p:cNvPr id="8" name="TextBox 7"/>
          <p:cNvSpPr txBox="1"/>
          <p:nvPr/>
        </p:nvSpPr>
        <p:spPr>
          <a:xfrm>
            <a:off x="8567928" y="2395728"/>
            <a:ext cx="2194560" cy="274320"/>
          </a:xfrm>
          <a:prstGeom prst="rect">
            <a:avLst/>
          </a:prstGeom>
          <a:noFill/>
        </p:spPr>
        <p:txBody>
          <a:bodyPr wrap="square" anchor="t">
            <a:spAutoFit/>
          </a:bodyPr>
          <a:lstStyle/>
          <a:p>
            <a:pPr algn="ctr">
              <a:defRPr sz="1100" b="1">
                <a:solidFill>
                  <a:srgbClr val="FFFFFF"/>
                </a:solidFill>
                <a:latin typeface="Aptos"/>
              </a:defRPr>
            </a:pPr>
            <a:r>
              <a:t>HISTORICAL SCORE AUC</a:t>
            </a:r>
          </a:p>
        </p:txBody>
      </p:sp>
      <p:sp>
        <p:nvSpPr>
          <p:cNvPr id="9" name="TextBox 8"/>
          <p:cNvSpPr txBox="1"/>
          <p:nvPr/>
        </p:nvSpPr>
        <p:spPr>
          <a:xfrm>
            <a:off x="8567928" y="2706624"/>
            <a:ext cx="2194560" cy="164592"/>
          </a:xfrm>
          <a:prstGeom prst="rect">
            <a:avLst/>
          </a:prstGeom>
          <a:noFill/>
        </p:spPr>
        <p:txBody>
          <a:bodyPr wrap="square" anchor="t">
            <a:spAutoFit/>
          </a:bodyPr>
          <a:lstStyle/>
          <a:p>
            <a:pPr algn="ctr">
              <a:defRPr sz="800" b="0">
                <a:solidFill>
                  <a:srgbClr val="F0F4F8"/>
                </a:solidFill>
                <a:latin typeface="Aptos"/>
              </a:defRPr>
            </a:pPr>
            <a:r>
              <a:t>Georgia supervision score in the data</a:t>
            </a:r>
          </a:p>
        </p:txBody>
      </p:sp>
      <p:sp>
        <p:nvSpPr>
          <p:cNvPr id="10" name="Rounded Rectangle 9"/>
          <p:cNvSpPr/>
          <p:nvPr/>
        </p:nvSpPr>
        <p:spPr>
          <a:xfrm>
            <a:off x="8458200" y="3200400"/>
            <a:ext cx="2423160" cy="1261872"/>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67928" y="3337560"/>
            <a:ext cx="2194560" cy="438912"/>
          </a:xfrm>
          <a:prstGeom prst="rect">
            <a:avLst/>
          </a:prstGeom>
          <a:noFill/>
        </p:spPr>
        <p:txBody>
          <a:bodyPr wrap="square" anchor="t">
            <a:spAutoFit/>
          </a:bodyPr>
          <a:lstStyle/>
          <a:p>
            <a:pPr algn="ctr">
              <a:defRPr sz="2400" b="1">
                <a:solidFill>
                  <a:srgbClr val="00B4B4"/>
                </a:solidFill>
                <a:latin typeface="Aptos"/>
              </a:defRPr>
            </a:pPr>
            <a:r>
              <a:t>≈ 0.73</a:t>
            </a:r>
          </a:p>
        </p:txBody>
      </p:sp>
      <p:sp>
        <p:nvSpPr>
          <p:cNvPr id="12" name="TextBox 11"/>
          <p:cNvSpPr txBox="1"/>
          <p:nvPr/>
        </p:nvSpPr>
        <p:spPr>
          <a:xfrm>
            <a:off x="8567928" y="3858768"/>
            <a:ext cx="2194560" cy="274320"/>
          </a:xfrm>
          <a:prstGeom prst="rect">
            <a:avLst/>
          </a:prstGeom>
          <a:noFill/>
        </p:spPr>
        <p:txBody>
          <a:bodyPr wrap="square" anchor="t">
            <a:spAutoFit/>
          </a:bodyPr>
          <a:lstStyle/>
          <a:p>
            <a:pPr algn="ctr">
              <a:defRPr sz="1100" b="1">
                <a:solidFill>
                  <a:srgbClr val="FFFFFF"/>
                </a:solidFill>
                <a:latin typeface="Aptos"/>
              </a:defRPr>
            </a:pPr>
            <a:r>
              <a:t>OUR MODELS AUC</a:t>
            </a:r>
          </a:p>
        </p:txBody>
      </p:sp>
      <p:sp>
        <p:nvSpPr>
          <p:cNvPr id="13" name="TextBox 12"/>
          <p:cNvSpPr txBox="1"/>
          <p:nvPr/>
        </p:nvSpPr>
        <p:spPr>
          <a:xfrm>
            <a:off x="8567928" y="4169664"/>
            <a:ext cx="2194560" cy="164592"/>
          </a:xfrm>
          <a:prstGeom prst="rect">
            <a:avLst/>
          </a:prstGeom>
          <a:noFill/>
        </p:spPr>
        <p:txBody>
          <a:bodyPr wrap="square" anchor="t">
            <a:spAutoFit/>
          </a:bodyPr>
          <a:lstStyle/>
          <a:p>
            <a:pPr algn="ctr">
              <a:defRPr sz="800" b="0">
                <a:solidFill>
                  <a:srgbClr val="F0F4F8"/>
                </a:solidFill>
                <a:latin typeface="Aptos"/>
              </a:defRPr>
            </a:pPr>
            <a:r>
              <a:t>all three models</a:t>
            </a:r>
          </a:p>
        </p:txBody>
      </p:sp>
      <p:sp>
        <p:nvSpPr>
          <p:cNvPr id="14" name="Rounded Rectangle 13"/>
          <p:cNvSpPr/>
          <p:nvPr/>
        </p:nvSpPr>
        <p:spPr>
          <a:xfrm>
            <a:off x="8458200" y="4663440"/>
            <a:ext cx="2423160" cy="1261872"/>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67928" y="4800600"/>
            <a:ext cx="2194560" cy="438912"/>
          </a:xfrm>
          <a:prstGeom prst="rect">
            <a:avLst/>
          </a:prstGeom>
          <a:noFill/>
        </p:spPr>
        <p:txBody>
          <a:bodyPr wrap="square" anchor="t">
            <a:spAutoFit/>
          </a:bodyPr>
          <a:lstStyle/>
          <a:p>
            <a:pPr algn="ctr">
              <a:defRPr sz="1800" b="1">
                <a:solidFill>
                  <a:srgbClr val="FB8500"/>
                </a:solidFill>
                <a:latin typeface="Aptos"/>
              </a:defRPr>
            </a:pPr>
            <a:r>
              <a:t>$2.73M → $5.04M</a:t>
            </a:r>
          </a:p>
        </p:txBody>
      </p:sp>
      <p:sp>
        <p:nvSpPr>
          <p:cNvPr id="16" name="TextBox 15"/>
          <p:cNvSpPr txBox="1"/>
          <p:nvPr/>
        </p:nvSpPr>
        <p:spPr>
          <a:xfrm>
            <a:off x="8567928" y="5321807"/>
            <a:ext cx="2194560" cy="274320"/>
          </a:xfrm>
          <a:prstGeom prst="rect">
            <a:avLst/>
          </a:prstGeom>
          <a:noFill/>
        </p:spPr>
        <p:txBody>
          <a:bodyPr wrap="square" anchor="t">
            <a:spAutoFit/>
          </a:bodyPr>
          <a:lstStyle/>
          <a:p>
            <a:pPr algn="ctr">
              <a:defRPr sz="1100" b="1">
                <a:solidFill>
                  <a:srgbClr val="FFFFFF"/>
                </a:solidFill>
                <a:latin typeface="Aptos"/>
              </a:defRPr>
            </a:pPr>
            <a:r>
              <a:t>NET VALUE @20%</a:t>
            </a:r>
          </a:p>
        </p:txBody>
      </p:sp>
      <p:sp>
        <p:nvSpPr>
          <p:cNvPr id="17" name="TextBox 16"/>
          <p:cNvSpPr txBox="1"/>
          <p:nvPr/>
        </p:nvSpPr>
        <p:spPr>
          <a:xfrm>
            <a:off x="8567928" y="5632704"/>
            <a:ext cx="2194560" cy="164592"/>
          </a:xfrm>
          <a:prstGeom prst="rect">
            <a:avLst/>
          </a:prstGeom>
          <a:noFill/>
        </p:spPr>
        <p:txBody>
          <a:bodyPr wrap="square" anchor="t">
            <a:spAutoFit/>
          </a:bodyPr>
          <a:lstStyle/>
          <a:p>
            <a:pPr algn="ctr">
              <a:defRPr sz="800" b="0">
                <a:solidFill>
                  <a:srgbClr val="F0F4F8"/>
                </a:solidFill>
                <a:latin typeface="Aptos"/>
              </a:defRPr>
            </a:pPr>
            <a:r>
              <a:t>scenario: $5k cost, $50k event, 20% effect</a:t>
            </a:r>
          </a:p>
        </p:txBody>
      </p:sp>
      <p:sp>
        <p:nvSpPr>
          <p:cNvPr id="18" name="TextBox 17"/>
          <p:cNvSpPr txBox="1"/>
          <p:nvPr/>
        </p:nvSpPr>
        <p:spPr>
          <a:xfrm>
            <a:off x="914400" y="6263640"/>
            <a:ext cx="10058400" cy="274320"/>
          </a:xfrm>
          <a:prstGeom prst="rect">
            <a:avLst/>
          </a:prstGeom>
          <a:noFill/>
        </p:spPr>
        <p:txBody>
          <a:bodyPr wrap="square" anchor="t">
            <a:spAutoFit/>
          </a:bodyPr>
          <a:lstStyle/>
          <a:p>
            <a:pPr algn="ctr">
              <a:defRPr sz="1100" b="1">
                <a:solidFill>
                  <a:srgbClr val="FB8500"/>
                </a:solidFill>
                <a:latin typeface="Aptos"/>
              </a:defRPr>
            </a:pPr>
            <a:r>
              <a:t>Models beat the historical score at every capacity. Dollars are a scenario, not a causal estimate.</a:t>
            </a:r>
          </a:p>
        </p:txBody>
      </p:sp>
      <p:sp>
        <p:nvSpPr>
          <p:cNvPr id="19" name="TextBox 18"/>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20" name="TextBox 19"/>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INTERPRETABILITY · GLOBAL</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What drives the score</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hap_summary.png"/>
          <p:cNvPicPr>
            <a:picLocks noChangeAspect="1"/>
          </p:cNvPicPr>
          <p:nvPr/>
        </p:nvPicPr>
        <p:blipFill>
          <a:blip r:embed="rId2"/>
          <a:stretch>
            <a:fillRect/>
          </a:stretch>
        </p:blipFill>
        <p:spPr>
          <a:xfrm>
            <a:off x="274320" y="1600200"/>
            <a:ext cx="8046720" cy="4022045"/>
          </a:xfrm>
          <a:prstGeom prst="rect">
            <a:avLst/>
          </a:prstGeom>
        </p:spPr>
      </p:pic>
      <p:sp>
        <p:nvSpPr>
          <p:cNvPr id="6" name="Rounded Rectangle 5"/>
          <p:cNvSpPr/>
          <p:nvPr/>
        </p:nvSpPr>
        <p:spPr>
          <a:xfrm>
            <a:off x="8549640" y="1737360"/>
            <a:ext cx="2423160" cy="1261872"/>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59367" y="1874519"/>
            <a:ext cx="2194560" cy="438912"/>
          </a:xfrm>
          <a:prstGeom prst="rect">
            <a:avLst/>
          </a:prstGeom>
          <a:noFill/>
        </p:spPr>
        <p:txBody>
          <a:bodyPr wrap="square" anchor="t">
            <a:spAutoFit/>
          </a:bodyPr>
          <a:lstStyle/>
          <a:p>
            <a:pPr algn="ctr">
              <a:defRPr sz="1700" b="1">
                <a:solidFill>
                  <a:srgbClr val="00B4B4"/>
                </a:solidFill>
                <a:latin typeface="Aptos"/>
              </a:defRPr>
            </a:pPr>
            <a:r>
              <a:t>-27 / -26 / -29</a:t>
            </a:r>
          </a:p>
        </p:txBody>
      </p:sp>
      <p:sp>
        <p:nvSpPr>
          <p:cNvPr id="8" name="TextBox 7"/>
          <p:cNvSpPr txBox="1"/>
          <p:nvPr/>
        </p:nvSpPr>
        <p:spPr>
          <a:xfrm>
            <a:off x="8659367" y="2395728"/>
            <a:ext cx="2194560" cy="274320"/>
          </a:xfrm>
          <a:prstGeom prst="rect">
            <a:avLst/>
          </a:prstGeom>
          <a:noFill/>
        </p:spPr>
        <p:txBody>
          <a:bodyPr wrap="square" anchor="t">
            <a:spAutoFit/>
          </a:bodyPr>
          <a:lstStyle/>
          <a:p>
            <a:pPr algn="ctr">
              <a:defRPr sz="1100" b="1">
                <a:solidFill>
                  <a:srgbClr val="FFFFFF"/>
                </a:solidFill>
                <a:latin typeface="Aptos"/>
              </a:defRPr>
            </a:pPr>
            <a:r>
              <a:t>PDP · AGE 23–27 → 48+</a:t>
            </a:r>
          </a:p>
        </p:txBody>
      </p:sp>
      <p:sp>
        <p:nvSpPr>
          <p:cNvPr id="9" name="TextBox 8"/>
          <p:cNvSpPr txBox="1"/>
          <p:nvPr/>
        </p:nvSpPr>
        <p:spPr>
          <a:xfrm>
            <a:off x="8659367" y="2706624"/>
            <a:ext cx="2194560" cy="164592"/>
          </a:xfrm>
          <a:prstGeom prst="rect">
            <a:avLst/>
          </a:prstGeom>
          <a:noFill/>
        </p:spPr>
        <p:txBody>
          <a:bodyPr wrap="square" anchor="t">
            <a:spAutoFit/>
          </a:bodyPr>
          <a:lstStyle/>
          <a:p>
            <a:pPr algn="ctr">
              <a:defRPr sz="800" b="0">
                <a:solidFill>
                  <a:srgbClr val="F0F4F8"/>
                </a:solidFill>
                <a:latin typeface="Aptos"/>
              </a:defRPr>
            </a:pPr>
            <a:r>
              <a:t>pts · logistic / XGBoost / TabICL</a:t>
            </a:r>
          </a:p>
        </p:txBody>
      </p:sp>
      <p:sp>
        <p:nvSpPr>
          <p:cNvPr id="10" name="Rounded Rectangle 9"/>
          <p:cNvSpPr/>
          <p:nvPr/>
        </p:nvSpPr>
        <p:spPr>
          <a:xfrm>
            <a:off x="8549640" y="3200400"/>
            <a:ext cx="2423160" cy="1261872"/>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59367" y="3337560"/>
            <a:ext cx="2194560" cy="438912"/>
          </a:xfrm>
          <a:prstGeom prst="rect">
            <a:avLst/>
          </a:prstGeom>
          <a:noFill/>
        </p:spPr>
        <p:txBody>
          <a:bodyPr wrap="square" anchor="t">
            <a:spAutoFit/>
          </a:bodyPr>
          <a:lstStyle/>
          <a:p>
            <a:pPr algn="ctr">
              <a:defRPr sz="1700" b="1">
                <a:solidFill>
                  <a:srgbClr val="D64343"/>
                </a:solidFill>
                <a:latin typeface="Aptos"/>
              </a:defRPr>
            </a:pPr>
            <a:r>
              <a:t>+17 / +16 / +17</a:t>
            </a:r>
          </a:p>
        </p:txBody>
      </p:sp>
      <p:sp>
        <p:nvSpPr>
          <p:cNvPr id="12" name="TextBox 11"/>
          <p:cNvSpPr txBox="1"/>
          <p:nvPr/>
        </p:nvSpPr>
        <p:spPr>
          <a:xfrm>
            <a:off x="8659367" y="3858768"/>
            <a:ext cx="2194560" cy="274320"/>
          </a:xfrm>
          <a:prstGeom prst="rect">
            <a:avLst/>
          </a:prstGeom>
          <a:noFill/>
        </p:spPr>
        <p:txBody>
          <a:bodyPr wrap="square" anchor="t">
            <a:spAutoFit/>
          </a:bodyPr>
          <a:lstStyle/>
          <a:p>
            <a:pPr algn="ctr">
              <a:defRPr sz="1100" b="1">
                <a:solidFill>
                  <a:srgbClr val="FFFFFF"/>
                </a:solidFill>
                <a:latin typeface="Aptos"/>
              </a:defRPr>
            </a:pPr>
            <a:r>
              <a:t>PDP · GANG NO → YES</a:t>
            </a:r>
          </a:p>
        </p:txBody>
      </p:sp>
      <p:sp>
        <p:nvSpPr>
          <p:cNvPr id="13" name="TextBox 12"/>
          <p:cNvSpPr txBox="1"/>
          <p:nvPr/>
        </p:nvSpPr>
        <p:spPr>
          <a:xfrm>
            <a:off x="8659367" y="4169664"/>
            <a:ext cx="2194560" cy="164592"/>
          </a:xfrm>
          <a:prstGeom prst="rect">
            <a:avLst/>
          </a:prstGeom>
          <a:noFill/>
        </p:spPr>
        <p:txBody>
          <a:bodyPr wrap="square" anchor="t">
            <a:spAutoFit/>
          </a:bodyPr>
          <a:lstStyle/>
          <a:p>
            <a:pPr algn="ctr">
              <a:defRPr sz="800" b="0">
                <a:solidFill>
                  <a:srgbClr val="F0F4F8"/>
                </a:solidFill>
                <a:latin typeface="Aptos"/>
              </a:defRPr>
            </a:pPr>
            <a:r>
              <a:t>pts · logistic / XGBoost / TabICL</a:t>
            </a:r>
          </a:p>
        </p:txBody>
      </p:sp>
      <p:sp>
        <p:nvSpPr>
          <p:cNvPr id="14" name="Rounded Rectangle 13"/>
          <p:cNvSpPr/>
          <p:nvPr/>
        </p:nvSpPr>
        <p:spPr>
          <a:xfrm>
            <a:off x="8549640" y="4663440"/>
            <a:ext cx="2423160" cy="1261872"/>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59367" y="4800600"/>
            <a:ext cx="2194560" cy="438912"/>
          </a:xfrm>
          <a:prstGeom prst="rect">
            <a:avLst/>
          </a:prstGeom>
          <a:noFill/>
        </p:spPr>
        <p:txBody>
          <a:bodyPr wrap="square" anchor="t">
            <a:spAutoFit/>
          </a:bodyPr>
          <a:lstStyle/>
          <a:p>
            <a:pPr algn="ctr">
              <a:defRPr sz="1700" b="1">
                <a:solidFill>
                  <a:srgbClr val="FB8500"/>
                </a:solidFill>
                <a:latin typeface="Aptos"/>
              </a:defRPr>
            </a:pPr>
            <a:r>
              <a:t>Age · gang · priors</a:t>
            </a:r>
          </a:p>
        </p:txBody>
      </p:sp>
      <p:sp>
        <p:nvSpPr>
          <p:cNvPr id="16" name="TextBox 15"/>
          <p:cNvSpPr txBox="1"/>
          <p:nvPr/>
        </p:nvSpPr>
        <p:spPr>
          <a:xfrm>
            <a:off x="8659367" y="5321807"/>
            <a:ext cx="2194560" cy="274320"/>
          </a:xfrm>
          <a:prstGeom prst="rect">
            <a:avLst/>
          </a:prstGeom>
          <a:noFill/>
        </p:spPr>
        <p:txBody>
          <a:bodyPr wrap="square" anchor="t">
            <a:spAutoFit/>
          </a:bodyPr>
          <a:lstStyle/>
          <a:p>
            <a:pPr algn="ctr">
              <a:defRPr sz="1100" b="1">
                <a:solidFill>
                  <a:srgbClr val="FFFFFF"/>
                </a:solidFill>
                <a:latin typeface="Aptos"/>
              </a:defRPr>
            </a:pPr>
            <a:r>
              <a:t>TOP DRIVERS</a:t>
            </a:r>
          </a:p>
        </p:txBody>
      </p:sp>
      <p:sp>
        <p:nvSpPr>
          <p:cNvPr id="17" name="TextBox 16"/>
          <p:cNvSpPr txBox="1"/>
          <p:nvPr/>
        </p:nvSpPr>
        <p:spPr>
          <a:xfrm>
            <a:off x="8659367" y="5632704"/>
            <a:ext cx="2194560" cy="164592"/>
          </a:xfrm>
          <a:prstGeom prst="rect">
            <a:avLst/>
          </a:prstGeom>
          <a:noFill/>
        </p:spPr>
        <p:txBody>
          <a:bodyPr wrap="square" anchor="t">
            <a:spAutoFit/>
          </a:bodyPr>
          <a:lstStyle/>
          <a:p>
            <a:pPr algn="ctr">
              <a:defRPr sz="800" b="0">
                <a:solidFill>
                  <a:srgbClr val="F0F4F8"/>
                </a:solidFill>
                <a:latin typeface="Aptos"/>
              </a:defRPr>
            </a:pPr>
            <a:r>
              <a:t>same in logistic and XGBoost</a:t>
            </a:r>
          </a:p>
        </p:txBody>
      </p:sp>
      <p:sp>
        <p:nvSpPr>
          <p:cNvPr id="18" name="TextBox 17"/>
          <p:cNvSpPr txBox="1"/>
          <p:nvPr/>
        </p:nvSpPr>
        <p:spPr>
          <a:xfrm>
            <a:off x="914400" y="6263640"/>
            <a:ext cx="10058400" cy="274320"/>
          </a:xfrm>
          <a:prstGeom prst="rect">
            <a:avLst/>
          </a:prstGeom>
          <a:noFill/>
        </p:spPr>
        <p:txBody>
          <a:bodyPr wrap="square" anchor="t">
            <a:spAutoFit/>
          </a:bodyPr>
          <a:lstStyle/>
          <a:p>
            <a:pPr algn="ctr">
              <a:defRPr sz="1100" b="1">
                <a:solidFill>
                  <a:srgbClr val="828FA0"/>
                </a:solidFill>
                <a:latin typeface="Aptos"/>
              </a:defRPr>
            </a:pPr>
            <a:r>
              <a:t>Each dot is one person (all 7,807); red = high value of the field. Right = raises risk. Cards: PDP differences in probability points.</a:t>
            </a:r>
          </a:p>
        </p:txBody>
      </p:sp>
      <p:sp>
        <p:nvSpPr>
          <p:cNvPr id="19" name="TextBox 18"/>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20" name="TextBox 19"/>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INTERPRETABILITY · MODEL-AGNOSTIC</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Looking from outside: PDP/ICE for all three models</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dp_ice.png"/>
          <p:cNvPicPr>
            <a:picLocks noChangeAspect="1"/>
          </p:cNvPicPr>
          <p:nvPr/>
        </p:nvPicPr>
        <p:blipFill>
          <a:blip r:embed="rId2"/>
          <a:stretch>
            <a:fillRect/>
          </a:stretch>
        </p:blipFill>
        <p:spPr>
          <a:xfrm>
            <a:off x="1132908" y="1554480"/>
            <a:ext cx="6055222" cy="4709160"/>
          </a:xfrm>
          <a:prstGeom prst="rect">
            <a:avLst/>
          </a:prstGeom>
        </p:spPr>
      </p:pic>
      <p:sp>
        <p:nvSpPr>
          <p:cNvPr id="6" name="Rounded Rectangle 5"/>
          <p:cNvSpPr/>
          <p:nvPr/>
        </p:nvSpPr>
        <p:spPr>
          <a:xfrm>
            <a:off x="8229600" y="1554480"/>
            <a:ext cx="3566160" cy="4480560"/>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58200" y="1828800"/>
            <a:ext cx="3108960" cy="365760"/>
          </a:xfrm>
          <a:prstGeom prst="rect">
            <a:avLst/>
          </a:prstGeom>
          <a:noFill/>
        </p:spPr>
        <p:txBody>
          <a:bodyPr wrap="square" anchor="t">
            <a:spAutoFit/>
          </a:bodyPr>
          <a:lstStyle/>
          <a:p>
            <a:pPr algn="ctr">
              <a:defRPr sz="2000" b="1">
                <a:solidFill>
                  <a:srgbClr val="FB8500"/>
                </a:solidFill>
                <a:latin typeface="Aptos"/>
              </a:defRPr>
            </a:pPr>
            <a:r>
              <a:t>THREE ROUTES</a:t>
            </a:r>
          </a:p>
        </p:txBody>
      </p:sp>
      <p:sp>
        <p:nvSpPr>
          <p:cNvPr id="8" name="TextBox 7"/>
          <p:cNvSpPr txBox="1"/>
          <p:nvPr/>
        </p:nvSpPr>
        <p:spPr>
          <a:xfrm>
            <a:off x="8549640" y="2542032"/>
            <a:ext cx="2926080" cy="3246120"/>
          </a:xfrm>
          <a:prstGeom prst="rect">
            <a:avLst/>
          </a:prstGeom>
          <a:noFill/>
        </p:spPr>
        <p:txBody>
          <a:bodyPr wrap="square" anchor="t">
            <a:spAutoFit/>
          </a:bodyPr>
          <a:lstStyle/>
          <a:p>
            <a:pPr algn="ctr">
              <a:defRPr sz="1500" b="0">
                <a:solidFill>
                  <a:srgbClr val="F0F4F8"/>
                </a:solidFill>
                <a:latin typeface="Aptos"/>
              </a:defRPr>
            </a:pPr>
            <a:r>
              <a:t>LOGISTIC</a:t>
            </a:r>
            <a:br/>
            <a:r>
              <a:t>Coefficients: read directly</a:t>
            </a:r>
            <a:br/>
            <a:br/>
            <a:r>
              <a:t>XGBOOST</a:t>
            </a:r>
            <a:br/>
            <a:r>
              <a:t>Needs SHAP; a depth-3 surrogate tree reproduces only R² = 0.61</a:t>
            </a:r>
            <a:br/>
            <a:br/>
            <a:r>
              <a:t>TABICLv2</a:t>
            </a:r>
            <a:br/>
            <a:r>
              <a:t>No native attribution: PDP/ICE is the only view</a:t>
            </a:r>
          </a:p>
        </p:txBody>
      </p:sp>
      <p:sp>
        <p:nvSpPr>
          <p:cNvPr id="9" name="TextBox 8"/>
          <p:cNvSpPr txBox="1"/>
          <p:nvPr/>
        </p:nvSpPr>
        <p:spPr>
          <a:xfrm>
            <a:off x="731520" y="6263640"/>
            <a:ext cx="10698480" cy="274320"/>
          </a:xfrm>
          <a:prstGeom prst="rect">
            <a:avLst/>
          </a:prstGeom>
          <a:noFill/>
        </p:spPr>
        <p:txBody>
          <a:bodyPr wrap="square" anchor="t">
            <a:spAutoFit/>
          </a:bodyPr>
          <a:lstStyle/>
          <a:p>
            <a:pPr algn="ctr">
              <a:defRPr sz="1100" b="1">
                <a:solidFill>
                  <a:srgbClr val="FB8500"/>
                </a:solidFill>
                <a:latin typeface="Aptos"/>
              </a:defRPr>
            </a:pPr>
            <a:r>
              <a:t>Black line = average effect (PDP); faint lines = individual people (ICE). All three models agree: risk falls with age.</a:t>
            </a:r>
          </a:p>
        </p:txBody>
      </p:sp>
      <p:sp>
        <p:nvSpPr>
          <p:cNvPr id="10" name="TextBox 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1" name="TextBox 1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INTERPRETABILITY · LOCAL</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Explaining one person, and checking the explanation</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hap_individual.png"/>
          <p:cNvPicPr>
            <a:picLocks noChangeAspect="1"/>
          </p:cNvPicPr>
          <p:nvPr/>
        </p:nvPicPr>
        <p:blipFill>
          <a:blip r:embed="rId2"/>
          <a:stretch>
            <a:fillRect/>
          </a:stretch>
        </p:blipFill>
        <p:spPr>
          <a:xfrm>
            <a:off x="365760" y="1554480"/>
            <a:ext cx="7589520" cy="2869645"/>
          </a:xfrm>
          <a:prstGeom prst="rect">
            <a:avLst/>
          </a:prstGeom>
        </p:spPr>
      </p:pic>
      <p:sp>
        <p:nvSpPr>
          <p:cNvPr id="6" name="Rounded Rectangle 5"/>
          <p:cNvSpPr/>
          <p:nvPr/>
        </p:nvSpPr>
        <p:spPr>
          <a:xfrm>
            <a:off x="8229600" y="1554480"/>
            <a:ext cx="3566160" cy="4480560"/>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58200" y="1828800"/>
            <a:ext cx="3108960" cy="365760"/>
          </a:xfrm>
          <a:prstGeom prst="rect">
            <a:avLst/>
          </a:prstGeom>
          <a:noFill/>
        </p:spPr>
        <p:txBody>
          <a:bodyPr wrap="square" anchor="t">
            <a:spAutoFit/>
          </a:bodyPr>
          <a:lstStyle/>
          <a:p>
            <a:pPr algn="ctr">
              <a:defRPr sz="2000" b="1">
                <a:solidFill>
                  <a:srgbClr val="7B2CBF"/>
                </a:solidFill>
                <a:latin typeface="Aptos"/>
              </a:defRPr>
            </a:pPr>
            <a:r>
              <a:t>IS IT FAITHFUL?</a:t>
            </a:r>
          </a:p>
        </p:txBody>
      </p:sp>
      <p:sp>
        <p:nvSpPr>
          <p:cNvPr id="8" name="TextBox 7"/>
          <p:cNvSpPr txBox="1"/>
          <p:nvPr/>
        </p:nvSpPr>
        <p:spPr>
          <a:xfrm>
            <a:off x="8549640" y="2542032"/>
            <a:ext cx="2926080" cy="3246120"/>
          </a:xfrm>
          <a:prstGeom prst="rect">
            <a:avLst/>
          </a:prstGeom>
          <a:noFill/>
        </p:spPr>
        <p:txBody>
          <a:bodyPr wrap="square" anchor="t">
            <a:spAutoFit/>
          </a:bodyPr>
          <a:lstStyle/>
          <a:p>
            <a:pPr algn="ctr">
              <a:defRPr sz="1500" b="0">
                <a:solidFill>
                  <a:srgbClr val="F0F4F8"/>
                </a:solidFill>
                <a:latin typeface="Aptos"/>
              </a:defRPr>
            </a:pPr>
            <a:r>
              <a:t>SHAP: exact for these two models</a:t>
            </a:r>
            <a:br/>
            <a:br/>
            <a:r>
              <a:t>LIME on raw features: local R² 0.25 → 0.41–0.43</a:t>
            </a:r>
            <a:br/>
            <a:br/>
            <a:r>
              <a:t>3 cases × 3 seeds: all 63 conditions keep their sign</a:t>
            </a:r>
            <a:br/>
            <a:br/>
            <a:r>
              <a:t>Quote LIME for direction, SHAP for size</a:t>
            </a:r>
          </a:p>
        </p:txBody>
      </p:sp>
      <p:sp>
        <p:nvSpPr>
          <p:cNvPr id="9" name="TextBox 8"/>
          <p:cNvSpPr txBox="1"/>
          <p:nvPr/>
        </p:nvSpPr>
        <p:spPr>
          <a:xfrm>
            <a:off x="914400" y="6263640"/>
            <a:ext cx="10058400" cy="274320"/>
          </a:xfrm>
          <a:prstGeom prst="rect">
            <a:avLst/>
          </a:prstGeom>
          <a:noFill/>
        </p:spPr>
        <p:txBody>
          <a:bodyPr wrap="square" anchor="t">
            <a:spAutoFit/>
          </a:bodyPr>
          <a:lstStyle/>
          <a:p>
            <a:pPr algn="ctr">
              <a:defRPr sz="1100" b="1">
                <a:solidFill>
                  <a:srgbClr val="FB8500"/>
                </a:solidFill>
                <a:latin typeface="Aptos"/>
              </a:defRPr>
            </a:pPr>
            <a:r>
              <a:t>Red raises risk, green lowers it. The explanation is what an appeal would contest.</a:t>
            </a:r>
          </a:p>
        </p:txBody>
      </p:sp>
      <p:sp>
        <p:nvSpPr>
          <p:cNvPr id="10" name="TextBox 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1" name="TextBox 1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INTERPRETABILITY · XPER</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Explaining performance: where does the AUC come from?</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per.png"/>
          <p:cNvPicPr>
            <a:picLocks noChangeAspect="1"/>
          </p:cNvPicPr>
          <p:nvPr/>
        </p:nvPicPr>
        <p:blipFill>
          <a:blip r:embed="rId2"/>
          <a:stretch>
            <a:fillRect/>
          </a:stretch>
        </p:blipFill>
        <p:spPr>
          <a:xfrm>
            <a:off x="365760" y="1554480"/>
            <a:ext cx="7680960" cy="2733438"/>
          </a:xfrm>
          <a:prstGeom prst="rect">
            <a:avLst/>
          </a:prstGeom>
        </p:spPr>
      </p:pic>
      <p:sp>
        <p:nvSpPr>
          <p:cNvPr id="6" name="Rounded Rectangle 5"/>
          <p:cNvSpPr/>
          <p:nvPr/>
        </p:nvSpPr>
        <p:spPr>
          <a:xfrm>
            <a:off x="8321040" y="1554480"/>
            <a:ext cx="3474720" cy="4526280"/>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49640" y="1828800"/>
            <a:ext cx="3017520" cy="365760"/>
          </a:xfrm>
          <a:prstGeom prst="rect">
            <a:avLst/>
          </a:prstGeom>
          <a:noFill/>
        </p:spPr>
        <p:txBody>
          <a:bodyPr wrap="square" anchor="t">
            <a:spAutoFit/>
          </a:bodyPr>
          <a:lstStyle/>
          <a:p>
            <a:pPr algn="ctr">
              <a:defRPr sz="2000" b="1">
                <a:solidFill>
                  <a:srgbClr val="7B2CBF"/>
                </a:solidFill>
                <a:latin typeface="Aptos"/>
              </a:defRPr>
            </a:pPr>
            <a:r>
              <a:t>XPER</a:t>
            </a:r>
          </a:p>
        </p:txBody>
      </p:sp>
      <p:sp>
        <p:nvSpPr>
          <p:cNvPr id="8" name="TextBox 7"/>
          <p:cNvSpPr txBox="1"/>
          <p:nvPr/>
        </p:nvSpPr>
        <p:spPr>
          <a:xfrm>
            <a:off x="8641080" y="2542032"/>
            <a:ext cx="2834639" cy="3291840"/>
          </a:xfrm>
          <a:prstGeom prst="rect">
            <a:avLst/>
          </a:prstGeom>
          <a:noFill/>
        </p:spPr>
        <p:txBody>
          <a:bodyPr wrap="square" anchor="t">
            <a:spAutoFit/>
          </a:bodyPr>
          <a:lstStyle/>
          <a:p>
            <a:pPr algn="ctr">
              <a:defRPr sz="1500" b="0">
                <a:solidFill>
                  <a:srgbClr val="F0F4F8"/>
                </a:solidFill>
                <a:latin typeface="Aptos"/>
              </a:defRPr>
            </a:pPr>
            <a:r>
              <a:t>Splits the AUC itself into feature contributions (Shapley values)</a:t>
            </a:r>
            <a:br/>
            <a:br/>
            <a:r>
              <a:t>Benchmark ≈ 0.47 (no information) + features = AUC</a:t>
            </a:r>
            <a:br/>
            <a:br/>
            <a:r>
              <a:t>Age alone adds ≈ 0.09 AUC</a:t>
            </a:r>
            <a:br/>
            <a:br/>
            <a:r>
              <a:t>Agrees with SHAP / permutation importance on the set (Spearman 0.53–0.81), not the order</a:t>
            </a:r>
          </a:p>
        </p:txBody>
      </p:sp>
      <p:sp>
        <p:nvSpPr>
          <p:cNvPr id="9" name="TextBox 8"/>
          <p:cNvSpPr txBox="1"/>
          <p:nvPr/>
        </p:nvSpPr>
        <p:spPr>
          <a:xfrm>
            <a:off x="731520" y="6263640"/>
            <a:ext cx="10698480" cy="274320"/>
          </a:xfrm>
          <a:prstGeom prst="rect">
            <a:avLst/>
          </a:prstGeom>
          <a:noFill/>
        </p:spPr>
        <p:txBody>
          <a:bodyPr wrap="square" anchor="t">
            <a:spAutoFit/>
          </a:bodyPr>
          <a:lstStyle/>
          <a:p>
            <a:pPr algn="ctr">
              <a:defRPr sz="1100" b="1">
                <a:solidFill>
                  <a:srgbClr val="FB8500"/>
                </a:solidFill>
                <a:latin typeface="Aptos"/>
              </a:defRPr>
            </a:pPr>
            <a:r>
              <a:t>SHAP explains a prediction; permutation importance explains loss; XPER explains performance. Quote the set of drivers, not the rank.</a:t>
            </a:r>
          </a:p>
        </p:txBody>
      </p:sp>
      <p:sp>
        <p:nvSpPr>
          <p:cNvPr id="10" name="TextBox 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1" name="TextBox 1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FAIRNESS · RACE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Race (1): excluding race is not the same as being fair</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45920"/>
            <a:ext cx="3520440" cy="4114800"/>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920240"/>
            <a:ext cx="3063240" cy="365760"/>
          </a:xfrm>
          <a:prstGeom prst="rect">
            <a:avLst/>
          </a:prstGeom>
          <a:noFill/>
        </p:spPr>
        <p:txBody>
          <a:bodyPr wrap="square" anchor="t">
            <a:spAutoFit/>
          </a:bodyPr>
          <a:lstStyle/>
          <a:p>
            <a:pPr algn="ctr">
              <a:defRPr sz="2000" b="1">
                <a:solidFill>
                  <a:srgbClr val="00B4B4"/>
                </a:solidFill>
                <a:latin typeface="Aptos"/>
              </a:defRPr>
            </a:pPr>
            <a:r>
              <a:t>BASE RATES</a:t>
            </a:r>
          </a:p>
        </p:txBody>
      </p:sp>
      <p:sp>
        <p:nvSpPr>
          <p:cNvPr id="7" name="TextBox 6"/>
          <p:cNvSpPr txBox="1"/>
          <p:nvPr/>
        </p:nvSpPr>
        <p:spPr>
          <a:xfrm>
            <a:off x="960119" y="2633472"/>
            <a:ext cx="2880360" cy="2880360"/>
          </a:xfrm>
          <a:prstGeom prst="rect">
            <a:avLst/>
          </a:prstGeom>
          <a:noFill/>
        </p:spPr>
        <p:txBody>
          <a:bodyPr wrap="square" anchor="t">
            <a:spAutoFit/>
          </a:bodyPr>
          <a:lstStyle/>
          <a:p>
            <a:pPr algn="ctr">
              <a:defRPr sz="1500" b="0">
                <a:solidFill>
                  <a:srgbClr val="F0F4F8"/>
                </a:solidFill>
                <a:latin typeface="Aptos"/>
              </a:defRPr>
            </a:pPr>
            <a:r>
              <a:t>Black 0.582</a:t>
            </a:r>
            <a:br/>
            <a:r>
              <a:t>White 0.564</a:t>
            </a:r>
            <a:br/>
            <a:br/>
            <a:r>
              <a:t>Nearly equal: the data does not force a gap</a:t>
            </a:r>
          </a:p>
        </p:txBody>
      </p:sp>
      <p:sp>
        <p:nvSpPr>
          <p:cNvPr id="8" name="Rounded Rectangle 7"/>
          <p:cNvSpPr/>
          <p:nvPr/>
        </p:nvSpPr>
        <p:spPr>
          <a:xfrm>
            <a:off x="4343400" y="1645920"/>
            <a:ext cx="3520440" cy="4114800"/>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920240"/>
            <a:ext cx="3063240" cy="365760"/>
          </a:xfrm>
          <a:prstGeom prst="rect">
            <a:avLst/>
          </a:prstGeom>
          <a:noFill/>
        </p:spPr>
        <p:txBody>
          <a:bodyPr wrap="square" anchor="t">
            <a:spAutoFit/>
          </a:bodyPr>
          <a:lstStyle/>
          <a:p>
            <a:pPr algn="ctr">
              <a:defRPr sz="2000" b="1">
                <a:solidFill>
                  <a:srgbClr val="7B2CBF"/>
                </a:solidFill>
                <a:latin typeface="Aptos"/>
              </a:defRPr>
            </a:pPr>
            <a:r>
              <a:t>WHAT EXCLUSION GUARANTEES</a:t>
            </a:r>
          </a:p>
        </p:txBody>
      </p:sp>
      <p:sp>
        <p:nvSpPr>
          <p:cNvPr id="10" name="TextBox 9"/>
          <p:cNvSpPr txBox="1"/>
          <p:nvPr/>
        </p:nvSpPr>
        <p:spPr>
          <a:xfrm>
            <a:off x="4663440" y="2633472"/>
            <a:ext cx="2880360" cy="2880360"/>
          </a:xfrm>
          <a:prstGeom prst="rect">
            <a:avLst/>
          </a:prstGeom>
          <a:noFill/>
        </p:spPr>
        <p:txBody>
          <a:bodyPr wrap="square" anchor="t">
            <a:spAutoFit/>
          </a:bodyPr>
          <a:lstStyle/>
          <a:p>
            <a:pPr algn="ctr">
              <a:defRPr sz="1500" b="0">
                <a:solidFill>
                  <a:srgbClr val="F0F4F8"/>
                </a:solidFill>
                <a:latin typeface="Aptos"/>
              </a:defRPr>
            </a:pPr>
            <a:r>
              <a:t>Twins differing only in race get the same score</a:t>
            </a:r>
            <a:br/>
            <a:br/>
            <a:r>
              <a:t>Adding race back changes AUC by ≤ 0.001</a:t>
            </a:r>
          </a:p>
        </p:txBody>
      </p:sp>
      <p:sp>
        <p:nvSpPr>
          <p:cNvPr id="11" name="Rounded Rectangle 10"/>
          <p:cNvSpPr/>
          <p:nvPr/>
        </p:nvSpPr>
        <p:spPr>
          <a:xfrm>
            <a:off x="8046720" y="1645920"/>
            <a:ext cx="3520440" cy="4114800"/>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5320" y="1920240"/>
            <a:ext cx="3063240" cy="365760"/>
          </a:xfrm>
          <a:prstGeom prst="rect">
            <a:avLst/>
          </a:prstGeom>
          <a:noFill/>
        </p:spPr>
        <p:txBody>
          <a:bodyPr wrap="square" anchor="t">
            <a:spAutoFit/>
          </a:bodyPr>
          <a:lstStyle/>
          <a:p>
            <a:pPr algn="ctr">
              <a:defRPr sz="2000" b="1">
                <a:solidFill>
                  <a:srgbClr val="D64343"/>
                </a:solidFill>
                <a:latin typeface="Aptos"/>
              </a:defRPr>
            </a:pPr>
            <a:r>
              <a:t>WHAT IT DOES NOT</a:t>
            </a:r>
          </a:p>
        </p:txBody>
      </p:sp>
      <p:sp>
        <p:nvSpPr>
          <p:cNvPr id="13" name="TextBox 12"/>
          <p:cNvSpPr txBox="1"/>
          <p:nvPr/>
        </p:nvSpPr>
        <p:spPr>
          <a:xfrm>
            <a:off x="8366760" y="2633472"/>
            <a:ext cx="2880360" cy="2880360"/>
          </a:xfrm>
          <a:prstGeom prst="rect">
            <a:avLst/>
          </a:prstGeom>
          <a:noFill/>
        </p:spPr>
        <p:txBody>
          <a:bodyPr wrap="square" anchor="t">
            <a:spAutoFit/>
          </a:bodyPr>
          <a:lstStyle/>
          <a:p>
            <a:pPr algn="ctr">
              <a:defRPr sz="1500" b="0">
                <a:solidFill>
                  <a:srgbClr val="F0F4F8"/>
                </a:solidFill>
                <a:latin typeface="Aptos"/>
              </a:defRPr>
            </a:pPr>
            <a:r>
              <a:t>Race is recoverable from our features at AUC 0.71</a:t>
            </a:r>
            <a:br/>
            <a:br/>
            <a:r>
              <a:t>Criminal history carries part of it — and cannot be dropped</a:t>
            </a:r>
          </a:p>
        </p:txBody>
      </p:sp>
      <p:sp>
        <p:nvSpPr>
          <p:cNvPr id="14" name="TextBox 13"/>
          <p:cNvSpPr txBox="1"/>
          <p:nvPr/>
        </p:nvSpPr>
        <p:spPr>
          <a:xfrm>
            <a:off x="731520" y="6053328"/>
            <a:ext cx="10698480" cy="274320"/>
          </a:xfrm>
          <a:prstGeom prst="rect">
            <a:avLst/>
          </a:prstGeom>
          <a:noFill/>
        </p:spPr>
        <p:txBody>
          <a:bodyPr wrap="square" anchor="t">
            <a:spAutoFit/>
          </a:bodyPr>
          <a:lstStyle/>
          <a:p>
            <a:pPr algn="ctr">
              <a:defRPr sz="1300" b="1">
                <a:solidFill>
                  <a:srgbClr val="FB8500"/>
                </a:solidFill>
                <a:latin typeface="Aptos"/>
              </a:defRPr>
            </a:pPr>
            <a:r>
              <a:t>Selection = support offered, so the harm is missed support: FNR is our primary metric. We audit outcomes, not inputs.</a:t>
            </a:r>
          </a:p>
        </p:txBody>
      </p:sp>
      <p:sp>
        <p:nvSpPr>
          <p:cNvPr id="15" name="TextBox 14"/>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6" name="TextBox 15"/>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FAIRNESS · RACE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Race (2): the outcome audit, with three caveats</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airness_race_gaps.png"/>
          <p:cNvPicPr>
            <a:picLocks noChangeAspect="1"/>
          </p:cNvPicPr>
          <p:nvPr/>
        </p:nvPicPr>
        <p:blipFill>
          <a:blip r:embed="rId2"/>
          <a:stretch>
            <a:fillRect/>
          </a:stretch>
        </p:blipFill>
        <p:spPr>
          <a:xfrm>
            <a:off x="365760" y="1554480"/>
            <a:ext cx="7589520" cy="3679000"/>
          </a:xfrm>
          <a:prstGeom prst="rect">
            <a:avLst/>
          </a:prstGeom>
        </p:spPr>
      </p:pic>
      <p:sp>
        <p:nvSpPr>
          <p:cNvPr id="6" name="Rounded Rectangle 5"/>
          <p:cNvSpPr/>
          <p:nvPr/>
        </p:nvSpPr>
        <p:spPr>
          <a:xfrm>
            <a:off x="8229600" y="1554480"/>
            <a:ext cx="3611880" cy="4526280"/>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58200" y="1828800"/>
            <a:ext cx="3154680" cy="365760"/>
          </a:xfrm>
          <a:prstGeom prst="rect">
            <a:avLst/>
          </a:prstGeom>
          <a:noFill/>
        </p:spPr>
        <p:txBody>
          <a:bodyPr wrap="square" anchor="t">
            <a:spAutoFit/>
          </a:bodyPr>
          <a:lstStyle/>
          <a:p>
            <a:pPr algn="ctr">
              <a:defRPr sz="2000" b="1">
                <a:solidFill>
                  <a:srgbClr val="00B4B4"/>
                </a:solidFill>
                <a:latin typeface="Aptos"/>
              </a:defRPr>
            </a:pPr>
            <a:r>
              <a:t>RESULT + CAVEATS</a:t>
            </a:r>
          </a:p>
        </p:txBody>
      </p:sp>
      <p:sp>
        <p:nvSpPr>
          <p:cNvPr id="8" name="TextBox 7"/>
          <p:cNvSpPr txBox="1"/>
          <p:nvPr/>
        </p:nvSpPr>
        <p:spPr>
          <a:xfrm>
            <a:off x="8549640" y="2542032"/>
            <a:ext cx="2971800" cy="3291840"/>
          </a:xfrm>
          <a:prstGeom prst="rect">
            <a:avLst/>
          </a:prstGeom>
          <a:noFill/>
        </p:spPr>
        <p:txBody>
          <a:bodyPr wrap="square" anchor="t">
            <a:spAutoFit/>
          </a:bodyPr>
          <a:lstStyle/>
          <a:p>
            <a:pPr algn="ctr">
              <a:defRPr sz="1500" b="0">
                <a:solidFill>
                  <a:srgbClr val="F0F4F8"/>
                </a:solidFill>
                <a:latin typeface="Aptos"/>
              </a:defRPr>
            </a:pPr>
            <a:r>
              <a:t>All race gaps within ±5 pts (TOST); none survives Holm</a:t>
            </a:r>
            <a:br/>
            <a:br/>
            <a:r>
              <a:t>Selection ratio W/B 0.93 / 0.89 / 0.87 (&gt; 4/5)</a:t>
            </a:r>
            <a:br/>
            <a:br/>
            <a:r>
              <a:t>1. Direction: slightly MORE Black people offered support</a:t>
            </a:r>
            <a:br/>
            <a:r>
              <a:t>2. Label: recorded arrest may carry policing bias</a:t>
            </a:r>
            <a:br/>
            <a:r>
              <a:t>3. AUC Black 0.72 vs White 0.75</a:t>
            </a:r>
          </a:p>
        </p:txBody>
      </p:sp>
      <p:sp>
        <p:nvSpPr>
          <p:cNvPr id="9" name="TextBox 8"/>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0" name="TextBox 9"/>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FAIRNESS · GENDER</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Gender (1): women are over-predicted, yet selected less</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airness_gender_gaps.png"/>
          <p:cNvPicPr>
            <a:picLocks noChangeAspect="1"/>
          </p:cNvPicPr>
          <p:nvPr/>
        </p:nvPicPr>
        <p:blipFill>
          <a:blip r:embed="rId2"/>
          <a:stretch>
            <a:fillRect/>
          </a:stretch>
        </p:blipFill>
        <p:spPr>
          <a:xfrm>
            <a:off x="365760" y="1554480"/>
            <a:ext cx="7589520" cy="3679000"/>
          </a:xfrm>
          <a:prstGeom prst="rect">
            <a:avLst/>
          </a:prstGeom>
        </p:spPr>
      </p:pic>
      <p:sp>
        <p:nvSpPr>
          <p:cNvPr id="6" name="Rounded Rectangle 5"/>
          <p:cNvSpPr/>
          <p:nvPr/>
        </p:nvSpPr>
        <p:spPr>
          <a:xfrm>
            <a:off x="8229600" y="1554480"/>
            <a:ext cx="3611880" cy="4526280"/>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58200" y="1828800"/>
            <a:ext cx="3154680" cy="365760"/>
          </a:xfrm>
          <a:prstGeom prst="rect">
            <a:avLst/>
          </a:prstGeom>
          <a:noFill/>
        </p:spPr>
        <p:txBody>
          <a:bodyPr wrap="square" anchor="t">
            <a:spAutoFit/>
          </a:bodyPr>
          <a:lstStyle/>
          <a:p>
            <a:pPr algn="ctr">
              <a:defRPr sz="2000" b="1">
                <a:solidFill>
                  <a:srgbClr val="D64343"/>
                </a:solidFill>
                <a:latin typeface="Aptos"/>
              </a:defRPr>
            </a:pPr>
            <a:r>
              <a:t>WHY</a:t>
            </a:r>
          </a:p>
        </p:txBody>
      </p:sp>
      <p:sp>
        <p:nvSpPr>
          <p:cNvPr id="8" name="TextBox 7"/>
          <p:cNvSpPr txBox="1"/>
          <p:nvPr/>
        </p:nvSpPr>
        <p:spPr>
          <a:xfrm>
            <a:off x="8549640" y="2542032"/>
            <a:ext cx="2971800" cy="3291840"/>
          </a:xfrm>
          <a:prstGeom prst="rect">
            <a:avLst/>
          </a:prstGeom>
          <a:noFill/>
        </p:spPr>
        <p:txBody>
          <a:bodyPr wrap="square" anchor="t">
            <a:spAutoFit/>
          </a:bodyPr>
          <a:lstStyle/>
          <a:p>
            <a:pPr algn="ctr">
              <a:defRPr sz="1500" b="0">
                <a:solidFill>
                  <a:srgbClr val="F0F4F8"/>
                </a:solidFill>
                <a:latin typeface="Aptos"/>
              </a:defRPr>
            </a:pPr>
            <a:r>
              <a:t>FNR gap M − F -0.10 to -0.12, all models: the feature set, not one model</a:t>
            </a:r>
            <a:br/>
            <a:br/>
            <a:r>
              <a:t>Women's mean score 0.52 vs observed 0.454</a:t>
            </a:r>
            <a:br/>
            <a:br/>
            <a:r>
              <a:t>Base rates 0.59 vs 0.45: calibration and equal FNR cannot both hold</a:t>
            </a:r>
          </a:p>
        </p:txBody>
      </p:sp>
      <p:sp>
        <p:nvSpPr>
          <p:cNvPr id="9" name="TextBox 8"/>
          <p:cNvSpPr txBox="1"/>
          <p:nvPr/>
        </p:nvSpPr>
        <p:spPr>
          <a:xfrm>
            <a:off x="548640" y="6236208"/>
            <a:ext cx="11064240" cy="274320"/>
          </a:xfrm>
          <a:prstGeom prst="rect">
            <a:avLst/>
          </a:prstGeom>
          <a:noFill/>
        </p:spPr>
        <p:txBody>
          <a:bodyPr wrap="square" anchor="t">
            <a:spAutoFit/>
          </a:bodyPr>
          <a:lstStyle/>
          <a:p>
            <a:pPr algn="ctr">
              <a:defRPr sz="1100" b="1">
                <a:solidFill>
                  <a:srgbClr val="FB8500"/>
                </a:solidFill>
                <a:latin typeface="Aptos"/>
              </a:defRPr>
            </a:pPr>
            <a:r>
              <a:t>Age: the largest gap (-0.23 to -0.24), but by design: a validated risk factor. Risk vs need is the client's choice (A6).</a:t>
            </a:r>
          </a:p>
        </p:txBody>
      </p:sp>
      <p:sp>
        <p:nvSpPr>
          <p:cNvPr id="10" name="TextBox 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1" name="TextBox 1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FAIRNESS · GENDER</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Gender (2): cause located, mitigated, validated out of sample</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pdp_gender_focus.png"/>
          <p:cNvPicPr>
            <a:picLocks noChangeAspect="1"/>
          </p:cNvPicPr>
          <p:nvPr/>
        </p:nvPicPr>
        <p:blipFill>
          <a:blip r:embed="rId2"/>
          <a:stretch>
            <a:fillRect/>
          </a:stretch>
        </p:blipFill>
        <p:spPr>
          <a:xfrm>
            <a:off x="320040" y="1737360"/>
            <a:ext cx="7680960" cy="2422328"/>
          </a:xfrm>
          <a:prstGeom prst="rect">
            <a:avLst/>
          </a:prstGeom>
        </p:spPr>
      </p:pic>
      <p:sp>
        <p:nvSpPr>
          <p:cNvPr id="6" name="Rounded Rectangle 5"/>
          <p:cNvSpPr/>
          <p:nvPr/>
        </p:nvSpPr>
        <p:spPr>
          <a:xfrm>
            <a:off x="8229600" y="1508760"/>
            <a:ext cx="3611880" cy="4572000"/>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58200" y="1783080"/>
            <a:ext cx="3154680" cy="365760"/>
          </a:xfrm>
          <a:prstGeom prst="rect">
            <a:avLst/>
          </a:prstGeom>
          <a:noFill/>
        </p:spPr>
        <p:txBody>
          <a:bodyPr wrap="square" anchor="t">
            <a:spAutoFit/>
          </a:bodyPr>
          <a:lstStyle/>
          <a:p>
            <a:pPr algn="ctr">
              <a:defRPr sz="2000" b="1">
                <a:solidFill>
                  <a:srgbClr val="00B4B4"/>
                </a:solidFill>
                <a:latin typeface="Aptos"/>
              </a:defRPr>
            </a:pPr>
            <a:r>
              <a:t>FPDP → GANG</a:t>
            </a:r>
          </a:p>
        </p:txBody>
      </p:sp>
      <p:sp>
        <p:nvSpPr>
          <p:cNvPr id="8" name="TextBox 7"/>
          <p:cNvSpPr txBox="1"/>
          <p:nvPr/>
        </p:nvSpPr>
        <p:spPr>
          <a:xfrm>
            <a:off x="8549640" y="2496312"/>
            <a:ext cx="2971800" cy="3337560"/>
          </a:xfrm>
          <a:prstGeom prst="rect">
            <a:avLst/>
          </a:prstGeom>
          <a:noFill/>
        </p:spPr>
        <p:txBody>
          <a:bodyPr wrap="square" anchor="t">
            <a:spAutoFit/>
          </a:bodyPr>
          <a:lstStyle/>
          <a:p>
            <a:pPr algn="ctr">
              <a:defRPr sz="1500" b="0">
                <a:solidFill>
                  <a:srgbClr val="F0F4F8"/>
                </a:solidFill>
                <a:latin typeface="Aptos"/>
              </a:defRPr>
            </a:pPr>
            <a:r>
              <a:t>Never recorded for women: record-keeping, not behaviour</a:t>
            </a:r>
            <a:br/>
            <a:br/>
            <a:r>
              <a:t>Drop it, refit inside 100% of 5 training folds</a:t>
            </a:r>
            <a:br/>
            <a:br/>
            <a:r>
              <a:t>Out of fold: FNR gap -0.122 → -0.035 (~70% closed), AUC -0.010</a:t>
            </a:r>
            <a:br/>
            <a:br/>
            <a:r>
              <a:t>Cost: men's FNR +2 pts; selection rates still differ</a:t>
            </a:r>
          </a:p>
        </p:txBody>
      </p:sp>
      <p:sp>
        <p:nvSpPr>
          <p:cNvPr id="9" name="TextBox 8"/>
          <p:cNvSpPr txBox="1"/>
          <p:nvPr/>
        </p:nvSpPr>
        <p:spPr>
          <a:xfrm>
            <a:off x="914400" y="6236208"/>
            <a:ext cx="10058400" cy="274320"/>
          </a:xfrm>
          <a:prstGeom prst="rect">
            <a:avLst/>
          </a:prstGeom>
          <a:noFill/>
        </p:spPr>
        <p:txBody>
          <a:bodyPr wrap="square" anchor="t">
            <a:spAutoFit/>
          </a:bodyPr>
          <a:lstStyle/>
          <a:p>
            <a:pPr algn="ctr">
              <a:defRPr sz="1100" b="1">
                <a:solidFill>
                  <a:srgbClr val="FB8500"/>
                </a:solidFill>
                <a:latin typeface="Aptos"/>
              </a:defRPr>
            </a:pPr>
            <a:r>
              <a:t>Evaluation cohort untouched. A mitigation option for the client, not applied to the recommended model.</a:t>
            </a:r>
          </a:p>
        </p:txBody>
      </p:sp>
      <p:sp>
        <p:nvSpPr>
          <p:cNvPr id="10" name="TextBox 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1" name="TextBox 1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STABILITY · STRUCTURAL</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Would a different sample give the same model?</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tructural_stability.png"/>
          <p:cNvPicPr>
            <a:picLocks noChangeAspect="1"/>
          </p:cNvPicPr>
          <p:nvPr/>
        </p:nvPicPr>
        <p:blipFill>
          <a:blip r:embed="rId2"/>
          <a:stretch>
            <a:fillRect/>
          </a:stretch>
        </p:blipFill>
        <p:spPr>
          <a:xfrm>
            <a:off x="457200" y="1600200"/>
            <a:ext cx="7589520" cy="1992276"/>
          </a:xfrm>
          <a:prstGeom prst="rect">
            <a:avLst/>
          </a:prstGeom>
        </p:spPr>
      </p:pic>
      <p:sp>
        <p:nvSpPr>
          <p:cNvPr id="6" name="Rounded Rectangle 5"/>
          <p:cNvSpPr/>
          <p:nvPr/>
        </p:nvSpPr>
        <p:spPr>
          <a:xfrm>
            <a:off x="8549640" y="1737360"/>
            <a:ext cx="2423160" cy="1261872"/>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59367" y="1874519"/>
            <a:ext cx="2194560" cy="438912"/>
          </a:xfrm>
          <a:prstGeom prst="rect">
            <a:avLst/>
          </a:prstGeom>
          <a:noFill/>
        </p:spPr>
        <p:txBody>
          <a:bodyPr wrap="square" anchor="t">
            <a:spAutoFit/>
          </a:bodyPr>
          <a:lstStyle/>
          <a:p>
            <a:pPr algn="ctr">
              <a:defRPr sz="1500" b="1">
                <a:solidFill>
                  <a:srgbClr val="FB8500"/>
                </a:solidFill>
                <a:latin typeface="Aptos"/>
              </a:defRPr>
            </a:pPr>
            <a:r>
              <a:t>0.032 / 0.035 / 0.035</a:t>
            </a:r>
          </a:p>
        </p:txBody>
      </p:sp>
      <p:sp>
        <p:nvSpPr>
          <p:cNvPr id="8" name="TextBox 7"/>
          <p:cNvSpPr txBox="1"/>
          <p:nvPr/>
        </p:nvSpPr>
        <p:spPr>
          <a:xfrm>
            <a:off x="8659367" y="2395728"/>
            <a:ext cx="2194560" cy="274320"/>
          </a:xfrm>
          <a:prstGeom prst="rect">
            <a:avLst/>
          </a:prstGeom>
          <a:noFill/>
        </p:spPr>
        <p:txBody>
          <a:bodyPr wrap="square" anchor="t">
            <a:spAutoFit/>
          </a:bodyPr>
          <a:lstStyle/>
          <a:p>
            <a:pPr algn="ctr">
              <a:defRPr sz="1100" b="1">
                <a:solidFill>
                  <a:srgbClr val="FFFFFF"/>
                </a:solidFill>
                <a:latin typeface="Aptos"/>
              </a:defRPr>
            </a:pPr>
            <a:r>
              <a:t>SCORE DRIFT (mean |Δp|)</a:t>
            </a:r>
          </a:p>
        </p:txBody>
      </p:sp>
      <p:sp>
        <p:nvSpPr>
          <p:cNvPr id="9" name="TextBox 8"/>
          <p:cNvSpPr txBox="1"/>
          <p:nvPr/>
        </p:nvSpPr>
        <p:spPr>
          <a:xfrm>
            <a:off x="8659367" y="2706624"/>
            <a:ext cx="2194560" cy="164592"/>
          </a:xfrm>
          <a:prstGeom prst="rect">
            <a:avLst/>
          </a:prstGeom>
          <a:noFill/>
        </p:spPr>
        <p:txBody>
          <a:bodyPr wrap="square" anchor="t">
            <a:spAutoFit/>
          </a:bodyPr>
          <a:lstStyle/>
          <a:p>
            <a:pPr algn="ctr">
              <a:defRPr sz="800" b="0">
                <a:solidFill>
                  <a:srgbClr val="F0F4F8"/>
                </a:solidFill>
                <a:latin typeface="Aptos"/>
              </a:defRPr>
            </a:pPr>
            <a:r>
              <a:t>logistic below XGBoost on all 28 pairs</a:t>
            </a:r>
          </a:p>
        </p:txBody>
      </p:sp>
      <p:sp>
        <p:nvSpPr>
          <p:cNvPr id="10" name="Rounded Rectangle 9"/>
          <p:cNvSpPr/>
          <p:nvPr/>
        </p:nvSpPr>
        <p:spPr>
          <a:xfrm>
            <a:off x="8549640" y="3200400"/>
            <a:ext cx="2423160" cy="1261872"/>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59367" y="3337560"/>
            <a:ext cx="2194560" cy="438912"/>
          </a:xfrm>
          <a:prstGeom prst="rect">
            <a:avLst/>
          </a:prstGeom>
          <a:noFill/>
        </p:spPr>
        <p:txBody>
          <a:bodyPr wrap="square" anchor="t">
            <a:spAutoFit/>
          </a:bodyPr>
          <a:lstStyle/>
          <a:p>
            <a:pPr algn="ctr">
              <a:defRPr sz="1600" b="1">
                <a:solidFill>
                  <a:srgbClr val="00B4B4"/>
                </a:solidFill>
                <a:latin typeface="Aptos"/>
              </a:defRPr>
            </a:pPr>
            <a:r>
              <a:t>0.77 / 0.75 / 0.78</a:t>
            </a:r>
          </a:p>
        </p:txBody>
      </p:sp>
      <p:sp>
        <p:nvSpPr>
          <p:cNvPr id="12" name="TextBox 11"/>
          <p:cNvSpPr txBox="1"/>
          <p:nvPr/>
        </p:nvSpPr>
        <p:spPr>
          <a:xfrm>
            <a:off x="8659367" y="3858768"/>
            <a:ext cx="2194560" cy="274320"/>
          </a:xfrm>
          <a:prstGeom prst="rect">
            <a:avLst/>
          </a:prstGeom>
          <a:noFill/>
        </p:spPr>
        <p:txBody>
          <a:bodyPr wrap="square" anchor="t">
            <a:spAutoFit/>
          </a:bodyPr>
          <a:lstStyle/>
          <a:p>
            <a:pPr algn="ctr">
              <a:defRPr sz="1100" b="1">
                <a:solidFill>
                  <a:srgbClr val="FFFFFF"/>
                </a:solidFill>
                <a:latin typeface="Aptos"/>
              </a:defRPr>
            </a:pPr>
            <a:r>
              <a:t>TOP-20% JACCARD</a:t>
            </a:r>
          </a:p>
        </p:txBody>
      </p:sp>
      <p:sp>
        <p:nvSpPr>
          <p:cNvPr id="13" name="TextBox 12"/>
          <p:cNvSpPr txBox="1"/>
          <p:nvPr/>
        </p:nvSpPr>
        <p:spPr>
          <a:xfrm>
            <a:off x="8659367" y="4169664"/>
            <a:ext cx="2194560" cy="164592"/>
          </a:xfrm>
          <a:prstGeom prst="rect">
            <a:avLst/>
          </a:prstGeom>
          <a:noFill/>
        </p:spPr>
        <p:txBody>
          <a:bodyPr wrap="square" anchor="t">
            <a:spAutoFit/>
          </a:bodyPr>
          <a:lstStyle/>
          <a:p>
            <a:pPr algn="ctr">
              <a:defRPr sz="800" b="0">
                <a:solidFill>
                  <a:srgbClr val="F0F4F8"/>
                </a:solidFill>
                <a:latin typeface="Aptos"/>
              </a:defRPr>
            </a:pPr>
            <a:r>
              <a:t>≈ 13% of the selected change per refit</a:t>
            </a:r>
          </a:p>
        </p:txBody>
      </p:sp>
      <p:sp>
        <p:nvSpPr>
          <p:cNvPr id="14" name="Rounded Rectangle 13"/>
          <p:cNvSpPr/>
          <p:nvPr/>
        </p:nvSpPr>
        <p:spPr>
          <a:xfrm>
            <a:off x="8549640" y="4663440"/>
            <a:ext cx="2423160" cy="1261872"/>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59367" y="4800600"/>
            <a:ext cx="2194560" cy="438912"/>
          </a:xfrm>
          <a:prstGeom prst="rect">
            <a:avLst/>
          </a:prstGeom>
          <a:noFill/>
        </p:spPr>
        <p:txBody>
          <a:bodyPr wrap="square" anchor="t">
            <a:spAutoFit/>
          </a:bodyPr>
          <a:lstStyle/>
          <a:p>
            <a:pPr algn="ctr">
              <a:defRPr sz="2400" b="1">
                <a:solidFill>
                  <a:srgbClr val="7B2CBF"/>
                </a:solidFill>
                <a:latin typeface="Aptos"/>
              </a:defRPr>
            </a:pPr>
            <a:r>
              <a:t>8 refits</a:t>
            </a:r>
          </a:p>
        </p:txBody>
      </p:sp>
      <p:sp>
        <p:nvSpPr>
          <p:cNvPr id="16" name="TextBox 15"/>
          <p:cNvSpPr txBox="1"/>
          <p:nvPr/>
        </p:nvSpPr>
        <p:spPr>
          <a:xfrm>
            <a:off x="8659367" y="5321807"/>
            <a:ext cx="2194560" cy="274320"/>
          </a:xfrm>
          <a:prstGeom prst="rect">
            <a:avLst/>
          </a:prstGeom>
          <a:noFill/>
        </p:spPr>
        <p:txBody>
          <a:bodyPr wrap="square" anchor="t">
            <a:spAutoFit/>
          </a:bodyPr>
          <a:lstStyle/>
          <a:p>
            <a:pPr algn="ctr">
              <a:defRPr sz="1100" b="1">
                <a:solidFill>
                  <a:srgbClr val="FFFFFF"/>
                </a:solidFill>
                <a:latin typeface="Aptos"/>
              </a:defRPr>
            </a:pPr>
            <a:r>
              <a:t>PROTOCOL</a:t>
            </a:r>
          </a:p>
        </p:txBody>
      </p:sp>
      <p:sp>
        <p:nvSpPr>
          <p:cNvPr id="17" name="TextBox 16"/>
          <p:cNvSpPr txBox="1"/>
          <p:nvPr/>
        </p:nvSpPr>
        <p:spPr>
          <a:xfrm>
            <a:off x="8659367" y="5632704"/>
            <a:ext cx="2194560" cy="164592"/>
          </a:xfrm>
          <a:prstGeom prst="rect">
            <a:avLst/>
          </a:prstGeom>
          <a:noFill/>
        </p:spPr>
        <p:txBody>
          <a:bodyPr wrap="square" anchor="t">
            <a:spAutoFit/>
          </a:bodyPr>
          <a:lstStyle/>
          <a:p>
            <a:pPr algn="ctr">
              <a:defRPr sz="800" b="0">
                <a:solidFill>
                  <a:srgbClr val="F0F4F8"/>
                </a:solidFill>
                <a:latin typeface="Aptos"/>
              </a:defRPr>
            </a:pPr>
            <a:r>
              <a:t>same bootstrap resamples for all 3</a:t>
            </a:r>
          </a:p>
        </p:txBody>
      </p:sp>
      <p:sp>
        <p:nvSpPr>
          <p:cNvPr id="18" name="TextBox 17"/>
          <p:cNvSpPr txBox="1"/>
          <p:nvPr/>
        </p:nvSpPr>
        <p:spPr>
          <a:xfrm>
            <a:off x="914400" y="6236208"/>
            <a:ext cx="10058400" cy="274320"/>
          </a:xfrm>
          <a:prstGeom prst="rect">
            <a:avLst/>
          </a:prstGeom>
          <a:noFill/>
        </p:spPr>
        <p:txBody>
          <a:bodyPr wrap="square" anchor="t">
            <a:spAutoFit/>
          </a:bodyPr>
          <a:lstStyle/>
          <a:p>
            <a:pPr algn="ctr">
              <a:defRPr sz="1100" b="1">
                <a:solidFill>
                  <a:srgbClr val="828FA0"/>
                </a:solidFill>
                <a:latin typeface="Aptos"/>
              </a:defRPr>
            </a:pPr>
            <a:r>
              <a:t>Course definition: two samples from the same population should give approximately the same model.</a:t>
            </a:r>
          </a:p>
        </p:txBody>
      </p:sp>
      <p:sp>
        <p:nvSpPr>
          <p:cNvPr id="19" name="TextBox 18"/>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20" name="TextBox 19"/>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STABILITY · INDIVIDUAL</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Stability for one person: abstaining is not fairness-neutral</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ndividual_stability.png"/>
          <p:cNvPicPr>
            <a:picLocks noChangeAspect="1"/>
          </p:cNvPicPr>
          <p:nvPr/>
        </p:nvPicPr>
        <p:blipFill>
          <a:blip r:embed="rId2"/>
          <a:stretch>
            <a:fillRect/>
          </a:stretch>
        </p:blipFill>
        <p:spPr>
          <a:xfrm>
            <a:off x="320040" y="1554480"/>
            <a:ext cx="11521440" cy="3268678"/>
          </a:xfrm>
          <a:prstGeom prst="rect">
            <a:avLst/>
          </a:prstGeom>
        </p:spPr>
      </p:pic>
      <p:sp>
        <p:nvSpPr>
          <p:cNvPr id="6" name="TextBox 5"/>
          <p:cNvSpPr txBox="1"/>
          <p:nvPr/>
        </p:nvSpPr>
        <p:spPr>
          <a:xfrm>
            <a:off x="731520" y="6144768"/>
            <a:ext cx="10698480" cy="411480"/>
          </a:xfrm>
          <a:prstGeom prst="rect">
            <a:avLst/>
          </a:prstGeom>
          <a:noFill/>
        </p:spPr>
        <p:txBody>
          <a:bodyPr wrap="square" anchor="t">
            <a:spAutoFit/>
          </a:bodyPr>
          <a:lstStyle/>
          <a:p>
            <a:pPr algn="ctr">
              <a:defRPr sz="1100" b="1">
                <a:solidFill>
                  <a:srgbClr val="FB8500"/>
                </a:solidFill>
                <a:latin typeface="Aptos"/>
              </a:defRPr>
            </a:pPr>
            <a:r>
              <a:t>14% of decisions flip. Unanimous only: precision 0.822 → 0.846, gender FNR gap -0.090 → -0.119.</a:t>
            </a:r>
          </a:p>
        </p:txBody>
      </p:sp>
      <p:sp>
        <p:nvSpPr>
          <p:cNvPr id="7" name="TextBox 6"/>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8" name="TextBox 7"/>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CONCLUSION · TRADE-OFFS</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Pilot logistic regression; run XGBoost as the challenger</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adeoff_matrix.png"/>
          <p:cNvPicPr>
            <a:picLocks noChangeAspect="1"/>
          </p:cNvPicPr>
          <p:nvPr/>
        </p:nvPicPr>
        <p:blipFill>
          <a:blip r:embed="rId2"/>
          <a:stretch>
            <a:fillRect/>
          </a:stretch>
        </p:blipFill>
        <p:spPr>
          <a:xfrm>
            <a:off x="628578" y="1463040"/>
            <a:ext cx="6423802" cy="4800599"/>
          </a:xfrm>
          <a:prstGeom prst="rect">
            <a:avLst/>
          </a:prstGeom>
        </p:spPr>
      </p:pic>
      <p:sp>
        <p:nvSpPr>
          <p:cNvPr id="6" name="Rounded Rectangle 5"/>
          <p:cNvSpPr/>
          <p:nvPr/>
        </p:nvSpPr>
        <p:spPr>
          <a:xfrm>
            <a:off x="7680960" y="1463040"/>
            <a:ext cx="4114800" cy="4663440"/>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09560" y="1737360"/>
            <a:ext cx="3657600" cy="365760"/>
          </a:xfrm>
          <a:prstGeom prst="rect">
            <a:avLst/>
          </a:prstGeom>
          <a:noFill/>
        </p:spPr>
        <p:txBody>
          <a:bodyPr wrap="square" anchor="t">
            <a:spAutoFit/>
          </a:bodyPr>
          <a:lstStyle/>
          <a:p>
            <a:pPr algn="ctr">
              <a:defRPr sz="2000" b="1">
                <a:solidFill>
                  <a:srgbClr val="00B4B4"/>
                </a:solidFill>
                <a:latin typeface="Aptos"/>
              </a:defRPr>
            </a:pPr>
            <a:r>
              <a:t>WHY LOGISTIC</a:t>
            </a:r>
          </a:p>
        </p:txBody>
      </p:sp>
      <p:sp>
        <p:nvSpPr>
          <p:cNvPr id="8" name="TextBox 7"/>
          <p:cNvSpPr txBox="1"/>
          <p:nvPr/>
        </p:nvSpPr>
        <p:spPr>
          <a:xfrm>
            <a:off x="8001000" y="2450592"/>
            <a:ext cx="3474720" cy="3428999"/>
          </a:xfrm>
          <a:prstGeom prst="rect">
            <a:avLst/>
          </a:prstGeom>
          <a:noFill/>
        </p:spPr>
        <p:txBody>
          <a:bodyPr wrap="square" anchor="t">
            <a:spAutoFit/>
          </a:bodyPr>
          <a:lstStyle/>
          <a:p>
            <a:pPr algn="ctr">
              <a:defRPr sz="1500" b="0">
                <a:solidFill>
                  <a:srgbClr val="F0F4F8"/>
                </a:solidFill>
                <a:latin typeface="Aptos"/>
              </a:defRPr>
            </a:pPr>
            <a:r>
              <a:t>Same people: 85% overlap with XGBoost; captured re-arrests CI includes 0</a:t>
            </a:r>
            <a:br/>
            <a:br/>
            <a:r>
              <a:t>More stable than XGBoost on all 28 refit pairs</a:t>
            </a:r>
            <a:br/>
            <a:br/>
            <a:r>
              <a:t>Coefficients read directly · ~9× faster</a:t>
            </a:r>
            <a:br/>
            <a:br/>
            <a:r>
              <a:t>Fairness and calibration: tied — not reasons</a:t>
            </a:r>
            <a:br/>
            <a:br/>
            <a:r>
              <a:t>Reverses if: scores are quoted numerically, or scale makes +12 offers matter</a:t>
            </a:r>
          </a:p>
        </p:txBody>
      </p:sp>
      <p:sp>
        <p:nvSpPr>
          <p:cNvPr id="9" name="TextBox 8"/>
          <p:cNvSpPr txBox="1"/>
          <p:nvPr/>
        </p:nvSpPr>
        <p:spPr>
          <a:xfrm>
            <a:off x="731520" y="6263640"/>
            <a:ext cx="10698480" cy="274320"/>
          </a:xfrm>
          <a:prstGeom prst="rect">
            <a:avLst/>
          </a:prstGeom>
          <a:noFill/>
        </p:spPr>
        <p:txBody>
          <a:bodyPr wrap="square" anchor="t">
            <a:spAutoFit/>
          </a:bodyPr>
          <a:lstStyle/>
          <a:p>
            <a:pPr algn="ctr">
              <a:defRPr sz="1100" b="1">
                <a:solidFill>
                  <a:srgbClr val="FB8500"/>
                </a:solidFill>
                <a:latin typeface="Aptos"/>
              </a:defRPr>
            </a:pPr>
            <a:r>
              <a:t>Shadow pilot first: no temporal/external validation yet, and no evidence the support programme works.</a:t>
            </a:r>
          </a:p>
        </p:txBody>
      </p:sp>
      <p:sp>
        <p:nvSpPr>
          <p:cNvPr id="10" name="TextBox 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1" name="TextBox 1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DEMO · APP</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The application makes every trade-off testable</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600200"/>
            <a:ext cx="5212080" cy="1572768"/>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74519"/>
            <a:ext cx="4754880" cy="365760"/>
          </a:xfrm>
          <a:prstGeom prst="rect">
            <a:avLst/>
          </a:prstGeom>
          <a:noFill/>
        </p:spPr>
        <p:txBody>
          <a:bodyPr wrap="square" anchor="t">
            <a:spAutoFit/>
          </a:bodyPr>
          <a:lstStyle/>
          <a:p>
            <a:pPr algn="ctr">
              <a:defRPr sz="2000" b="1">
                <a:solidFill>
                  <a:srgbClr val="FB8500"/>
                </a:solidFill>
                <a:latin typeface="Aptos"/>
              </a:defRPr>
            </a:pPr>
            <a:r>
              <a:t>1 · SCORE</a:t>
            </a:r>
          </a:p>
        </p:txBody>
      </p:sp>
      <p:sp>
        <p:nvSpPr>
          <p:cNvPr id="7" name="TextBox 6"/>
          <p:cNvSpPr txBox="1"/>
          <p:nvPr/>
        </p:nvSpPr>
        <p:spPr>
          <a:xfrm>
            <a:off x="1005840" y="2587752"/>
            <a:ext cx="4572000" cy="338327"/>
          </a:xfrm>
          <a:prstGeom prst="rect">
            <a:avLst/>
          </a:prstGeom>
          <a:noFill/>
        </p:spPr>
        <p:txBody>
          <a:bodyPr wrap="square" anchor="t">
            <a:spAutoFit/>
          </a:bodyPr>
          <a:lstStyle/>
          <a:p>
            <a:pPr algn="ctr">
              <a:defRPr sz="1500" b="0">
                <a:solidFill>
                  <a:srgbClr val="F0F4F8"/>
                </a:solidFill>
                <a:latin typeface="Aptos"/>
              </a:defRPr>
            </a:pPr>
            <a:r>
              <a:t>One person, all 3 models</a:t>
            </a:r>
          </a:p>
        </p:txBody>
      </p:sp>
      <p:sp>
        <p:nvSpPr>
          <p:cNvPr id="8" name="Rounded Rectangle 7"/>
          <p:cNvSpPr/>
          <p:nvPr/>
        </p:nvSpPr>
        <p:spPr>
          <a:xfrm>
            <a:off x="6263640" y="1600200"/>
            <a:ext cx="5212080" cy="1572768"/>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1874519"/>
            <a:ext cx="4754880" cy="365760"/>
          </a:xfrm>
          <a:prstGeom prst="rect">
            <a:avLst/>
          </a:prstGeom>
          <a:noFill/>
        </p:spPr>
        <p:txBody>
          <a:bodyPr wrap="square" anchor="t">
            <a:spAutoFit/>
          </a:bodyPr>
          <a:lstStyle/>
          <a:p>
            <a:pPr algn="ctr">
              <a:defRPr sz="2000" b="1">
                <a:solidFill>
                  <a:srgbClr val="7B2CBF"/>
                </a:solidFill>
                <a:latin typeface="Aptos"/>
              </a:defRPr>
            </a:pPr>
            <a:r>
              <a:t>2 · EXPLAIN</a:t>
            </a:r>
          </a:p>
        </p:txBody>
      </p:sp>
      <p:sp>
        <p:nvSpPr>
          <p:cNvPr id="10" name="TextBox 9"/>
          <p:cNvSpPr txBox="1"/>
          <p:nvPr/>
        </p:nvSpPr>
        <p:spPr>
          <a:xfrm>
            <a:off x="6583679" y="2587752"/>
            <a:ext cx="4572000" cy="338327"/>
          </a:xfrm>
          <a:prstGeom prst="rect">
            <a:avLst/>
          </a:prstGeom>
          <a:noFill/>
        </p:spPr>
        <p:txBody>
          <a:bodyPr wrap="square" anchor="t">
            <a:spAutoFit/>
          </a:bodyPr>
          <a:lstStyle/>
          <a:p>
            <a:pPr algn="ctr">
              <a:defRPr sz="1500" b="0">
                <a:solidFill>
                  <a:srgbClr val="F0F4F8"/>
                </a:solidFill>
                <a:latin typeface="Aptos"/>
              </a:defRPr>
            </a:pPr>
            <a:r>
              <a:t>Why this score (SHAP)</a:t>
            </a:r>
          </a:p>
        </p:txBody>
      </p:sp>
      <p:sp>
        <p:nvSpPr>
          <p:cNvPr id="11" name="Rounded Rectangle 10"/>
          <p:cNvSpPr/>
          <p:nvPr/>
        </p:nvSpPr>
        <p:spPr>
          <a:xfrm>
            <a:off x="685800" y="3474720"/>
            <a:ext cx="5212080" cy="1572768"/>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749039"/>
            <a:ext cx="4754880" cy="365760"/>
          </a:xfrm>
          <a:prstGeom prst="rect">
            <a:avLst/>
          </a:prstGeom>
          <a:noFill/>
        </p:spPr>
        <p:txBody>
          <a:bodyPr wrap="square" anchor="t">
            <a:spAutoFit/>
          </a:bodyPr>
          <a:lstStyle/>
          <a:p>
            <a:pPr algn="ctr">
              <a:defRPr sz="2000" b="1">
                <a:solidFill>
                  <a:srgbClr val="FB8500"/>
                </a:solidFill>
                <a:latin typeface="Aptos"/>
              </a:defRPr>
            </a:pPr>
            <a:r>
              <a:t>3 · STABILITY</a:t>
            </a:r>
          </a:p>
        </p:txBody>
      </p:sp>
      <p:sp>
        <p:nvSpPr>
          <p:cNvPr id="13" name="TextBox 12"/>
          <p:cNvSpPr txBox="1"/>
          <p:nvPr/>
        </p:nvSpPr>
        <p:spPr>
          <a:xfrm>
            <a:off x="1005840" y="4462272"/>
            <a:ext cx="4572000" cy="338327"/>
          </a:xfrm>
          <a:prstGeom prst="rect">
            <a:avLst/>
          </a:prstGeom>
          <a:noFill/>
        </p:spPr>
        <p:txBody>
          <a:bodyPr wrap="square" anchor="t">
            <a:spAutoFit/>
          </a:bodyPr>
          <a:lstStyle/>
          <a:p>
            <a:pPr algn="ctr">
              <a:defRPr sz="1500" b="0">
                <a:solidFill>
                  <a:srgbClr val="F0F4F8"/>
                </a:solidFill>
                <a:latin typeface="Aptos"/>
              </a:defRPr>
            </a:pPr>
            <a:r>
              <a:t>How many of 8 refits select them</a:t>
            </a:r>
          </a:p>
        </p:txBody>
      </p:sp>
      <p:sp>
        <p:nvSpPr>
          <p:cNvPr id="14" name="Rounded Rectangle 13"/>
          <p:cNvSpPr/>
          <p:nvPr/>
        </p:nvSpPr>
        <p:spPr>
          <a:xfrm>
            <a:off x="6263640" y="3474720"/>
            <a:ext cx="5212080" cy="1572768"/>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3749039"/>
            <a:ext cx="4754880" cy="365760"/>
          </a:xfrm>
          <a:prstGeom prst="rect">
            <a:avLst/>
          </a:prstGeom>
          <a:noFill/>
        </p:spPr>
        <p:txBody>
          <a:bodyPr wrap="square" anchor="t">
            <a:spAutoFit/>
          </a:bodyPr>
          <a:lstStyle/>
          <a:p>
            <a:pPr algn="ctr">
              <a:defRPr sz="2000" b="1">
                <a:solidFill>
                  <a:srgbClr val="7B2CBF"/>
                </a:solidFill>
                <a:latin typeface="Aptos"/>
              </a:defRPr>
            </a:pPr>
            <a:r>
              <a:t>4 · WHAT IF</a:t>
            </a:r>
          </a:p>
        </p:txBody>
      </p:sp>
      <p:sp>
        <p:nvSpPr>
          <p:cNvPr id="16" name="TextBox 15"/>
          <p:cNvSpPr txBox="1"/>
          <p:nvPr/>
        </p:nvSpPr>
        <p:spPr>
          <a:xfrm>
            <a:off x="6583679" y="4462272"/>
            <a:ext cx="4572000" cy="338327"/>
          </a:xfrm>
          <a:prstGeom prst="rect">
            <a:avLst/>
          </a:prstGeom>
          <a:noFill/>
        </p:spPr>
        <p:txBody>
          <a:bodyPr wrap="square" anchor="t">
            <a:spAutoFit/>
          </a:bodyPr>
          <a:lstStyle/>
          <a:p>
            <a:pPr algn="ctr">
              <a:defRPr sz="1500" b="0">
                <a:solidFill>
                  <a:srgbClr val="F0F4F8"/>
                </a:solidFill>
                <a:latin typeface="Aptos"/>
              </a:defRPr>
            </a:pPr>
            <a:r>
              <a:t>Edit an input, watch the score move</a:t>
            </a:r>
          </a:p>
        </p:txBody>
      </p:sp>
      <p:sp>
        <p:nvSpPr>
          <p:cNvPr id="17" name="TextBox 16"/>
          <p:cNvSpPr txBox="1"/>
          <p:nvPr/>
        </p:nvSpPr>
        <p:spPr>
          <a:xfrm>
            <a:off x="2926080" y="5715000"/>
            <a:ext cx="6400800" cy="365760"/>
          </a:xfrm>
          <a:prstGeom prst="rect">
            <a:avLst/>
          </a:prstGeom>
          <a:noFill/>
        </p:spPr>
        <p:txBody>
          <a:bodyPr wrap="square" anchor="t">
            <a:spAutoFit/>
          </a:bodyPr>
          <a:lstStyle/>
          <a:p>
            <a:pPr algn="ctr">
              <a:defRPr sz="1500" b="1">
                <a:solidFill>
                  <a:srgbClr val="F0F4F8"/>
                </a:solidFill>
                <a:latin typeface="Consolas"/>
              </a:defRPr>
            </a:pPr>
            <a:r>
              <a:t>streamlit run app.py   ·   backup: screenshots / recording</a:t>
            </a:r>
          </a:p>
        </p:txBody>
      </p:sp>
      <p:sp>
        <p:nvSpPr>
          <p:cNvPr id="18" name="TextBox 17"/>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9" name="TextBox 18"/>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658368" y="2377440"/>
            <a:ext cx="7315200" cy="457200"/>
          </a:xfrm>
          <a:prstGeom prst="rect">
            <a:avLst/>
          </a:prstGeom>
          <a:noFill/>
        </p:spPr>
        <p:txBody>
          <a:bodyPr wrap="square" anchor="t">
            <a:spAutoFit/>
          </a:bodyPr>
          <a:lstStyle/>
          <a:p>
            <a:pPr algn="l">
              <a:defRPr sz="1400" b="1">
                <a:solidFill>
                  <a:srgbClr val="FB8500"/>
                </a:solidFill>
                <a:latin typeface="Aptos"/>
              </a:defRPr>
            </a:pPr>
            <a:r>
              <a:t>APPENDIX</a:t>
            </a:r>
          </a:p>
        </p:txBody>
      </p:sp>
      <p:sp>
        <p:nvSpPr>
          <p:cNvPr id="3" name="TextBox 2"/>
          <p:cNvSpPr txBox="1"/>
          <p:nvPr/>
        </p:nvSpPr>
        <p:spPr>
          <a:xfrm>
            <a:off x="658368" y="2880360"/>
            <a:ext cx="8229600" cy="1371600"/>
          </a:xfrm>
          <a:prstGeom prst="rect">
            <a:avLst/>
          </a:prstGeom>
          <a:noFill/>
        </p:spPr>
        <p:txBody>
          <a:bodyPr wrap="square" anchor="t">
            <a:spAutoFit/>
          </a:bodyPr>
          <a:lstStyle/>
          <a:p>
            <a:pPr algn="l">
              <a:defRPr sz="3400" b="1">
                <a:solidFill>
                  <a:srgbClr val="FFFFFF"/>
                </a:solidFill>
                <a:latin typeface="Aptos"/>
              </a:defRPr>
            </a:pPr>
            <a:r>
              <a:t>Supporting evidence</a:t>
            </a:r>
            <a:br/>
            <a:r>
              <a:t>for questions</a:t>
            </a:r>
          </a:p>
        </p:txBody>
      </p:sp>
      <p:sp>
        <p:nvSpPr>
          <p:cNvPr id="4" name="TextBox 3"/>
          <p:cNvSpPr txBox="1"/>
          <p:nvPr/>
        </p:nvSpPr>
        <p:spPr>
          <a:xfrm>
            <a:off x="694944" y="4526280"/>
            <a:ext cx="8686800" cy="822960"/>
          </a:xfrm>
          <a:prstGeom prst="rect">
            <a:avLst/>
          </a:prstGeom>
          <a:noFill/>
        </p:spPr>
        <p:txBody>
          <a:bodyPr wrap="square" anchor="t">
            <a:spAutoFit/>
          </a:bodyPr>
          <a:lstStyle/>
          <a:p>
            <a:pPr algn="l">
              <a:defRPr sz="1500" b="0">
                <a:solidFill>
                  <a:srgbClr val="F0F4F8"/>
                </a:solidFill>
                <a:latin typeface="Aptos"/>
              </a:defRPr>
            </a:pPr>
            <a:r>
              <a:t>Learning curve · economics · explanation disagreement · surrogate · threshold frontier · age · process · LIME · permutation importance · method overview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A1 · LEARNING CURVE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Which model for which agency size?</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earning_curve.png"/>
          <p:cNvPicPr>
            <a:picLocks noChangeAspect="1"/>
          </p:cNvPicPr>
          <p:nvPr/>
        </p:nvPicPr>
        <p:blipFill>
          <a:blip r:embed="rId2"/>
          <a:stretch>
            <a:fillRect/>
          </a:stretch>
        </p:blipFill>
        <p:spPr>
          <a:xfrm>
            <a:off x="731520" y="1645920"/>
            <a:ext cx="10698480" cy="4022802"/>
          </a:xfrm>
          <a:prstGeom prst="rect">
            <a:avLst/>
          </a:prstGeom>
        </p:spPr>
      </p:pic>
      <p:sp>
        <p:nvSpPr>
          <p:cNvPr id="6" name="TextBox 5"/>
          <p:cNvSpPr txBox="1"/>
          <p:nvPr/>
        </p:nvSpPr>
        <p:spPr>
          <a:xfrm>
            <a:off x="914400" y="6126480"/>
            <a:ext cx="10058400" cy="457200"/>
          </a:xfrm>
          <a:prstGeom prst="rect">
            <a:avLst/>
          </a:prstGeom>
          <a:noFill/>
        </p:spPr>
        <p:txBody>
          <a:bodyPr wrap="square" anchor="t">
            <a:spAutoFit/>
          </a:bodyPr>
          <a:lstStyle/>
          <a:p>
            <a:pPr algn="ctr">
              <a:defRPr sz="1300" b="1">
                <a:solidFill>
                  <a:srgbClr val="FB8500"/>
                </a:solidFill>
                <a:latin typeface="Aptos"/>
              </a:defRPr>
            </a:pPr>
            <a:r>
              <a:t>Subsamples of one Georgia cohort test sample-size sensitivity; they do not validate transfer to other agencies.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A2 · ECONOMIC SENSITIVITY</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Model value is a scenario, stress-tested</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737360"/>
            <a:ext cx="2423160" cy="1261872"/>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 y="1874519"/>
            <a:ext cx="2194560" cy="438912"/>
          </a:xfrm>
          <a:prstGeom prst="rect">
            <a:avLst/>
          </a:prstGeom>
          <a:noFill/>
        </p:spPr>
        <p:txBody>
          <a:bodyPr wrap="square" anchor="t">
            <a:spAutoFit/>
          </a:bodyPr>
          <a:lstStyle/>
          <a:p>
            <a:pPr algn="ctr">
              <a:defRPr sz="2400" b="1">
                <a:solidFill>
                  <a:srgbClr val="FB8500"/>
                </a:solidFill>
                <a:latin typeface="Aptos"/>
              </a:defRPr>
            </a:pPr>
            <a:r>
              <a:t>20%</a:t>
            </a:r>
          </a:p>
        </p:txBody>
      </p:sp>
      <p:sp>
        <p:nvSpPr>
          <p:cNvPr id="7" name="TextBox 6"/>
          <p:cNvSpPr txBox="1"/>
          <p:nvPr/>
        </p:nvSpPr>
        <p:spPr>
          <a:xfrm>
            <a:off x="841248" y="2395728"/>
            <a:ext cx="2194560" cy="274320"/>
          </a:xfrm>
          <a:prstGeom prst="rect">
            <a:avLst/>
          </a:prstGeom>
          <a:noFill/>
        </p:spPr>
        <p:txBody>
          <a:bodyPr wrap="square" anchor="t">
            <a:spAutoFit/>
          </a:bodyPr>
          <a:lstStyle/>
          <a:p>
            <a:pPr algn="ctr">
              <a:defRPr sz="1100" b="1">
                <a:solidFill>
                  <a:srgbClr val="FFFFFF"/>
                </a:solidFill>
                <a:latin typeface="Aptos"/>
              </a:defRPr>
            </a:pPr>
            <a:r>
              <a:t>SERVICE CAPACITY</a:t>
            </a:r>
          </a:p>
        </p:txBody>
      </p:sp>
      <p:sp>
        <p:nvSpPr>
          <p:cNvPr id="8" name="Rounded Rectangle 7"/>
          <p:cNvSpPr/>
          <p:nvPr/>
        </p:nvSpPr>
        <p:spPr>
          <a:xfrm>
            <a:off x="3429000" y="1737360"/>
            <a:ext cx="2423160" cy="1261872"/>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38728" y="1874519"/>
            <a:ext cx="2194560" cy="438912"/>
          </a:xfrm>
          <a:prstGeom prst="rect">
            <a:avLst/>
          </a:prstGeom>
          <a:noFill/>
        </p:spPr>
        <p:txBody>
          <a:bodyPr wrap="square" anchor="t">
            <a:spAutoFit/>
          </a:bodyPr>
          <a:lstStyle/>
          <a:p>
            <a:pPr algn="ctr">
              <a:defRPr sz="2400" b="1">
                <a:solidFill>
                  <a:srgbClr val="00B4B4"/>
                </a:solidFill>
                <a:latin typeface="Aptos"/>
              </a:defRPr>
            </a:pPr>
            <a:r>
              <a:t>$5.04M</a:t>
            </a:r>
          </a:p>
        </p:txBody>
      </p:sp>
      <p:sp>
        <p:nvSpPr>
          <p:cNvPr id="10" name="TextBox 9"/>
          <p:cNvSpPr txBox="1"/>
          <p:nvPr/>
        </p:nvSpPr>
        <p:spPr>
          <a:xfrm>
            <a:off x="3538728" y="2395728"/>
            <a:ext cx="2194560" cy="274320"/>
          </a:xfrm>
          <a:prstGeom prst="rect">
            <a:avLst/>
          </a:prstGeom>
          <a:noFill/>
        </p:spPr>
        <p:txBody>
          <a:bodyPr wrap="square" anchor="t">
            <a:spAutoFit/>
          </a:bodyPr>
          <a:lstStyle/>
          <a:p>
            <a:pPr algn="ctr">
              <a:defRPr sz="1100" b="1">
                <a:solidFill>
                  <a:srgbClr val="FFFFFF"/>
                </a:solidFill>
                <a:latin typeface="Aptos"/>
              </a:defRPr>
            </a:pPr>
            <a:r>
              <a:t>LOGISTIC NET</a:t>
            </a:r>
          </a:p>
        </p:txBody>
      </p:sp>
      <p:sp>
        <p:nvSpPr>
          <p:cNvPr id="11" name="TextBox 10"/>
          <p:cNvSpPr txBox="1"/>
          <p:nvPr/>
        </p:nvSpPr>
        <p:spPr>
          <a:xfrm>
            <a:off x="3538728" y="2706624"/>
            <a:ext cx="2194560" cy="164592"/>
          </a:xfrm>
          <a:prstGeom prst="rect">
            <a:avLst/>
          </a:prstGeom>
          <a:noFill/>
        </p:spPr>
        <p:txBody>
          <a:bodyPr wrap="square" anchor="t">
            <a:spAutoFit/>
          </a:bodyPr>
          <a:lstStyle/>
          <a:p>
            <a:pPr algn="ctr">
              <a:defRPr sz="800" b="0">
                <a:solidFill>
                  <a:srgbClr val="F0F4F8"/>
                </a:solidFill>
                <a:latin typeface="Aptos"/>
              </a:defRPr>
            </a:pPr>
            <a:r>
              <a:t>XGBoost $5.17M</a:t>
            </a:r>
          </a:p>
        </p:txBody>
      </p:sp>
      <p:sp>
        <p:nvSpPr>
          <p:cNvPr id="12" name="Rounded Rectangle 11"/>
          <p:cNvSpPr/>
          <p:nvPr/>
        </p:nvSpPr>
        <p:spPr>
          <a:xfrm>
            <a:off x="6126480" y="1737360"/>
            <a:ext cx="2423160" cy="1261872"/>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6208" y="1874519"/>
            <a:ext cx="2194560" cy="438912"/>
          </a:xfrm>
          <a:prstGeom prst="rect">
            <a:avLst/>
          </a:prstGeom>
          <a:noFill/>
        </p:spPr>
        <p:txBody>
          <a:bodyPr wrap="square" anchor="t">
            <a:spAutoFit/>
          </a:bodyPr>
          <a:lstStyle/>
          <a:p>
            <a:pPr algn="ctr">
              <a:defRPr sz="2400" b="1">
                <a:solidFill>
                  <a:srgbClr val="D64343"/>
                </a:solidFill>
                <a:latin typeface="Aptos"/>
              </a:defRPr>
            </a:pPr>
            <a:r>
              <a:t>$2.73M</a:t>
            </a:r>
          </a:p>
        </p:txBody>
      </p:sp>
      <p:sp>
        <p:nvSpPr>
          <p:cNvPr id="14" name="TextBox 13"/>
          <p:cNvSpPr txBox="1"/>
          <p:nvPr/>
        </p:nvSpPr>
        <p:spPr>
          <a:xfrm>
            <a:off x="6236208" y="2395728"/>
            <a:ext cx="2194560" cy="274320"/>
          </a:xfrm>
          <a:prstGeom prst="rect">
            <a:avLst/>
          </a:prstGeom>
          <a:noFill/>
        </p:spPr>
        <p:txBody>
          <a:bodyPr wrap="square" anchor="t">
            <a:spAutoFit/>
          </a:bodyPr>
          <a:lstStyle/>
          <a:p>
            <a:pPr algn="ctr">
              <a:defRPr sz="1100" b="1">
                <a:solidFill>
                  <a:srgbClr val="FFFFFF"/>
                </a:solidFill>
                <a:latin typeface="Aptos"/>
              </a:defRPr>
            </a:pPr>
            <a:r>
              <a:t>HISTORICAL SCORE NET</a:t>
            </a:r>
          </a:p>
        </p:txBody>
      </p:sp>
      <p:sp>
        <p:nvSpPr>
          <p:cNvPr id="15" name="Rounded Rectangle 14"/>
          <p:cNvSpPr/>
          <p:nvPr/>
        </p:nvSpPr>
        <p:spPr>
          <a:xfrm>
            <a:off x="8823960" y="1737360"/>
            <a:ext cx="2423160" cy="1261872"/>
          </a:xfrm>
          <a:prstGeom prst="roundRect">
            <a:avLst/>
          </a:prstGeom>
          <a:solidFill>
            <a:srgbClr val="143058"/>
          </a:solidFill>
          <a:ln>
            <a:solidFill>
              <a:srgbClr val="828F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33688" y="1874519"/>
            <a:ext cx="2194560" cy="438912"/>
          </a:xfrm>
          <a:prstGeom prst="rect">
            <a:avLst/>
          </a:prstGeom>
          <a:noFill/>
        </p:spPr>
        <p:txBody>
          <a:bodyPr wrap="square" anchor="t">
            <a:spAutoFit/>
          </a:bodyPr>
          <a:lstStyle/>
          <a:p>
            <a:pPr algn="ctr">
              <a:defRPr sz="2400" b="1">
                <a:solidFill>
                  <a:srgbClr val="828FA0"/>
                </a:solidFill>
                <a:latin typeface="Aptos"/>
              </a:defRPr>
            </a:pPr>
            <a:r>
              <a:t>$1.46M</a:t>
            </a:r>
          </a:p>
        </p:txBody>
      </p:sp>
      <p:sp>
        <p:nvSpPr>
          <p:cNvPr id="17" name="TextBox 16"/>
          <p:cNvSpPr txBox="1"/>
          <p:nvPr/>
        </p:nvSpPr>
        <p:spPr>
          <a:xfrm>
            <a:off x="8933688" y="2395728"/>
            <a:ext cx="2194560" cy="274320"/>
          </a:xfrm>
          <a:prstGeom prst="rect">
            <a:avLst/>
          </a:prstGeom>
          <a:noFill/>
        </p:spPr>
        <p:txBody>
          <a:bodyPr wrap="square" anchor="t">
            <a:spAutoFit/>
          </a:bodyPr>
          <a:lstStyle/>
          <a:p>
            <a:pPr algn="ctr">
              <a:defRPr sz="1100" b="1">
                <a:solidFill>
                  <a:srgbClr val="FFFFFF"/>
                </a:solidFill>
                <a:latin typeface="Aptos"/>
              </a:defRPr>
            </a:pPr>
            <a:r>
              <a:t>RANDOM NET</a:t>
            </a:r>
          </a:p>
        </p:txBody>
      </p:sp>
      <p:sp>
        <p:nvSpPr>
          <p:cNvPr id="18" name="TextBox 17"/>
          <p:cNvSpPr txBox="1"/>
          <p:nvPr/>
        </p:nvSpPr>
        <p:spPr>
          <a:xfrm>
            <a:off x="731520" y="3401568"/>
            <a:ext cx="10698480" cy="4389120"/>
          </a:xfrm>
          <a:prstGeom prst="rect">
            <a:avLst/>
          </a:prstGeom>
          <a:noFill/>
        </p:spPr>
        <p:txBody>
          <a:bodyPr wrap="square">
            <a:spAutoFit/>
          </a:bodyPr>
          <a:lstStyle/>
          <a:p>
            <a:pPr>
              <a:spcAft>
                <a:spcPts val="1200"/>
              </a:spcAft>
              <a:defRPr sz="2000">
                <a:solidFill>
                  <a:srgbClr val="FFFFFF"/>
                </a:solidFill>
                <a:latin typeface="Aptos"/>
              </a:defRPr>
            </a:pPr>
            <a:r>
              <a:t>•  $5,000 support cost · $50,000 event cost · 20% assumed effectiveness — all editable in the app</a:t>
            </a:r>
          </a:p>
          <a:p>
            <a:pPr>
              <a:spcAft>
                <a:spcPts val="1200"/>
              </a:spcAft>
              <a:defRPr sz="2000">
                <a:solidFill>
                  <a:srgbClr val="FFFFFF"/>
                </a:solidFill>
                <a:latin typeface="Aptos"/>
              </a:defRPr>
            </a:pPr>
            <a:r>
              <a:t>•  Models beat the historical score at every capacity from 5% to 50%</a:t>
            </a:r>
          </a:p>
          <a:p>
            <a:pPr>
              <a:spcAft>
                <a:spcPts val="1200"/>
              </a:spcAft>
              <a:defRPr sz="2000">
                <a:solidFill>
                  <a:srgbClr val="FFFFFF"/>
                </a:solidFill>
                <a:latin typeface="Aptos"/>
              </a:defRPr>
            </a:pPr>
            <a:r>
              <a:t>•  A randomized or quasi-experimental pilot must estimate real intervention impact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A3 · EXPLANATION DISAGREEMENT</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SHAP, permutation importance and XPER rank differently</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xplanation_agreement.png"/>
          <p:cNvPicPr>
            <a:picLocks noChangeAspect="1"/>
          </p:cNvPicPr>
          <p:nvPr/>
        </p:nvPicPr>
        <p:blipFill>
          <a:blip r:embed="rId2"/>
          <a:stretch>
            <a:fillRect/>
          </a:stretch>
        </p:blipFill>
        <p:spPr>
          <a:xfrm>
            <a:off x="1378914" y="1600200"/>
            <a:ext cx="9312251" cy="4663440"/>
          </a:xfrm>
          <a:prstGeom prst="rect">
            <a:avLst/>
          </a:prstGeom>
        </p:spPr>
      </p:pic>
      <p:sp>
        <p:nvSpPr>
          <p:cNvPr id="6" name="TextBox 5"/>
          <p:cNvSpPr txBox="1"/>
          <p:nvPr/>
        </p:nvSpPr>
        <p:spPr>
          <a:xfrm>
            <a:off x="914400" y="6236208"/>
            <a:ext cx="10058400" cy="274320"/>
          </a:xfrm>
          <a:prstGeom prst="rect">
            <a:avLst/>
          </a:prstGeom>
          <a:noFill/>
        </p:spPr>
        <p:txBody>
          <a:bodyPr wrap="square" anchor="t">
            <a:spAutoFit/>
          </a:bodyPr>
          <a:lstStyle/>
          <a:p>
            <a:pPr algn="ctr">
              <a:defRPr sz="1100" b="1">
                <a:solidFill>
                  <a:srgbClr val="FB8500"/>
                </a:solidFill>
                <a:latin typeface="Aptos"/>
              </a:defRPr>
            </a:pPr>
            <a:r>
              <a:t>Spearman 0.53–0.81; 8–10 of the top ten features shared. The set of drivers is robust, the order is method-dependent.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A4 · GLOBAL SURROGATE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A depth-3 tree that mimics XGBoost</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lobal_surrogate.png"/>
          <p:cNvPicPr>
            <a:picLocks noChangeAspect="1"/>
          </p:cNvPicPr>
          <p:nvPr/>
        </p:nvPicPr>
        <p:blipFill>
          <a:blip r:embed="rId2"/>
          <a:stretch>
            <a:fillRect/>
          </a:stretch>
        </p:blipFill>
        <p:spPr>
          <a:xfrm>
            <a:off x="646381" y="1600200"/>
            <a:ext cx="10868756" cy="4663440"/>
          </a:xfrm>
          <a:prstGeom prst="rect">
            <a:avLst/>
          </a:prstGeom>
        </p:spPr>
      </p:pic>
      <p:sp>
        <p:nvSpPr>
          <p:cNvPr id="6" name="TextBox 5"/>
          <p:cNvSpPr txBox="1"/>
          <p:nvPr/>
        </p:nvSpPr>
        <p:spPr>
          <a:xfrm>
            <a:off x="914400" y="6236208"/>
            <a:ext cx="10058400" cy="274320"/>
          </a:xfrm>
          <a:prstGeom prst="rect">
            <a:avLst/>
          </a:prstGeom>
          <a:noFill/>
        </p:spPr>
        <p:txBody>
          <a:bodyPr wrap="square" anchor="t">
            <a:spAutoFit/>
          </a:bodyPr>
          <a:lstStyle/>
          <a:p>
            <a:pPr algn="ctr">
              <a:defRPr sz="1100" b="1">
                <a:solidFill>
                  <a:srgbClr val="D64343"/>
                </a:solidFill>
                <a:latin typeface="Aptos"/>
              </a:defRPr>
            </a:pPr>
            <a:r>
              <a:t>Test fidelity R² = 0.61: readable, but it misses much of what XGBoost does. A surrogate can give an illusion of interpretability.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A5 · THRESHOLD FRONTIER</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Group thresholds: the fairness/utility frontier</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airness_frontier.png"/>
          <p:cNvPicPr>
            <a:picLocks noChangeAspect="1"/>
          </p:cNvPicPr>
          <p:nvPr/>
        </p:nvPicPr>
        <p:blipFill>
          <a:blip r:embed="rId2"/>
          <a:stretch>
            <a:fillRect/>
          </a:stretch>
        </p:blipFill>
        <p:spPr>
          <a:xfrm>
            <a:off x="457200" y="1600200"/>
            <a:ext cx="11247120" cy="2950111"/>
          </a:xfrm>
          <a:prstGeom prst="rect">
            <a:avLst/>
          </a:prstGeom>
        </p:spPr>
      </p:pic>
      <p:sp>
        <p:nvSpPr>
          <p:cNvPr id="6" name="TextBox 5"/>
          <p:cNvSpPr txBox="1"/>
          <p:nvPr/>
        </p:nvSpPr>
        <p:spPr>
          <a:xfrm>
            <a:off x="914400" y="6236208"/>
            <a:ext cx="10058400" cy="274320"/>
          </a:xfrm>
          <a:prstGeom prst="rect">
            <a:avLst/>
          </a:prstGeom>
          <a:noFill/>
        </p:spPr>
        <p:txBody>
          <a:bodyPr wrap="square" anchor="t">
            <a:spAutoFit/>
          </a:bodyPr>
          <a:lstStyle/>
          <a:p>
            <a:pPr algn="ctr">
              <a:defRPr sz="1100" b="1">
                <a:solidFill>
                  <a:srgbClr val="D64343"/>
                </a:solidFill>
                <a:latin typeface="Aptos"/>
              </a:defRPr>
            </a:pPr>
            <a:r>
              <a:t>Optimised on the evaluation set, so optimistic. Group-specific thresholds by race or gender are disparate treatment.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A6 · AGE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Age: the largest gap, and a policy choice</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pdp_age_focus.png"/>
          <p:cNvPicPr>
            <a:picLocks noChangeAspect="1"/>
          </p:cNvPicPr>
          <p:nvPr/>
        </p:nvPicPr>
        <p:blipFill>
          <a:blip r:embed="rId2"/>
          <a:stretch>
            <a:fillRect/>
          </a:stretch>
        </p:blipFill>
        <p:spPr>
          <a:xfrm>
            <a:off x="320040" y="1737360"/>
            <a:ext cx="7680960" cy="2422328"/>
          </a:xfrm>
          <a:prstGeom prst="rect">
            <a:avLst/>
          </a:prstGeom>
        </p:spPr>
      </p:pic>
      <p:sp>
        <p:nvSpPr>
          <p:cNvPr id="6" name="Rounded Rectangle 5"/>
          <p:cNvSpPr/>
          <p:nvPr/>
        </p:nvSpPr>
        <p:spPr>
          <a:xfrm>
            <a:off x="8229600" y="1508760"/>
            <a:ext cx="3611880" cy="4572000"/>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58200" y="1783080"/>
            <a:ext cx="3154680" cy="365760"/>
          </a:xfrm>
          <a:prstGeom prst="rect">
            <a:avLst/>
          </a:prstGeom>
          <a:noFill/>
        </p:spPr>
        <p:txBody>
          <a:bodyPr wrap="square" anchor="t">
            <a:spAutoFit/>
          </a:bodyPr>
          <a:lstStyle/>
          <a:p>
            <a:pPr algn="ctr">
              <a:defRPr sz="2000" b="1">
                <a:solidFill>
                  <a:srgbClr val="FB8500"/>
                </a:solidFill>
                <a:latin typeface="Aptos"/>
              </a:defRPr>
            </a:pPr>
            <a:r>
              <a:t>WHY IT IS DIFFERENT</a:t>
            </a:r>
          </a:p>
        </p:txBody>
      </p:sp>
      <p:sp>
        <p:nvSpPr>
          <p:cNvPr id="8" name="TextBox 7"/>
          <p:cNvSpPr txBox="1"/>
          <p:nvPr/>
        </p:nvSpPr>
        <p:spPr>
          <a:xfrm>
            <a:off x="8549640" y="2496312"/>
            <a:ext cx="2971800" cy="3337560"/>
          </a:xfrm>
          <a:prstGeom prst="rect">
            <a:avLst/>
          </a:prstGeom>
          <a:noFill/>
        </p:spPr>
        <p:txBody>
          <a:bodyPr wrap="square" anchor="t">
            <a:spAutoFit/>
          </a:bodyPr>
          <a:lstStyle/>
          <a:p>
            <a:pPr algn="ctr">
              <a:defRPr sz="1500" b="0">
                <a:solidFill>
                  <a:srgbClr val="F0F4F8"/>
                </a:solidFill>
                <a:latin typeface="Aptos"/>
              </a:defRPr>
            </a:pPr>
            <a:r>
              <a:t>FNR gap &lt;33 − 33+: -0.23 to -0.24</a:t>
            </a:r>
            <a:br/>
            <a:br/>
            <a:r>
              <a:t>Re-arrested 48+: 97% not selected, vs 49% at 18–22</a:t>
            </a:r>
            <a:br/>
            <a:br/>
            <a:r>
              <a:t>Age is a direct, validated risk factor: the gap is by design</a:t>
            </a:r>
            <a:br/>
            <a:br/>
            <a:r>
              <a:t>FPDP finds no candidate: age runs through criminal history</a:t>
            </a:r>
          </a:p>
        </p:txBody>
      </p:sp>
      <p:sp>
        <p:nvSpPr>
          <p:cNvPr id="9" name="TextBox 8"/>
          <p:cNvSpPr txBox="1"/>
          <p:nvPr/>
        </p:nvSpPr>
        <p:spPr>
          <a:xfrm>
            <a:off x="731520" y="6236208"/>
            <a:ext cx="10698480" cy="274320"/>
          </a:xfrm>
          <a:prstGeom prst="rect">
            <a:avLst/>
          </a:prstGeom>
          <a:noFill/>
        </p:spPr>
        <p:txBody>
          <a:bodyPr wrap="square" anchor="t">
            <a:spAutoFit/>
          </a:bodyPr>
          <a:lstStyle/>
          <a:p>
            <a:pPr algn="ctr">
              <a:defRPr sz="1100" b="1">
                <a:solidFill>
                  <a:srgbClr val="FB8500"/>
                </a:solidFill>
                <a:latin typeface="Aptos"/>
              </a:defRPr>
            </a:pPr>
            <a:r>
              <a:t>Ranking by risk or reserving places by age is the client's decision; the course's mitigation has nothing to act 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A7 · PROCESS</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How we got here: what we tried, where we landed</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provement_journey.png"/>
          <p:cNvPicPr>
            <a:picLocks noChangeAspect="1"/>
          </p:cNvPicPr>
          <p:nvPr/>
        </p:nvPicPr>
        <p:blipFill>
          <a:blip r:embed="rId2"/>
          <a:stretch>
            <a:fillRect/>
          </a:stretch>
        </p:blipFill>
        <p:spPr>
          <a:xfrm>
            <a:off x="502920" y="1600200"/>
            <a:ext cx="11155680" cy="4043934"/>
          </a:xfrm>
          <a:prstGeom prst="rect">
            <a:avLst/>
          </a:prstGeom>
        </p:spPr>
      </p:pic>
      <p:sp>
        <p:nvSpPr>
          <p:cNvPr id="6" name="TextBox 5"/>
          <p:cNvSpPr txBox="1"/>
          <p:nvPr/>
        </p:nvSpPr>
        <p:spPr>
          <a:xfrm>
            <a:off x="914400" y="6236208"/>
            <a:ext cx="10058400" cy="274320"/>
          </a:xfrm>
          <a:prstGeom prst="rect">
            <a:avLst/>
          </a:prstGeom>
          <a:noFill/>
        </p:spPr>
        <p:txBody>
          <a:bodyPr wrap="square" anchor="t">
            <a:spAutoFit/>
          </a:bodyPr>
          <a:lstStyle/>
          <a:p>
            <a:pPr algn="ctr">
              <a:defRPr sz="1100" b="1">
                <a:solidFill>
                  <a:srgbClr val="FB8500"/>
                </a:solidFill>
                <a:latin typeface="Aptos"/>
              </a:defRPr>
            </a:pPr>
            <a:r>
              <a:t>Full log in docs/JOURNEY.md — every step measured, including the attempts we rejected.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A8 · LIME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LIME for three people, with its fidelity</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me_individual.png"/>
          <p:cNvPicPr>
            <a:picLocks noChangeAspect="1"/>
          </p:cNvPicPr>
          <p:nvPr/>
        </p:nvPicPr>
        <p:blipFill>
          <a:blip r:embed="rId2"/>
          <a:stretch>
            <a:fillRect/>
          </a:stretch>
        </p:blipFill>
        <p:spPr>
          <a:xfrm>
            <a:off x="320040" y="1600200"/>
            <a:ext cx="11521440" cy="3821011"/>
          </a:xfrm>
          <a:prstGeom prst="rect">
            <a:avLst/>
          </a:prstGeom>
        </p:spPr>
      </p:pic>
      <p:sp>
        <p:nvSpPr>
          <p:cNvPr id="6" name="TextBox 5"/>
          <p:cNvSpPr txBox="1"/>
          <p:nvPr/>
        </p:nvSpPr>
        <p:spPr>
          <a:xfrm>
            <a:off x="731520" y="6236208"/>
            <a:ext cx="10698480" cy="274320"/>
          </a:xfrm>
          <a:prstGeom prst="rect">
            <a:avLst/>
          </a:prstGeom>
          <a:noFill/>
        </p:spPr>
        <p:txBody>
          <a:bodyPr wrap="square" anchor="t">
            <a:spAutoFit/>
          </a:bodyPr>
          <a:lstStyle/>
          <a:p>
            <a:pPr algn="ctr">
              <a:defRPr sz="1100" b="1">
                <a:solidFill>
                  <a:srgbClr val="FB8500"/>
                </a:solidFill>
                <a:latin typeface="Aptos"/>
              </a:defRPr>
            </a:pPr>
            <a:r>
              <a:t>Category-aware LIME on raw fields: local R² 0.33–0.49, every condition keeps its sign across three seeds. Quote it for direction, SHAP for size.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A9 · PERMUTATION IMPORTANCE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Permutation importance: shuffle one field, measure the loss</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rmutation_importance_readable.png"/>
          <p:cNvPicPr>
            <a:picLocks noChangeAspect="1"/>
          </p:cNvPicPr>
          <p:nvPr/>
        </p:nvPicPr>
        <p:blipFill>
          <a:blip r:embed="rId2"/>
          <a:stretch>
            <a:fillRect/>
          </a:stretch>
        </p:blipFill>
        <p:spPr>
          <a:xfrm>
            <a:off x="320040" y="1600200"/>
            <a:ext cx="11521440" cy="3496864"/>
          </a:xfrm>
          <a:prstGeom prst="rect">
            <a:avLst/>
          </a:prstGeom>
        </p:spPr>
      </p:pic>
      <p:sp>
        <p:nvSpPr>
          <p:cNvPr id="6" name="TextBox 5"/>
          <p:cNvSpPr txBox="1"/>
          <p:nvPr/>
        </p:nvSpPr>
        <p:spPr>
          <a:xfrm>
            <a:off x="731520" y="6236208"/>
            <a:ext cx="10698480" cy="274320"/>
          </a:xfrm>
          <a:prstGeom prst="rect">
            <a:avLst/>
          </a:prstGeom>
          <a:noFill/>
        </p:spPr>
        <p:txBody>
          <a:bodyPr wrap="square" anchor="t">
            <a:spAutoFit/>
          </a:bodyPr>
          <a:lstStyle/>
          <a:p>
            <a:pPr algn="ctr">
              <a:defRPr sz="1100" b="1">
                <a:solidFill>
                  <a:srgbClr val="FB8500"/>
                </a:solidFill>
                <a:latin typeface="Aptos"/>
              </a:defRPr>
            </a:pPr>
            <a:r>
              <a:t>Same drivers as SHAP and XPER. TabICLv2 was measured on 10 of 29 fields only: each shuffle needs a full foundation-model prediction pass.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A10 · METHOD OVERVIEW</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Which interpretability method, for which model</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nterpretability_matrix.png"/>
          <p:cNvPicPr>
            <a:picLocks noChangeAspect="1"/>
          </p:cNvPicPr>
          <p:nvPr/>
        </p:nvPicPr>
        <p:blipFill>
          <a:blip r:embed="rId2"/>
          <a:stretch>
            <a:fillRect/>
          </a:stretch>
        </p:blipFill>
        <p:spPr>
          <a:xfrm>
            <a:off x="2804409" y="1463040"/>
            <a:ext cx="6552701" cy="48006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