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· 30s] Opening.</a:t>
            </a:r>
          </a:p>
          <a:p/>
          <a:p>
            <a:r>
              <a:t>Team 11. Our client is a software vendor selling risk-assessment tools to US</a:t>
            </a:r>
          </a:p>
          <a:p>
            <a:r>
              <a:t>community-supervision agencies. The question they brought us: which three-year</a:t>
            </a:r>
          </a:p>
          <a:p>
            <a:r>
              <a:t>re-arrest model should they ship?</a:t>
            </a:r>
          </a:p>
          <a:p/>
          <a:p>
            <a:r>
              <a:t>Say the frame once, here: we judged four dimensions — performance,</a:t>
            </a:r>
          </a:p>
          <a:p>
            <a:r>
              <a:t>interpretability, stability, fairness — not accuracy. The 0.60 to 0.73 on the</a:t>
            </a:r>
          </a:p>
          <a:p>
            <a:r>
              <a:t>right is our models against the score agencies already have 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· 45s] The decision being sold.</a:t>
            </a:r>
          </a:p>
          <a:p/>
          <a:p>
            <a:r>
              <a:t>The score prioritises VOLUNTARY re-entry support at the start of parole:</a:t>
            </a:r>
          </a:p>
          <a:p>
            <a:r>
              <a:t>employment, housing, treatment. Never sanctions, never detention, never</a:t>
            </a:r>
          </a:p>
          <a:p>
            <a:r>
              <a:t>surveillance.</a:t>
            </a:r>
          </a:p>
          <a:p/>
          <a:p>
            <a:r>
              <a:t>Land the ethical scoping here, because everything later depends on it. Our model</a:t>
            </a:r>
          </a:p>
          <a:p>
            <a:r>
              <a:t>is wrong often — at the top 20%, about one in six people offered support are not</a:t>
            </a:r>
          </a:p>
          <a:p>
            <a:r>
              <a:t>re-arrested. For OFFERING HELP that is an acceptable cost. For punishment it</a:t>
            </a:r>
          </a:p>
          <a:p>
            <a:r>
              <a:t>would not be. If a juror later challenges the error rate, this is the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· 1m15s] Data design, and the leak.</a:t>
            </a:r>
          </a:p>
          <a:p/>
          <a:p>
            <a:r>
              <a:t>NIJ's own split — we did not make a new one. 18,028 train, 7,807 evaluation,</a:t>
            </a:r>
          </a:p>
          <a:p>
            <a:r>
              <a:t>29 fields available at supervision start.</a:t>
            </a:r>
          </a:p>
          <a:p/>
          <a:p>
            <a:r>
              <a:t>Two things to say plainly rather than bury:</a:t>
            </a:r>
          </a:p>
          <a:p/>
          <a:p>
            <a:r>
              <a:t>First, the evaluation set is NOT an untouched holdout. It is excluded from</a:t>
            </a:r>
          </a:p>
          <a:p>
            <a:r>
              <a:t>fitting, but our development decisions inspected it. Our comparisons are</a:t>
            </a:r>
          </a:p>
          <a:p>
            <a:r>
              <a:t>exploratory. Say it before anyone asks.</a:t>
            </a:r>
          </a:p>
          <a:p/>
          <a:p>
            <a:r>
              <a:t>Second, the leak — this is our strongest slide. Gang affiliation is missing for</a:t>
            </a:r>
          </a:p>
          <a:p>
            <a:r>
              <a:t>every woman and no man. The missingness pattern IS gender. TabICL encodes NaN as</a:t>
            </a:r>
          </a:p>
          <a:p>
            <a:r>
              <a:t>a category, so it could read the attribute we thought we had excluded. We measured</a:t>
            </a:r>
          </a:p>
          <a:p>
            <a:r>
              <a:t>the cost: with missingness indicators, gender is recoverable at AUC 1.00.</a:t>
            </a:r>
          </a:p>
          <a:p>
            <a:r>
              <a:t>Perfectly. We fixed it with mode-filling and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[2:30 · 45s] Three model families.</a:t>
            </a:r>
          </a:p>
          <a:p/>
          <a:p>
            <a:r>
              <a:t>White-box, machine learning, foundation model — as the brief requires. Same 29</a:t>
            </a:r>
          </a:p>
          <a:p>
            <a:r>
              <a:t>fields, same held-out people, same metrics.</a:t>
            </a:r>
          </a:p>
          <a:p/>
          <a:p>
            <a:r>
              <a:t>Logistic is CV-tuned L1. XGBoost ordinal-encodes ordered counts, hyperparameters</a:t>
            </a:r>
          </a:p>
          <a:p>
            <a:r>
              <a:t>from a 5-fold CV random search that is committed as code, not asserted. TabICL is</a:t>
            </a:r>
          </a:p>
          <a:p>
            <a:r>
              <a:t>a 16-member GPU ensemble.</a:t>
            </a:r>
          </a:p>
          <a:p/>
          <a:p>
            <a:r>
              <a:t>Flag the one that matters for later: TabICL has NO native attribution path. That</a:t>
            </a:r>
          </a:p>
          <a:p>
            <a:r>
              <a:t>is a deployment cost, and it comes back on the recommendation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[3:15 · 1m00s] The client's real question.</a:t>
            </a:r>
          </a:p>
          <a:p/>
          <a:p>
            <a:r>
              <a:t>Not "which of your three models" — that is our question. Theirs is: is any of this</a:t>
            </a:r>
          </a:p>
          <a:p>
            <a:r>
              <a:t>better than what we already run?</a:t>
            </a:r>
          </a:p>
          <a:p/>
          <a:p>
            <a:r>
              <a:t>This dataset contains Georgia's recorded supervision score, which we use as one</a:t>
            </a:r>
          </a:p>
          <a:p>
            <a:r>
              <a:t>input. On its own it reaches 0.60 AUC. Our models reach 0.73. At 20% capacity that</a:t>
            </a:r>
          </a:p>
          <a:p>
            <a:r>
              <a:t>roughly doubles the net value of the scenario.</a:t>
            </a:r>
          </a:p>
          <a:p/>
          <a:p>
            <a:r>
              <a:t>Give the caveat in the same breath: this is a HISTORICAL recorded score. It does</a:t>
            </a:r>
          </a:p>
          <a:p>
            <a:r>
              <a:t>not tell us how today's commercial products perform. And the dollars are a</a:t>
            </a:r>
          </a:p>
          <a:p>
            <a:r>
              <a:t>scenario — effectiveness is assumed, not measured.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[4:15 · 1m15s] FINDING ONE. Performance cannot pick the model.</a:t>
            </a:r>
          </a:p>
          <a:p/>
          <a:p>
            <a:r>
              <a:t>All three are within 0.003 AUC. XGBoost beats logistic by +0.0025 with a paired</a:t>
            </a:r>
          </a:p>
          <a:p>
            <a:r>
              <a:t>interval excluding zero — real, but tiny.</a:t>
            </a:r>
          </a:p>
          <a:p/>
          <a:p>
            <a:r>
              <a:t>Two methodological points worth making, because they show the work:</a:t>
            </a:r>
          </a:p>
          <a:p/>
          <a:p>
            <a:r>
              <a:t>We use PAIRED bootstrap differences. Comparing two separate intervals for overlap</a:t>
            </a:r>
          </a:p>
          <a:p>
            <a:r>
              <a:t>is weaker and commonly misread.</a:t>
            </a:r>
          </a:p>
          <a:p/>
          <a:p>
            <a:r>
              <a:t>ECE differences are not significant, and the ECE ranking is not even stable across</a:t>
            </a:r>
          </a:p>
          <a:p>
            <a:r>
              <a:t>binning choices. We tested calibration bin-free instead: logistic and XGBoost are</a:t>
            </a:r>
          </a:p>
          <a:p>
            <a:r>
              <a:t>both indistinguishable from perfect calibration. TabICL is the exception — slope</a:t>
            </a:r>
          </a:p>
          <a:p>
            <a:r>
              <a:t>0.913, significantly below 1. Its probabilities are too extreme.</a:t>
            </a:r>
          </a:p>
          <a:p/>
          <a:p>
            <a:r>
              <a:t>So: performance does not discriminate. Interpretability, stability and fairness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[5:30 · 1m00s] Interpretability: can we explain a decision to the person it affects?</a:t>
            </a:r>
          </a:p>
          <a:p/>
          <a:p>
            <a:r>
              <a:t>The brief asks for two things: explain individual predictions, and the main</a:t>
            </a:r>
          </a:p>
          <a:p>
            <a:r>
              <a:t>drivers of the model. Left: one person, explained by logistic and by XGBoost.</a:t>
            </a:r>
          </a:p>
          <a:p>
            <a:r>
              <a:t>Red raises risk, green lowers it.</a:t>
            </a:r>
          </a:p>
          <a:p/>
          <a:p>
            <a:r>
              <a:t>Then the three routes, because they differ in kind, not degree:</a:t>
            </a:r>
          </a:p>
          <a:p>
            <a:r>
              <a:t>Logistic: the coefficients ARE the explanation, plus marginal effects in</a:t>
            </a:r>
          </a:p>
          <a:p>
            <a:r>
              <a:t>probability points. No second tool.</a:t>
            </a:r>
          </a:p>
          <a:p>
            <a:r>
              <a:t>XGBoost: needs SHAP. A depth-3 surrogate tree only reproduces part of it, so a</a:t>
            </a:r>
          </a:p>
          <a:p>
            <a:r>
              <a:t>"simple summary" of XGBoost would mislead.</a:t>
            </a:r>
          </a:p>
          <a:p>
            <a:r>
              <a:t>TabICL: no native attribution at all. Only model-agnostic PDP/ICE. That is a</a:t>
            </a:r>
          </a:p>
          <a:p>
            <a:r>
              <a:t>deployment cost, and it comes back on the recommendation.</a:t>
            </a:r>
          </a:p>
          <a:p/>
          <a:p>
            <a:r>
              <a:t>Honest line: SHAP, permutation importance and XPER agree on WHICH variables drive</a:t>
            </a:r>
          </a:p>
          <a:p>
            <a:r>
              <a:t>the model, not on their order. Quote the set, not the rank. Appendix A3 and A4</a:t>
            </a:r>
          </a:p>
          <a:p>
            <a:r>
              <a:t>have the disagreement and the LIME fidelity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[6:30 · 45s] Stability: would a different sample give the same model?</a:t>
            </a:r>
          </a:p>
          <a:p/>
          <a:p>
            <a:r>
              <a:t>The course definition: two samples from the same population should give roughly</a:t>
            </a:r>
          </a:p>
          <a:p>
            <a:r>
              <a:t>the same model. We refit every model on the same eight bootstrap resamples and</a:t>
            </a:r>
          </a:p>
          <a:p>
            <a:r>
              <a:t>compare all 28 pairs.</a:t>
            </a:r>
          </a:p>
          <a:p/>
          <a:p>
            <a:r>
              <a:t>Logistic drifts least on every one of the 28 pairs, and its selected top 20%</a:t>
            </a:r>
          </a:p>
          <a:p>
            <a:r>
              <a:t>changes least. This is one of the two reasons we recommend it.</a:t>
            </a:r>
          </a:p>
          <a:p/>
          <a:p>
            <a:r>
              <a:t>Then one person at a time: about one decision in seven flips between refits.</a:t>
            </a:r>
          </a:p>
          <a:p>
            <a:r>
              <a:t>Appendix A7 shows why sending those borderline cases to a human would widen the</a:t>
            </a:r>
          </a:p>
          <a:p>
            <a:r>
              <a:t>gender gap.</a:t>
            </a:r>
          </a:p>
          <a:p/>
          <a:p>
            <a:r>
              <a:t>Caveat if asked: Jaccard is intersection over union, not the share of people who</a:t>
            </a:r>
          </a:p>
          <a:p>
            <a:r>
              <a:t>switch, and refit sensitivity is not validation on a new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[7:15 · 1m45s] FINDING TWO. Unequal access to support.</a:t>
            </a:r>
          </a:p>
          <a:p/>
          <a:p>
            <a:r>
              <a:t>Slow down here. This is the centre of the talk.</a:t>
            </a:r>
          </a:p>
          <a:p/>
          <a:p>
            <a:r>
              <a:t>First the framing: selection means being OFFERED support. So the harm is a missed</a:t>
            </a:r>
          </a:p>
          <a:p>
            <a:r>
              <a:t>offer, and FNR — equal opportunity — is our primary metric, not FPR.</a:t>
            </a:r>
          </a:p>
          <a:p/>
          <a:p>
            <a:r>
              <a:t>Second, the operating point. We audit at the top-20% rule the product actually</a:t>
            </a:r>
          </a:p>
          <a:p>
            <a:r>
              <a:t>ships, not at threshold 0.5. At 0.5 the tool would flag 68% of people. That is not</a:t>
            </a:r>
          </a:p>
          <a:p>
            <a:r>
              <a:t>a threshold this product ever applies, and auditing there inflates every gap.</a:t>
            </a:r>
          </a:p>
          <a:p/>
          <a:p>
            <a:r>
              <a:t>The results:</a:t>
            </a:r>
          </a:p>
          <a:p>
            <a:r>
              <a:t>— Race: equivalent within ±5 points for all three models by TOST. No race test</a:t>
            </a:r>
          </a:p>
          <a:p>
            <a:r>
              <a:t>  survives Holm correction across our 54 tests. Small, and unconfirmed.</a:t>
            </a:r>
          </a:p>
          <a:p>
            <a:r>
              <a:t>— Gender: women who ARE re-arrested miss support 10 to 12 points more often.</a:t>
            </a:r>
          </a:p>
          <a:p>
            <a:r>
              <a:t>  Significant for every model.</a:t>
            </a:r>
          </a:p>
          <a:p>
            <a:r>
              <a:t>— Age: the largest disparity, 23 to 25 points. About 97% of re-arrested people</a:t>
            </a:r>
          </a:p>
          <a:p>
            <a:r>
              <a:t>  aged 48+ are never selected. It persists even with the age field held fixed,</a:t>
            </a:r>
          </a:p>
          <a:p>
            <a:r>
              <a:t>  because prior record carries age.</a:t>
            </a:r>
          </a:p>
          <a:p/>
          <a:p>
            <a:r>
              <a:t>Say the honest line: not significant does NOT mean fair. That is why we test</a:t>
            </a:r>
          </a:p>
          <a:p>
            <a:r>
              <a:t>equivalence, not just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[9:00 · 45s] The impossibility result, both sides.</a:t>
            </a:r>
          </a:p>
          <a:p/>
          <a:p>
            <a:r>
              <a:t>Our data demonstrates both halves of the theorem within one project.</a:t>
            </a:r>
          </a:p>
          <a:p/>
          <a:p>
            <a:r>
              <a:t>Race: base rates 0.582 and 0.564 — nearly equal. The theorem does not bind, so</a:t>
            </a:r>
          </a:p>
          <a:p>
            <a:r>
              <a:t>those gaps are a property of our models and are fixable.</a:t>
            </a:r>
          </a:p>
          <a:p/>
          <a:p>
            <a:r>
              <a:t>Gender: 0.591 against 0.454, fourteen points apart. Calibration and equal error</a:t>
            </a:r>
          </a:p>
          <a:p>
            <a:r>
              <a:t>rates CANNOT both hold. We have to choose.</a:t>
            </a:r>
          </a:p>
          <a:p/>
          <a:p>
            <a:r>
              <a:t>The mechanism is visible in our numbers: every model over-predicts women — mean</a:t>
            </a:r>
          </a:p>
          <a:p>
            <a:r>
              <a:t>score 0.52 against an observed 0.454 — yet women are selected less at the top 20%.</a:t>
            </a:r>
          </a:p>
          <a:p/>
          <a:p>
            <a:r>
              <a:t>And for THIS use, the direction matters. In a support programme over-prediction</a:t>
            </a:r>
          </a:p>
          <a:p>
            <a:r>
              <a:t>works in women's favour. Recalibrating by gender would select even fewer women and</a:t>
            </a:r>
          </a:p>
          <a:p>
            <a:r>
              <a:t>widen the gap. The harm here is the missed offer, not the miscalibration.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[9:45 · 1m00s] Where the gender gap comes from.</a:t>
            </a:r>
          </a:p>
          <a:p/>
          <a:p>
            <a:r>
              <a:t>We did not stop at measuring. The course sequence is test, identify the variable,</a:t>
            </a:r>
          </a:p>
          <a:p>
            <a:r>
              <a:t>mitigate — and fairness partial dependence names the candidate.</a:t>
            </a:r>
          </a:p>
          <a:p/>
          <a:p>
            <a:r>
              <a:t>Gang affiliation. Cramér's V of 1.0 with gender on the raw field, because it is</a:t>
            </a:r>
          </a:p>
          <a:p>
            <a:r>
              <a:t>never recorded for women. It is a measurement artefact about record-keeping, not a</a:t>
            </a:r>
          </a:p>
          <a:p>
            <a:r>
              <a:t>behavioural signal about women.</a:t>
            </a:r>
          </a:p>
          <a:p/>
          <a:p>
            <a:r>
              <a:t>Dropping it and re-estimating shrinks the gender FNR gap from -0.10 to about zero</a:t>
            </a:r>
          </a:p>
          <a:p>
            <a:r>
              <a:t>for logistic — partly by raising men's FNR, so say that too — at roughly 0.014 AUC</a:t>
            </a:r>
          </a:p>
          <a:p>
            <a:r>
              <a:t>and 27 to 41 fewer captured re-arrests. Statistical parity is still rejected.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[10:45 · 1m00s] Did the fix generalise, or did we just fit it?</a:t>
            </a:r>
          </a:p>
          <a:p/>
          <a:p>
            <a:r>
              <a:t>This is the slide that separates us from a project that stops at the p-value.</a:t>
            </a:r>
          </a:p>
          <a:p/>
          <a:p>
            <a:r>
              <a:t>The result on the previous slide chose the variable AND measured the improvement on</a:t>
            </a:r>
          </a:p>
          <a:p>
            <a:r>
              <a:t>the same cohort. That is in-sample. It shows a mitigation can be FITTED, not that</a:t>
            </a:r>
          </a:p>
          <a:p>
            <a:r>
              <a:t>it works.</a:t>
            </a:r>
          </a:p>
          <a:p/>
          <a:p>
            <a:r>
              <a:t>So we separated them. Five outer folds, entirely inside the training partition. In</a:t>
            </a:r>
          </a:p>
          <a:p>
            <a:r>
              <a:t>each fold we rerun the candidate search on that fold's training part, pick from</a:t>
            </a:r>
          </a:p>
          <a:p>
            <a:r>
              <a:t>there alone, refit there, and measure on the held-out fold. The evaluation cohort</a:t>
            </a:r>
          </a:p>
          <a:p>
            <a:r>
              <a:t>is never touched.</a:t>
            </a:r>
          </a:p>
          <a:p/>
          <a:p>
            <a:r>
              <a:t>Gang affiliation is selected in all five folds, for both models. About 70% of the</a:t>
            </a:r>
          </a:p>
          <a:p>
            <a:r>
              <a:t>gap closes out of fold, for roughly one AUC point. The equal-opportunity p-value</a:t>
            </a:r>
          </a:p>
          <a:p>
            <a:r>
              <a:t>reaches 0.27, not the in-sample 0.99 — and two of five folds still reject.</a:t>
            </a:r>
          </a:p>
          <a:p/>
          <a:p>
            <a:r>
              <a:t>We report the out-of-fold numbers. The in-sample figure is an upper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[11:45 · 45s] The four dimensions together.</a:t>
            </a:r>
          </a:p>
          <a:p/>
          <a:p>
            <a:r>
              <a:t>Read across the rows, not down the columns.</a:t>
            </a:r>
          </a:p>
          <a:p/>
          <a:p>
            <a:r>
              <a:t>Performance: separated by 0.003 AUC, and the only real calibration difference goes</a:t>
            </a:r>
          </a:p>
          <a:p>
            <a:r>
              <a:t>AGAINST the model with the highest AUC.</a:t>
            </a:r>
          </a:p>
          <a:p/>
          <a:p>
            <a:r>
              <a:t>Interpretability: unambiguous, and the gaps are large.</a:t>
            </a:r>
          </a:p>
          <a:p/>
          <a:p>
            <a:r>
              <a:t>Stability: logistic drifts least on all 28 resample pairs.</a:t>
            </a:r>
          </a:p>
          <a:p/>
          <a:p>
            <a:r>
              <a:t>Fairness: the differences BETWEEN models are smaller than they look. The gender and</a:t>
            </a:r>
          </a:p>
          <a:p>
            <a:r>
              <a:t>age gaps are shared by all three.</a:t>
            </a:r>
          </a:p>
          <a:p/>
          <a:p>
            <a:r>
              <a:t>That is the shape of the decision: accuracy does not discriminate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[12:30 · 1m00s] FINDING THREE. The recommendation, with its counter-case.</a:t>
            </a:r>
          </a:p>
          <a:p/>
          <a:p>
            <a:r>
              <a:t>Logistic regression for the shadow pilot. XGBoost as challenger, running in</a:t>
            </a:r>
          </a:p>
          <a:p>
            <a:r>
              <a:t>parallel on the same cohort.</a:t>
            </a:r>
          </a:p>
          <a:p/>
          <a:p>
            <a:r>
              <a:t>Be explicit about what we give up: XGBoost is ahead on AUC and Brier. Those are</a:t>
            </a:r>
          </a:p>
          <a:p>
            <a:r>
              <a:t>real, significant differences.</a:t>
            </a:r>
          </a:p>
          <a:p/>
          <a:p>
            <a:r>
              <a:t>They do not reach the decision. At the deployed rule the two models offer support</a:t>
            </a:r>
          </a:p>
          <a:p>
            <a:r>
              <a:t>to 85% of the SAME people — 254 of 7,807 differ — and the difference in captured</a:t>
            </a:r>
          </a:p>
          <a:p>
            <a:r>
              <a:t>re-arrests has an interval spanning zero.</a:t>
            </a:r>
          </a:p>
          <a:p/>
          <a:p>
            <a:r>
              <a:t>State what we do NOT claim, because a juror will test it: logistic is not fairer</a:t>
            </a:r>
          </a:p>
          <a:p>
            <a:r>
              <a:t>and not better calibrated. On both, the two are statistically tied. We chose it</a:t>
            </a:r>
          </a:p>
          <a:p>
            <a:r>
              <a:t>for refit stability and for coefficients you can read without a second tool.</a:t>
            </a:r>
          </a:p>
          <a:p/>
          <a:p>
            <a:r>
              <a:t>And what would reverse it: if the client quotes probabilities numerically to</a:t>
            </a:r>
          </a:p>
          <a:p>
            <a:r>
              <a:t>supervisees, calibration starts to dominate. If their capacity is large enough that</a:t>
            </a:r>
          </a:p>
          <a:p>
            <a:r>
              <a:t>twelve extra offers matters. That is why the challenger runs in parallel.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[13:30 · 30s] The app, and close.</a:t>
            </a:r>
          </a:p>
          <a:p/>
          <a:p>
            <a:r>
              <a:t>The application makes every trade-off testable: score one person with all three</a:t>
            </a:r>
          </a:p>
          <a:p>
            <a:r>
              <a:t>models, see the explanation, audit by race, gender and age at the deployed point,</a:t>
            </a:r>
          </a:p>
          <a:p>
            <a:r>
              <a:t>and edit the cost assumptions.</a:t>
            </a:r>
          </a:p>
          <a:p/>
          <a:p>
            <a:r>
              <a:t>One thing to demo if there is time: pick a person and show the refit vote count.</a:t>
            </a:r>
          </a:p>
          <a:p>
            <a:r>
              <a:t>About one decision in seven flips across refits, and a third of the people we</a:t>
            </a:r>
          </a:p>
          <a:p>
            <a:r>
              <a:t>prioritise sit at that margin. The app shows that rather than hiding it behind a</a:t>
            </a:r>
          </a:p>
          <a:p>
            <a:r>
              <a:t>point estimate.</a:t>
            </a:r>
          </a:p>
          <a:p/>
          <a:p>
            <a:r>
              <a:t>Close on the frame: we are not trading accuracy for interpretability. The accuracy</a:t>
            </a:r>
          </a:p>
          <a:p>
            <a:r>
              <a:t>difference does not change who gets help.</a:t>
            </a:r>
          </a:p>
          <a:p/>
          <a:p>
            <a:r>
              <a:t>[APPENDIX CUES — jump to these on the matching question]</a:t>
            </a:r>
          </a:p>
          <a:p>
            <a:r>
              <a:t>A1 learning curve · A2 economics and sensitivity</a:t>
            </a:r>
          </a:p>
          <a:p>
            <a:r>
              <a:t>A3 why SHAP, permutation importance and XPER disagree · A4 LIME fidelity</a:t>
            </a:r>
          </a:p>
          <a:p>
            <a:r>
              <a:t>A5 what we tried and rejected · A6 proxy recovery</a:t>
            </a:r>
          </a:p>
          <a:p>
            <a:r>
              <a:t>A7 per-person stability and the abstention finding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30352"/>
            <a:ext cx="7315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1">
                <a:solidFill>
                  <a:srgbClr val="FB8500"/>
                </a:solidFill>
                <a:latin typeface="Aptos"/>
              </a:defRPr>
            </a:pPr>
            <a:r>
              <a:t>TRUSTWORTHY AI / RECIDIVISM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298448"/>
            <a:ext cx="7315200" cy="1508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Aptos"/>
              </a:defRPr>
            </a:pPr>
            <a:r>
              <a:t>Forecasting risk,</a:t>
            </a:r>
            <a:br/>
            <a:r>
              <a:t>examining trade-offs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3063240"/>
            <a:ext cx="6035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F0F4F8"/>
                </a:solidFill>
                <a:latin typeface="Aptos"/>
              </a:defRPr>
            </a:pPr>
            <a:r>
              <a:t>For a risk-assessment software vendor: which three-year re-arrest model to ship, judged on performance, interpretability, stability and fairness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6053328"/>
            <a:ext cx="6400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0">
                <a:solidFill>
                  <a:srgbClr val="828FA0"/>
                </a:solidFill>
                <a:latin typeface="Aptos"/>
              </a:defRPr>
            </a:pPr>
            <a:r>
              <a:t>Team 11 · HEC Paris · Fall 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18120" y="822960"/>
            <a:ext cx="3337560" cy="525780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0" y="1097280"/>
            <a:ext cx="2880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0.60 → 0.73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69748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 score vs our models (ROC AUC)</a:t>
            </a:r>
            <a:br/>
            <a:br/>
            <a:r>
              <a:t>3 model families</a:t>
            </a:r>
            <a:br/>
            <a:br/>
            <a:r>
              <a:t>1 deployment recommendation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01 · ENGAGEMENT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Our client, and the decision they sell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Client: a vendor selling risk-assessment tools to US state community-supervision agencies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Deliverable: a three-year re-arrest score to allocate limited, voluntary re-entry support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Used only to expand help — never sanctions, detention or surveillance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  <a:latin typeface="Aptos"/>
              </a:defRPr>
            </a:pPr>
            <a:r>
              <a:t>•  Judged as a trustworthy AI system, not on accuracy alone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02 · DATA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Original split, with explicit validation limits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18,028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7,807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BASELINE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57.4%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TEST TARGET 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8"/>
            <a:ext cx="10698480" cy="2423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Post-release variables excluded; race, gender and geography retained only for audit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Found and fixed a representation leak: gang affiliation is missing for every woman and no man, so with missingness indicators gender is recoverable at AUC 1.00 — mode-fill plus a regression audit now blocks it</a:t>
            </a:r>
          </a:p>
          <a:p>
            <a:pPr>
              <a:spcAft>
                <a:spcPts val="1200"/>
              </a:spcAft>
              <a:defRPr sz="1800">
                <a:solidFill>
                  <a:srgbClr val="FFFFFF"/>
                </a:solidFill>
                <a:latin typeface="Aptos"/>
              </a:defRPr>
            </a:pPr>
            <a:r>
              <a:t>•  Evaluation data were repeatedly inspected during development; fresh validation is still needed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03 · 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Three model families, one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White-box anchor</a:t>
            </a:r>
            <a:br/>
            <a:br/>
            <a:r>
              <a:t>CV-tuned L1, C=0.2154</a:t>
            </a:r>
            <a:br/>
            <a:br/>
            <a:r>
              <a:t>Signed, inspectable effects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XGBOOST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Nonlinear workhorse</a:t>
            </a:r>
            <a:br/>
            <a:br/>
            <a:r>
              <a:t>Ordinal counts + 5-fold CV tuning</a:t>
            </a:r>
            <a:br/>
            <a:br/>
            <a:r>
              <a:t>Fast operational scoring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737360"/>
            <a:ext cx="3429000" cy="329184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2011679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TABICLv2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724912"/>
            <a:ext cx="2788920" cy="2057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Foundation model</a:t>
            </a:r>
            <a:br/>
            <a:br/>
            <a:r>
              <a:t>16-member GPU ensemble</a:t>
            </a:r>
            <a:br/>
            <a:br/>
            <a:r>
              <a:t>Training-only size sweep; no native attribution implemented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5687568"/>
            <a:ext cx="7589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B8500"/>
                </a:solidFill>
                <a:latin typeface="Aptos"/>
              </a:defRPr>
            </a:pPr>
            <a:r>
              <a:t>Same eligible fields · Same held-out people · Same metrics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04 · THE CLIENT'S REAL QUESTION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Comparison with the historical recorded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cumben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8321040" cy="230486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9154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251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0.60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251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AUC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251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0.73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251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OUR MODELS AUC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251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+$2.3M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251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NET VALUE 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251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recommended logistic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This historical comparison does not establish superiority to current agency products. Dollar gains are scenarios.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05 · PREDICTIVE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Compare ranking, probability loss and calibration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erformance_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72768"/>
            <a:ext cx="7360920" cy="278205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582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679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0.7328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679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· TABICL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5820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67928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7B2CBF"/>
                </a:solidFill>
                <a:latin typeface="Aptos"/>
              </a:defRPr>
            </a:pPr>
            <a:r>
              <a:t>0.2044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67928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BRIER · TABICL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5820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67928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+0.0025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67928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AUC GAP · XGB − LOGIT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67928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paired bootstrap: significant, small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All three models are within ~0.003 AUC; ECE differences are not significant. Performance alone cannot pick the model.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06 ·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Can each model explain a decision?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28696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54480"/>
            <a:ext cx="356616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828800"/>
            <a:ext cx="3108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THREE ROUTES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542032"/>
            <a:ext cx="2926080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LOGISTIC</a:t>
            </a:r>
            <a:br/>
            <a:r>
              <a:t>Coefficients and marginal effects, read directly</a:t>
            </a:r>
            <a:br/>
            <a:br/>
            <a:r>
              <a:t>XGBOOST</a:t>
            </a:r>
            <a:br/>
            <a:r>
              <a:t>Needs SHAP; a depth-3 surrogate tree reproduces only R² = 0.61</a:t>
            </a:r>
            <a:br/>
            <a:br/>
            <a:r>
              <a:t>TABICLv2</a:t>
            </a:r>
            <a:br/>
            <a:r>
              <a:t>No native attribution: PDP/ICE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SHAP, permutation importance and XPER agree on the drivers (Spearman 0.53–0.81), not on their order: quote the set, not the rank.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07 ·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a different sample give the same model?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ructur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7589520" cy="199227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0.032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SCORE DRIFT · LOGISTIC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lowest on all 28 pairs · XGB 0.035 · TabICL 0.035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75%–78%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TOP-20% JACCARD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logit 0.772 · XGB 0.747 · TabICL 0.776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14%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DECISIONS THAT FLIP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 person, across 8 refits (appendix A7)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828FA0"/>
                </a:solidFill>
                <a:latin typeface="Aptos"/>
              </a:defRPr>
            </a:pPr>
            <a:r>
              <a:t>Eight bootstrap refits per model, same resamples for all three. Jaccard is intersection / union, not the share switching.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08 · SUBGROUP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 at the proposed allocation rule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irness_support_ac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772400" cy="421667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54964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59367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-0.10 to -0.12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59367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GENDER FNR GAP (M − 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9367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women miss support more · all significant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49640" y="320040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59367" y="333756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3 / 3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9367" y="385876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RACE: EQUIVALENT ±5 PTS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59367" y="416966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TOST on errors · AUC Black 0.72 vs White 0.75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49640" y="466344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59367" y="4800600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-0.23 to -0.24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59367" y="5321807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AGE FNR GAP (&lt;33 − 33+)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59367" y="563270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persists with age fixed: carried by prior record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Selection = support offered, so the harm is a missed offer: FNR is primary. Not significant ≠ fair; we test equivalence.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09 · FAIRNESS, SHARPENED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Fairness: probability scores and allocation rules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SCORE CALIBRATION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Women are over-predicted by every model: mean score 0.52 vs observed 0.45</a:t>
            </a:r>
            <a:br/>
            <a:br/>
            <a:r>
              <a:t>Yet they are selected less at the top 20%</a:t>
            </a:r>
            <a:br/>
            <a:br/>
            <a:r>
              <a:t>For support, over-prediction helps women: recalibrating would widen the FNR gap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ALLOCATION ERRORS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FPR, TPR and selection rates depend on policy</a:t>
            </a:r>
            <a:br/>
            <a:br/>
            <a:r>
              <a:t>Changing thresholds leaves probabilities unchanged</a:t>
            </a:r>
            <a:br/>
            <a:br/>
            <a:r>
              <a:t>Our threshold frontier uses evaluation labels: illustrative, not validated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10 · FAIRNESS INTERPRETABILITY (FPDP)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Where does the gender gap come from?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pdp_g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7680960" cy="474393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229600" y="1508760"/>
            <a:ext cx="3611880" cy="457200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78308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CANDIDATE: GANG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496312"/>
            <a:ext cx="2971800" cy="3337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Never recorded for women; imputed as "No"</a:t>
            </a:r>
            <a:br/>
            <a:br/>
            <a:r>
              <a:t>Drop + re-estimate (logistic): FNR gap -0.096 → +0.000</a:t>
            </a:r>
            <a:br/>
            <a:br/>
            <a:r>
              <a:t>Women FNR 0.80 → 0.72; men 0.70 → 0.72</a:t>
            </a:r>
            <a:br/>
            <a:br/>
            <a:r>
              <a:t>AUC −0.014; 27 fewer re-arrests captured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Logistic FPDP is flat under a top-20% rule (a constant shifts every score equally), so it measures removing the feature, not a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11 · MITIGATION, VALIDATED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Selecting and testing the fix on different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828FA0"/>
                </a:solidFill>
                <a:latin typeface="Aptos"/>
              </a:defRPr>
            </a:pPr>
            <a:r>
              <a:t>IN-SAMPLE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chosen AND scored on the same cohort</a:t>
            </a:r>
            <a:br/>
            <a:br/>
            <a:r>
              <a:t>Equal-opportunity p 0.000 → 1.00</a:t>
            </a:r>
            <a:br/>
            <a:br/>
            <a:r>
              <a:t>An upper bound, not evidence of generalisation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91640"/>
            <a:ext cx="5257800" cy="429768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965960"/>
            <a:ext cx="4800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OUT-OF-FOLD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679192"/>
            <a:ext cx="4617720" cy="3063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Candidate re-selected inside each training fold, scored on held-out folds</a:t>
            </a:r>
            <a:br/>
            <a:br/>
            <a:r>
              <a:t>Same variable selected in 100% of folds</a:t>
            </a:r>
            <a:br/>
            <a:br/>
            <a:r>
              <a:t>Gender FNR gap -0.122 → -0.035  ·  AUC -0.010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The evaluation cohort is never touched. About 70% of the gap closes out of fold, for roughly one AUC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12 · TRADE-OFFS ACROSS FOUR DIMENSIONS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should the client deploy?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radeoff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094" y="1481328"/>
            <a:ext cx="6399331" cy="47823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13 ·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Pilot logistic regression; run XGBoost as the challenger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00B4B4"/>
                </a:solidFill>
                <a:latin typeface="Aptos"/>
              </a:defRPr>
            </a:pPr>
            <a:r>
              <a:t>WHY LOGISTIC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19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Native, coefficient-level explanations — no second tool</a:t>
            </a:r>
            <a:br/>
            <a:br/>
            <a:r>
              <a:t>Lower refit drift on all 28 pairs (0.0322 vs 0.0351)</a:t>
            </a:r>
            <a:br/>
            <a:br/>
            <a:r>
              <a:t>More stable selected set (J 0.772 vs 0.747)</a:t>
            </a:r>
            <a:br/>
            <a:br/>
            <a:r>
              <a:t>~9× faster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WHAT WE GIVE 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XGBoost AUC edge +0.0025 and Brier −0.0010</a:t>
            </a:r>
            <a:br/>
            <a:br/>
            <a:r>
              <a:t>Calibration is a tie, not a loss: both indistinguishable from perfect</a:t>
            </a:r>
            <a:br/>
            <a:br/>
            <a:r>
              <a:t>Captured re-arrests: interval 29 to 0 includes 0</a:t>
            </a:r>
            <a:br/>
            <a:br/>
            <a:r>
              <a:t>Significant, but not at the operating point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520440" cy="42519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920240"/>
            <a:ext cx="3063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WHAT REVERSES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633472"/>
            <a:ext cx="288036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The score is quoted numerically to supervisees</a:t>
            </a:r>
            <a:br/>
            <a:br/>
            <a:r>
              <a:t>Capacity large enough that +12 offers matters</a:t>
            </a:r>
            <a:br/>
            <a:br/>
            <a:r>
              <a:t>A feature set that widens the margin</a:t>
            </a:r>
            <a:br/>
            <a:br/>
            <a:r>
              <a:t>Then: promote the challenger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1722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Both models select 85% of the same people at the top-20% rule. Fairness and calibration differences between them are not significant.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14 · CLIENT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The application makes every trade-off testable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ASSESS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Score one person, all 3 models + SHAP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60020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87451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AUDIT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79" y="258775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Race, gender, age at the deployed point + FPDP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FB8500"/>
                </a:solidFill>
                <a:latin typeface="Aptos"/>
              </a:defRPr>
            </a:pPr>
            <a:r>
              <a:t>COMPARE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Incumbent, learning curve, matrix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3474720"/>
            <a:ext cx="5212080" cy="1572768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749039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SIMULATE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4462272"/>
            <a:ext cx="4572000" cy="3383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Costs, capacity, sensitivity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23360" y="5715000"/>
            <a:ext cx="4114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00" b="1">
                <a:solidFill>
                  <a:srgbClr val="F0F4F8"/>
                </a:solidFill>
                <a:latin typeface="Consolas"/>
              </a:defRPr>
            </a:pPr>
            <a:r>
              <a:t>streamlit run app.py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510528"/>
            <a:ext cx="36576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00" b="0">
                <a:solidFill>
                  <a:srgbClr val="828FA0"/>
                </a:solidFill>
                <a:latin typeface="Aptos"/>
              </a:defRPr>
            </a:pPr>
            <a:r>
              <a:t>HEC Paris · ISAF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09960" y="6492240"/>
            <a:ext cx="41148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800" b="0">
                <a:solidFill>
                  <a:srgbClr val="828FA0"/>
                </a:solidFill>
                <a:latin typeface="Aptos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237744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00" b="1">
                <a:solidFill>
                  <a:srgbClr val="FB8500"/>
                </a:solidFill>
                <a:latin typeface="Aptos"/>
              </a:defRPr>
            </a:pPr>
            <a: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2880360"/>
            <a:ext cx="8229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ptos"/>
              </a:defRPr>
            </a:pPr>
            <a:r>
              <a:t>Supporting evidence</a:t>
            </a:r>
            <a:br/>
            <a:r>
              <a:t>for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4526280"/>
            <a:ext cx="8686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0">
                <a:solidFill>
                  <a:srgbClr val="F0F4F8"/>
                </a:solidFill>
                <a:latin typeface="Aptos"/>
              </a:defRPr>
            </a:pPr>
            <a:r>
              <a:t>Learning curve · economic sensitivity · explanation disagreement · LIME fidelity · process log · proxy recovery · decision stability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A1 · LEARNING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Which model for which agency size?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ear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10698480" cy="402280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264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B8500"/>
                </a:solidFill>
                <a:latin typeface="Aptos"/>
              </a:defRPr>
            </a:pPr>
            <a:r>
              <a:t>Subsamples of one Georgia cohort test sample-size sensitivity; they do not validate transfer to other agencies.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A2 · ECONOMIC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Model value is a scenario, stress-tested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FB85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FB8500"/>
                </a:solidFill>
                <a:latin typeface="Aptos"/>
              </a:defRPr>
            </a:pPr>
            <a:r>
              <a:t>20%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SERVICE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00B4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00B4B4"/>
                </a:solidFill>
                <a:latin typeface="Aptos"/>
              </a:defRPr>
            </a:pPr>
            <a:r>
              <a:t>$5.04M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LOGISTIC NET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8728" y="2706624"/>
            <a:ext cx="219456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00" b="0">
                <a:solidFill>
                  <a:srgbClr val="F0F4F8"/>
                </a:solidFill>
                <a:latin typeface="Aptos"/>
              </a:defRPr>
            </a:pPr>
            <a:r>
              <a:t>XGBoost $5.17M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3620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D64343"/>
                </a:solidFill>
                <a:latin typeface="Aptos"/>
              </a:defRPr>
            </a:pPr>
            <a:r>
              <a:t>$2.73M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3620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INCUMBENT NET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1737360"/>
            <a:ext cx="2423160" cy="1261872"/>
          </a:xfrm>
          <a:prstGeom prst="roundRect">
            <a:avLst/>
          </a:prstGeom>
          <a:solidFill>
            <a:srgbClr val="143058"/>
          </a:solidFill>
          <a:ln>
            <a:solidFill>
              <a:srgbClr val="828F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33688" y="1874519"/>
            <a:ext cx="2194560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400" b="1">
                <a:solidFill>
                  <a:srgbClr val="828FA0"/>
                </a:solidFill>
                <a:latin typeface="Aptos"/>
              </a:defRPr>
            </a:pPr>
            <a:r>
              <a:t>$1.46M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33688" y="2395728"/>
            <a:ext cx="2194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ptos"/>
              </a:defRPr>
            </a:pPr>
            <a:r>
              <a:t>RANDOM 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401568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$5,000 support cost · $50,000 event cost · 20% assumed effectiveness — all editable in the app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Models beat the incumbent at every capacity from 5% to 50% (sensitivity sweep)</a:t>
            </a:r>
          </a:p>
          <a:p>
            <a:pPr>
              <a:spcAft>
                <a:spcPts val="1200"/>
              </a:spcAft>
              <a:defRPr sz="2000">
                <a:solidFill>
                  <a:srgbClr val="FFFFFF"/>
                </a:solidFill>
                <a:latin typeface="Aptos"/>
              </a:defRPr>
            </a:pPr>
            <a:r>
              <a:t>•  A randomized or quasi-experimental pilot must estimate real intervention impact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A3 · EXPLANATION DISAGREEMENT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SHAP, permutation importance and XPER rank differently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xplanation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7680960" cy="3846513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7B2C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7B2CBF"/>
                </a:solidFill>
                <a:latin typeface="Aptos"/>
              </a:defRPr>
            </a:pPr>
            <a:r>
              <a:t>WHY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SHAP explains the prediction</a:t>
            </a:r>
            <a:br/>
            <a:br/>
            <a:r>
              <a:t>Permutation importance explains loss</a:t>
            </a:r>
            <a:br/>
            <a:br/>
            <a:r>
              <a:t>XPER decomposes AUC</a:t>
            </a:r>
            <a:br/>
            <a:br/>
            <a:r>
              <a:t>Different questions, so different rankings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72200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Top-10 sets largely coincide; ordering is method-dependent. Quote the set, not the rank.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A4 · LIME FIDELITY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Is the local explanation faithful?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ime_individ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11430000" cy="37806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1722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0" b="1">
                <a:solidFill>
                  <a:srgbClr val="FB8500"/>
                </a:solidFill>
                <a:latin typeface="Aptos"/>
              </a:defRPr>
            </a:pPr>
            <a:r>
              <a:t>Category-aware perturbation raised local fidelity from R² 0.25 to ≈0.41. Three fixed cases × three seeds; every condition keeps its sign.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A5 ·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How we got here: what we tried, where we landed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provement_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11155680" cy="4030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6236208"/>
            <a:ext cx="10058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Full log in docs/JOURNEY.md — every step measured, including the attempts we rejected.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A6 · PROXY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Does excluding an attribute remove it?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roxy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680960" cy="274626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554480"/>
            <a:ext cx="3474720" cy="4480560"/>
          </a:xfrm>
          <a:prstGeom prst="roundRect">
            <a:avLst/>
          </a:prstGeom>
          <a:solidFill>
            <a:srgbClr val="143058"/>
          </a:solidFill>
          <a:ln>
            <a:solidFill>
              <a:srgbClr val="D6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82880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000" b="1">
                <a:solidFill>
                  <a:srgbClr val="D64343"/>
                </a:solidFill>
                <a:latin typeface="Aptos"/>
              </a:defRPr>
            </a:pPr>
            <a:r>
              <a:t>MEASURED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542032"/>
            <a:ext cx="2834639" cy="3246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00" b="0">
                <a:solidFill>
                  <a:srgbClr val="F0F4F8"/>
                </a:solidFill>
                <a:latin typeface="Aptos"/>
              </a:defRPr>
            </a:pPr>
            <a:r>
              <a:t>Predict the attribute from our own features</a:t>
            </a:r>
            <a:br/>
            <a:br/>
            <a:r>
              <a:t>With missingness: gender AUC 1.00 — the leak, quantified</a:t>
            </a:r>
            <a:br/>
            <a:br/>
            <a:r>
              <a:t>Shipped set: gender 0.78, race 0.71</a:t>
            </a:r>
            <a:br/>
            <a:br/>
            <a:r>
              <a:t>Exclusion is not removal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199632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Proxies are gun charges, mental-health/substance conditions, violent arrests, age — the substance of the assessment, not incidental fields.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F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56032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00" b="1">
                <a:solidFill>
                  <a:srgbClr val="FB8500"/>
                </a:solidFill>
                <a:latin typeface="Aptos"/>
              </a:defRPr>
            </a:pPr>
            <a:r>
              <a:t>A7 · DECISION STABILITY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621792"/>
            <a:ext cx="109728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Aptos"/>
              </a:defRPr>
            </a:pPr>
            <a:r>
              <a:t>Would this person's offer survive a different sample?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1298448"/>
            <a:ext cx="1005840" cy="50292"/>
          </a:xfrm>
          <a:prstGeom prst="rect">
            <a:avLst/>
          </a:prstGeom>
          <a:solidFill>
            <a:srgbClr val="FB8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dividual_st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54480"/>
            <a:ext cx="11521440" cy="326867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144768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FB8500"/>
                </a:solidFill>
                <a:latin typeface="Aptos"/>
              </a:defRPr>
            </a:pPr>
            <a:r>
              <a:t>14% of decisions flip between refits, and about 34% of those actually prioritised sit at that margin. Abstaining on them raises precision and WIDENS the gender gap: women are concentrated at the margin.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