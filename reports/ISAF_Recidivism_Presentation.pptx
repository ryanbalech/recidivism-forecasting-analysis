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50s] Three families, as the brief requires, each tuned by cross-validation on training data only. Logistic with L1, C chosen by grid search. XGBoost with a 60-draw random search; deeper trees overfit and were rejected. TabICL with 16 ensemble members; gains level off near 8. Six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3:50 · 50s] Finding one: performance cannot pick the model. All three within 0.003 AUC. XGBoost beats logistic by 0.0025 on a PAIRED bootstrap — real, but small. Calibration: logistic and XGBoost are indistinguishable from perfect; TabICL's slope is 0.91, significantly below 1 — its probabilities are too extreme.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4:40 · 50s] The client's real question: is this better than the score agencies already have? The historical Georgia score in the data reaches 0.60 AUC; our models reach 0.73, and roughly double the scenario net value at 20% capacity. Caveats in the same breath: it is a historical score, and the dollars are a scenario.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Age at release, gang affiliation and prior record, in both models. In probability points: moving from age 23-27 to 48+ lowers predicted risk by about 27 points; a recorded gang affiliation raises it by about 17.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It is an option for the client, not applied to our recommended model.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alibration.png"/>
          <p:cNvPicPr>
            <a:picLocks noChangeAspect="1"/>
          </p:cNvPicPr>
          <p:nvPr/>
        </p:nvPicPr>
        <p:blipFill>
          <a:blip r:embed="rId2"/>
          <a:stretch>
            <a:fillRect/>
          </a:stretch>
        </p:blipFill>
        <p:spPr>
          <a:xfrm>
            <a:off x="411480" y="1572768"/>
            <a:ext cx="7360920" cy="2782056"/>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logistic / XGBoost / TabICL</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4" name="Rounded Rectangle 13"/>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1.00 / 1.00 / 0.91</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CALIBRATION SLOPE</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TabICL too extreme (significant)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Performance alone cannot pick the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INCUMBENT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cumbent_benchmark.png"/>
          <p:cNvPicPr>
            <a:picLocks noChangeAspect="1"/>
          </p:cNvPicPr>
          <p:nvPr/>
        </p:nvPicPr>
        <p:blipFill>
          <a:blip r:embed="rId2"/>
          <a:stretch>
            <a:fillRect/>
          </a:stretch>
        </p:blipFill>
        <p:spPr>
          <a:xfrm>
            <a:off x="411480" y="1600200"/>
            <a:ext cx="7589520" cy="2102241"/>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2400" b="1">
                <a:solidFill>
                  <a:srgbClr val="D64343"/>
                </a:solidFill>
                <a:latin typeface="Aptos"/>
              </a:defRPr>
            </a:pPr>
            <a:r>
              <a:t>0.60</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Georgia supervision score in the data</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 0.73</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OUR MODELS AUC</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all three models</a:t>
            </a:r>
          </a:p>
        </p:txBody>
      </p:sp>
      <p:sp>
        <p:nvSpPr>
          <p:cNvPr id="14" name="Rounded Rectangle 13"/>
          <p:cNvSpPr/>
          <p:nvPr/>
        </p:nvSpPr>
        <p:spPr>
          <a:xfrm>
            <a:off x="845820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800" b="1">
                <a:solidFill>
                  <a:srgbClr val="FB8500"/>
                </a:solidFill>
                <a:latin typeface="Aptos"/>
              </a:defRPr>
            </a:pPr>
            <a:r>
              <a:t>$2.73M → $5.04M</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NET VALUE @20%</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scenario: $5k cost, $50k event, 20% effect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Dollars are a scenario, not a causal estimate.</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global.png"/>
          <p:cNvPicPr>
            <a:picLocks noChangeAspect="1"/>
          </p:cNvPicPr>
          <p:nvPr/>
        </p:nvPicPr>
        <p:blipFill>
          <a:blip r:embed="rId2"/>
          <a:stretch>
            <a:fillRect/>
          </a:stretch>
        </p:blipFill>
        <p:spPr>
          <a:xfrm>
            <a:off x="365760" y="1554480"/>
            <a:ext cx="7863840" cy="3342410"/>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2400" b="1">
                <a:solidFill>
                  <a:srgbClr val="00B4B4"/>
                </a:solidFill>
                <a:latin typeface="Aptos"/>
              </a:defRPr>
            </a:pPr>
            <a:r>
              <a:t>-27 pts</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average probability change</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2400" b="1">
                <a:solidFill>
                  <a:srgbClr val="D64343"/>
                </a:solidFill>
                <a:latin typeface="Aptos"/>
              </a:defRPr>
            </a:pPr>
            <a:r>
              <a:t>+17 pts</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GANG AFFILIATION</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recorded 'Yes' vs 'No'</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Marginal effects in probability points, not log-odds: the unit a caseworker understands.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A mitigation option for the client, not applied to the recommended model.</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Shadow pilot first: no temporal/external validation yet, and no evidence the support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 sensitivity · explanation disagreement · global surrogate · threshold frontier · age · process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$5.17M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$2.73M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$1.46M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sp>
        <p:nvSpPr>
          <p:cNvPr id="18" name="TextBox 17"/>
          <p:cNvSpPr txBox="1"/>
          <p:nvPr/>
        </p:nvSpPr>
        <p:spPr>
          <a:xfrm>
            <a:off x="731520" y="3401568"/>
            <a:ext cx="10698480" cy="4389120"/>
          </a:xfrm>
          <a:prstGeom prst="rect">
            <a:avLst/>
          </a:prstGeom>
          <a:noFill/>
        </p:spPr>
        <p:txBody>
          <a:bodyPr wrap="square">
            <a:spAutoFit/>
          </a:bodyPr>
          <a:lstStyle/>
          <a:p>
            <a:pPr>
              <a:spcAft>
                <a:spcPts val="1200"/>
              </a:spcAft>
              <a:defRPr sz="2000">
                <a:solidFill>
                  <a:srgbClr val="FFFFFF"/>
                </a:solidFill>
                <a:latin typeface="Aptos"/>
              </a:defRPr>
            </a:pPr>
            <a:r>
              <a:t>•  $5,000 support cost · $50,000 event cost · 20% assumed effectiveness — all editable in the app</a:t>
            </a:r>
          </a:p>
          <a:p>
            <a:pPr>
              <a:spcAft>
                <a:spcPts val="1200"/>
              </a:spcAft>
              <a:defRPr sz="2000">
                <a:solidFill>
                  <a:srgbClr val="FFFFFF"/>
                </a:solidFill>
                <a:latin typeface="Aptos"/>
              </a:defRPr>
            </a:pPr>
            <a:r>
              <a:t>•  Models beat the historical score at every capacity from 5% to 50%</a:t>
            </a:r>
          </a:p>
          <a:p>
            <a:pPr>
              <a:spcAft>
                <a:spcPts val="1200"/>
              </a:spcAft>
              <a:defRPr sz="2000">
                <a:solidFill>
                  <a:srgbClr val="FFFFFF"/>
                </a:solidFill>
                <a:latin typeface="Aptos"/>
              </a:defRPr>
            </a:pPr>
            <a:r>
              <a:t>•  A randomized or quasi-experimental pilot must estimate real intervention impact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