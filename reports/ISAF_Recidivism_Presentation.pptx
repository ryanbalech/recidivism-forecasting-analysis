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3035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FB8500"/>
                </a:solidFill>
                <a:latin typeface="Aptos"/>
              </a:defRPr>
            </a:pPr>
            <a:r>
              <a:t>TRUSTWORTHY AI / RECIDIVISM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98448"/>
            <a:ext cx="7315200" cy="1508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Aptos"/>
              </a:defRPr>
            </a:pPr>
            <a:r>
              <a:t>Forecasting risk,</a:t>
            </a:r>
            <a:br/>
            <a:r>
              <a:t>examining trade-offs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4944" y="3063240"/>
            <a:ext cx="60350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0">
                <a:solidFill>
                  <a:srgbClr val="F0F4F8"/>
                </a:solidFill>
                <a:latin typeface="Aptos"/>
              </a:defRPr>
            </a:pPr>
            <a:r>
              <a:t>For a risk-assessment software vendor: which three-year re-arrest model to ship, judged on performance, interpretability, stability and fairness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" y="6053328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828FA0"/>
                </a:solidFill>
                <a:latin typeface="Aptos"/>
              </a:defRPr>
            </a:pPr>
            <a:r>
              <a:t>Team 11 · HEC Paris · Fall 2026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18120" y="822960"/>
            <a:ext cx="3337560" cy="5257800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0" y="1097280"/>
            <a:ext cx="2880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7B2CBF"/>
                </a:solidFill>
                <a:latin typeface="Aptos"/>
              </a:defRPr>
            </a:pPr>
            <a:r>
              <a:t>0.60 → 0.73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0" y="1810512"/>
            <a:ext cx="269748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Incumbent score vs our models (ROC AUC)</a:t>
            </a:r>
            <a:br/>
            <a:br/>
            <a:r>
              <a:t>3 model families</a:t>
            </a:r>
            <a:br/>
            <a:br/>
            <a:r>
              <a:t>1 deployment recommendation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01 · ENGAGEMENT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Our client, and the decision they sell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106984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Client: a vendor selling risk-assessment tools to US state community-supervision agencies</a:t>
            </a:r>
          </a:p>
          <a:p>
            <a:pPr>
              <a:spcAft>
                <a:spcPts val="12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Deliverable: a three-year re-arrest score to allocate limited, voluntary re-entry support</a:t>
            </a:r>
          </a:p>
          <a:p>
            <a:pPr>
              <a:spcAft>
                <a:spcPts val="12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Used only to expand help — never sanctions, detention or surveillance</a:t>
            </a:r>
          </a:p>
          <a:p>
            <a:pPr>
              <a:spcAft>
                <a:spcPts val="12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Judged as a trustworthy AI system, not on accuracy alone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02 · DATA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Original split, with explicit validation limits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FB8500"/>
                </a:solidFill>
                <a:latin typeface="Aptos"/>
              </a:defRPr>
            </a:pPr>
            <a:r>
              <a:t>18,028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TRAIN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38728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7B2CBF"/>
                </a:solidFill>
                <a:latin typeface="Aptos"/>
              </a:defRPr>
            </a:pPr>
            <a:r>
              <a:t>7,807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38728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EVALUATION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36208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FB8500"/>
                </a:solidFill>
                <a:latin typeface="Aptos"/>
              </a:defRPr>
            </a:pPr>
            <a:r>
              <a:t>29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36208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BASELINE FIELDS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2396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33688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7B2CBF"/>
                </a:solidFill>
                <a:latin typeface="Aptos"/>
              </a:defRPr>
            </a:pPr>
            <a:r>
              <a:t>57.4%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33688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TEST TARGET RATE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310128"/>
            <a:ext cx="10698480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  <a:latin typeface="Aptos"/>
              </a:defRPr>
            </a:pPr>
            <a:r>
              <a:t>•  Post-release variables excluded; race, gender and geography retained only for audit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  <a:latin typeface="Aptos"/>
              </a:defRPr>
            </a:pPr>
            <a:r>
              <a:t>•  Found and fixed a representation leak: missing gang affiliation exactly marked women; mode-fill plus a regression audit now blocks it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  <a:latin typeface="Aptos"/>
              </a:defRPr>
            </a:pPr>
            <a:r>
              <a:t>•  Evaluation data were repeatedly inspected during development; fresh validation is still needed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03 · MODEL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Three model families, one comparison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737360"/>
            <a:ext cx="3429000" cy="3291840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011679"/>
            <a:ext cx="2971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FB8500"/>
                </a:solidFill>
                <a:latin typeface="Aptos"/>
              </a:defRPr>
            </a:pPr>
            <a:r>
              <a:t>LOGISTIC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19" y="2724912"/>
            <a:ext cx="2788920" cy="2057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White-box anchor</a:t>
            </a:r>
            <a:br/>
            <a:br/>
            <a:r>
              <a:t>CV-tuned L1, C=0.2154</a:t>
            </a:r>
            <a:br/>
            <a:br/>
            <a:r>
              <a:t>Signed, inspectable effects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737360"/>
            <a:ext cx="3429000" cy="3291840"/>
          </a:xfrm>
          <a:prstGeom prst="roundRect">
            <a:avLst/>
          </a:prstGeom>
          <a:solidFill>
            <a:srgbClr val="143058"/>
          </a:solidFill>
          <a:ln>
            <a:solidFill>
              <a:srgbClr val="00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2011679"/>
            <a:ext cx="2971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00B4B4"/>
                </a:solidFill>
                <a:latin typeface="Aptos"/>
              </a:defRPr>
            </a:pPr>
            <a:r>
              <a:t>XGBOOST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09159" y="2724912"/>
            <a:ext cx="2788920" cy="2057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Nonlinear workhorse</a:t>
            </a:r>
            <a:br/>
            <a:br/>
            <a:r>
              <a:t>Ordinal counts + 5-fold CV tuning</a:t>
            </a:r>
            <a:br/>
            <a:br/>
            <a:r>
              <a:t>Fast operational scoring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737360"/>
            <a:ext cx="3429000" cy="3291840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66760" y="2011679"/>
            <a:ext cx="2971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7B2CBF"/>
                </a:solidFill>
                <a:latin typeface="Aptos"/>
              </a:defRPr>
            </a:pPr>
            <a:r>
              <a:t>TABICLv2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58200" y="2724912"/>
            <a:ext cx="2788920" cy="2057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Foundation model</a:t>
            </a:r>
            <a:br/>
            <a:br/>
            <a:r>
              <a:t>16-member GPU ensemble</a:t>
            </a:r>
            <a:br/>
            <a:br/>
            <a:r>
              <a:t>Training-only size sweep; no native attribution implemented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86000" y="5687568"/>
            <a:ext cx="7589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700" b="1">
                <a:solidFill>
                  <a:srgbClr val="FB8500"/>
                </a:solidFill>
                <a:latin typeface="Aptos"/>
              </a:defRPr>
            </a:pPr>
            <a:r>
              <a:t>Same eligible fields · Same held-out people · Same metrics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04 · THE CLIENT'S REAL 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Comparison with the historical recorded score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ncumbent_bench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554480"/>
            <a:ext cx="8321040" cy="2304867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91540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D64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25128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D64343"/>
                </a:solidFill>
                <a:latin typeface="Aptos"/>
              </a:defRPr>
            </a:pPr>
            <a:r>
              <a:t>0.60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25128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INCUMBENT AUC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15400" y="320040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00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25128" y="3337560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00B4B4"/>
                </a:solidFill>
                <a:latin typeface="Aptos"/>
              </a:defRPr>
            </a:pPr>
            <a:r>
              <a:t>0.73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25128" y="385876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OUR MODELS AUC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15400" y="466344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25128" y="4800600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FB8500"/>
                </a:solidFill>
                <a:latin typeface="Aptos"/>
              </a:defRPr>
            </a:pPr>
            <a:r>
              <a:t>+$2.4M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25128" y="5321807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NET VALUE GAIN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626364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B8500"/>
                </a:solidFill>
                <a:latin typeface="Aptos"/>
              </a:defRPr>
            </a:pPr>
            <a:r>
              <a:t>This historical comparison does not establish superiority to current agency products. Dollar gains are scenarios.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05 · PREDICTIVE PERFORMANCE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Compare ranking, probability loss and calibration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erformance_calib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572768"/>
            <a:ext cx="7360920" cy="278205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45820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67928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7B2CBF"/>
                </a:solidFill>
                <a:latin typeface="Aptos"/>
              </a:defRPr>
            </a:pPr>
            <a:r>
              <a:t>0.7328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67928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AUC · TABICL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58200" y="320040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67928" y="3337560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7B2CBF"/>
                </a:solidFill>
                <a:latin typeface="Aptos"/>
              </a:defRPr>
            </a:pPr>
            <a:r>
              <a:t>0.2044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67928" y="385876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BRIER · TABICL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58200" y="466344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67928" y="4800600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FB8500"/>
                </a:solidFill>
                <a:latin typeface="Aptos"/>
              </a:defRPr>
            </a:pPr>
            <a:r>
              <a:t>0.0112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67928" y="5321807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ECE · XGBOOST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626364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828FA0"/>
                </a:solidFill>
                <a:latin typeface="Aptos"/>
              </a:defRPr>
            </a:pPr>
            <a:r>
              <a:t>Paired bootstrap compares differences directly; see paired_comparisons.csv. Results remain exploratory.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06 · LEARNING CURVE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Which model for which agency size?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earning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10698480" cy="402280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61264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FB8500"/>
                </a:solidFill>
                <a:latin typeface="Aptos"/>
              </a:defRPr>
            </a:pPr>
            <a:r>
              <a:t>Subsamples of one Georgia cohort test sample-size sensitivity; they do not validate transfer to other agencies.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07 · ECONOMIC PERFORMANCE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Model value is a scenario, stress-tested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FB8500"/>
                </a:solidFill>
                <a:latin typeface="Aptos"/>
              </a:defRPr>
            </a:pPr>
            <a:r>
              <a:t>20%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SERVICE CAPACITY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00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38728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00B4B4"/>
                </a:solidFill>
                <a:latin typeface="Aptos"/>
              </a:defRPr>
            </a:pPr>
            <a:r>
              <a:t>$5.17M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38728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XGBOOST NET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D64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36208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D64343"/>
                </a:solidFill>
                <a:latin typeface="Aptos"/>
              </a:defRPr>
            </a:pPr>
            <a:r>
              <a:t>$2.73M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36208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INCUMBENT NET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2396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828F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33688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828FA0"/>
                </a:solidFill>
                <a:latin typeface="Aptos"/>
              </a:defRPr>
            </a:pPr>
            <a:r>
              <a:t>$1.46M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33688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RANDOM NET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401568"/>
            <a:ext cx="106984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FFFFFF"/>
                </a:solidFill>
                <a:latin typeface="Aptos"/>
              </a:defRPr>
            </a:pPr>
            <a:r>
              <a:t>•  $5,000 support cost · $50,000 event cost · 20% assumed effectiveness — all editable in the app</a:t>
            </a:r>
          </a:p>
          <a:p>
            <a:pPr>
              <a:spcAft>
                <a:spcPts val="1200"/>
              </a:spcAft>
              <a:defRPr sz="2000">
                <a:solidFill>
                  <a:srgbClr val="FFFFFF"/>
                </a:solidFill>
                <a:latin typeface="Aptos"/>
              </a:defRPr>
            </a:pPr>
            <a:r>
              <a:t>•  Models beat the incumbent at every capacity from 5% to 50% (sensitivity sweep)</a:t>
            </a:r>
          </a:p>
          <a:p>
            <a:pPr>
              <a:spcAft>
                <a:spcPts val="1200"/>
              </a:spcAft>
              <a:defRPr sz="2000">
                <a:solidFill>
                  <a:srgbClr val="FFFFFF"/>
                </a:solidFill>
                <a:latin typeface="Aptos"/>
              </a:defRPr>
            </a:pPr>
            <a:r>
              <a:t>•  A randomized or quasi-experimental pilot must estimate real intervention impact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08 · INTERPRETABILITY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Prediction explanations and their limits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hap_individ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7589520" cy="28696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229600" y="1554480"/>
            <a:ext cx="3566160" cy="4480560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58200" y="182880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7B2CBF"/>
                </a:solidFill>
                <a:latin typeface="Aptos"/>
              </a:defRPr>
            </a:pPr>
            <a:r>
              <a:t>METHODS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2542032"/>
            <a:ext cx="2926080" cy="3246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SHAP + LIME (local)</a:t>
            </a:r>
            <a:br/>
            <a:br/>
            <a:r>
              <a:t>XPER on AUC (Pérignon)</a:t>
            </a:r>
            <a:br/>
            <a:br/>
            <a:r>
              <a:t>Global surrogate: imperfect fidelity</a:t>
            </a:r>
            <a:br/>
            <a:br/>
            <a:r>
              <a:t>PDP/ICE for all three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17220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D64343"/>
                </a:solidFill>
                <a:latin typeface="Aptos"/>
              </a:defRPr>
            </a:pPr>
            <a:r>
              <a:t>TabICLv2 has no native explanation path — a real deployment cost, covered only by model-agnostic PDP/ICE.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09 · STABILITY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Structural stability across refits on resampled data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ructural_st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7589520" cy="199227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54964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D64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59367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D64343"/>
                </a:solidFill>
                <a:latin typeface="Aptos"/>
              </a:defRPr>
            </a:pPr>
            <a:r>
              <a:t>0.036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59367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SCORE DRIFT · TABICL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49640" y="320040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59367" y="3337560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FB8500"/>
                </a:solidFill>
                <a:latin typeface="Aptos"/>
              </a:defRPr>
            </a:pPr>
            <a:r>
              <a:t>77.0%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59367" y="385876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TABICL JACCARD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61722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828FA0"/>
                </a:solidFill>
                <a:latin typeface="Aptos"/>
              </a:defRPr>
            </a:pPr>
            <a:r>
              <a:t>Jaccard is intersection / union, not the share of people switching. Refit sensitivity is not temporal validation.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10 · SUBGROUP AUDIT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Fairness at the proposed allocation rule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airness_support_acc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7772400" cy="280953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54964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00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59367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00B4B4"/>
                </a:solidFill>
                <a:latin typeface="Aptos"/>
              </a:defRPr>
            </a:pPr>
            <a:r>
              <a:t>0.039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59367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GENDER FPR · XGB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49640" y="320040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D64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59367" y="3337560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D64343"/>
                </a:solidFill>
                <a:latin typeface="Aptos"/>
              </a:defRPr>
            </a:pPr>
            <a:r>
              <a:t>0.041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59367" y="385876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GENDER FPR · TABICL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49640" y="466344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59367" y="4800600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FB8500"/>
                </a:solidFill>
                <a:latin typeface="Aptos"/>
              </a:defRPr>
            </a:pPr>
            <a:r>
              <a:t>0.023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59367" y="5321807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RACE FPR · XGB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621792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B8500"/>
                </a:solidFill>
                <a:latin typeface="Aptos"/>
              </a:defRPr>
            </a:pPr>
            <a:r>
              <a:t>Different operating points produce different allocations and errors. Audit the proposed policy.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11 · FAIRNESS, SHARPENED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Fairness: probability scores and allocation rules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5257800" cy="4297680"/>
          </a:xfrm>
          <a:prstGeom prst="roundRect">
            <a:avLst/>
          </a:prstGeom>
          <a:solidFill>
            <a:srgbClr val="143058"/>
          </a:solidFill>
          <a:ln>
            <a:solidFill>
              <a:srgbClr val="00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65960"/>
            <a:ext cx="4800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00B4B4"/>
                </a:solidFill>
                <a:latin typeface="Aptos"/>
              </a:defRPr>
            </a:pPr>
            <a:r>
              <a:t>SCORE CALIBRATION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19" y="2679192"/>
            <a:ext cx="4617720" cy="3063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Do probabilities match observed rates?</a:t>
            </a:r>
            <a:br/>
            <a:br/>
            <a:r>
              <a:t>Report group calibration and uncertainty</a:t>
            </a:r>
            <a:br/>
            <a:br/>
            <a:r>
              <a:t>Changing decision thresholds leaves probabilities unchanged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691640"/>
            <a:ext cx="5257800" cy="4297680"/>
          </a:xfrm>
          <a:prstGeom prst="roundRect">
            <a:avLst/>
          </a:prstGeom>
          <a:solidFill>
            <a:srgbClr val="143058"/>
          </a:solidFill>
          <a:ln>
            <a:solidFill>
              <a:srgbClr val="D64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965960"/>
            <a:ext cx="4800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D64343"/>
                </a:solidFill>
                <a:latin typeface="Aptos"/>
              </a:defRPr>
            </a:pPr>
            <a:r>
              <a:t>ALLOCATION ERRORS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79" y="2679192"/>
            <a:ext cx="4617720" cy="3063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FPR, TPR and selection rates depend on policy</a:t>
            </a:r>
            <a:br/>
            <a:br/>
            <a:r>
              <a:t>Equal FPR alone is not equalized odds</a:t>
            </a:r>
            <a:br/>
            <a:br/>
            <a:r>
              <a:t>Our threshold frontier uses evaluation labels: illustrative, not validated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12 · PROCESS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How we got here: what we tried, where we landed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provement_journ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00200"/>
            <a:ext cx="11155680" cy="403006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6236208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B8500"/>
                </a:solidFill>
                <a:latin typeface="Aptos"/>
              </a:defRPr>
            </a:pPr>
            <a:r>
              <a:t>Full log in JOURNEY.md — every step measured, including the attempts we rejected.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13 · TRADE-OFFS ACROSS FOUR DIMENSIONS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Which model should the client deploy?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radeoff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1094" y="1481328"/>
            <a:ext cx="6399331" cy="47823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14 · RECOMMENDATION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Pilot XGBoost; retain logistic as a transparent challenger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57800" cy="4251960"/>
          </a:xfrm>
          <a:prstGeom prst="roundRect">
            <a:avLst/>
          </a:prstGeom>
          <a:solidFill>
            <a:srgbClr val="143058"/>
          </a:solidFill>
          <a:ln>
            <a:solidFill>
              <a:srgbClr val="00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20240"/>
            <a:ext cx="4800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00B4B4"/>
                </a:solidFill>
                <a:latin typeface="Aptos"/>
              </a:defRPr>
            </a:pPr>
            <a:r>
              <a:t>WHY XGBOOST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633472"/>
            <a:ext cx="4617720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Competitive probability loss</a:t>
            </a:r>
            <a:br/>
            <a:br/>
            <a:r>
              <a:t>Audit subgroup errors</a:t>
            </a:r>
            <a:br/>
            <a:br/>
            <a:r>
              <a:t>SHAP explanations available</a:t>
            </a:r>
            <a:br/>
            <a:br/>
            <a:r>
              <a:t>Low inference cost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57800" cy="4251960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920240"/>
            <a:ext cx="4800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7B2CBF"/>
                </a:solidFill>
                <a:latin typeface="Aptos"/>
              </a:defRPr>
            </a:pPr>
            <a:r>
              <a:t>CONDITIONS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59" y="2633472"/>
            <a:ext cx="4617720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Benefit-only allocation</a:t>
            </a:r>
            <a:br/>
            <a:br/>
            <a:r>
              <a:t>Logistic as transparent challenger</a:t>
            </a:r>
            <a:br/>
            <a:br/>
            <a:r>
              <a:t>Prospective shadow validation</a:t>
            </a:r>
            <a:br/>
            <a:br/>
            <a:r>
              <a:t>Appeal route, logs, quarterly audits, stop rules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15 · CLIENT EXPERIENCE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The application makes every trade-off testable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1600200"/>
            <a:ext cx="5212080" cy="1572768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74519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FB8500"/>
                </a:solidFill>
                <a:latin typeface="Aptos"/>
              </a:defRPr>
            </a:pPr>
            <a:r>
              <a:t>ASSESS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587752"/>
            <a:ext cx="4572000" cy="33832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Score one person, all 3 models + SHAP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600200"/>
            <a:ext cx="5212080" cy="1572768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874519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7B2CBF"/>
                </a:solidFill>
                <a:latin typeface="Aptos"/>
              </a:defRPr>
            </a:pPr>
            <a:r>
              <a:t>AUDIT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79" y="2587752"/>
            <a:ext cx="4572000" cy="33832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Race + gender, at the deployed point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474720"/>
            <a:ext cx="5212080" cy="1572768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749039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FB8500"/>
                </a:solidFill>
                <a:latin typeface="Aptos"/>
              </a:defRPr>
            </a:pPr>
            <a:r>
              <a:t>COMPARE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462272"/>
            <a:ext cx="4572000" cy="33832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Incumbent, learning curve, matrix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3474720"/>
            <a:ext cx="5212080" cy="1572768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3749039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7B2CBF"/>
                </a:solidFill>
                <a:latin typeface="Aptos"/>
              </a:defRPr>
            </a:pPr>
            <a:r>
              <a:t>SIMULATE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79" y="4462272"/>
            <a:ext cx="4572000" cy="33832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Costs, capacity, sensitivity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60" y="5715000"/>
            <a:ext cx="4114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700" b="1">
                <a:solidFill>
                  <a:srgbClr val="F0F4F8"/>
                </a:solidFill>
                <a:latin typeface="Consolas"/>
              </a:defRPr>
            </a:pPr>
            <a:r>
              <a:t>streamlit run app.py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