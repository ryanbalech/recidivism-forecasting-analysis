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[P6 · 11:10 · 45s] The course defines stability simply: two datasets from the same population should give approximately the same model. We tested that three ways, from mildest to harshest. Changing only the random seed barely moves logistic regression; XGBoost already swaps about 2% of the people it selects. With eight bootstrap refits — the same eight for all three models — a person's risk moves by about three points, and about 13% of the people offered support change. Not 23%: Jaccard is not the share that changed. With two completely separate halves of the data, it's about 18%. In every test, logistic is more stable than XGBoost, and TabICL matches logistic on who gets selected.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[P6 · 11:55 · 45s] Now one person. Across the eight refits, about one decision in eight is contested — some refits select the person, others don't — and all of them sit close to the cut. The natural fix is to send contested cases to a human. That raises precision from 0.822 to 0.846. But the gender gap widens, from minus 0.090 to minus 0.119, because the few women we select sit at the margin far more often than men: 47% against 30%. So abstaining is not fairness-neutral — and that asymmetry comes from gang affiliation: without it, women and men are equally often at the margin.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[P6 · 12:40 · 35s] The course also shows how to fix this. When you retrain on new data, penalise the distance to the previous model, with lambda chosen by cross-validation. We implemented it for our logistic regression. A naive retrain reshuffles 19% of the people offered support; with the constraint, 12%. The coefficients move half as much, and accuracy doesn't drop. It needs a parameter vector, so it works for logistic, not XGBoost. And reproducibility: the same XGBoost on another machine changed 80 decisions; logistic changed none.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[P6 · 13:15 · 55s] So, across the four dimensions. Performance: XGBoost's edge is real but small — the two models select 85% of the same people, and the difference in re-arrests captured includes zero. Fairness doesn't separate them: the gap difference is equivalent within five points. Calibration shows no detectable difference. What does separate them is stability, reproducibility, direct interpretability and cost — and all four favour logistic. So we recommend a shadow pilot of L1 logistic regression, with XGBoost as the challenger, plus a second arm without gang affiliation, where logistic is still the more stable model. The choice reverses if scores are quoted to people as probabilities, or at a scale where a dozen extra captured re-arrests matter. And no model allocates real support until the pilot shows the programme helps. Over to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5669280"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STABILITY · STRUCTURAL</a:t>
            </a:r>
          </a:p>
        </p:txBody>
      </p:sp>
      <p:sp>
        <p:nvSpPr>
          <p:cNvPr id="3" name="TextBox 2"/>
          <p:cNvSpPr txBox="1"/>
          <p:nvPr/>
        </p:nvSpPr>
        <p:spPr>
          <a:xfrm>
            <a:off x="5852160" y="365760"/>
            <a:ext cx="5790895" cy="274320"/>
          </a:xfrm>
          <a:prstGeom prst="rect">
            <a:avLst/>
          </a:prstGeom>
          <a:noFill/>
        </p:spPr>
        <p:txBody>
          <a:bodyPr wrap="none" lIns="0" rIns="0" tIns="0" bIns="0">
            <a:spAutoFit/>
          </a:bodyPr>
          <a:lstStyle/>
          <a:p>
            <a:pPr algn="r"/>
            <a:r>
              <a:rPr sz="1050" b="0" i="0">
                <a:solidFill>
                  <a:srgbClr val="A3AFBA"/>
                </a:solidFill>
                <a:latin typeface="Calibri"/>
              </a:rPr>
              <a:t>Intro</a:t>
            </a:r>
            <a:r>
              <a:rPr sz="1050" b="0" i="0">
                <a:solidFill>
                  <a:srgbClr val="C5CED6"/>
                </a:solidFill>
                <a:latin typeface="Calibri"/>
              </a:rPr>
              <a:t>   ·   </a:t>
            </a:r>
            <a:r>
              <a:rPr sz="1050" b="0" i="0">
                <a:solidFill>
                  <a:srgbClr val="A3AFBA"/>
                </a:solidFill>
                <a:latin typeface="Calibri"/>
              </a:rPr>
              <a:t>Features</a:t>
            </a:r>
            <a:r>
              <a:rPr sz="1050" b="0" i="0">
                <a:solidFill>
                  <a:srgbClr val="C5CED6"/>
                </a:solidFill>
                <a:latin typeface="Calibri"/>
              </a:rPr>
              <a:t>   ·   </a:t>
            </a:r>
            <a:r>
              <a:rPr sz="1050" b="0" i="0">
                <a:solidFill>
                  <a:srgbClr val="A3AFBA"/>
                </a:solidFill>
                <a:latin typeface="Calibri"/>
              </a:rPr>
              <a:t>Models</a:t>
            </a:r>
            <a:r>
              <a:rPr sz="1050" b="0" i="0">
                <a:solidFill>
                  <a:srgbClr val="C5CED6"/>
                </a:solidFill>
                <a:latin typeface="Calibri"/>
              </a:rPr>
              <a:t>   ·   </a:t>
            </a:r>
            <a:r>
              <a:rPr sz="1050" b="0" i="0">
                <a:solidFill>
                  <a:srgbClr val="A3AFBA"/>
                </a:solidFill>
                <a:latin typeface="Calibri"/>
              </a:rPr>
              <a:t>Interpretability</a:t>
            </a:r>
            <a:r>
              <a:rPr sz="1050" b="0" i="0">
                <a:solidFill>
                  <a:srgbClr val="C5CED6"/>
                </a:solidFill>
                <a:latin typeface="Calibri"/>
              </a:rPr>
              <a:t>   ·   </a:t>
            </a:r>
            <a:r>
              <a:rPr sz="1050" b="0" i="0">
                <a:solidFill>
                  <a:srgbClr val="A3AFBA"/>
                </a:solidFill>
                <a:latin typeface="Calibri"/>
              </a:rPr>
              <a:t>Fairness</a:t>
            </a:r>
            <a:r>
              <a:rPr sz="1050" b="0" i="0">
                <a:solidFill>
                  <a:srgbClr val="C5CED6"/>
                </a:solidFill>
                <a:latin typeface="Calibri"/>
              </a:rPr>
              <a:t>   ·   </a:t>
            </a:r>
            <a:r>
              <a:rPr sz="1050" b="1" i="0">
                <a:solidFill>
                  <a:srgbClr val="D9573A"/>
                </a:solidFill>
                <a:latin typeface="Calibri"/>
              </a:rPr>
              <a:t>Stability</a:t>
            </a:r>
            <a:r>
              <a:rPr sz="1050" b="0" i="0">
                <a:solidFill>
                  <a:srgbClr val="C5CED6"/>
                </a:solidFill>
                <a:latin typeface="Calibri"/>
              </a:rPr>
              <a:t>   ·   </a:t>
            </a:r>
            <a:r>
              <a:rPr sz="1050" b="0" i="0">
                <a:solidFill>
                  <a:srgbClr val="A3AFBA"/>
                </a:solidFill>
                <a:latin typeface="Calibri"/>
              </a:rPr>
              <a:t>Demo</a:t>
            </a:r>
          </a:p>
        </p:txBody>
      </p:sp>
      <p:sp>
        <p:nvSpPr>
          <p:cNvPr id="4" name="TextBox 3"/>
          <p:cNvSpPr txBox="1"/>
          <p:nvPr/>
        </p:nvSpPr>
        <p:spPr>
          <a:xfrm>
            <a:off x="548640" y="713232"/>
            <a:ext cx="11094415" cy="685800"/>
          </a:xfrm>
          <a:prstGeom prst="rect">
            <a:avLst/>
          </a:prstGeom>
          <a:noFill/>
        </p:spPr>
        <p:txBody>
          <a:bodyPr wrap="square" anchor="t" lIns="0" rIns="0" tIns="0" bIns="0">
            <a:spAutoFit/>
          </a:bodyPr>
          <a:lstStyle/>
          <a:p>
            <a:pPr algn="l">
              <a:spcAft>
                <a:spcPts val="600"/>
              </a:spcAft>
            </a:pPr>
            <a:r>
              <a:rPr sz="2800" b="1" i="0">
                <a:solidFill>
                  <a:srgbClr val="1B2B3A"/>
                </a:solidFill>
                <a:latin typeface="Calibri"/>
              </a:rPr>
              <a:t>Would a different sample give the same model?</a:t>
            </a:r>
          </a:p>
        </p:txBody>
      </p:sp>
      <p:sp>
        <p:nvSpPr>
          <p:cNvPr id="5" name="TextBox 4"/>
          <p:cNvSpPr txBox="1"/>
          <p:nvPr/>
        </p:nvSpPr>
        <p:spPr>
          <a:xfrm>
            <a:off x="548640" y="6419088"/>
            <a:ext cx="6400800" cy="228600"/>
          </a:xfrm>
          <a:prstGeom prst="rect">
            <a:avLst/>
          </a:prstGeom>
          <a:noFill/>
        </p:spPr>
        <p:txBody>
          <a:bodyPr wrap="square" anchor="t" lIns="0" rIns="0" tIns="0" bIns="0">
            <a:spAutoFit/>
          </a:bodyPr>
          <a:lstStyle/>
          <a:p>
            <a:pPr algn="l">
              <a:spcAft>
                <a:spcPts val="600"/>
              </a:spcAft>
            </a:pPr>
            <a:r>
              <a:rPr sz="1000" b="0" i="0">
                <a:solidFill>
                  <a:srgbClr val="8795A2"/>
                </a:solidFill>
                <a:latin typeface="Calibri"/>
              </a:rPr>
              <a:t>Team 11  ·  Trustworthy Recidivism Forecasting</a:t>
            </a:r>
          </a:p>
        </p:txBody>
      </p:sp>
      <p:sp>
        <p:nvSpPr>
          <p:cNvPr id="6" name="TextBox 5"/>
          <p:cNvSpPr txBox="1"/>
          <p:nvPr/>
        </p:nvSpPr>
        <p:spPr>
          <a:xfrm>
            <a:off x="10271455" y="6419088"/>
            <a:ext cx="1371600" cy="228600"/>
          </a:xfrm>
          <a:prstGeom prst="rect">
            <a:avLst/>
          </a:prstGeom>
          <a:noFill/>
        </p:spPr>
        <p:txBody>
          <a:bodyPr wrap="square" anchor="t" lIns="0" rIns="0" tIns="0" bIns="0">
            <a:spAutoFit/>
          </a:bodyPr>
          <a:lstStyle/>
          <a:p>
            <a:pPr algn="r">
              <a:spcAft>
                <a:spcPts val="600"/>
              </a:spcAft>
            </a:pPr>
            <a:r>
              <a:rPr sz="1000" b="0" i="0">
                <a:solidFill>
                  <a:srgbClr val="8795A2"/>
                </a:solidFill>
                <a:latin typeface="Calibri"/>
              </a:rPr>
              <a:t>17</a:t>
            </a:r>
          </a:p>
        </p:txBody>
      </p:sp>
      <p:sp>
        <p:nvSpPr>
          <p:cNvPr id="7" name="Rounded Rectangle 6"/>
          <p:cNvSpPr/>
          <p:nvPr/>
        </p:nvSpPr>
        <p:spPr>
          <a:xfrm>
            <a:off x="548640" y="1554480"/>
            <a:ext cx="4160520" cy="1371600"/>
          </a:xfrm>
          <a:prstGeom prst="roundRect">
            <a:avLst>
              <a:gd name="adj" fmla="val 6000"/>
            </a:avLst>
          </a:prstGeom>
          <a:solidFill>
            <a:srgbClr val="E7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758183" cy="274320"/>
          </a:xfrm>
          <a:prstGeom prst="rect">
            <a:avLst/>
          </a:prstGeom>
          <a:noFill/>
        </p:spPr>
        <p:txBody>
          <a:bodyPr wrap="square" anchor="t" lIns="0" rIns="0" tIns="0" bIns="0">
            <a:spAutoFit/>
          </a:bodyPr>
          <a:lstStyle/>
          <a:p>
            <a:pPr algn="l">
              <a:spcAft>
                <a:spcPts val="600"/>
              </a:spcAft>
            </a:pPr>
            <a:r>
              <a:rPr sz="1200" b="1" i="0">
                <a:solidFill>
                  <a:srgbClr val="24506E"/>
                </a:solidFill>
                <a:latin typeface="Calibri"/>
              </a:rPr>
              <a:t>COURSE DEFINITION (SLIDE 182)</a:t>
            </a:r>
          </a:p>
        </p:txBody>
      </p:sp>
      <p:sp>
        <p:nvSpPr>
          <p:cNvPr id="9" name="TextBox 8"/>
          <p:cNvSpPr txBox="1"/>
          <p:nvPr/>
        </p:nvSpPr>
        <p:spPr>
          <a:xfrm>
            <a:off x="749808" y="2011680"/>
            <a:ext cx="3758183" cy="804672"/>
          </a:xfrm>
          <a:prstGeom prst="rect">
            <a:avLst/>
          </a:prstGeom>
          <a:noFill/>
        </p:spPr>
        <p:txBody>
          <a:bodyPr wrap="square" anchor="t" lIns="0" rIns="0" tIns="0" bIns="0">
            <a:spAutoFit/>
          </a:bodyPr>
          <a:lstStyle/>
          <a:p>
            <a:pPr algn="l">
              <a:spcAft>
                <a:spcPts val="500"/>
              </a:spcAft>
            </a:pPr>
            <a:r>
              <a:rPr sz="1250" b="0" i="0">
                <a:solidFill>
                  <a:srgbClr val="1B2B3A"/>
                </a:solidFill>
                <a:latin typeface="Calibri"/>
              </a:rPr>
              <a:t>“Two datasets from the same population should induce </a:t>
            </a:r>
            <a:r>
              <a:rPr sz="1250" b="1" i="0">
                <a:solidFill>
                  <a:srgbClr val="1B2B3A"/>
                </a:solidFill>
                <a:latin typeface="Calibri"/>
              </a:rPr>
              <a:t>approximately the same model</a:t>
            </a:r>
            <a:r>
              <a:rPr sz="1250" b="0" i="0">
                <a:solidFill>
                  <a:srgbClr val="1B2B3A"/>
                </a:solidFill>
                <a:latin typeface="Calibri"/>
              </a:rPr>
              <a:t>.” We test it three ways: new seed → bootstrap → two disjoint halves.</a:t>
            </a:r>
          </a:p>
        </p:txBody>
      </p:sp>
      <p:graphicFrame>
        <p:nvGraphicFramePr>
          <p:cNvPr id="10" name="Table 9"/>
          <p:cNvGraphicFramePr>
            <a:graphicFrameLocks noGrp="1"/>
          </p:cNvGraphicFramePr>
          <p:nvPr/>
        </p:nvGraphicFramePr>
        <p:xfrm>
          <a:off x="4937759" y="1554480"/>
          <a:ext cx="3886200" cy="1371600"/>
        </p:xfrm>
        <a:graphic>
          <a:graphicData uri="http://schemas.openxmlformats.org/drawingml/2006/table">
            <a:tbl>
              <a:tblPr firstRow="0" bandRow="0">
                <a:tableStyleId>{5C22544A-7EE6-4342-B048-85BDC9FD1C3A}</a:tableStyleId>
              </a:tblPr>
              <a:tblGrid>
                <a:gridCol w="1188720"/>
                <a:gridCol w="1005840"/>
                <a:gridCol w="1691640"/>
              </a:tblGrid>
              <a:tr h="342900">
                <a:tc>
                  <a:txBody>
                    <a:bodyPr/>
                    <a:lstStyle/>
                    <a:p>
                      <a:pPr algn="l"/>
                      <a:r>
                        <a:rPr sz="1250" b="1" i="0">
                          <a:solidFill>
                            <a:srgbClr val="FFFFFF"/>
                          </a:solidFill>
                          <a:latin typeface="Calibri"/>
                        </a:rPr>
                        <a:t>Model</a:t>
                      </a:r>
                    </a:p>
                  </a:txBody>
                  <a:tcPr marL="91440" marR="91440" marT="27432" marB="27432" anchor="ctr">
                    <a:solidFill>
                      <a:srgbClr val="24506E"/>
                    </a:solidFill>
                  </a:tcPr>
                </a:tc>
                <a:tc>
                  <a:txBody>
                    <a:bodyPr/>
                    <a:lstStyle/>
                    <a:p>
                      <a:pPr algn="r"/>
                      <a:r>
                        <a:rPr sz="1250" b="1" i="0">
                          <a:solidFill>
                            <a:srgbClr val="FFFFFF"/>
                          </a:solidFill>
                          <a:latin typeface="Calibri"/>
                        </a:rPr>
                        <a:t>Mean |Δp|</a:t>
                      </a:r>
                    </a:p>
                  </a:txBody>
                  <a:tcPr marL="91440" marR="91440" marT="27432" marB="27432" anchor="ctr">
                    <a:solidFill>
                      <a:srgbClr val="24506E"/>
                    </a:solidFill>
                  </a:tcPr>
                </a:tc>
                <a:tc>
                  <a:txBody>
                    <a:bodyPr/>
                    <a:lstStyle/>
                    <a:p>
                      <a:pPr algn="r"/>
                      <a:r>
                        <a:rPr sz="1250" b="1" i="0">
                          <a:solidFill>
                            <a:srgbClr val="FFFFFF"/>
                          </a:solidFill>
                          <a:latin typeface="Calibri"/>
                        </a:rPr>
                        <a:t>Top-20% Jaccard</a:t>
                      </a:r>
                    </a:p>
                  </a:txBody>
                  <a:tcPr marL="91440" marR="91440" marT="27432" marB="27432" anchor="ctr">
                    <a:solidFill>
                      <a:srgbClr val="24506E"/>
                    </a:solidFill>
                  </a:tcPr>
                </a:tc>
              </a:tr>
              <a:tr h="342900">
                <a:tc>
                  <a:txBody>
                    <a:bodyPr/>
                    <a:lstStyle/>
                    <a:p>
                      <a:pPr algn="l"/>
                      <a:r>
                        <a:rPr sz="1250" b="1" i="0">
                          <a:solidFill>
                            <a:srgbClr val="1B2B3A"/>
                          </a:solidFill>
                          <a:latin typeface="Calibri"/>
                        </a:rPr>
                        <a:t>Logistic</a:t>
                      </a:r>
                    </a:p>
                  </a:txBody>
                  <a:tcPr marL="91440" marR="91440" marT="27432" marB="27432" anchor="ctr">
                    <a:solidFill>
                      <a:srgbClr val="E6F2F0"/>
                    </a:solidFill>
                  </a:tcPr>
                </a:tc>
                <a:tc>
                  <a:txBody>
                    <a:bodyPr/>
                    <a:lstStyle/>
                    <a:p>
                      <a:pPr algn="r"/>
                      <a:r>
                        <a:rPr sz="1250" b="0" i="0">
                          <a:solidFill>
                            <a:srgbClr val="1B2B3A"/>
                          </a:solidFill>
                          <a:latin typeface="Calibri"/>
                        </a:rPr>
                        <a:t>0.032</a:t>
                      </a:r>
                    </a:p>
                  </a:txBody>
                  <a:tcPr marL="91440" marR="91440" marT="27432" marB="27432" anchor="ctr">
                    <a:solidFill>
                      <a:srgbClr val="E6F2F0"/>
                    </a:solidFill>
                  </a:tcPr>
                </a:tc>
                <a:tc>
                  <a:txBody>
                    <a:bodyPr/>
                    <a:lstStyle/>
                    <a:p>
                      <a:pPr algn="r"/>
                      <a:r>
                        <a:rPr sz="1250" b="0" i="0">
                          <a:solidFill>
                            <a:srgbClr val="1B2B3A"/>
                          </a:solidFill>
                          <a:latin typeface="Calibri"/>
                        </a:rPr>
                        <a:t>0.77</a:t>
                      </a:r>
                    </a:p>
                  </a:txBody>
                  <a:tcPr marL="91440" marR="91440" marT="27432" marB="27432" anchor="ctr">
                    <a:solidFill>
                      <a:srgbClr val="E6F2F0"/>
                    </a:solidFill>
                  </a:tcPr>
                </a:tc>
              </a:tr>
              <a:tr h="342900">
                <a:tc>
                  <a:txBody>
                    <a:bodyPr/>
                    <a:lstStyle/>
                    <a:p>
                      <a:pPr algn="l"/>
                      <a:r>
                        <a:rPr sz="1250" b="1" i="0">
                          <a:solidFill>
                            <a:srgbClr val="1B2B3A"/>
                          </a:solidFill>
                          <a:latin typeface="Calibri"/>
                        </a:rPr>
                        <a:t>XGBoost</a:t>
                      </a:r>
                    </a:p>
                  </a:txBody>
                  <a:tcPr marL="91440" marR="91440" marT="27432" marB="27432" anchor="ctr">
                    <a:solidFill>
                      <a:srgbClr val="F1F5F8"/>
                    </a:solidFill>
                  </a:tcPr>
                </a:tc>
                <a:tc>
                  <a:txBody>
                    <a:bodyPr/>
                    <a:lstStyle/>
                    <a:p>
                      <a:pPr algn="r"/>
                      <a:r>
                        <a:rPr sz="1250" b="0" i="0">
                          <a:solidFill>
                            <a:srgbClr val="1B2B3A"/>
                          </a:solidFill>
                          <a:latin typeface="Calibri"/>
                        </a:rPr>
                        <a:t>0.035</a:t>
                      </a:r>
                    </a:p>
                  </a:txBody>
                  <a:tcPr marL="91440" marR="91440" marT="27432" marB="27432" anchor="ctr">
                    <a:solidFill>
                      <a:srgbClr val="F1F5F8"/>
                    </a:solidFill>
                  </a:tcPr>
                </a:tc>
                <a:tc>
                  <a:txBody>
                    <a:bodyPr/>
                    <a:lstStyle/>
                    <a:p>
                      <a:pPr algn="r"/>
                      <a:r>
                        <a:rPr sz="1250" b="0" i="0">
                          <a:solidFill>
                            <a:srgbClr val="1B2B3A"/>
                          </a:solidFill>
                          <a:latin typeface="Calibri"/>
                        </a:rPr>
                        <a:t>0.75</a:t>
                      </a:r>
                    </a:p>
                  </a:txBody>
                  <a:tcPr marL="91440" marR="91440" marT="27432" marB="27432" anchor="ctr">
                    <a:solidFill>
                      <a:srgbClr val="F1F5F8"/>
                    </a:solidFill>
                  </a:tcPr>
                </a:tc>
              </a:tr>
              <a:tr h="342900">
                <a:tc>
                  <a:txBody>
                    <a:bodyPr/>
                    <a:lstStyle/>
                    <a:p>
                      <a:pPr algn="l"/>
                      <a:r>
                        <a:rPr sz="1250" b="1" i="0">
                          <a:solidFill>
                            <a:srgbClr val="1B2B3A"/>
                          </a:solidFill>
                          <a:latin typeface="Calibri"/>
                        </a:rPr>
                        <a:t>TabICLv2</a:t>
                      </a:r>
                    </a:p>
                  </a:txBody>
                  <a:tcPr marL="91440" marR="91440" marT="27432" marB="27432" anchor="ctr">
                    <a:solidFill>
                      <a:srgbClr val="FFFFFF"/>
                    </a:solidFill>
                  </a:tcPr>
                </a:tc>
                <a:tc>
                  <a:txBody>
                    <a:bodyPr/>
                    <a:lstStyle/>
                    <a:p>
                      <a:pPr algn="r"/>
                      <a:r>
                        <a:rPr sz="1250" b="0" i="0">
                          <a:solidFill>
                            <a:srgbClr val="1B2B3A"/>
                          </a:solidFill>
                          <a:latin typeface="Calibri"/>
                        </a:rPr>
                        <a:t>0.035</a:t>
                      </a:r>
                    </a:p>
                  </a:txBody>
                  <a:tcPr marL="91440" marR="91440" marT="27432" marB="27432" anchor="ctr">
                    <a:solidFill>
                      <a:srgbClr val="FFFFFF"/>
                    </a:solidFill>
                  </a:tcPr>
                </a:tc>
                <a:tc>
                  <a:txBody>
                    <a:bodyPr/>
                    <a:lstStyle/>
                    <a:p>
                      <a:pPr algn="r"/>
                      <a:r>
                        <a:rPr sz="1250" b="0" i="0">
                          <a:solidFill>
                            <a:srgbClr val="1B2B3A"/>
                          </a:solidFill>
                          <a:latin typeface="Calibri"/>
                        </a:rPr>
                        <a:t>0.78</a:t>
                      </a:r>
                    </a:p>
                  </a:txBody>
                  <a:tcPr marL="91440" marR="91440" marT="27432" marB="27432" anchor="ctr">
                    <a:solidFill>
                      <a:srgbClr val="FFFFFF"/>
                    </a:solidFill>
                  </a:tcPr>
                </a:tc>
              </a:tr>
            </a:tbl>
          </a:graphicData>
        </a:graphic>
      </p:graphicFrame>
      <p:sp>
        <p:nvSpPr>
          <p:cNvPr id="11" name="Rounded Rectangle 10"/>
          <p:cNvSpPr/>
          <p:nvPr/>
        </p:nvSpPr>
        <p:spPr>
          <a:xfrm>
            <a:off x="9052560" y="1554480"/>
            <a:ext cx="2590495" cy="1371600"/>
          </a:xfrm>
          <a:prstGeom prst="roundRect">
            <a:avLst>
              <a:gd name="adj" fmla="val 6000"/>
            </a:avLst>
          </a:prstGeom>
          <a:solidFill>
            <a:srgbClr val="E6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1682495"/>
            <a:ext cx="2224735" cy="566928"/>
          </a:xfrm>
          <a:prstGeom prst="rect">
            <a:avLst/>
          </a:prstGeom>
          <a:noFill/>
        </p:spPr>
        <p:txBody>
          <a:bodyPr wrap="square" anchor="t" lIns="0" rIns="0" tIns="0" bIns="0">
            <a:spAutoFit/>
          </a:bodyPr>
          <a:lstStyle/>
          <a:p>
            <a:pPr algn="l">
              <a:spcAft>
                <a:spcPts val="600"/>
              </a:spcAft>
            </a:pPr>
            <a:r>
              <a:rPr sz="3000" b="1" i="0">
                <a:solidFill>
                  <a:srgbClr val="1F7A70"/>
                </a:solidFill>
                <a:latin typeface="Calibri"/>
              </a:rPr>
              <a:t>13%</a:t>
            </a:r>
          </a:p>
        </p:txBody>
      </p:sp>
      <p:sp>
        <p:nvSpPr>
          <p:cNvPr id="13" name="TextBox 12"/>
          <p:cNvSpPr txBox="1"/>
          <p:nvPr/>
        </p:nvSpPr>
        <p:spPr>
          <a:xfrm>
            <a:off x="9235440" y="2158746"/>
            <a:ext cx="2224735" cy="640080"/>
          </a:xfrm>
          <a:prstGeom prst="rect">
            <a:avLst/>
          </a:prstGeom>
          <a:noFill/>
        </p:spPr>
        <p:txBody>
          <a:bodyPr wrap="square" anchor="t" lIns="0" rIns="0" tIns="0" bIns="0">
            <a:spAutoFit/>
          </a:bodyPr>
          <a:lstStyle/>
          <a:p>
            <a:pPr algn="l">
              <a:spcAft>
                <a:spcPts val="600"/>
              </a:spcAft>
            </a:pPr>
            <a:r>
              <a:rPr sz="1150" b="0" i="0">
                <a:solidFill>
                  <a:srgbClr val="5F6E7C"/>
                </a:solidFill>
                <a:latin typeface="Calibri"/>
              </a:rPr>
              <a:t>of the people offered support change per refit (logistic) — not 23%</a:t>
            </a:r>
          </a:p>
        </p:txBody>
      </p:sp>
      <p:pic>
        <p:nvPicPr>
          <p:cNvPr id="14" name="Picture 13" descr="fig_stability_regimes.png"/>
          <p:cNvPicPr>
            <a:picLocks noChangeAspect="1"/>
          </p:cNvPicPr>
          <p:nvPr/>
        </p:nvPicPr>
        <p:blipFill>
          <a:blip r:embed="rId2"/>
          <a:stretch>
            <a:fillRect/>
          </a:stretch>
        </p:blipFill>
        <p:spPr>
          <a:xfrm>
            <a:off x="1788745" y="3090672"/>
            <a:ext cx="8614204" cy="2514600"/>
          </a:xfrm>
          <a:prstGeom prst="rect">
            <a:avLst/>
          </a:prstGeom>
        </p:spPr>
      </p:pic>
      <p:sp>
        <p:nvSpPr>
          <p:cNvPr id="15" name="TextBox 14"/>
          <p:cNvSpPr txBox="1"/>
          <p:nvPr/>
        </p:nvSpPr>
        <p:spPr>
          <a:xfrm>
            <a:off x="548640" y="5650992"/>
            <a:ext cx="11094415" cy="457200"/>
          </a:xfrm>
          <a:prstGeom prst="rect">
            <a:avLst/>
          </a:prstGeom>
          <a:noFill/>
        </p:spPr>
        <p:txBody>
          <a:bodyPr wrap="square" anchor="t" lIns="0" rIns="0" tIns="0" bIns="0">
            <a:spAutoFit/>
          </a:bodyPr>
          <a:lstStyle/>
          <a:p>
            <a:pPr algn="l">
              <a:spcAft>
                <a:spcPts val="600"/>
              </a:spcAft>
            </a:pPr>
            <a:r>
              <a:rPr sz="1250" b="1" i="0">
                <a:solidFill>
                  <a:srgbClr val="1B2B3A"/>
                </a:solidFill>
                <a:latin typeface="Calibri"/>
              </a:rPr>
              <a:t>Logistic vs XGBoost (8 bootstrap refits):</a:t>
            </a:r>
            <a:r>
              <a:rPr sz="1250" b="0" i="0">
                <a:solidFill>
                  <a:srgbClr val="1B2B3A"/>
                </a:solidFill>
                <a:latin typeface="Calibri"/>
              </a:rPr>
              <a:t> lower drift in 28/28 pairs, steadier selection in 26/28; ahead in 10/10 disjoint-half splits.</a:t>
            </a:r>
          </a:p>
        </p:txBody>
      </p:sp>
      <p:sp>
        <p:nvSpPr>
          <p:cNvPr id="16" name="TextBox 15"/>
          <p:cNvSpPr txBox="1"/>
          <p:nvPr/>
        </p:nvSpPr>
        <p:spPr>
          <a:xfrm>
            <a:off x="548640" y="6144768"/>
            <a:ext cx="11094415" cy="228600"/>
          </a:xfrm>
          <a:prstGeom prst="rect">
            <a:avLst/>
          </a:prstGeom>
          <a:noFill/>
        </p:spPr>
        <p:txBody>
          <a:bodyPr wrap="square" anchor="t" lIns="0" rIns="0" tIns="0" bIns="0">
            <a:spAutoFit/>
          </a:bodyPr>
          <a:lstStyle/>
          <a:p>
            <a:pPr algn="l">
              <a:spcAft>
                <a:spcPts val="600"/>
              </a:spcAft>
            </a:pPr>
            <a:r>
              <a:rPr sz="950" b="0" i="0">
                <a:solidFill>
                  <a:srgbClr val="8795A2"/>
                </a:solidFill>
                <a:latin typeface="Calibri"/>
              </a:rPr>
              <a:t>Source: stability_summary.csv · stability_pairs.csv · study results/stability_by_regime_summary.csv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5669280"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STABILITY · INDIVIDUAL</a:t>
            </a:r>
          </a:p>
        </p:txBody>
      </p:sp>
      <p:sp>
        <p:nvSpPr>
          <p:cNvPr id="3" name="TextBox 2"/>
          <p:cNvSpPr txBox="1"/>
          <p:nvPr/>
        </p:nvSpPr>
        <p:spPr>
          <a:xfrm>
            <a:off x="5852160" y="365760"/>
            <a:ext cx="5790895" cy="274320"/>
          </a:xfrm>
          <a:prstGeom prst="rect">
            <a:avLst/>
          </a:prstGeom>
          <a:noFill/>
        </p:spPr>
        <p:txBody>
          <a:bodyPr wrap="none" lIns="0" rIns="0" tIns="0" bIns="0">
            <a:spAutoFit/>
          </a:bodyPr>
          <a:lstStyle/>
          <a:p>
            <a:pPr algn="r"/>
            <a:r>
              <a:rPr sz="1050" b="0" i="0">
                <a:solidFill>
                  <a:srgbClr val="A3AFBA"/>
                </a:solidFill>
                <a:latin typeface="Calibri"/>
              </a:rPr>
              <a:t>Intro</a:t>
            </a:r>
            <a:r>
              <a:rPr sz="1050" b="0" i="0">
                <a:solidFill>
                  <a:srgbClr val="C5CED6"/>
                </a:solidFill>
                <a:latin typeface="Calibri"/>
              </a:rPr>
              <a:t>   ·   </a:t>
            </a:r>
            <a:r>
              <a:rPr sz="1050" b="0" i="0">
                <a:solidFill>
                  <a:srgbClr val="A3AFBA"/>
                </a:solidFill>
                <a:latin typeface="Calibri"/>
              </a:rPr>
              <a:t>Features</a:t>
            </a:r>
            <a:r>
              <a:rPr sz="1050" b="0" i="0">
                <a:solidFill>
                  <a:srgbClr val="C5CED6"/>
                </a:solidFill>
                <a:latin typeface="Calibri"/>
              </a:rPr>
              <a:t>   ·   </a:t>
            </a:r>
            <a:r>
              <a:rPr sz="1050" b="0" i="0">
                <a:solidFill>
                  <a:srgbClr val="A3AFBA"/>
                </a:solidFill>
                <a:latin typeface="Calibri"/>
              </a:rPr>
              <a:t>Models</a:t>
            </a:r>
            <a:r>
              <a:rPr sz="1050" b="0" i="0">
                <a:solidFill>
                  <a:srgbClr val="C5CED6"/>
                </a:solidFill>
                <a:latin typeface="Calibri"/>
              </a:rPr>
              <a:t>   ·   </a:t>
            </a:r>
            <a:r>
              <a:rPr sz="1050" b="0" i="0">
                <a:solidFill>
                  <a:srgbClr val="A3AFBA"/>
                </a:solidFill>
                <a:latin typeface="Calibri"/>
              </a:rPr>
              <a:t>Interpretability</a:t>
            </a:r>
            <a:r>
              <a:rPr sz="1050" b="0" i="0">
                <a:solidFill>
                  <a:srgbClr val="C5CED6"/>
                </a:solidFill>
                <a:latin typeface="Calibri"/>
              </a:rPr>
              <a:t>   ·   </a:t>
            </a:r>
            <a:r>
              <a:rPr sz="1050" b="0" i="0">
                <a:solidFill>
                  <a:srgbClr val="A3AFBA"/>
                </a:solidFill>
                <a:latin typeface="Calibri"/>
              </a:rPr>
              <a:t>Fairness</a:t>
            </a:r>
            <a:r>
              <a:rPr sz="1050" b="0" i="0">
                <a:solidFill>
                  <a:srgbClr val="C5CED6"/>
                </a:solidFill>
                <a:latin typeface="Calibri"/>
              </a:rPr>
              <a:t>   ·   </a:t>
            </a:r>
            <a:r>
              <a:rPr sz="1050" b="1" i="0">
                <a:solidFill>
                  <a:srgbClr val="D9573A"/>
                </a:solidFill>
                <a:latin typeface="Calibri"/>
              </a:rPr>
              <a:t>Stability</a:t>
            </a:r>
            <a:r>
              <a:rPr sz="1050" b="0" i="0">
                <a:solidFill>
                  <a:srgbClr val="C5CED6"/>
                </a:solidFill>
                <a:latin typeface="Calibri"/>
              </a:rPr>
              <a:t>   ·   </a:t>
            </a:r>
            <a:r>
              <a:rPr sz="1050" b="0" i="0">
                <a:solidFill>
                  <a:srgbClr val="A3AFBA"/>
                </a:solidFill>
                <a:latin typeface="Calibri"/>
              </a:rPr>
              <a:t>Demo</a:t>
            </a:r>
          </a:p>
        </p:txBody>
      </p:sp>
      <p:sp>
        <p:nvSpPr>
          <p:cNvPr id="4" name="TextBox 3"/>
          <p:cNvSpPr txBox="1"/>
          <p:nvPr/>
        </p:nvSpPr>
        <p:spPr>
          <a:xfrm>
            <a:off x="548640" y="713232"/>
            <a:ext cx="11094415" cy="685800"/>
          </a:xfrm>
          <a:prstGeom prst="rect">
            <a:avLst/>
          </a:prstGeom>
          <a:noFill/>
        </p:spPr>
        <p:txBody>
          <a:bodyPr wrap="square" anchor="t" lIns="0" rIns="0" tIns="0" bIns="0">
            <a:spAutoFit/>
          </a:bodyPr>
          <a:lstStyle/>
          <a:p>
            <a:pPr algn="l">
              <a:spcAft>
                <a:spcPts val="600"/>
              </a:spcAft>
            </a:pPr>
            <a:r>
              <a:rPr sz="2800" b="1" i="0">
                <a:solidFill>
                  <a:srgbClr val="1B2B3A"/>
                </a:solidFill>
                <a:latin typeface="Calibri"/>
              </a:rPr>
              <a:t>Stability for one person: abstaining is not fairness-neutral</a:t>
            </a:r>
          </a:p>
        </p:txBody>
      </p:sp>
      <p:sp>
        <p:nvSpPr>
          <p:cNvPr id="5" name="TextBox 4"/>
          <p:cNvSpPr txBox="1"/>
          <p:nvPr/>
        </p:nvSpPr>
        <p:spPr>
          <a:xfrm>
            <a:off x="548640" y="6419088"/>
            <a:ext cx="6400800" cy="228600"/>
          </a:xfrm>
          <a:prstGeom prst="rect">
            <a:avLst/>
          </a:prstGeom>
          <a:noFill/>
        </p:spPr>
        <p:txBody>
          <a:bodyPr wrap="square" anchor="t" lIns="0" rIns="0" tIns="0" bIns="0">
            <a:spAutoFit/>
          </a:bodyPr>
          <a:lstStyle/>
          <a:p>
            <a:pPr algn="l">
              <a:spcAft>
                <a:spcPts val="600"/>
              </a:spcAft>
            </a:pPr>
            <a:r>
              <a:rPr sz="1000" b="0" i="0">
                <a:solidFill>
                  <a:srgbClr val="8795A2"/>
                </a:solidFill>
                <a:latin typeface="Calibri"/>
              </a:rPr>
              <a:t>Team 11  ·  Trustworthy Recidivism Forecasting</a:t>
            </a:r>
          </a:p>
        </p:txBody>
      </p:sp>
      <p:sp>
        <p:nvSpPr>
          <p:cNvPr id="6" name="TextBox 5"/>
          <p:cNvSpPr txBox="1"/>
          <p:nvPr/>
        </p:nvSpPr>
        <p:spPr>
          <a:xfrm>
            <a:off x="10271455" y="6419088"/>
            <a:ext cx="1371600" cy="228600"/>
          </a:xfrm>
          <a:prstGeom prst="rect">
            <a:avLst/>
          </a:prstGeom>
          <a:noFill/>
        </p:spPr>
        <p:txBody>
          <a:bodyPr wrap="square" anchor="t" lIns="0" rIns="0" tIns="0" bIns="0">
            <a:spAutoFit/>
          </a:bodyPr>
          <a:lstStyle/>
          <a:p>
            <a:pPr algn="r">
              <a:spcAft>
                <a:spcPts val="600"/>
              </a:spcAft>
            </a:pPr>
            <a:r>
              <a:rPr sz="1000" b="0" i="0">
                <a:solidFill>
                  <a:srgbClr val="8795A2"/>
                </a:solidFill>
                <a:latin typeface="Calibri"/>
              </a:rPr>
              <a:t>18</a:t>
            </a:r>
          </a:p>
        </p:txBody>
      </p:sp>
      <p:sp>
        <p:nvSpPr>
          <p:cNvPr id="7" name="Rounded Rectangle 6"/>
          <p:cNvSpPr/>
          <p:nvPr/>
        </p:nvSpPr>
        <p:spPr>
          <a:xfrm>
            <a:off x="548640" y="1554480"/>
            <a:ext cx="2602153" cy="1234440"/>
          </a:xfrm>
          <a:prstGeom prst="roundRect">
            <a:avLst>
              <a:gd name="adj" fmla="val 6000"/>
            </a:avLst>
          </a:prstGeom>
          <a:solidFill>
            <a:srgbClr val="E7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82495"/>
            <a:ext cx="2236393" cy="566928"/>
          </a:xfrm>
          <a:prstGeom prst="rect">
            <a:avLst/>
          </a:prstGeom>
          <a:noFill/>
        </p:spPr>
        <p:txBody>
          <a:bodyPr wrap="square" anchor="t" lIns="0" rIns="0" tIns="0" bIns="0">
            <a:spAutoFit/>
          </a:bodyPr>
          <a:lstStyle/>
          <a:p>
            <a:pPr algn="l">
              <a:spcAft>
                <a:spcPts val="600"/>
              </a:spcAft>
            </a:pPr>
            <a:r>
              <a:rPr sz="2200" b="1" i="0">
                <a:solidFill>
                  <a:srgbClr val="24506E"/>
                </a:solidFill>
                <a:latin typeface="Calibri"/>
              </a:rPr>
              <a:t>≈13%</a:t>
            </a:r>
          </a:p>
        </p:txBody>
      </p:sp>
      <p:sp>
        <p:nvSpPr>
          <p:cNvPr id="9" name="TextBox 8"/>
          <p:cNvSpPr txBox="1"/>
          <p:nvPr/>
        </p:nvSpPr>
        <p:spPr>
          <a:xfrm>
            <a:off x="731520" y="2031746"/>
            <a:ext cx="2236393"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of decisions are contested across refits; 32% of those selected sit at that margin</a:t>
            </a:r>
          </a:p>
        </p:txBody>
      </p:sp>
      <p:sp>
        <p:nvSpPr>
          <p:cNvPr id="10" name="Rounded Rectangle 9"/>
          <p:cNvSpPr/>
          <p:nvPr/>
        </p:nvSpPr>
        <p:spPr>
          <a:xfrm>
            <a:off x="3379393" y="1554480"/>
            <a:ext cx="2602153" cy="1234440"/>
          </a:xfrm>
          <a:prstGeom prst="roundRect">
            <a:avLst>
              <a:gd name="adj" fmla="val 6000"/>
            </a:avLst>
          </a:prstGeom>
          <a:solidFill>
            <a:srgbClr val="E6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2273" y="1682495"/>
            <a:ext cx="2236393" cy="566928"/>
          </a:xfrm>
          <a:prstGeom prst="rect">
            <a:avLst/>
          </a:prstGeom>
          <a:noFill/>
        </p:spPr>
        <p:txBody>
          <a:bodyPr wrap="square" anchor="t" lIns="0" rIns="0" tIns="0" bIns="0">
            <a:spAutoFit/>
          </a:bodyPr>
          <a:lstStyle/>
          <a:p>
            <a:pPr algn="l">
              <a:spcAft>
                <a:spcPts val="600"/>
              </a:spcAft>
            </a:pPr>
            <a:r>
              <a:rPr sz="2200" b="1" i="0">
                <a:solidFill>
                  <a:srgbClr val="1F7A70"/>
                </a:solidFill>
                <a:latin typeface="Calibri"/>
              </a:rPr>
              <a:t>0.822 → 0.846</a:t>
            </a:r>
          </a:p>
        </p:txBody>
      </p:sp>
      <p:sp>
        <p:nvSpPr>
          <p:cNvPr id="12" name="TextBox 11"/>
          <p:cNvSpPr txBox="1"/>
          <p:nvPr/>
        </p:nvSpPr>
        <p:spPr>
          <a:xfrm>
            <a:off x="3562273" y="2031746"/>
            <a:ext cx="2236393"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precision when keeping only unanimous decisions (8/8)</a:t>
            </a:r>
          </a:p>
        </p:txBody>
      </p:sp>
      <p:sp>
        <p:nvSpPr>
          <p:cNvPr id="13" name="Rounded Rectangle 12"/>
          <p:cNvSpPr/>
          <p:nvPr/>
        </p:nvSpPr>
        <p:spPr>
          <a:xfrm>
            <a:off x="6210147" y="1554480"/>
            <a:ext cx="2602153" cy="1234440"/>
          </a:xfrm>
          <a:prstGeom prst="roundRect">
            <a:avLst>
              <a:gd name="adj" fmla="val 6000"/>
            </a:avLst>
          </a:prstGeom>
          <a:solidFill>
            <a:srgbClr val="FB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3027" y="1682495"/>
            <a:ext cx="2236393" cy="566928"/>
          </a:xfrm>
          <a:prstGeom prst="rect">
            <a:avLst/>
          </a:prstGeom>
          <a:noFill/>
        </p:spPr>
        <p:txBody>
          <a:bodyPr wrap="square" anchor="t" lIns="0" rIns="0" tIns="0" bIns="0">
            <a:spAutoFit/>
          </a:bodyPr>
          <a:lstStyle/>
          <a:p>
            <a:pPr algn="l">
              <a:spcAft>
                <a:spcPts val="600"/>
              </a:spcAft>
            </a:pPr>
            <a:r>
              <a:rPr sz="2200" b="1" i="0">
                <a:solidFill>
                  <a:srgbClr val="D9573A"/>
                </a:solidFill>
                <a:latin typeface="Calibri"/>
              </a:rPr>
              <a:t>−0.090 → −0.119</a:t>
            </a:r>
          </a:p>
        </p:txBody>
      </p:sp>
      <p:sp>
        <p:nvSpPr>
          <p:cNvPr id="15" name="TextBox 14"/>
          <p:cNvSpPr txBox="1"/>
          <p:nvPr/>
        </p:nvSpPr>
        <p:spPr>
          <a:xfrm>
            <a:off x="6393027" y="2031746"/>
            <a:ext cx="2236393"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gender FNR gap: abstention widens it</a:t>
            </a:r>
          </a:p>
        </p:txBody>
      </p:sp>
      <p:sp>
        <p:nvSpPr>
          <p:cNvPr id="16" name="Rounded Rectangle 15"/>
          <p:cNvSpPr/>
          <p:nvPr/>
        </p:nvSpPr>
        <p:spPr>
          <a:xfrm>
            <a:off x="9040901" y="1554480"/>
            <a:ext cx="2602153" cy="1234440"/>
          </a:xfrm>
          <a:prstGeom prst="roundRect">
            <a:avLst>
              <a:gd name="adj" fmla="val 6000"/>
            </a:avLst>
          </a:prstGeom>
          <a:solidFill>
            <a:srgbClr val="FB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23781" y="1682495"/>
            <a:ext cx="2236393" cy="566928"/>
          </a:xfrm>
          <a:prstGeom prst="rect">
            <a:avLst/>
          </a:prstGeom>
          <a:noFill/>
        </p:spPr>
        <p:txBody>
          <a:bodyPr wrap="square" anchor="t" lIns="0" rIns="0" tIns="0" bIns="0">
            <a:spAutoFit/>
          </a:bodyPr>
          <a:lstStyle/>
          <a:p>
            <a:pPr algn="l">
              <a:spcAft>
                <a:spcPts val="600"/>
              </a:spcAft>
            </a:pPr>
            <a:r>
              <a:rPr sz="2200" b="1" i="0">
                <a:solidFill>
                  <a:srgbClr val="D9573A"/>
                </a:solidFill>
                <a:latin typeface="Calibri"/>
              </a:rPr>
              <a:t>47% vs 30%</a:t>
            </a:r>
          </a:p>
        </p:txBody>
      </p:sp>
      <p:sp>
        <p:nvSpPr>
          <p:cNvPr id="18" name="TextBox 17"/>
          <p:cNvSpPr txBox="1"/>
          <p:nvPr/>
        </p:nvSpPr>
        <p:spPr>
          <a:xfrm>
            <a:off x="9223781" y="2031746"/>
            <a:ext cx="2236393"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of selected women vs men sit at the margin</a:t>
            </a:r>
          </a:p>
        </p:txBody>
      </p:sp>
      <p:pic>
        <p:nvPicPr>
          <p:cNvPr id="19" name="Picture 18" descr="individual_stability.png"/>
          <p:cNvPicPr>
            <a:picLocks noChangeAspect="1"/>
          </p:cNvPicPr>
          <p:nvPr/>
        </p:nvPicPr>
        <p:blipFill>
          <a:blip r:embed="rId2"/>
          <a:stretch>
            <a:fillRect/>
          </a:stretch>
        </p:blipFill>
        <p:spPr>
          <a:xfrm>
            <a:off x="1341806" y="2926080"/>
            <a:ext cx="9508081" cy="2697480"/>
          </a:xfrm>
          <a:prstGeom prst="rect">
            <a:avLst/>
          </a:prstGeom>
        </p:spPr>
      </p:pic>
      <p:sp>
        <p:nvSpPr>
          <p:cNvPr id="20" name="TextBox 19"/>
          <p:cNvSpPr txBox="1"/>
          <p:nvPr/>
        </p:nvSpPr>
        <p:spPr>
          <a:xfrm>
            <a:off x="548640" y="5650992"/>
            <a:ext cx="11094415" cy="457200"/>
          </a:xfrm>
          <a:prstGeom prst="rect">
            <a:avLst/>
          </a:prstGeom>
          <a:noFill/>
        </p:spPr>
        <p:txBody>
          <a:bodyPr wrap="square" anchor="t" lIns="0" rIns="0" tIns="0" bIns="0">
            <a:spAutoFit/>
          </a:bodyPr>
          <a:lstStyle/>
          <a:p>
            <a:pPr algn="l">
              <a:spcAft>
                <a:spcPts val="600"/>
              </a:spcAft>
            </a:pPr>
            <a:r>
              <a:rPr sz="1250" b="0" i="0">
                <a:solidFill>
                  <a:srgbClr val="1B2B3A"/>
                </a:solidFill>
                <a:latin typeface="Calibri"/>
              </a:rPr>
              <a:t>Contested decisions all sit near the cut (98% within 10 percentile points).  </a:t>
            </a:r>
            <a:r>
              <a:rPr sz="1250" b="1" i="0">
                <a:solidFill>
                  <a:srgbClr val="1B2B3A"/>
                </a:solidFill>
                <a:latin typeface="Calibri"/>
              </a:rPr>
              <a:t>Without gang affiliation</a:t>
            </a:r>
            <a:r>
              <a:rPr sz="1250" b="0" i="0">
                <a:solidFill>
                  <a:srgbClr val="1B2B3A"/>
                </a:solidFill>
                <a:latin typeface="Calibri"/>
              </a:rPr>
              <a:t> the asymmetry disappears: 33% vs 33% (backup A13).</a:t>
            </a:r>
          </a:p>
        </p:txBody>
      </p:sp>
      <p:sp>
        <p:nvSpPr>
          <p:cNvPr id="21" name="TextBox 20"/>
          <p:cNvSpPr txBox="1"/>
          <p:nvPr/>
        </p:nvSpPr>
        <p:spPr>
          <a:xfrm>
            <a:off x="548640" y="6144768"/>
            <a:ext cx="11094415" cy="228600"/>
          </a:xfrm>
          <a:prstGeom prst="rect">
            <a:avLst/>
          </a:prstGeom>
          <a:noFill/>
        </p:spPr>
        <p:txBody>
          <a:bodyPr wrap="square" anchor="t" lIns="0" rIns="0" tIns="0" bIns="0">
            <a:spAutoFit/>
          </a:bodyPr>
          <a:lstStyle/>
          <a:p>
            <a:pPr algn="l">
              <a:spcAft>
                <a:spcPts val="600"/>
              </a:spcAft>
            </a:pPr>
            <a:r>
              <a:rPr sz="950" b="0" i="0">
                <a:solidFill>
                  <a:srgbClr val="8795A2"/>
                </a:solidFill>
                <a:latin typeface="Calibri"/>
              </a:rPr>
              <a:t>Source: individual_stability.png · individual_stability_summary.csv · abstention_curve.csv · study results/no_gang_*.csv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5669280"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STABILITY · RETRAINING (COURSE SLIDE 186)</a:t>
            </a:r>
          </a:p>
        </p:txBody>
      </p:sp>
      <p:sp>
        <p:nvSpPr>
          <p:cNvPr id="3" name="TextBox 2"/>
          <p:cNvSpPr txBox="1"/>
          <p:nvPr/>
        </p:nvSpPr>
        <p:spPr>
          <a:xfrm>
            <a:off x="5852160" y="365760"/>
            <a:ext cx="5790895" cy="274320"/>
          </a:xfrm>
          <a:prstGeom prst="rect">
            <a:avLst/>
          </a:prstGeom>
          <a:noFill/>
        </p:spPr>
        <p:txBody>
          <a:bodyPr wrap="none" lIns="0" rIns="0" tIns="0" bIns="0">
            <a:spAutoFit/>
          </a:bodyPr>
          <a:lstStyle/>
          <a:p>
            <a:pPr algn="r"/>
            <a:r>
              <a:rPr sz="1050" b="0" i="0">
                <a:solidFill>
                  <a:srgbClr val="A3AFBA"/>
                </a:solidFill>
                <a:latin typeface="Calibri"/>
              </a:rPr>
              <a:t>Intro</a:t>
            </a:r>
            <a:r>
              <a:rPr sz="1050" b="0" i="0">
                <a:solidFill>
                  <a:srgbClr val="C5CED6"/>
                </a:solidFill>
                <a:latin typeface="Calibri"/>
              </a:rPr>
              <a:t>   ·   </a:t>
            </a:r>
            <a:r>
              <a:rPr sz="1050" b="0" i="0">
                <a:solidFill>
                  <a:srgbClr val="A3AFBA"/>
                </a:solidFill>
                <a:latin typeface="Calibri"/>
              </a:rPr>
              <a:t>Features</a:t>
            </a:r>
            <a:r>
              <a:rPr sz="1050" b="0" i="0">
                <a:solidFill>
                  <a:srgbClr val="C5CED6"/>
                </a:solidFill>
                <a:latin typeface="Calibri"/>
              </a:rPr>
              <a:t>   ·   </a:t>
            </a:r>
            <a:r>
              <a:rPr sz="1050" b="0" i="0">
                <a:solidFill>
                  <a:srgbClr val="A3AFBA"/>
                </a:solidFill>
                <a:latin typeface="Calibri"/>
              </a:rPr>
              <a:t>Models</a:t>
            </a:r>
            <a:r>
              <a:rPr sz="1050" b="0" i="0">
                <a:solidFill>
                  <a:srgbClr val="C5CED6"/>
                </a:solidFill>
                <a:latin typeface="Calibri"/>
              </a:rPr>
              <a:t>   ·   </a:t>
            </a:r>
            <a:r>
              <a:rPr sz="1050" b="0" i="0">
                <a:solidFill>
                  <a:srgbClr val="A3AFBA"/>
                </a:solidFill>
                <a:latin typeface="Calibri"/>
              </a:rPr>
              <a:t>Interpretability</a:t>
            </a:r>
            <a:r>
              <a:rPr sz="1050" b="0" i="0">
                <a:solidFill>
                  <a:srgbClr val="C5CED6"/>
                </a:solidFill>
                <a:latin typeface="Calibri"/>
              </a:rPr>
              <a:t>   ·   </a:t>
            </a:r>
            <a:r>
              <a:rPr sz="1050" b="0" i="0">
                <a:solidFill>
                  <a:srgbClr val="A3AFBA"/>
                </a:solidFill>
                <a:latin typeface="Calibri"/>
              </a:rPr>
              <a:t>Fairness</a:t>
            </a:r>
            <a:r>
              <a:rPr sz="1050" b="0" i="0">
                <a:solidFill>
                  <a:srgbClr val="C5CED6"/>
                </a:solidFill>
                <a:latin typeface="Calibri"/>
              </a:rPr>
              <a:t>   ·   </a:t>
            </a:r>
            <a:r>
              <a:rPr sz="1050" b="1" i="0">
                <a:solidFill>
                  <a:srgbClr val="D9573A"/>
                </a:solidFill>
                <a:latin typeface="Calibri"/>
              </a:rPr>
              <a:t>Stability</a:t>
            </a:r>
            <a:r>
              <a:rPr sz="1050" b="0" i="0">
                <a:solidFill>
                  <a:srgbClr val="C5CED6"/>
                </a:solidFill>
                <a:latin typeface="Calibri"/>
              </a:rPr>
              <a:t>   ·   </a:t>
            </a:r>
            <a:r>
              <a:rPr sz="1050" b="0" i="0">
                <a:solidFill>
                  <a:srgbClr val="A3AFBA"/>
                </a:solidFill>
                <a:latin typeface="Calibri"/>
              </a:rPr>
              <a:t>Demo</a:t>
            </a:r>
          </a:p>
        </p:txBody>
      </p:sp>
      <p:sp>
        <p:nvSpPr>
          <p:cNvPr id="4" name="TextBox 3"/>
          <p:cNvSpPr txBox="1"/>
          <p:nvPr/>
        </p:nvSpPr>
        <p:spPr>
          <a:xfrm>
            <a:off x="548640" y="713232"/>
            <a:ext cx="11094415" cy="685800"/>
          </a:xfrm>
          <a:prstGeom prst="rect">
            <a:avLst/>
          </a:prstGeom>
          <a:noFill/>
        </p:spPr>
        <p:txBody>
          <a:bodyPr wrap="square" anchor="t" lIns="0" rIns="0" tIns="0" bIns="0">
            <a:spAutoFit/>
          </a:bodyPr>
          <a:lstStyle/>
          <a:p>
            <a:pPr algn="l">
              <a:spcAft>
                <a:spcPts val="600"/>
              </a:spcAft>
            </a:pPr>
            <a:r>
              <a:rPr sz="2600" b="1" i="0">
                <a:solidFill>
                  <a:srgbClr val="1B2B3A"/>
                </a:solidFill>
                <a:latin typeface="Calibri"/>
              </a:rPr>
              <a:t>Retraining without reshuffling: the course's stability constraint</a:t>
            </a:r>
          </a:p>
        </p:txBody>
      </p:sp>
      <p:sp>
        <p:nvSpPr>
          <p:cNvPr id="5" name="TextBox 4"/>
          <p:cNvSpPr txBox="1"/>
          <p:nvPr/>
        </p:nvSpPr>
        <p:spPr>
          <a:xfrm>
            <a:off x="548640" y="6419088"/>
            <a:ext cx="6400800" cy="228600"/>
          </a:xfrm>
          <a:prstGeom prst="rect">
            <a:avLst/>
          </a:prstGeom>
          <a:noFill/>
        </p:spPr>
        <p:txBody>
          <a:bodyPr wrap="square" anchor="t" lIns="0" rIns="0" tIns="0" bIns="0">
            <a:spAutoFit/>
          </a:bodyPr>
          <a:lstStyle/>
          <a:p>
            <a:pPr algn="l">
              <a:spcAft>
                <a:spcPts val="600"/>
              </a:spcAft>
            </a:pPr>
            <a:r>
              <a:rPr sz="1000" b="0" i="0">
                <a:solidFill>
                  <a:srgbClr val="8795A2"/>
                </a:solidFill>
                <a:latin typeface="Calibri"/>
              </a:rPr>
              <a:t>Team 11  ·  Trustworthy Recidivism Forecasting</a:t>
            </a:r>
          </a:p>
        </p:txBody>
      </p:sp>
      <p:sp>
        <p:nvSpPr>
          <p:cNvPr id="6" name="TextBox 5"/>
          <p:cNvSpPr txBox="1"/>
          <p:nvPr/>
        </p:nvSpPr>
        <p:spPr>
          <a:xfrm>
            <a:off x="10271455" y="6419088"/>
            <a:ext cx="1371600" cy="228600"/>
          </a:xfrm>
          <a:prstGeom prst="rect">
            <a:avLst/>
          </a:prstGeom>
          <a:noFill/>
        </p:spPr>
        <p:txBody>
          <a:bodyPr wrap="square" anchor="t" lIns="0" rIns="0" tIns="0" bIns="0">
            <a:spAutoFit/>
          </a:bodyPr>
          <a:lstStyle/>
          <a:p>
            <a:pPr algn="r">
              <a:spcAft>
                <a:spcPts val="600"/>
              </a:spcAft>
            </a:pPr>
            <a:r>
              <a:rPr sz="1000" b="0" i="0">
                <a:solidFill>
                  <a:srgbClr val="8795A2"/>
                </a:solidFill>
                <a:latin typeface="Calibri"/>
              </a:rPr>
              <a:t>18b</a:t>
            </a:r>
          </a:p>
        </p:txBody>
      </p:sp>
      <p:sp>
        <p:nvSpPr>
          <p:cNvPr id="7" name="Rounded Rectangle 6"/>
          <p:cNvSpPr/>
          <p:nvPr/>
        </p:nvSpPr>
        <p:spPr>
          <a:xfrm>
            <a:off x="548640" y="1554480"/>
            <a:ext cx="3931920" cy="1371600"/>
          </a:xfrm>
          <a:prstGeom prst="roundRect">
            <a:avLst>
              <a:gd name="adj" fmla="val 6000"/>
            </a:avLst>
          </a:prstGeom>
          <a:solidFill>
            <a:srgbClr val="E7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529584" cy="274320"/>
          </a:xfrm>
          <a:prstGeom prst="rect">
            <a:avLst/>
          </a:prstGeom>
          <a:noFill/>
        </p:spPr>
        <p:txBody>
          <a:bodyPr wrap="square" anchor="t" lIns="0" rIns="0" tIns="0" bIns="0">
            <a:spAutoFit/>
          </a:bodyPr>
          <a:lstStyle/>
          <a:p>
            <a:pPr algn="l">
              <a:spcAft>
                <a:spcPts val="600"/>
              </a:spcAft>
            </a:pPr>
            <a:r>
              <a:rPr sz="1200" b="1" i="0">
                <a:solidFill>
                  <a:srgbClr val="24506E"/>
                </a:solidFill>
                <a:latin typeface="Calibri"/>
              </a:rPr>
              <a:t>COURSE SLIDE 186 ON OUR DATA</a:t>
            </a:r>
          </a:p>
        </p:txBody>
      </p:sp>
      <p:sp>
        <p:nvSpPr>
          <p:cNvPr id="9" name="TextBox 8"/>
          <p:cNvSpPr txBox="1"/>
          <p:nvPr/>
        </p:nvSpPr>
        <p:spPr>
          <a:xfrm>
            <a:off x="749808" y="2011680"/>
            <a:ext cx="3529584" cy="804672"/>
          </a:xfrm>
          <a:prstGeom prst="rect">
            <a:avLst/>
          </a:prstGeom>
          <a:noFill/>
        </p:spPr>
        <p:txBody>
          <a:bodyPr wrap="square" anchor="t" lIns="0" rIns="0" tIns="0" bIns="0">
            <a:spAutoFit/>
          </a:bodyPr>
          <a:lstStyle/>
          <a:p>
            <a:pPr algn="l">
              <a:spcAft>
                <a:spcPts val="500"/>
              </a:spcAft>
            </a:pPr>
            <a:r>
              <a:rPr sz="1250" b="0" i="0">
                <a:solidFill>
                  <a:srgbClr val="1B2B3A"/>
                </a:solidFill>
                <a:latin typeface="Calibri"/>
              </a:rPr>
              <a:t>θ_new = argmin  L(θ; new data) + </a:t>
            </a:r>
            <a:r>
              <a:rPr sz="1250" b="1" i="0">
                <a:solidFill>
                  <a:srgbClr val="1B2B3A"/>
                </a:solidFill>
                <a:latin typeface="Calibri"/>
              </a:rPr>
              <a:t>λ · ||θ − θ_old||²</a:t>
            </a:r>
            <a:r>
              <a:rPr sz="1250" b="0" i="0">
                <a:solidFill>
                  <a:srgbClr val="1B2B3A"/>
                </a:solidFill>
                <a:latin typeface="Calibri"/>
              </a:rPr>
              <a:t>,  λ chosen by cross-validation. Retrain on new data, pay a price for moving away from the old model.</a:t>
            </a:r>
          </a:p>
        </p:txBody>
      </p:sp>
      <p:sp>
        <p:nvSpPr>
          <p:cNvPr id="10" name="Rounded Rectangle 9"/>
          <p:cNvSpPr/>
          <p:nvPr/>
        </p:nvSpPr>
        <p:spPr>
          <a:xfrm>
            <a:off x="4709159" y="1554480"/>
            <a:ext cx="2158898" cy="1371600"/>
          </a:xfrm>
          <a:prstGeom prst="roundRect">
            <a:avLst>
              <a:gd name="adj" fmla="val 6000"/>
            </a:avLst>
          </a:prstGeom>
          <a:solidFill>
            <a:srgbClr val="E6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92040" y="1682495"/>
            <a:ext cx="1793138" cy="566928"/>
          </a:xfrm>
          <a:prstGeom prst="rect">
            <a:avLst/>
          </a:prstGeom>
          <a:noFill/>
        </p:spPr>
        <p:txBody>
          <a:bodyPr wrap="square" anchor="t" lIns="0" rIns="0" tIns="0" bIns="0">
            <a:spAutoFit/>
          </a:bodyPr>
          <a:lstStyle/>
          <a:p>
            <a:pPr algn="l">
              <a:spcAft>
                <a:spcPts val="600"/>
              </a:spcAft>
            </a:pPr>
            <a:r>
              <a:rPr sz="2200" b="1" i="0">
                <a:solidFill>
                  <a:srgbClr val="1F7A70"/>
                </a:solidFill>
                <a:latin typeface="Calibri"/>
              </a:rPr>
              <a:t>19% → 12%</a:t>
            </a:r>
          </a:p>
        </p:txBody>
      </p:sp>
      <p:sp>
        <p:nvSpPr>
          <p:cNvPr id="12" name="TextBox 11"/>
          <p:cNvSpPr txBox="1"/>
          <p:nvPr/>
        </p:nvSpPr>
        <p:spPr>
          <a:xfrm>
            <a:off x="4892040" y="2031746"/>
            <a:ext cx="1793138"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of the people offered support reshuffled by a retrain</a:t>
            </a:r>
          </a:p>
        </p:txBody>
      </p:sp>
      <p:sp>
        <p:nvSpPr>
          <p:cNvPr id="13" name="Rounded Rectangle 12"/>
          <p:cNvSpPr/>
          <p:nvPr/>
        </p:nvSpPr>
        <p:spPr>
          <a:xfrm>
            <a:off x="7096658" y="1554480"/>
            <a:ext cx="2158898" cy="1371600"/>
          </a:xfrm>
          <a:prstGeom prst="roundRect">
            <a:avLst>
              <a:gd name="adj" fmla="val 6000"/>
            </a:avLst>
          </a:prstGeom>
          <a:solidFill>
            <a:srgbClr val="E7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9538" y="1682495"/>
            <a:ext cx="1793138" cy="566928"/>
          </a:xfrm>
          <a:prstGeom prst="rect">
            <a:avLst/>
          </a:prstGeom>
          <a:noFill/>
        </p:spPr>
        <p:txBody>
          <a:bodyPr wrap="square" anchor="t" lIns="0" rIns="0" tIns="0" bIns="0">
            <a:spAutoFit/>
          </a:bodyPr>
          <a:lstStyle/>
          <a:p>
            <a:pPr algn="l">
              <a:spcAft>
                <a:spcPts val="600"/>
              </a:spcAft>
            </a:pPr>
            <a:r>
              <a:rPr sz="2200" b="1" i="0">
                <a:solidFill>
                  <a:srgbClr val="24506E"/>
                </a:solidFill>
                <a:latin typeface="Calibri"/>
              </a:rPr>
              <a:t>−53%</a:t>
            </a:r>
          </a:p>
        </p:txBody>
      </p:sp>
      <p:sp>
        <p:nvSpPr>
          <p:cNvPr id="15" name="TextBox 14"/>
          <p:cNvSpPr txBox="1"/>
          <p:nvPr/>
        </p:nvSpPr>
        <p:spPr>
          <a:xfrm>
            <a:off x="7279538" y="2031746"/>
            <a:ext cx="1793138"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coefficient movement ||θ_new − θ_old||</a:t>
            </a:r>
          </a:p>
        </p:txBody>
      </p:sp>
      <p:sp>
        <p:nvSpPr>
          <p:cNvPr id="16" name="Rounded Rectangle 15"/>
          <p:cNvSpPr/>
          <p:nvPr/>
        </p:nvSpPr>
        <p:spPr>
          <a:xfrm>
            <a:off x="9484156" y="1554480"/>
            <a:ext cx="2158898" cy="1371600"/>
          </a:xfrm>
          <a:prstGeom prst="roundRect">
            <a:avLst>
              <a:gd name="adj" fmla="val 6000"/>
            </a:avLst>
          </a:prstGeom>
          <a:solidFill>
            <a:srgbClr val="E7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67036" y="1682495"/>
            <a:ext cx="1793138" cy="566928"/>
          </a:xfrm>
          <a:prstGeom prst="rect">
            <a:avLst/>
          </a:prstGeom>
          <a:noFill/>
        </p:spPr>
        <p:txBody>
          <a:bodyPr wrap="square" anchor="t" lIns="0" rIns="0" tIns="0" bIns="0">
            <a:spAutoFit/>
          </a:bodyPr>
          <a:lstStyle/>
          <a:p>
            <a:pPr algn="l">
              <a:spcAft>
                <a:spcPts val="600"/>
              </a:spcAft>
            </a:pPr>
            <a:r>
              <a:rPr sz="2200" b="1" i="0">
                <a:solidFill>
                  <a:srgbClr val="24506E"/>
                </a:solidFill>
                <a:latin typeface="Calibri"/>
              </a:rPr>
              <a:t>No AUC loss</a:t>
            </a:r>
          </a:p>
        </p:txBody>
      </p:sp>
      <p:sp>
        <p:nvSpPr>
          <p:cNvPr id="18" name="TextBox 17"/>
          <p:cNvSpPr txBox="1"/>
          <p:nvPr/>
        </p:nvSpPr>
        <p:spPr>
          <a:xfrm>
            <a:off x="9667036" y="2031746"/>
            <a:ext cx="1793138" cy="640080"/>
          </a:xfrm>
          <a:prstGeom prst="rect">
            <a:avLst/>
          </a:prstGeom>
          <a:noFill/>
        </p:spPr>
        <p:txBody>
          <a:bodyPr wrap="square" anchor="t" lIns="0" rIns="0" tIns="0" bIns="0">
            <a:spAutoFit/>
          </a:bodyPr>
          <a:lstStyle/>
          <a:p>
            <a:pPr algn="l">
              <a:spcAft>
                <a:spcPts val="600"/>
              </a:spcAft>
            </a:pPr>
            <a:r>
              <a:rPr sz="1200" b="0" i="0">
                <a:solidFill>
                  <a:srgbClr val="5F6E7C"/>
                </a:solidFill>
                <a:latin typeface="Calibri"/>
              </a:rPr>
              <a:t>CV AUC 0.731 → 0.733, in 5 of 5 draws</a:t>
            </a:r>
          </a:p>
        </p:txBody>
      </p:sp>
      <p:pic>
        <p:nvPicPr>
          <p:cNvPr id="19" name="Picture 18" descr="fig_slide186_frontier.png"/>
          <p:cNvPicPr>
            <a:picLocks noChangeAspect="1"/>
          </p:cNvPicPr>
          <p:nvPr/>
        </p:nvPicPr>
        <p:blipFill>
          <a:blip r:embed="rId2"/>
          <a:stretch>
            <a:fillRect/>
          </a:stretch>
        </p:blipFill>
        <p:spPr>
          <a:xfrm>
            <a:off x="548640" y="3090672"/>
            <a:ext cx="6848039" cy="2514600"/>
          </a:xfrm>
          <a:prstGeom prst="rect">
            <a:avLst/>
          </a:prstGeom>
        </p:spPr>
      </p:pic>
      <p:sp>
        <p:nvSpPr>
          <p:cNvPr id="20" name="Rounded Rectangle 19"/>
          <p:cNvSpPr/>
          <p:nvPr/>
        </p:nvSpPr>
        <p:spPr>
          <a:xfrm>
            <a:off x="7670999" y="3154680"/>
            <a:ext cx="3972055" cy="2377440"/>
          </a:xfrm>
          <a:prstGeom prst="roundRect">
            <a:avLst>
              <a:gd name="adj" fmla="val 6000"/>
            </a:avLst>
          </a:prstGeom>
          <a:solidFill>
            <a:srgbClr val="FB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167" y="3300984"/>
            <a:ext cx="3569719" cy="274320"/>
          </a:xfrm>
          <a:prstGeom prst="rect">
            <a:avLst/>
          </a:prstGeom>
          <a:noFill/>
        </p:spPr>
        <p:txBody>
          <a:bodyPr wrap="square" anchor="t" lIns="0" rIns="0" tIns="0" bIns="0">
            <a:spAutoFit/>
          </a:bodyPr>
          <a:lstStyle/>
          <a:p>
            <a:pPr algn="l">
              <a:spcAft>
                <a:spcPts val="600"/>
              </a:spcAft>
            </a:pPr>
            <a:r>
              <a:rPr sz="1200" b="1" i="0">
                <a:solidFill>
                  <a:srgbClr val="D9573A"/>
                </a:solidFill>
                <a:latin typeface="Calibri"/>
              </a:rPr>
              <a:t>REPRODUCIBILITY (SLIDES 210–215)</a:t>
            </a:r>
          </a:p>
        </p:txBody>
      </p:sp>
      <p:sp>
        <p:nvSpPr>
          <p:cNvPr id="22" name="TextBox 21"/>
          <p:cNvSpPr txBox="1"/>
          <p:nvPr/>
        </p:nvSpPr>
        <p:spPr>
          <a:xfrm>
            <a:off x="7872167" y="3611880"/>
            <a:ext cx="3569719" cy="1810512"/>
          </a:xfrm>
          <a:prstGeom prst="rect">
            <a:avLst/>
          </a:prstGeom>
          <a:noFill/>
        </p:spPr>
        <p:txBody>
          <a:bodyPr wrap="square" anchor="t" lIns="0" rIns="0" tIns="0" bIns="0">
            <a:spAutoFit/>
          </a:bodyPr>
          <a:lstStyle/>
          <a:p>
            <a:pPr algn="l">
              <a:spcAft>
                <a:spcPts val="400"/>
              </a:spcAft>
            </a:pPr>
            <a:r>
              <a:rPr sz="1250" b="0" i="0">
                <a:solidFill>
                  <a:srgbClr val="1B2B3A"/>
                </a:solidFill>
                <a:latin typeface="Calibri"/>
              </a:rPr>
              <a:t>Same model, same data, another machine:</a:t>
            </a:r>
          </a:p>
          <a:p>
            <a:pPr algn="l">
              <a:spcAft>
                <a:spcPts val="400"/>
              </a:spcAft>
            </a:pPr>
            <a:r>
              <a:rPr sz="1250" b="1" i="0">
                <a:solidFill>
                  <a:srgbClr val="1B2B3A"/>
                </a:solidFill>
                <a:latin typeface="Calibri"/>
              </a:rPr>
              <a:t>Logistic: 0</a:t>
            </a:r>
            <a:r>
              <a:rPr sz="1250" b="0" i="0">
                <a:solidFill>
                  <a:srgbClr val="1B2B3A"/>
                </a:solidFill>
                <a:latin typeface="Calibri"/>
              </a:rPr>
              <a:t> decisions change</a:t>
            </a:r>
          </a:p>
          <a:p>
            <a:pPr algn="l">
              <a:spcAft>
                <a:spcPts val="400"/>
              </a:spcAft>
            </a:pPr>
            <a:r>
              <a:rPr sz="1250" b="1" i="0">
                <a:solidFill>
                  <a:srgbClr val="1B2B3A"/>
                </a:solidFill>
                <a:latin typeface="Calibri"/>
              </a:rPr>
              <a:t>XGBoost: 80</a:t>
            </a:r>
            <a:r>
              <a:rPr sz="1250" b="0" i="0">
                <a:solidFill>
                  <a:srgbClr val="1B2B3A"/>
                </a:solidFill>
                <a:latin typeface="Calibri"/>
              </a:rPr>
              <a:t> change</a:t>
            </a:r>
          </a:p>
          <a:p>
            <a:pPr algn="l">
              <a:spcAft>
                <a:spcPts val="400"/>
              </a:spcAft>
            </a:pPr>
            <a:r>
              <a:rPr sz="1150" b="0" i="0">
                <a:solidFill>
                  <a:srgbClr val="5F6E7C"/>
                </a:solidFill>
                <a:latin typeface="Calibri"/>
              </a:rPr>
              <a:t>Slide 186 needs a parameter vector θ, so it works for logistic, not directly for XGBoost.</a:t>
            </a:r>
          </a:p>
        </p:txBody>
      </p:sp>
      <p:sp>
        <p:nvSpPr>
          <p:cNvPr id="23" name="TextBox 22"/>
          <p:cNvSpPr txBox="1"/>
          <p:nvPr/>
        </p:nvSpPr>
        <p:spPr>
          <a:xfrm>
            <a:off x="548640" y="6144768"/>
            <a:ext cx="11094415" cy="228600"/>
          </a:xfrm>
          <a:prstGeom prst="rect">
            <a:avLst/>
          </a:prstGeom>
          <a:noFill/>
        </p:spPr>
        <p:txBody>
          <a:bodyPr wrap="square" anchor="t" lIns="0" rIns="0" tIns="0" bIns="0">
            <a:spAutoFit/>
          </a:bodyPr>
          <a:lstStyle/>
          <a:p>
            <a:pPr algn="l">
              <a:spcAft>
                <a:spcPts val="600"/>
              </a:spcAft>
            </a:pPr>
            <a:r>
              <a:rPr sz="950" b="0" i="0">
                <a:solidFill>
                  <a:srgbClr val="8795A2"/>
                </a:solidFill>
                <a:latin typeface="Calibri"/>
              </a:rPr>
              <a:t>Source: study results/course_slide186_*.csv (5 draws; old data 40%, new data 60%) · results/run_info.json · course slides 186, 192, 215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5669280"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CONCLUSION · TRADE-OFFS</a:t>
            </a:r>
          </a:p>
        </p:txBody>
      </p:sp>
      <p:sp>
        <p:nvSpPr>
          <p:cNvPr id="3" name="TextBox 2"/>
          <p:cNvSpPr txBox="1"/>
          <p:nvPr/>
        </p:nvSpPr>
        <p:spPr>
          <a:xfrm>
            <a:off x="5852160" y="365760"/>
            <a:ext cx="5790895" cy="274320"/>
          </a:xfrm>
          <a:prstGeom prst="rect">
            <a:avLst/>
          </a:prstGeom>
          <a:noFill/>
        </p:spPr>
        <p:txBody>
          <a:bodyPr wrap="none" lIns="0" rIns="0" tIns="0" bIns="0">
            <a:spAutoFit/>
          </a:bodyPr>
          <a:lstStyle/>
          <a:p>
            <a:pPr algn="r"/>
            <a:r>
              <a:rPr sz="1050" b="0" i="0">
                <a:solidFill>
                  <a:srgbClr val="A3AFBA"/>
                </a:solidFill>
                <a:latin typeface="Calibri"/>
              </a:rPr>
              <a:t>Intro</a:t>
            </a:r>
            <a:r>
              <a:rPr sz="1050" b="0" i="0">
                <a:solidFill>
                  <a:srgbClr val="C5CED6"/>
                </a:solidFill>
                <a:latin typeface="Calibri"/>
              </a:rPr>
              <a:t>   ·   </a:t>
            </a:r>
            <a:r>
              <a:rPr sz="1050" b="0" i="0">
                <a:solidFill>
                  <a:srgbClr val="A3AFBA"/>
                </a:solidFill>
                <a:latin typeface="Calibri"/>
              </a:rPr>
              <a:t>Features</a:t>
            </a:r>
            <a:r>
              <a:rPr sz="1050" b="0" i="0">
                <a:solidFill>
                  <a:srgbClr val="C5CED6"/>
                </a:solidFill>
                <a:latin typeface="Calibri"/>
              </a:rPr>
              <a:t>   ·   </a:t>
            </a:r>
            <a:r>
              <a:rPr sz="1050" b="0" i="0">
                <a:solidFill>
                  <a:srgbClr val="A3AFBA"/>
                </a:solidFill>
                <a:latin typeface="Calibri"/>
              </a:rPr>
              <a:t>Models</a:t>
            </a:r>
            <a:r>
              <a:rPr sz="1050" b="0" i="0">
                <a:solidFill>
                  <a:srgbClr val="C5CED6"/>
                </a:solidFill>
                <a:latin typeface="Calibri"/>
              </a:rPr>
              <a:t>   ·   </a:t>
            </a:r>
            <a:r>
              <a:rPr sz="1050" b="0" i="0">
                <a:solidFill>
                  <a:srgbClr val="A3AFBA"/>
                </a:solidFill>
                <a:latin typeface="Calibri"/>
              </a:rPr>
              <a:t>Interpretability</a:t>
            </a:r>
            <a:r>
              <a:rPr sz="1050" b="0" i="0">
                <a:solidFill>
                  <a:srgbClr val="C5CED6"/>
                </a:solidFill>
                <a:latin typeface="Calibri"/>
              </a:rPr>
              <a:t>   ·   </a:t>
            </a:r>
            <a:r>
              <a:rPr sz="1050" b="0" i="0">
                <a:solidFill>
                  <a:srgbClr val="A3AFBA"/>
                </a:solidFill>
                <a:latin typeface="Calibri"/>
              </a:rPr>
              <a:t>Fairness</a:t>
            </a:r>
            <a:r>
              <a:rPr sz="1050" b="0" i="0">
                <a:solidFill>
                  <a:srgbClr val="C5CED6"/>
                </a:solidFill>
                <a:latin typeface="Calibri"/>
              </a:rPr>
              <a:t>   ·   </a:t>
            </a:r>
            <a:r>
              <a:rPr sz="1050" b="1" i="0">
                <a:solidFill>
                  <a:srgbClr val="D9573A"/>
                </a:solidFill>
                <a:latin typeface="Calibri"/>
              </a:rPr>
              <a:t>Stability</a:t>
            </a:r>
            <a:r>
              <a:rPr sz="1050" b="0" i="0">
                <a:solidFill>
                  <a:srgbClr val="C5CED6"/>
                </a:solidFill>
                <a:latin typeface="Calibri"/>
              </a:rPr>
              <a:t>   ·   </a:t>
            </a:r>
            <a:r>
              <a:rPr sz="1050" b="0" i="0">
                <a:solidFill>
                  <a:srgbClr val="A3AFBA"/>
                </a:solidFill>
                <a:latin typeface="Calibri"/>
              </a:rPr>
              <a:t>Demo</a:t>
            </a:r>
          </a:p>
        </p:txBody>
      </p:sp>
      <p:sp>
        <p:nvSpPr>
          <p:cNvPr id="4" name="TextBox 3"/>
          <p:cNvSpPr txBox="1"/>
          <p:nvPr/>
        </p:nvSpPr>
        <p:spPr>
          <a:xfrm>
            <a:off x="548640" y="713232"/>
            <a:ext cx="11094415" cy="685800"/>
          </a:xfrm>
          <a:prstGeom prst="rect">
            <a:avLst/>
          </a:prstGeom>
          <a:noFill/>
        </p:spPr>
        <p:txBody>
          <a:bodyPr wrap="square" anchor="t" lIns="0" rIns="0" tIns="0" bIns="0">
            <a:spAutoFit/>
          </a:bodyPr>
          <a:lstStyle/>
          <a:p>
            <a:pPr algn="l">
              <a:spcAft>
                <a:spcPts val="600"/>
              </a:spcAft>
            </a:pPr>
            <a:r>
              <a:rPr sz="2800" b="1" i="0">
                <a:solidFill>
                  <a:srgbClr val="1B2B3A"/>
                </a:solidFill>
                <a:latin typeface="Calibri"/>
              </a:rPr>
              <a:t>Pilot logistic regression; run XGBoost as the challenger</a:t>
            </a:r>
          </a:p>
        </p:txBody>
      </p:sp>
      <p:sp>
        <p:nvSpPr>
          <p:cNvPr id="5" name="TextBox 4"/>
          <p:cNvSpPr txBox="1"/>
          <p:nvPr/>
        </p:nvSpPr>
        <p:spPr>
          <a:xfrm>
            <a:off x="548640" y="6419088"/>
            <a:ext cx="6400800" cy="228600"/>
          </a:xfrm>
          <a:prstGeom prst="rect">
            <a:avLst/>
          </a:prstGeom>
          <a:noFill/>
        </p:spPr>
        <p:txBody>
          <a:bodyPr wrap="square" anchor="t" lIns="0" rIns="0" tIns="0" bIns="0">
            <a:spAutoFit/>
          </a:bodyPr>
          <a:lstStyle/>
          <a:p>
            <a:pPr algn="l">
              <a:spcAft>
                <a:spcPts val="600"/>
              </a:spcAft>
            </a:pPr>
            <a:r>
              <a:rPr sz="1000" b="0" i="0">
                <a:solidFill>
                  <a:srgbClr val="8795A2"/>
                </a:solidFill>
                <a:latin typeface="Calibri"/>
              </a:rPr>
              <a:t>Team 11  ·  Trustworthy Recidivism Forecasting</a:t>
            </a:r>
          </a:p>
        </p:txBody>
      </p:sp>
      <p:sp>
        <p:nvSpPr>
          <p:cNvPr id="6" name="TextBox 5"/>
          <p:cNvSpPr txBox="1"/>
          <p:nvPr/>
        </p:nvSpPr>
        <p:spPr>
          <a:xfrm>
            <a:off x="10271455" y="6419088"/>
            <a:ext cx="1371600" cy="228600"/>
          </a:xfrm>
          <a:prstGeom prst="rect">
            <a:avLst/>
          </a:prstGeom>
          <a:noFill/>
        </p:spPr>
        <p:txBody>
          <a:bodyPr wrap="square" anchor="t" lIns="0" rIns="0" tIns="0" bIns="0">
            <a:spAutoFit/>
          </a:bodyPr>
          <a:lstStyle/>
          <a:p>
            <a:pPr algn="r">
              <a:spcAft>
                <a:spcPts val="600"/>
              </a:spcAft>
            </a:pPr>
            <a:r>
              <a:rPr sz="1000" b="0" i="0">
                <a:solidFill>
                  <a:srgbClr val="8795A2"/>
                </a:solidFill>
                <a:latin typeface="Calibri"/>
              </a:rPr>
              <a:t>19</a:t>
            </a:r>
          </a:p>
        </p:txBody>
      </p:sp>
      <p:pic>
        <p:nvPicPr>
          <p:cNvPr id="7" name="Picture 6" descr="tradeoff_matrix.png"/>
          <p:cNvPicPr>
            <a:picLocks noChangeAspect="1"/>
          </p:cNvPicPr>
          <p:nvPr/>
        </p:nvPicPr>
        <p:blipFill>
          <a:blip r:embed="rId2"/>
          <a:stretch>
            <a:fillRect/>
          </a:stretch>
        </p:blipFill>
        <p:spPr>
          <a:xfrm>
            <a:off x="548640" y="1516864"/>
            <a:ext cx="6035040" cy="4510071"/>
          </a:xfrm>
          <a:prstGeom prst="rect">
            <a:avLst/>
          </a:prstGeom>
        </p:spPr>
      </p:pic>
      <p:sp>
        <p:nvSpPr>
          <p:cNvPr id="8" name="Rounded Rectangle 7"/>
          <p:cNvSpPr/>
          <p:nvPr/>
        </p:nvSpPr>
        <p:spPr>
          <a:xfrm>
            <a:off x="6720840" y="1554480"/>
            <a:ext cx="4922215" cy="3017520"/>
          </a:xfrm>
          <a:prstGeom prst="roundRect">
            <a:avLst>
              <a:gd name="adj" fmla="val 6000"/>
            </a:avLst>
          </a:prstGeom>
          <a:solidFill>
            <a:srgbClr val="E6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673352"/>
            <a:ext cx="4465015"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RECOMMENDATION</a:t>
            </a:r>
          </a:p>
        </p:txBody>
      </p:sp>
      <p:sp>
        <p:nvSpPr>
          <p:cNvPr id="10" name="TextBox 9"/>
          <p:cNvSpPr txBox="1"/>
          <p:nvPr/>
        </p:nvSpPr>
        <p:spPr>
          <a:xfrm>
            <a:off x="6949440" y="1965960"/>
            <a:ext cx="4465015" cy="594360"/>
          </a:xfrm>
          <a:prstGeom prst="rect">
            <a:avLst/>
          </a:prstGeom>
          <a:noFill/>
        </p:spPr>
        <p:txBody>
          <a:bodyPr wrap="square" anchor="t" lIns="0" rIns="0" tIns="0" bIns="0">
            <a:spAutoFit/>
          </a:bodyPr>
          <a:lstStyle/>
          <a:p>
            <a:pPr algn="l">
              <a:spcAft>
                <a:spcPts val="600"/>
              </a:spcAft>
            </a:pPr>
            <a:r>
              <a:rPr sz="1500" b="0" i="0">
                <a:solidFill>
                  <a:srgbClr val="1B2B3A"/>
                </a:solidFill>
                <a:latin typeface="Calibri"/>
              </a:rPr>
              <a:t>L1 logistic regression for a prospective </a:t>
            </a:r>
            <a:r>
              <a:rPr sz="1500" b="1" i="0">
                <a:solidFill>
                  <a:srgbClr val="1B2B3A"/>
                </a:solidFill>
                <a:latin typeface="Calibri"/>
              </a:rPr>
              <a:t>shadow pilot</a:t>
            </a:r>
            <a:r>
              <a:rPr sz="1500" b="0" i="0">
                <a:solidFill>
                  <a:srgbClr val="1B2B3A"/>
                </a:solidFill>
                <a:latin typeface="Calibri"/>
              </a:rPr>
              <a:t>; XGBoost as challenger.</a:t>
            </a:r>
          </a:p>
        </p:txBody>
      </p:sp>
      <p:sp>
        <p:nvSpPr>
          <p:cNvPr id="11" name="TextBox 10"/>
          <p:cNvSpPr txBox="1"/>
          <p:nvPr/>
        </p:nvSpPr>
        <p:spPr>
          <a:xfrm>
            <a:off x="6949440" y="2633472"/>
            <a:ext cx="4465015" cy="1920240"/>
          </a:xfrm>
          <a:prstGeom prst="rect">
            <a:avLst/>
          </a:prstGeom>
          <a:noFill/>
        </p:spPr>
        <p:txBody>
          <a:bodyPr wrap="square" anchor="t" lIns="0" rIns="0" tIns="0" bIns="0">
            <a:spAutoFit/>
          </a:bodyPr>
          <a:lstStyle/>
          <a:p>
            <a:pPr algn="l" marL="182880" indent="-182880">
              <a:spcAft>
                <a:spcPts val="300"/>
              </a:spcAft>
              <a:buClr>
                <a:srgbClr val="1F7A70"/>
              </a:buClr>
              <a:buFont typeface="Arial"/>
              <a:buChar char="•"/>
            </a:pPr>
            <a:r>
              <a:rPr sz="1250" b="0" i="0">
                <a:solidFill>
                  <a:srgbClr val="1B2B3A"/>
                </a:solidFill>
                <a:latin typeface="Calibri"/>
              </a:rPr>
              <a:t>Same people: Jaccard 0.850, only 254 differ; captured re-arrest difference CI includes 0.</a:t>
            </a:r>
          </a:p>
          <a:p>
            <a:pPr algn="l" marL="182880" indent="-182880">
              <a:spcAft>
                <a:spcPts val="300"/>
              </a:spcAft>
              <a:buClr>
                <a:srgbClr val="1F7A70"/>
              </a:buClr>
              <a:buFont typeface="Arial"/>
              <a:buChar char="•"/>
            </a:pPr>
            <a:r>
              <a:rPr sz="1250" b="0" i="0">
                <a:solidFill>
                  <a:srgbClr val="1B2B3A"/>
                </a:solidFill>
                <a:latin typeface="Calibri"/>
              </a:rPr>
              <a:t>More stable (28/28 refit pairs), same decisions on any machine, directly interpretable, ~9× faster.</a:t>
            </a:r>
          </a:p>
          <a:p>
            <a:pPr algn="l" marL="182880" indent="-182880">
              <a:spcAft>
                <a:spcPts val="300"/>
              </a:spcAft>
              <a:buClr>
                <a:srgbClr val="1F7A70"/>
              </a:buClr>
              <a:buFont typeface="Arial"/>
              <a:buChar char="•"/>
            </a:pPr>
            <a:r>
              <a:rPr sz="1250" b="0" i="0">
                <a:solidFill>
                  <a:srgbClr val="1B2B3A"/>
                </a:solidFill>
                <a:latin typeface="Calibri"/>
              </a:rPr>
              <a:t>Fairness: </a:t>
            </a:r>
            <a:r>
              <a:rPr sz="1250" b="1" i="0">
                <a:solidFill>
                  <a:srgbClr val="1B2B3A"/>
                </a:solidFill>
                <a:latin typeface="Calibri"/>
              </a:rPr>
              <a:t>equivalent within ±5 pts</a:t>
            </a:r>
            <a:r>
              <a:rPr sz="1250" b="0" i="0">
                <a:solidFill>
                  <a:srgbClr val="1B2B3A"/>
                </a:solidFill>
                <a:latin typeface="Calibri"/>
              </a:rPr>
              <a:t> (TOST); calibration: no detectable difference — not reasons to choose.</a:t>
            </a:r>
          </a:p>
          <a:p>
            <a:pPr algn="l" marL="182880" indent="-182880">
              <a:spcAft>
                <a:spcPts val="300"/>
              </a:spcAft>
              <a:buClr>
                <a:srgbClr val="1F7A70"/>
              </a:buClr>
              <a:buFont typeface="Arial"/>
              <a:buChar char="•"/>
            </a:pPr>
            <a:r>
              <a:rPr sz="1250" b="1" i="0">
                <a:solidFill>
                  <a:srgbClr val="1B2B3A"/>
                </a:solidFill>
                <a:latin typeface="Calibri"/>
              </a:rPr>
              <a:t>Second arm without gang affiliation</a:t>
            </a:r>
            <a:r>
              <a:rPr sz="1250" b="0" i="0">
                <a:solidFill>
                  <a:srgbClr val="1B2B3A"/>
                </a:solidFill>
                <a:latin typeface="Calibri"/>
              </a:rPr>
              <a:t> (A11): logistic still the more stable model.</a:t>
            </a:r>
          </a:p>
        </p:txBody>
      </p:sp>
      <p:sp>
        <p:nvSpPr>
          <p:cNvPr id="12" name="Rounded Rectangle 11"/>
          <p:cNvSpPr/>
          <p:nvPr/>
        </p:nvSpPr>
        <p:spPr>
          <a:xfrm>
            <a:off x="6720840" y="4681728"/>
            <a:ext cx="4922215" cy="932688"/>
          </a:xfrm>
          <a:prstGeom prst="roundRect">
            <a:avLst>
              <a:gd name="adj" fmla="val 6000"/>
            </a:avLst>
          </a:prstGeom>
          <a:solidFill>
            <a:srgbClr val="FB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22007" y="4828032"/>
            <a:ext cx="4519879" cy="274320"/>
          </a:xfrm>
          <a:prstGeom prst="rect">
            <a:avLst/>
          </a:prstGeom>
          <a:noFill/>
        </p:spPr>
        <p:txBody>
          <a:bodyPr wrap="square" anchor="t" lIns="0" rIns="0" tIns="0" bIns="0">
            <a:spAutoFit/>
          </a:bodyPr>
          <a:lstStyle/>
          <a:p>
            <a:pPr algn="l">
              <a:spcAft>
                <a:spcPts val="600"/>
              </a:spcAft>
            </a:pPr>
            <a:r>
              <a:rPr sz="1200" b="1" i="0">
                <a:solidFill>
                  <a:srgbClr val="D9573A"/>
                </a:solidFill>
                <a:latin typeface="Calibri"/>
              </a:rPr>
              <a:t>WHAT WOULD REVERSE IT</a:t>
            </a:r>
          </a:p>
        </p:txBody>
      </p:sp>
      <p:sp>
        <p:nvSpPr>
          <p:cNvPr id="14" name="TextBox 13"/>
          <p:cNvSpPr txBox="1"/>
          <p:nvPr/>
        </p:nvSpPr>
        <p:spPr>
          <a:xfrm>
            <a:off x="6922007" y="5138928"/>
            <a:ext cx="4519879" cy="365760"/>
          </a:xfrm>
          <a:prstGeom prst="rect">
            <a:avLst/>
          </a:prstGeom>
          <a:noFill/>
        </p:spPr>
        <p:txBody>
          <a:bodyPr wrap="square" anchor="t" lIns="0" rIns="0" tIns="0" bIns="0">
            <a:spAutoFit/>
          </a:bodyPr>
          <a:lstStyle/>
          <a:p>
            <a:pPr algn="l">
              <a:spcAft>
                <a:spcPts val="500"/>
              </a:spcAft>
            </a:pPr>
            <a:r>
              <a:rPr sz="1200" b="0" i="0">
                <a:solidFill>
                  <a:srgbClr val="1B2B3A"/>
                </a:solidFill>
                <a:latin typeface="Calibri"/>
              </a:rPr>
              <a:t>Scores quoted numerically to supervisees, or a scale where a few extra captured events matter.</a:t>
            </a:r>
          </a:p>
        </p:txBody>
      </p:sp>
      <p:sp>
        <p:nvSpPr>
          <p:cNvPr id="15" name="TextBox 14"/>
          <p:cNvSpPr txBox="1"/>
          <p:nvPr/>
        </p:nvSpPr>
        <p:spPr>
          <a:xfrm>
            <a:off x="6720840" y="5687568"/>
            <a:ext cx="4922215" cy="420624"/>
          </a:xfrm>
          <a:prstGeom prst="rect">
            <a:avLst/>
          </a:prstGeom>
          <a:noFill/>
        </p:spPr>
        <p:txBody>
          <a:bodyPr wrap="square" anchor="t" lIns="0" rIns="0" tIns="0" bIns="0">
            <a:spAutoFit/>
          </a:bodyPr>
          <a:lstStyle/>
          <a:p>
            <a:pPr algn="l">
              <a:spcAft>
                <a:spcPts val="600"/>
              </a:spcAft>
            </a:pPr>
            <a:r>
              <a:rPr sz="1100" b="1" i="0">
                <a:solidFill>
                  <a:srgbClr val="5F6E7C"/>
                </a:solidFill>
                <a:latin typeface="Calibri"/>
              </a:rPr>
              <a:t>Limits:</a:t>
            </a:r>
            <a:r>
              <a:rPr sz="1100" b="0" i="0">
                <a:solidFill>
                  <a:srgbClr val="5F6E7C"/>
                </a:solidFill>
                <a:latin typeface="Calibri"/>
              </a:rPr>
              <a:t> evaluation set inspected repeatedly; no temporal or external validation; no evidence yet that the support programme helps.</a:t>
            </a:r>
          </a:p>
        </p:txBody>
      </p:sp>
      <p:sp>
        <p:nvSpPr>
          <p:cNvPr id="16" name="TextBox 15"/>
          <p:cNvSpPr txBox="1"/>
          <p:nvPr/>
        </p:nvSpPr>
        <p:spPr>
          <a:xfrm>
            <a:off x="548640" y="6144768"/>
            <a:ext cx="11094415" cy="228600"/>
          </a:xfrm>
          <a:prstGeom prst="rect">
            <a:avLst/>
          </a:prstGeom>
          <a:noFill/>
        </p:spPr>
        <p:txBody>
          <a:bodyPr wrap="square" anchor="t" lIns="0" rIns="0" tIns="0" bIns="0">
            <a:spAutoFit/>
          </a:bodyPr>
          <a:lstStyle/>
          <a:p>
            <a:pPr algn="l">
              <a:spcAft>
                <a:spcPts val="600"/>
              </a:spcAft>
            </a:pPr>
            <a:r>
              <a:rPr sz="950" b="0" i="0">
                <a:solidFill>
                  <a:srgbClr val="8795A2"/>
                </a:solidFill>
                <a:latin typeface="Calibri"/>
              </a:rPr>
              <a:t>Source: tradeoff_matrix.png · selected_set_overlap.csv · calibration_paired_tests.csv · stability_pairs.csv · A11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5669280"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A12 · STABILITY EXTRAS</a:t>
            </a:r>
          </a:p>
        </p:txBody>
      </p:sp>
      <p:sp>
        <p:nvSpPr>
          <p:cNvPr id="3" name="TextBox 2"/>
          <p:cNvSpPr txBox="1"/>
          <p:nvPr/>
        </p:nvSpPr>
        <p:spPr>
          <a:xfrm>
            <a:off x="548640" y="713232"/>
            <a:ext cx="11094415" cy="685800"/>
          </a:xfrm>
          <a:prstGeom prst="rect">
            <a:avLst/>
          </a:prstGeom>
          <a:noFill/>
        </p:spPr>
        <p:txBody>
          <a:bodyPr wrap="square" anchor="t" lIns="0" rIns="0" tIns="0" bIns="0">
            <a:spAutoFit/>
          </a:bodyPr>
          <a:lstStyle/>
          <a:p>
            <a:pPr algn="l">
              <a:spcAft>
                <a:spcPts val="600"/>
              </a:spcAft>
            </a:pPr>
            <a:r>
              <a:rPr sz="2800" b="1" i="0">
                <a:solidFill>
                  <a:srgbClr val="1B2B3A"/>
                </a:solidFill>
                <a:latin typeface="Calibri"/>
              </a:rPr>
              <a:t>The course's stability toolkit, applied to recidivism</a:t>
            </a:r>
          </a:p>
        </p:txBody>
      </p:sp>
      <p:sp>
        <p:nvSpPr>
          <p:cNvPr id="4" name="TextBox 3"/>
          <p:cNvSpPr txBox="1"/>
          <p:nvPr/>
        </p:nvSpPr>
        <p:spPr>
          <a:xfrm>
            <a:off x="548640" y="6419088"/>
            <a:ext cx="6400800" cy="228600"/>
          </a:xfrm>
          <a:prstGeom prst="rect">
            <a:avLst/>
          </a:prstGeom>
          <a:noFill/>
        </p:spPr>
        <p:txBody>
          <a:bodyPr wrap="square" anchor="t" lIns="0" rIns="0" tIns="0" bIns="0">
            <a:spAutoFit/>
          </a:bodyPr>
          <a:lstStyle/>
          <a:p>
            <a:pPr algn="l">
              <a:spcAft>
                <a:spcPts val="600"/>
              </a:spcAft>
            </a:pPr>
            <a:r>
              <a:rPr sz="1000" b="0" i="0">
                <a:solidFill>
                  <a:srgbClr val="8795A2"/>
                </a:solidFill>
                <a:latin typeface="Calibri"/>
              </a:rPr>
              <a:t>Team 11  ·  Trustworthy Recidivism Forecasting</a:t>
            </a:r>
          </a:p>
        </p:txBody>
      </p:sp>
      <p:sp>
        <p:nvSpPr>
          <p:cNvPr id="5" name="TextBox 4"/>
          <p:cNvSpPr txBox="1"/>
          <p:nvPr/>
        </p:nvSpPr>
        <p:spPr>
          <a:xfrm>
            <a:off x="10271455" y="6419088"/>
            <a:ext cx="1371600" cy="228600"/>
          </a:xfrm>
          <a:prstGeom prst="rect">
            <a:avLst/>
          </a:prstGeom>
          <a:noFill/>
        </p:spPr>
        <p:txBody>
          <a:bodyPr wrap="square" anchor="t" lIns="0" rIns="0" tIns="0" bIns="0">
            <a:spAutoFit/>
          </a:bodyPr>
          <a:lstStyle/>
          <a:p>
            <a:pPr algn="r">
              <a:spcAft>
                <a:spcPts val="600"/>
              </a:spcAft>
            </a:pPr>
            <a:r>
              <a:rPr sz="1000" b="0" i="0">
                <a:solidFill>
                  <a:srgbClr val="8795A2"/>
                </a:solidFill>
                <a:latin typeface="Calibri"/>
              </a:rPr>
              <a:t>A12</a:t>
            </a:r>
          </a:p>
        </p:txBody>
      </p:sp>
      <p:graphicFrame>
        <p:nvGraphicFramePr>
          <p:cNvPr id="6" name="Table 5"/>
          <p:cNvGraphicFramePr>
            <a:graphicFrameLocks noGrp="1"/>
          </p:cNvGraphicFramePr>
          <p:nvPr/>
        </p:nvGraphicFramePr>
        <p:xfrm>
          <a:off x="548640" y="1554480"/>
          <a:ext cx="6675120" cy="2816352"/>
        </p:xfrm>
        <a:graphic>
          <a:graphicData uri="http://schemas.openxmlformats.org/drawingml/2006/table">
            <a:tbl>
              <a:tblPr firstRow="0" bandRow="0">
                <a:tableStyleId>{5C22544A-7EE6-4342-B048-85BDC9FD1C3A}</a:tableStyleId>
              </a:tblPr>
              <a:tblGrid>
                <a:gridCol w="4206240"/>
                <a:gridCol w="1234440"/>
                <a:gridCol w="1234440"/>
              </a:tblGrid>
              <a:tr h="402336">
                <a:tc>
                  <a:txBody>
                    <a:bodyPr/>
                    <a:lstStyle/>
                    <a:p>
                      <a:pPr algn="l"/>
                      <a:r>
                        <a:rPr sz="1300" b="1" i="0">
                          <a:solidFill>
                            <a:srgbClr val="FFFFFF"/>
                          </a:solidFill>
                          <a:latin typeface="Calibri"/>
                        </a:rPr>
                        <a:t>Test (course slide)</a:t>
                      </a:r>
                    </a:p>
                  </a:txBody>
                  <a:tcPr marL="91440" marR="91440" marT="27432" marB="27432" anchor="ctr">
                    <a:solidFill>
                      <a:srgbClr val="24506E"/>
                    </a:solidFill>
                  </a:tcPr>
                </a:tc>
                <a:tc>
                  <a:txBody>
                    <a:bodyPr/>
                    <a:lstStyle/>
                    <a:p>
                      <a:pPr algn="r"/>
                      <a:r>
                        <a:rPr sz="1300" b="1" i="0">
                          <a:solidFill>
                            <a:srgbClr val="FFFFFF"/>
                          </a:solidFill>
                          <a:latin typeface="Calibri"/>
                        </a:rPr>
                        <a:t>Logistic</a:t>
                      </a:r>
                    </a:p>
                  </a:txBody>
                  <a:tcPr marL="91440" marR="91440" marT="27432" marB="27432" anchor="ctr">
                    <a:solidFill>
                      <a:srgbClr val="24506E"/>
                    </a:solidFill>
                  </a:tcPr>
                </a:tc>
                <a:tc>
                  <a:txBody>
                    <a:bodyPr/>
                    <a:lstStyle/>
                    <a:p>
                      <a:pPr algn="r"/>
                      <a:r>
                        <a:rPr sz="1300" b="1" i="0">
                          <a:solidFill>
                            <a:srgbClr val="FFFFFF"/>
                          </a:solidFill>
                          <a:latin typeface="Calibri"/>
                        </a:rPr>
                        <a:t>XGBoost</a:t>
                      </a:r>
                    </a:p>
                  </a:txBody>
                  <a:tcPr marL="91440" marR="91440" marT="27432" marB="27432" anchor="ctr">
                    <a:solidFill>
                      <a:srgbClr val="24506E"/>
                    </a:solidFill>
                  </a:tcPr>
                </a:tc>
              </a:tr>
              <a:tr h="402336">
                <a:tc>
                  <a:txBody>
                    <a:bodyPr/>
                    <a:lstStyle/>
                    <a:p>
                      <a:pPr algn="l"/>
                      <a:r>
                        <a:rPr sz="1300" b="1" i="0">
                          <a:solidFill>
                            <a:srgbClr val="1B2B3A"/>
                          </a:solidFill>
                          <a:latin typeface="Calibri"/>
                        </a:rPr>
                        <a:t>New seed, same data — top-20% Jaccard (207)</a:t>
                      </a:r>
                    </a:p>
                  </a:txBody>
                  <a:tcPr marL="91440" marR="91440" marT="27432" marB="27432" anchor="ctr">
                    <a:solidFill>
                      <a:srgbClr val="FFFFFF"/>
                    </a:solidFill>
                  </a:tcPr>
                </a:tc>
                <a:tc>
                  <a:txBody>
                    <a:bodyPr/>
                    <a:lstStyle/>
                    <a:p>
                      <a:pPr algn="r"/>
                      <a:r>
                        <a:rPr sz="1300" b="0" i="0">
                          <a:solidFill>
                            <a:srgbClr val="1B2B3A"/>
                          </a:solidFill>
                          <a:latin typeface="Calibri"/>
                        </a:rPr>
                        <a:t>0.999</a:t>
                      </a:r>
                    </a:p>
                  </a:txBody>
                  <a:tcPr marL="91440" marR="91440" marT="27432" marB="27432" anchor="ctr">
                    <a:solidFill>
                      <a:srgbClr val="FFFFFF"/>
                    </a:solidFill>
                  </a:tcPr>
                </a:tc>
                <a:tc>
                  <a:txBody>
                    <a:bodyPr/>
                    <a:lstStyle/>
                    <a:p>
                      <a:pPr algn="r"/>
                      <a:r>
                        <a:rPr sz="1300" b="0" i="0">
                          <a:solidFill>
                            <a:srgbClr val="1B2B3A"/>
                          </a:solidFill>
                          <a:latin typeface="Calibri"/>
                        </a:rPr>
                        <a:t>0.956</a:t>
                      </a:r>
                    </a:p>
                  </a:txBody>
                  <a:tcPr marL="91440" marR="91440" marT="27432" marB="27432" anchor="ctr">
                    <a:solidFill>
                      <a:srgbClr val="FFFFFF"/>
                    </a:solidFill>
                  </a:tcPr>
                </a:tc>
              </a:tr>
              <a:tr h="402336">
                <a:tc>
                  <a:txBody>
                    <a:bodyPr/>
                    <a:lstStyle/>
                    <a:p>
                      <a:pPr algn="l"/>
                      <a:r>
                        <a:rPr sz="1300" b="1" i="0">
                          <a:solidFill>
                            <a:srgbClr val="1B2B3A"/>
                          </a:solidFill>
                          <a:latin typeface="Calibri"/>
                        </a:rPr>
                        <a:t>8 bootstrap refits — Jaccard (deck, 182)</a:t>
                      </a:r>
                    </a:p>
                  </a:txBody>
                  <a:tcPr marL="91440" marR="91440" marT="27432" marB="27432" anchor="ctr">
                    <a:solidFill>
                      <a:srgbClr val="F1F5F8"/>
                    </a:solidFill>
                  </a:tcPr>
                </a:tc>
                <a:tc>
                  <a:txBody>
                    <a:bodyPr/>
                    <a:lstStyle/>
                    <a:p>
                      <a:pPr algn="r"/>
                      <a:r>
                        <a:rPr sz="1300" b="0" i="0">
                          <a:solidFill>
                            <a:srgbClr val="1B2B3A"/>
                          </a:solidFill>
                          <a:latin typeface="Calibri"/>
                        </a:rPr>
                        <a:t>0.772</a:t>
                      </a:r>
                    </a:p>
                  </a:txBody>
                  <a:tcPr marL="91440" marR="91440" marT="27432" marB="27432" anchor="ctr">
                    <a:solidFill>
                      <a:srgbClr val="F1F5F8"/>
                    </a:solidFill>
                  </a:tcPr>
                </a:tc>
                <a:tc>
                  <a:txBody>
                    <a:bodyPr/>
                    <a:lstStyle/>
                    <a:p>
                      <a:pPr algn="r"/>
                      <a:r>
                        <a:rPr sz="1300" b="0" i="0">
                          <a:solidFill>
                            <a:srgbClr val="1B2B3A"/>
                          </a:solidFill>
                          <a:latin typeface="Calibri"/>
                        </a:rPr>
                        <a:t>0.747</a:t>
                      </a:r>
                    </a:p>
                  </a:txBody>
                  <a:tcPr marL="91440" marR="91440" marT="27432" marB="27432" anchor="ctr">
                    <a:solidFill>
                      <a:srgbClr val="F1F5F8"/>
                    </a:solidFill>
                  </a:tcPr>
                </a:tc>
              </a:tr>
              <a:tr h="402336">
                <a:tc>
                  <a:txBody>
                    <a:bodyPr/>
                    <a:lstStyle/>
                    <a:p>
                      <a:pPr algn="l"/>
                      <a:r>
                        <a:rPr sz="1300" b="1" i="0">
                          <a:solidFill>
                            <a:srgbClr val="1B2B3A"/>
                          </a:solidFill>
                          <a:latin typeface="Calibri"/>
                        </a:rPr>
                        <a:t>Two disjoint halves — Jaccard (182)</a:t>
                      </a:r>
                    </a:p>
                  </a:txBody>
                  <a:tcPr marL="91440" marR="91440" marT="27432" marB="27432" anchor="ctr">
                    <a:solidFill>
                      <a:srgbClr val="E6F2F0"/>
                    </a:solidFill>
                  </a:tcPr>
                </a:tc>
                <a:tc>
                  <a:txBody>
                    <a:bodyPr/>
                    <a:lstStyle/>
                    <a:p>
                      <a:pPr algn="r"/>
                      <a:r>
                        <a:rPr sz="1300" b="0" i="0">
                          <a:solidFill>
                            <a:srgbClr val="1B2B3A"/>
                          </a:solidFill>
                          <a:latin typeface="Calibri"/>
                        </a:rPr>
                        <a:t>0.702</a:t>
                      </a:r>
                    </a:p>
                  </a:txBody>
                  <a:tcPr marL="91440" marR="91440" marT="27432" marB="27432" anchor="ctr">
                    <a:solidFill>
                      <a:srgbClr val="E6F2F0"/>
                    </a:solidFill>
                  </a:tcPr>
                </a:tc>
                <a:tc>
                  <a:txBody>
                    <a:bodyPr/>
                    <a:lstStyle/>
                    <a:p>
                      <a:pPr algn="r"/>
                      <a:r>
                        <a:rPr sz="1300" b="0" i="0">
                          <a:solidFill>
                            <a:srgbClr val="1B2B3A"/>
                          </a:solidFill>
                          <a:latin typeface="Calibri"/>
                        </a:rPr>
                        <a:t>0.683</a:t>
                      </a:r>
                    </a:p>
                  </a:txBody>
                  <a:tcPr marL="91440" marR="91440" marT="27432" marB="27432" anchor="ctr">
                    <a:solidFill>
                      <a:srgbClr val="E6F2F0"/>
                    </a:solidFill>
                  </a:tcPr>
                </a:tc>
              </a:tr>
              <a:tr h="402336">
                <a:tc>
                  <a:txBody>
                    <a:bodyPr/>
                    <a:lstStyle/>
                    <a:p>
                      <a:pPr algn="l"/>
                      <a:r>
                        <a:rPr sz="1300" b="1" i="0">
                          <a:solidFill>
                            <a:srgbClr val="1B2B3A"/>
                          </a:solidFill>
                          <a:latin typeface="Calibri"/>
                        </a:rPr>
                        <a:t>50% sample → full data — Jaccard (187, 191)</a:t>
                      </a:r>
                    </a:p>
                  </a:txBody>
                  <a:tcPr marL="91440" marR="91440" marT="27432" marB="27432" anchor="ctr">
                    <a:solidFill>
                      <a:srgbClr val="F1F5F8"/>
                    </a:solidFill>
                  </a:tcPr>
                </a:tc>
                <a:tc>
                  <a:txBody>
                    <a:bodyPr/>
                    <a:lstStyle/>
                    <a:p>
                      <a:pPr algn="r"/>
                      <a:r>
                        <a:rPr sz="1300" b="0" i="0">
                          <a:solidFill>
                            <a:srgbClr val="1B2B3A"/>
                          </a:solidFill>
                          <a:latin typeface="Calibri"/>
                        </a:rPr>
                        <a:t>0.830</a:t>
                      </a:r>
                    </a:p>
                  </a:txBody>
                  <a:tcPr marL="91440" marR="91440" marT="27432" marB="27432" anchor="ctr">
                    <a:solidFill>
                      <a:srgbClr val="F1F5F8"/>
                    </a:solidFill>
                  </a:tcPr>
                </a:tc>
                <a:tc>
                  <a:txBody>
                    <a:bodyPr/>
                    <a:lstStyle/>
                    <a:p>
                      <a:pPr algn="r"/>
                      <a:r>
                        <a:rPr sz="1300" b="0" i="0">
                          <a:solidFill>
                            <a:srgbClr val="1B2B3A"/>
                          </a:solidFill>
                          <a:latin typeface="Calibri"/>
                        </a:rPr>
                        <a:t>0.813</a:t>
                      </a:r>
                    </a:p>
                  </a:txBody>
                  <a:tcPr marL="91440" marR="91440" marT="27432" marB="27432" anchor="ctr">
                    <a:solidFill>
                      <a:srgbClr val="F1F5F8"/>
                    </a:solidFill>
                  </a:tcPr>
                </a:tc>
              </a:tr>
              <a:tr h="402336">
                <a:tc>
                  <a:txBody>
                    <a:bodyPr/>
                    <a:lstStyle/>
                    <a:p>
                      <a:pPr algn="l"/>
                      <a:r>
                        <a:rPr sz="1300" b="1" i="0">
                          <a:solidFill>
                            <a:srgbClr val="1B2B3A"/>
                          </a:solidFill>
                          <a:latin typeface="Calibri"/>
                        </a:rPr>
                        <a:t>Importance distance ||φ1 − φ2||, bootstrap (193)</a:t>
                      </a:r>
                    </a:p>
                  </a:txBody>
                  <a:tcPr marL="91440" marR="91440" marT="27432" marB="27432" anchor="ctr">
                    <a:solidFill>
                      <a:srgbClr val="FFFFFF"/>
                    </a:solidFill>
                  </a:tcPr>
                </a:tc>
                <a:tc>
                  <a:txBody>
                    <a:bodyPr/>
                    <a:lstStyle/>
                    <a:p>
                      <a:pPr algn="r"/>
                      <a:r>
                        <a:rPr sz="1300" b="0" i="0">
                          <a:solidFill>
                            <a:srgbClr val="1B2B3A"/>
                          </a:solidFill>
                          <a:latin typeface="Calibri"/>
                        </a:rPr>
                        <a:t>0.056</a:t>
                      </a:r>
                    </a:p>
                  </a:txBody>
                  <a:tcPr marL="91440" marR="91440" marT="27432" marB="27432" anchor="ctr">
                    <a:solidFill>
                      <a:srgbClr val="FFFFFF"/>
                    </a:solidFill>
                  </a:tcPr>
                </a:tc>
                <a:tc>
                  <a:txBody>
                    <a:bodyPr/>
                    <a:lstStyle/>
                    <a:p>
                      <a:pPr algn="r"/>
                      <a:r>
                        <a:rPr sz="1300" b="0" i="0">
                          <a:solidFill>
                            <a:srgbClr val="1B2B3A"/>
                          </a:solidFill>
                          <a:latin typeface="Calibri"/>
                        </a:rPr>
                        <a:t>0.054</a:t>
                      </a:r>
                    </a:p>
                  </a:txBody>
                  <a:tcPr marL="91440" marR="91440" marT="27432" marB="27432" anchor="ctr">
                    <a:solidFill>
                      <a:srgbClr val="FFFFFF"/>
                    </a:solidFill>
                  </a:tcPr>
                </a:tc>
              </a:tr>
              <a:tr h="402336">
                <a:tc>
                  <a:txBody>
                    <a:bodyPr/>
                    <a:lstStyle/>
                    <a:p>
                      <a:pPr algn="l"/>
                      <a:r>
                        <a:rPr sz="1300" b="1" i="0">
                          <a:solidFill>
                            <a:srgbClr val="1B2B3A"/>
                          </a:solidFill>
                          <a:latin typeface="Calibri"/>
                        </a:rPr>
                        <a:t>Decisions changed on another machine (215)</a:t>
                      </a:r>
                    </a:p>
                  </a:txBody>
                  <a:tcPr marL="91440" marR="91440" marT="27432" marB="27432" anchor="ctr">
                    <a:solidFill>
                      <a:srgbClr val="F1F5F8"/>
                    </a:solidFill>
                  </a:tcPr>
                </a:tc>
                <a:tc>
                  <a:txBody>
                    <a:bodyPr/>
                    <a:lstStyle/>
                    <a:p>
                      <a:pPr algn="r"/>
                      <a:r>
                        <a:rPr sz="1300" b="0" i="0">
                          <a:solidFill>
                            <a:srgbClr val="1B2B3A"/>
                          </a:solidFill>
                          <a:latin typeface="Calibri"/>
                        </a:rPr>
                        <a:t>0</a:t>
                      </a:r>
                    </a:p>
                  </a:txBody>
                  <a:tcPr marL="91440" marR="91440" marT="27432" marB="27432" anchor="ctr">
                    <a:solidFill>
                      <a:srgbClr val="F1F5F8"/>
                    </a:solidFill>
                  </a:tcPr>
                </a:tc>
                <a:tc>
                  <a:txBody>
                    <a:bodyPr/>
                    <a:lstStyle/>
                    <a:p>
                      <a:pPr algn="r"/>
                      <a:r>
                        <a:rPr sz="1300" b="0" i="0">
                          <a:solidFill>
                            <a:srgbClr val="1B2B3A"/>
                          </a:solidFill>
                          <a:latin typeface="Calibri"/>
                        </a:rPr>
                        <a:t>80</a:t>
                      </a:r>
                    </a:p>
                  </a:txBody>
                  <a:tcPr marL="91440" marR="91440" marT="27432" marB="27432" anchor="ctr">
                    <a:solidFill>
                      <a:srgbClr val="F1F5F8"/>
                    </a:solidFill>
                  </a:tcPr>
                </a:tc>
              </a:tr>
            </a:tbl>
          </a:graphicData>
        </a:graphic>
      </p:graphicFrame>
      <p:sp>
        <p:nvSpPr>
          <p:cNvPr id="7" name="Rounded Rectangle 6"/>
          <p:cNvSpPr/>
          <p:nvPr/>
        </p:nvSpPr>
        <p:spPr>
          <a:xfrm>
            <a:off x="7498079" y="1554480"/>
            <a:ext cx="4144975" cy="1417320"/>
          </a:xfrm>
          <a:prstGeom prst="roundRect">
            <a:avLst>
              <a:gd name="adj" fmla="val 6000"/>
            </a:avLst>
          </a:prstGeom>
          <a:solidFill>
            <a:srgbClr val="FB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99248" y="1700784"/>
            <a:ext cx="3742639" cy="274320"/>
          </a:xfrm>
          <a:prstGeom prst="rect">
            <a:avLst/>
          </a:prstGeom>
          <a:noFill/>
        </p:spPr>
        <p:txBody>
          <a:bodyPr wrap="square" anchor="t" lIns="0" rIns="0" tIns="0" bIns="0">
            <a:spAutoFit/>
          </a:bodyPr>
          <a:lstStyle/>
          <a:p>
            <a:pPr algn="l">
              <a:spcAft>
                <a:spcPts val="600"/>
              </a:spcAft>
            </a:pPr>
            <a:r>
              <a:rPr sz="1200" b="1" i="0">
                <a:solidFill>
                  <a:srgbClr val="D9573A"/>
                </a:solidFill>
                <a:latin typeface="Calibri"/>
              </a:rPr>
              <a:t>HONEST READING</a:t>
            </a:r>
          </a:p>
        </p:txBody>
      </p:sp>
      <p:sp>
        <p:nvSpPr>
          <p:cNvPr id="9" name="TextBox 8"/>
          <p:cNvSpPr txBox="1"/>
          <p:nvPr/>
        </p:nvSpPr>
        <p:spPr>
          <a:xfrm>
            <a:off x="7699248" y="2011680"/>
            <a:ext cx="3742639" cy="850392"/>
          </a:xfrm>
          <a:prstGeom prst="rect">
            <a:avLst/>
          </a:prstGeom>
          <a:noFill/>
        </p:spPr>
        <p:txBody>
          <a:bodyPr wrap="square" anchor="t" lIns="0" rIns="0" tIns="0" bIns="0">
            <a:spAutoFit/>
          </a:bodyPr>
          <a:lstStyle/>
          <a:p>
            <a:pPr algn="l">
              <a:spcAft>
                <a:spcPts val="500"/>
              </a:spcAft>
            </a:pPr>
            <a:r>
              <a:rPr sz="1250" b="0" i="0">
                <a:solidFill>
                  <a:srgbClr val="1B2B3A"/>
                </a:solidFill>
                <a:latin typeface="Calibri"/>
              </a:rPr>
              <a:t>Logistic's advantage is in </a:t>
            </a:r>
            <a:r>
              <a:rPr sz="1250" b="1" i="0">
                <a:solidFill>
                  <a:srgbClr val="1B2B3A"/>
                </a:solidFill>
                <a:latin typeface="Calibri"/>
              </a:rPr>
              <a:t>who gets selected</a:t>
            </a:r>
            <a:r>
              <a:rPr sz="1250" b="0" i="0">
                <a:solidFill>
                  <a:srgbClr val="1B2B3A"/>
                </a:solidFill>
                <a:latin typeface="Calibri"/>
              </a:rPr>
              <a:t> and in reproducibility. On explanation stability (||φ1 − φ2||) XGBoost ties or is slightly ahead.</a:t>
            </a:r>
          </a:p>
        </p:txBody>
      </p:sp>
      <p:sp>
        <p:nvSpPr>
          <p:cNvPr id="10" name="Rounded Rectangle 9"/>
          <p:cNvSpPr/>
          <p:nvPr/>
        </p:nvSpPr>
        <p:spPr>
          <a:xfrm>
            <a:off x="7498079" y="3154680"/>
            <a:ext cx="4144975" cy="1463040"/>
          </a:xfrm>
          <a:prstGeom prst="roundRect">
            <a:avLst>
              <a:gd name="adj" fmla="val 6000"/>
            </a:avLst>
          </a:prstGeom>
          <a:solidFill>
            <a:srgbClr val="E7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99248" y="3300984"/>
            <a:ext cx="3742639" cy="274320"/>
          </a:xfrm>
          <a:prstGeom prst="rect">
            <a:avLst/>
          </a:prstGeom>
          <a:noFill/>
        </p:spPr>
        <p:txBody>
          <a:bodyPr wrap="square" anchor="t" lIns="0" rIns="0" tIns="0" bIns="0">
            <a:spAutoFit/>
          </a:bodyPr>
          <a:lstStyle/>
          <a:p>
            <a:pPr algn="l">
              <a:spcAft>
                <a:spcPts val="600"/>
              </a:spcAft>
            </a:pPr>
            <a:r>
              <a:rPr sz="1200" b="1" i="0">
                <a:solidFill>
                  <a:srgbClr val="24506E"/>
                </a:solidFill>
                <a:latin typeface="Calibri"/>
              </a:rPr>
              <a:t>SLIDE 43–44 CHECK: WHICH PENALTY?</a:t>
            </a:r>
          </a:p>
        </p:txBody>
      </p:sp>
      <p:sp>
        <p:nvSpPr>
          <p:cNvPr id="12" name="TextBox 11"/>
          <p:cNvSpPr txBox="1"/>
          <p:nvPr/>
        </p:nvSpPr>
        <p:spPr>
          <a:xfrm>
            <a:off x="7699248" y="3611880"/>
            <a:ext cx="3742639" cy="896112"/>
          </a:xfrm>
          <a:prstGeom prst="rect">
            <a:avLst/>
          </a:prstGeom>
          <a:noFill/>
        </p:spPr>
        <p:txBody>
          <a:bodyPr wrap="square" anchor="t" lIns="0" rIns="0" tIns="0" bIns="0">
            <a:spAutoFit/>
          </a:bodyPr>
          <a:lstStyle/>
          <a:p>
            <a:pPr algn="l">
              <a:spcAft>
                <a:spcPts val="500"/>
              </a:spcAft>
            </a:pPr>
            <a:r>
              <a:rPr sz="1250" b="0" i="0">
                <a:solidFill>
                  <a:srgbClr val="1B2B3A"/>
                </a:solidFill>
                <a:latin typeface="Calibri"/>
              </a:rPr>
              <a:t>Ridge moves coefficients ~10% less; elastic net is sparsest and most sign-stable. Who is selected is the same for L1, L2 and elastic net (Jaccard ≈ 0.77).</a:t>
            </a:r>
          </a:p>
        </p:txBody>
      </p:sp>
      <p:sp>
        <p:nvSpPr>
          <p:cNvPr id="13" name="TextBox 12"/>
          <p:cNvSpPr txBox="1"/>
          <p:nvPr/>
        </p:nvSpPr>
        <p:spPr>
          <a:xfrm>
            <a:off x="548640" y="4572000"/>
            <a:ext cx="6675120" cy="822960"/>
          </a:xfrm>
          <a:prstGeom prst="rect">
            <a:avLst/>
          </a:prstGeom>
          <a:noFill/>
        </p:spPr>
        <p:txBody>
          <a:bodyPr wrap="square" anchor="t" lIns="0" rIns="0" tIns="0" bIns="0">
            <a:spAutoFit/>
          </a:bodyPr>
          <a:lstStyle/>
          <a:p>
            <a:pPr algn="l">
              <a:spcAft>
                <a:spcPts val="600"/>
              </a:spcAft>
            </a:pPr>
            <a:r>
              <a:rPr sz="1250" b="0" i="0">
                <a:solidFill>
                  <a:srgbClr val="1B2B3A"/>
                </a:solidFill>
                <a:latin typeface="Calibri"/>
              </a:rPr>
              <a:t>Seed and machine effects are tiny next to data effects. Under the course's literal test (disjoint halves) logistic is ahead in 10 of 10 splits.</a:t>
            </a:r>
          </a:p>
        </p:txBody>
      </p:sp>
      <p:sp>
        <p:nvSpPr>
          <p:cNvPr id="14" name="TextBox 13"/>
          <p:cNvSpPr txBox="1"/>
          <p:nvPr/>
        </p:nvSpPr>
        <p:spPr>
          <a:xfrm>
            <a:off x="548640" y="6144768"/>
            <a:ext cx="11094415" cy="228600"/>
          </a:xfrm>
          <a:prstGeom prst="rect">
            <a:avLst/>
          </a:prstGeom>
          <a:noFill/>
        </p:spPr>
        <p:txBody>
          <a:bodyPr wrap="square" anchor="t" lIns="0" rIns="0" tIns="0" bIns="0">
            <a:spAutoFit/>
          </a:bodyPr>
          <a:lstStyle/>
          <a:p>
            <a:pPr algn="l">
              <a:spcAft>
                <a:spcPts val="600"/>
              </a:spcAft>
            </a:pPr>
            <a:r>
              <a:rPr sz="950" b="0" i="0">
                <a:solidFill>
                  <a:srgbClr val="8795A2"/>
                </a:solidFill>
                <a:latin typeface="Calibri"/>
              </a:rPr>
              <a:t>Source: study results/stability_by_regime_summary.csv · course_retrain_50pct_vs_full.csv · course_penalty_stability.csv · run_info.json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5669280" cy="274320"/>
          </a:xfrm>
          <a:prstGeom prst="rect">
            <a:avLst/>
          </a:prstGeom>
          <a:noFill/>
        </p:spPr>
        <p:txBody>
          <a:bodyPr wrap="square" anchor="t" lIns="0" rIns="0" tIns="0" bIns="0">
            <a:spAutoFit/>
          </a:bodyPr>
          <a:lstStyle/>
          <a:p>
            <a:pPr algn="l">
              <a:spcAft>
                <a:spcPts val="600"/>
              </a:spcAft>
            </a:pPr>
            <a:r>
              <a:rPr sz="1200" b="1" i="0">
                <a:solidFill>
                  <a:srgbClr val="1F7A70"/>
                </a:solidFill>
                <a:latin typeface="Calibri"/>
              </a:rPr>
              <a:t>A13 · NO-GANG ARM</a:t>
            </a:r>
          </a:p>
        </p:txBody>
      </p:sp>
      <p:sp>
        <p:nvSpPr>
          <p:cNvPr id="3" name="TextBox 2"/>
          <p:cNvSpPr txBox="1"/>
          <p:nvPr/>
        </p:nvSpPr>
        <p:spPr>
          <a:xfrm>
            <a:off x="548640" y="713232"/>
            <a:ext cx="11094415" cy="685800"/>
          </a:xfrm>
          <a:prstGeom prst="rect">
            <a:avLst/>
          </a:prstGeom>
          <a:noFill/>
        </p:spPr>
        <p:txBody>
          <a:bodyPr wrap="square" anchor="t" lIns="0" rIns="0" tIns="0" bIns="0">
            <a:spAutoFit/>
          </a:bodyPr>
          <a:lstStyle/>
          <a:p>
            <a:pPr algn="l">
              <a:spcAft>
                <a:spcPts val="600"/>
              </a:spcAft>
            </a:pPr>
            <a:r>
              <a:rPr sz="2800" b="1" i="0">
                <a:solidFill>
                  <a:srgbClr val="1B2B3A"/>
                </a:solidFill>
                <a:latin typeface="Calibri"/>
              </a:rPr>
              <a:t>Slides 17–18 without gang affiliation (published protocol)</a:t>
            </a:r>
          </a:p>
        </p:txBody>
      </p:sp>
      <p:sp>
        <p:nvSpPr>
          <p:cNvPr id="4" name="TextBox 3"/>
          <p:cNvSpPr txBox="1"/>
          <p:nvPr/>
        </p:nvSpPr>
        <p:spPr>
          <a:xfrm>
            <a:off x="548640" y="6419088"/>
            <a:ext cx="6400800" cy="228600"/>
          </a:xfrm>
          <a:prstGeom prst="rect">
            <a:avLst/>
          </a:prstGeom>
          <a:noFill/>
        </p:spPr>
        <p:txBody>
          <a:bodyPr wrap="square" anchor="t" lIns="0" rIns="0" tIns="0" bIns="0">
            <a:spAutoFit/>
          </a:bodyPr>
          <a:lstStyle/>
          <a:p>
            <a:pPr algn="l">
              <a:spcAft>
                <a:spcPts val="600"/>
              </a:spcAft>
            </a:pPr>
            <a:r>
              <a:rPr sz="1000" b="0" i="0">
                <a:solidFill>
                  <a:srgbClr val="8795A2"/>
                </a:solidFill>
                <a:latin typeface="Calibri"/>
              </a:rPr>
              <a:t>Team 11  ·  Trustworthy Recidivism Forecasting</a:t>
            </a:r>
          </a:p>
        </p:txBody>
      </p:sp>
      <p:sp>
        <p:nvSpPr>
          <p:cNvPr id="5" name="TextBox 4"/>
          <p:cNvSpPr txBox="1"/>
          <p:nvPr/>
        </p:nvSpPr>
        <p:spPr>
          <a:xfrm>
            <a:off x="10271455" y="6419088"/>
            <a:ext cx="1371600" cy="228600"/>
          </a:xfrm>
          <a:prstGeom prst="rect">
            <a:avLst/>
          </a:prstGeom>
          <a:noFill/>
        </p:spPr>
        <p:txBody>
          <a:bodyPr wrap="square" anchor="t" lIns="0" rIns="0" tIns="0" bIns="0">
            <a:spAutoFit/>
          </a:bodyPr>
          <a:lstStyle/>
          <a:p>
            <a:pPr algn="r">
              <a:spcAft>
                <a:spcPts val="600"/>
              </a:spcAft>
            </a:pPr>
            <a:r>
              <a:rPr sz="1000" b="0" i="0">
                <a:solidFill>
                  <a:srgbClr val="8795A2"/>
                </a:solidFill>
                <a:latin typeface="Calibri"/>
              </a:rPr>
              <a:t>A13</a:t>
            </a:r>
          </a:p>
        </p:txBody>
      </p:sp>
      <p:graphicFrame>
        <p:nvGraphicFramePr>
          <p:cNvPr id="6" name="Table 5"/>
          <p:cNvGraphicFramePr>
            <a:graphicFrameLocks noGrp="1"/>
          </p:cNvGraphicFramePr>
          <p:nvPr/>
        </p:nvGraphicFramePr>
        <p:xfrm>
          <a:off x="548640" y="1554480"/>
          <a:ext cx="11091672" cy="2944368"/>
        </p:xfrm>
        <a:graphic>
          <a:graphicData uri="http://schemas.openxmlformats.org/drawingml/2006/table">
            <a:tbl>
              <a:tblPr firstRow="0" bandRow="0">
                <a:tableStyleId>{5C22544A-7EE6-4342-B048-85BDC9FD1C3A}</a:tableStyleId>
              </a:tblPr>
              <a:tblGrid>
                <a:gridCol w="3154680"/>
                <a:gridCol w="1984248"/>
                <a:gridCol w="1984248"/>
                <a:gridCol w="1984248"/>
                <a:gridCol w="1984248"/>
              </a:tblGrid>
              <a:tr h="420624">
                <a:tc>
                  <a:txBody>
                    <a:bodyPr/>
                    <a:lstStyle/>
                    <a:p>
                      <a:pPr algn="l"/>
                    </a:p>
                  </a:txBody>
                  <a:tcPr marL="91440" marR="91440" marT="27432" marB="27432" anchor="ctr">
                    <a:solidFill>
                      <a:srgbClr val="24506E"/>
                    </a:solidFill>
                  </a:tcPr>
                </a:tc>
                <a:tc>
                  <a:txBody>
                    <a:bodyPr/>
                    <a:lstStyle/>
                    <a:p>
                      <a:pPr algn="r"/>
                      <a:r>
                        <a:rPr sz="1250" b="1" i="0">
                          <a:solidFill>
                            <a:srgbClr val="FFFFFF"/>
                          </a:solidFill>
                          <a:latin typeface="Calibri"/>
                        </a:rPr>
                        <a:t>Logistic with</a:t>
                      </a:r>
                    </a:p>
                  </a:txBody>
                  <a:tcPr marL="91440" marR="91440" marT="27432" marB="27432" anchor="ctr">
                    <a:solidFill>
                      <a:srgbClr val="24506E"/>
                    </a:solidFill>
                  </a:tcPr>
                </a:tc>
                <a:tc>
                  <a:txBody>
                    <a:bodyPr/>
                    <a:lstStyle/>
                    <a:p>
                      <a:pPr algn="r"/>
                      <a:r>
                        <a:rPr sz="1250" b="1" i="0">
                          <a:solidFill>
                            <a:srgbClr val="FFFFFF"/>
                          </a:solidFill>
                          <a:latin typeface="Calibri"/>
                        </a:rPr>
                        <a:t>Logistic without</a:t>
                      </a:r>
                    </a:p>
                  </a:txBody>
                  <a:tcPr marL="91440" marR="91440" marT="27432" marB="27432" anchor="ctr">
                    <a:solidFill>
                      <a:srgbClr val="24506E"/>
                    </a:solidFill>
                  </a:tcPr>
                </a:tc>
                <a:tc>
                  <a:txBody>
                    <a:bodyPr/>
                    <a:lstStyle/>
                    <a:p>
                      <a:pPr algn="r"/>
                      <a:r>
                        <a:rPr sz="1250" b="1" i="0">
                          <a:solidFill>
                            <a:srgbClr val="FFFFFF"/>
                          </a:solidFill>
                          <a:latin typeface="Calibri"/>
                        </a:rPr>
                        <a:t>XGBoost with</a:t>
                      </a:r>
                    </a:p>
                  </a:txBody>
                  <a:tcPr marL="91440" marR="91440" marT="27432" marB="27432" anchor="ctr">
                    <a:solidFill>
                      <a:srgbClr val="24506E"/>
                    </a:solidFill>
                  </a:tcPr>
                </a:tc>
                <a:tc>
                  <a:txBody>
                    <a:bodyPr/>
                    <a:lstStyle/>
                    <a:p>
                      <a:pPr algn="r"/>
                      <a:r>
                        <a:rPr sz="1250" b="1" i="0">
                          <a:solidFill>
                            <a:srgbClr val="FFFFFF"/>
                          </a:solidFill>
                          <a:latin typeface="Calibri"/>
                        </a:rPr>
                        <a:t>XGBoost without</a:t>
                      </a:r>
                    </a:p>
                  </a:txBody>
                  <a:tcPr marL="91440" marR="91440" marT="27432" marB="27432" anchor="ctr">
                    <a:solidFill>
                      <a:srgbClr val="24506E"/>
                    </a:solidFill>
                  </a:tcPr>
                </a:tc>
              </a:tr>
              <a:tr h="420624">
                <a:tc>
                  <a:txBody>
                    <a:bodyPr/>
                    <a:lstStyle/>
                    <a:p>
                      <a:pPr algn="l"/>
                      <a:r>
                        <a:rPr sz="1250" b="1" i="0">
                          <a:solidFill>
                            <a:srgbClr val="1B2B3A"/>
                          </a:solidFill>
                          <a:latin typeface="Calibri"/>
                        </a:rPr>
                        <a:t>Mean |Δp| between refits</a:t>
                      </a:r>
                    </a:p>
                  </a:txBody>
                  <a:tcPr marL="91440" marR="91440" marT="27432" marB="27432" anchor="ctr">
                    <a:solidFill>
                      <a:srgbClr val="FFFFFF"/>
                    </a:solidFill>
                  </a:tcPr>
                </a:tc>
                <a:tc>
                  <a:txBody>
                    <a:bodyPr/>
                    <a:lstStyle/>
                    <a:p>
                      <a:pPr algn="r"/>
                      <a:r>
                        <a:rPr sz="1250" b="0" i="0">
                          <a:solidFill>
                            <a:srgbClr val="1B2B3A"/>
                          </a:solidFill>
                          <a:latin typeface="Calibri"/>
                        </a:rPr>
                        <a:t>0.032</a:t>
                      </a:r>
                    </a:p>
                  </a:txBody>
                  <a:tcPr marL="91440" marR="91440" marT="27432" marB="27432" anchor="ctr">
                    <a:solidFill>
                      <a:srgbClr val="FFFFFF"/>
                    </a:solidFill>
                  </a:tcPr>
                </a:tc>
                <a:tc>
                  <a:txBody>
                    <a:bodyPr/>
                    <a:lstStyle/>
                    <a:p>
                      <a:pPr algn="r"/>
                      <a:r>
                        <a:rPr sz="1250" b="0" i="0">
                          <a:solidFill>
                            <a:srgbClr val="1B2B3A"/>
                          </a:solidFill>
                          <a:latin typeface="Calibri"/>
                        </a:rPr>
                        <a:t>0.032</a:t>
                      </a:r>
                    </a:p>
                  </a:txBody>
                  <a:tcPr marL="91440" marR="91440" marT="27432" marB="27432" anchor="ctr">
                    <a:solidFill>
                      <a:srgbClr val="FFFFFF"/>
                    </a:solidFill>
                  </a:tcPr>
                </a:tc>
                <a:tc>
                  <a:txBody>
                    <a:bodyPr/>
                    <a:lstStyle/>
                    <a:p>
                      <a:pPr algn="r"/>
                      <a:r>
                        <a:rPr sz="1250" b="0" i="0">
                          <a:solidFill>
                            <a:srgbClr val="1B2B3A"/>
                          </a:solidFill>
                          <a:latin typeface="Calibri"/>
                        </a:rPr>
                        <a:t>0.035</a:t>
                      </a:r>
                    </a:p>
                  </a:txBody>
                  <a:tcPr marL="91440" marR="91440" marT="27432" marB="27432" anchor="ctr">
                    <a:solidFill>
                      <a:srgbClr val="FFFFFF"/>
                    </a:solidFill>
                  </a:tcPr>
                </a:tc>
                <a:tc>
                  <a:txBody>
                    <a:bodyPr/>
                    <a:lstStyle/>
                    <a:p>
                      <a:pPr algn="r"/>
                      <a:r>
                        <a:rPr sz="1250" b="0" i="0">
                          <a:solidFill>
                            <a:srgbClr val="1B2B3A"/>
                          </a:solidFill>
                          <a:latin typeface="Calibri"/>
                        </a:rPr>
                        <a:t>0.035</a:t>
                      </a:r>
                    </a:p>
                  </a:txBody>
                  <a:tcPr marL="91440" marR="91440" marT="27432" marB="27432" anchor="ctr">
                    <a:solidFill>
                      <a:srgbClr val="FFFFFF"/>
                    </a:solidFill>
                  </a:tcPr>
                </a:tc>
              </a:tr>
              <a:tr h="420624">
                <a:tc>
                  <a:txBody>
                    <a:bodyPr/>
                    <a:lstStyle/>
                    <a:p>
                      <a:pPr algn="l"/>
                      <a:r>
                        <a:rPr sz="1250" b="1" i="0">
                          <a:solidFill>
                            <a:srgbClr val="1B2B3A"/>
                          </a:solidFill>
                          <a:latin typeface="Calibri"/>
                        </a:rPr>
                        <a:t>Top-20% Jaccard between refits</a:t>
                      </a:r>
                    </a:p>
                  </a:txBody>
                  <a:tcPr marL="91440" marR="91440" marT="27432" marB="27432" anchor="ctr">
                    <a:solidFill>
                      <a:srgbClr val="F1F5F8"/>
                    </a:solidFill>
                  </a:tcPr>
                </a:tc>
                <a:tc>
                  <a:txBody>
                    <a:bodyPr/>
                    <a:lstStyle/>
                    <a:p>
                      <a:pPr algn="r"/>
                      <a:r>
                        <a:rPr sz="1250" b="0" i="0">
                          <a:solidFill>
                            <a:srgbClr val="1B2B3A"/>
                          </a:solidFill>
                          <a:latin typeface="Calibri"/>
                        </a:rPr>
                        <a:t>0.772</a:t>
                      </a:r>
                    </a:p>
                  </a:txBody>
                  <a:tcPr marL="91440" marR="91440" marT="27432" marB="27432" anchor="ctr">
                    <a:solidFill>
                      <a:srgbClr val="F1F5F8"/>
                    </a:solidFill>
                  </a:tcPr>
                </a:tc>
                <a:tc>
                  <a:txBody>
                    <a:bodyPr/>
                    <a:lstStyle/>
                    <a:p>
                      <a:pPr algn="r"/>
                      <a:r>
                        <a:rPr sz="1250" b="0" i="0">
                          <a:solidFill>
                            <a:srgbClr val="1B2B3A"/>
                          </a:solidFill>
                          <a:latin typeface="Calibri"/>
                        </a:rPr>
                        <a:t>0.754</a:t>
                      </a:r>
                    </a:p>
                  </a:txBody>
                  <a:tcPr marL="91440" marR="91440" marT="27432" marB="27432" anchor="ctr">
                    <a:solidFill>
                      <a:srgbClr val="F1F5F8"/>
                    </a:solidFill>
                  </a:tcPr>
                </a:tc>
                <a:tc>
                  <a:txBody>
                    <a:bodyPr/>
                    <a:lstStyle/>
                    <a:p>
                      <a:pPr algn="r"/>
                      <a:r>
                        <a:rPr sz="1250" b="0" i="0">
                          <a:solidFill>
                            <a:srgbClr val="1B2B3A"/>
                          </a:solidFill>
                          <a:latin typeface="Calibri"/>
                        </a:rPr>
                        <a:t>0.749</a:t>
                      </a:r>
                    </a:p>
                  </a:txBody>
                  <a:tcPr marL="91440" marR="91440" marT="27432" marB="27432" anchor="ctr">
                    <a:solidFill>
                      <a:srgbClr val="F1F5F8"/>
                    </a:solidFill>
                  </a:tcPr>
                </a:tc>
                <a:tc>
                  <a:txBody>
                    <a:bodyPr/>
                    <a:lstStyle/>
                    <a:p>
                      <a:pPr algn="r"/>
                      <a:r>
                        <a:rPr sz="1250" b="0" i="0">
                          <a:solidFill>
                            <a:srgbClr val="1B2B3A"/>
                          </a:solidFill>
                          <a:latin typeface="Calibri"/>
                        </a:rPr>
                        <a:t>0.723</a:t>
                      </a:r>
                    </a:p>
                  </a:txBody>
                  <a:tcPr marL="91440" marR="91440" marT="27432" marB="27432" anchor="ctr">
                    <a:solidFill>
                      <a:srgbClr val="F1F5F8"/>
                    </a:solidFill>
                  </a:tcPr>
                </a:tc>
              </a:tr>
              <a:tr h="420624">
                <a:tc>
                  <a:txBody>
                    <a:bodyPr/>
                    <a:lstStyle/>
                    <a:p>
                      <a:pPr algn="l"/>
                      <a:r>
                        <a:rPr sz="1250" b="1" i="0">
                          <a:solidFill>
                            <a:srgbClr val="1B2B3A"/>
                          </a:solidFill>
                          <a:latin typeface="Calibri"/>
                        </a:rPr>
                        <a:t>Contested decisions</a:t>
                      </a:r>
                    </a:p>
                  </a:txBody>
                  <a:tcPr marL="91440" marR="91440" marT="27432" marB="27432" anchor="ctr">
                    <a:solidFill>
                      <a:srgbClr val="FFFFFF"/>
                    </a:solidFill>
                  </a:tcPr>
                </a:tc>
                <a:tc>
                  <a:txBody>
                    <a:bodyPr/>
                    <a:lstStyle/>
                    <a:p>
                      <a:pPr algn="r"/>
                      <a:r>
                        <a:rPr sz="1250" b="0" i="0">
                          <a:solidFill>
                            <a:srgbClr val="1B2B3A"/>
                          </a:solidFill>
                          <a:latin typeface="Calibri"/>
                        </a:rPr>
                        <a:t>12.8%</a:t>
                      </a:r>
                    </a:p>
                  </a:txBody>
                  <a:tcPr marL="91440" marR="91440" marT="27432" marB="27432" anchor="ctr">
                    <a:solidFill>
                      <a:srgbClr val="FFFFFF"/>
                    </a:solidFill>
                  </a:tcPr>
                </a:tc>
                <a:tc>
                  <a:txBody>
                    <a:bodyPr/>
                    <a:lstStyle/>
                    <a:p>
                      <a:pPr algn="r"/>
                      <a:r>
                        <a:rPr sz="1250" b="0" i="0">
                          <a:solidFill>
                            <a:srgbClr val="1B2B3A"/>
                          </a:solidFill>
                          <a:latin typeface="Calibri"/>
                        </a:rPr>
                        <a:t>13.9%</a:t>
                      </a:r>
                    </a:p>
                  </a:txBody>
                  <a:tcPr marL="91440" marR="91440" marT="27432" marB="27432" anchor="ctr">
                    <a:solidFill>
                      <a:srgbClr val="FFFFFF"/>
                    </a:solidFill>
                  </a:tcPr>
                </a:tc>
                <a:tc>
                  <a:txBody>
                    <a:bodyPr/>
                    <a:lstStyle/>
                    <a:p>
                      <a:pPr algn="r"/>
                      <a:r>
                        <a:rPr sz="1250" b="0" i="0">
                          <a:solidFill>
                            <a:srgbClr val="1B2B3A"/>
                          </a:solidFill>
                          <a:latin typeface="Calibri"/>
                        </a:rPr>
                        <a:t>14.6%</a:t>
                      </a:r>
                    </a:p>
                  </a:txBody>
                  <a:tcPr marL="91440" marR="91440" marT="27432" marB="27432" anchor="ctr">
                    <a:solidFill>
                      <a:srgbClr val="FFFFFF"/>
                    </a:solidFill>
                  </a:tcPr>
                </a:tc>
                <a:tc>
                  <a:txBody>
                    <a:bodyPr/>
                    <a:lstStyle/>
                    <a:p>
                      <a:pPr algn="r"/>
                      <a:r>
                        <a:rPr sz="1250" b="0" i="0">
                          <a:solidFill>
                            <a:srgbClr val="1B2B3A"/>
                          </a:solidFill>
                          <a:latin typeface="Calibri"/>
                        </a:rPr>
                        <a:t>16.4%</a:t>
                      </a:r>
                    </a:p>
                  </a:txBody>
                  <a:tcPr marL="91440" marR="91440" marT="27432" marB="27432" anchor="ctr">
                    <a:solidFill>
                      <a:srgbClr val="FFFFFF"/>
                    </a:solidFill>
                  </a:tcPr>
                </a:tc>
              </a:tr>
              <a:tr h="420624">
                <a:tc>
                  <a:txBody>
                    <a:bodyPr/>
                    <a:lstStyle/>
                    <a:p>
                      <a:pPr algn="l"/>
                      <a:r>
                        <a:rPr sz="1250" b="1" i="0">
                          <a:solidFill>
                            <a:srgbClr val="1B2B3A"/>
                          </a:solidFill>
                          <a:latin typeface="Calibri"/>
                        </a:rPr>
                        <a:t>Selected women / men at the margin</a:t>
                      </a:r>
                    </a:p>
                  </a:txBody>
                  <a:tcPr marL="91440" marR="91440" marT="27432" marB="27432" anchor="ctr">
                    <a:solidFill>
                      <a:srgbClr val="E6F2F0"/>
                    </a:solidFill>
                  </a:tcPr>
                </a:tc>
                <a:tc>
                  <a:txBody>
                    <a:bodyPr/>
                    <a:lstStyle/>
                    <a:p>
                      <a:pPr algn="r"/>
                      <a:r>
                        <a:rPr sz="1250" b="0" i="0">
                          <a:solidFill>
                            <a:srgbClr val="1B2B3A"/>
                          </a:solidFill>
                          <a:latin typeface="Calibri"/>
                        </a:rPr>
                        <a:t>47% / 30%</a:t>
                      </a:r>
                    </a:p>
                  </a:txBody>
                  <a:tcPr marL="91440" marR="91440" marT="27432" marB="27432" anchor="ctr">
                    <a:solidFill>
                      <a:srgbClr val="E6F2F0"/>
                    </a:solidFill>
                  </a:tcPr>
                </a:tc>
                <a:tc>
                  <a:txBody>
                    <a:bodyPr/>
                    <a:lstStyle/>
                    <a:p>
                      <a:pPr algn="r"/>
                      <a:r>
                        <a:rPr sz="1250" b="0" i="0">
                          <a:solidFill>
                            <a:srgbClr val="1B2B3A"/>
                          </a:solidFill>
                          <a:latin typeface="Calibri"/>
                        </a:rPr>
                        <a:t>33% / 33%</a:t>
                      </a:r>
                    </a:p>
                  </a:txBody>
                  <a:tcPr marL="91440" marR="91440" marT="27432" marB="27432" anchor="ctr">
                    <a:solidFill>
                      <a:srgbClr val="E6F2F0"/>
                    </a:solidFill>
                  </a:tcPr>
                </a:tc>
                <a:tc>
                  <a:txBody>
                    <a:bodyPr/>
                    <a:lstStyle/>
                    <a:p>
                      <a:pPr algn="r"/>
                      <a:r>
                        <a:rPr sz="1250" b="0" i="0">
                          <a:solidFill>
                            <a:srgbClr val="1B2B3A"/>
                          </a:solidFill>
                          <a:latin typeface="Calibri"/>
                        </a:rPr>
                        <a:t>54% / 34%</a:t>
                      </a:r>
                    </a:p>
                  </a:txBody>
                  <a:tcPr marL="91440" marR="91440" marT="27432" marB="27432" anchor="ctr">
                    <a:solidFill>
                      <a:srgbClr val="E6F2F0"/>
                    </a:solidFill>
                  </a:tcPr>
                </a:tc>
                <a:tc>
                  <a:txBody>
                    <a:bodyPr/>
                    <a:lstStyle/>
                    <a:p>
                      <a:pPr algn="r"/>
                      <a:r>
                        <a:rPr sz="1250" b="0" i="0">
                          <a:solidFill>
                            <a:srgbClr val="1B2B3A"/>
                          </a:solidFill>
                          <a:latin typeface="Calibri"/>
                        </a:rPr>
                        <a:t>36% / 42%</a:t>
                      </a:r>
                    </a:p>
                  </a:txBody>
                  <a:tcPr marL="91440" marR="91440" marT="27432" marB="27432" anchor="ctr">
                    <a:solidFill>
                      <a:srgbClr val="E6F2F0"/>
                    </a:solidFill>
                  </a:tcPr>
                </a:tc>
              </a:tr>
              <a:tr h="420624">
                <a:tc>
                  <a:txBody>
                    <a:bodyPr/>
                    <a:lstStyle/>
                    <a:p>
                      <a:pPr algn="l"/>
                      <a:r>
                        <a:rPr sz="1250" b="1" i="0">
                          <a:solidFill>
                            <a:srgbClr val="1B2B3A"/>
                          </a:solidFill>
                          <a:latin typeface="Calibri"/>
                        </a:rPr>
                        <a:t>Abstention: gender FNR gap</a:t>
                      </a:r>
                    </a:p>
                  </a:txBody>
                  <a:tcPr marL="91440" marR="91440" marT="27432" marB="27432" anchor="ctr">
                    <a:solidFill>
                      <a:srgbClr val="E6F2F0"/>
                    </a:solidFill>
                  </a:tcPr>
                </a:tc>
                <a:tc>
                  <a:txBody>
                    <a:bodyPr/>
                    <a:lstStyle/>
                    <a:p>
                      <a:pPr algn="r"/>
                      <a:r>
                        <a:rPr sz="1250" b="0" i="0">
                          <a:solidFill>
                            <a:srgbClr val="1B2B3A"/>
                          </a:solidFill>
                          <a:latin typeface="Calibri"/>
                        </a:rPr>
                        <a:t>−0.090 → −0.119</a:t>
                      </a:r>
                    </a:p>
                  </a:txBody>
                  <a:tcPr marL="91440" marR="91440" marT="27432" marB="27432" anchor="ctr">
                    <a:solidFill>
                      <a:srgbClr val="E6F2F0"/>
                    </a:solidFill>
                  </a:tcPr>
                </a:tc>
                <a:tc>
                  <a:txBody>
                    <a:bodyPr/>
                    <a:lstStyle/>
                    <a:p>
                      <a:pPr algn="r"/>
                      <a:r>
                        <a:rPr sz="1250" b="0" i="0">
                          <a:solidFill>
                            <a:srgbClr val="1B2B3A"/>
                          </a:solidFill>
                          <a:latin typeface="Calibri"/>
                        </a:rPr>
                        <a:t>0.004 → −0.002</a:t>
                      </a:r>
                    </a:p>
                  </a:txBody>
                  <a:tcPr marL="91440" marR="91440" marT="27432" marB="27432" anchor="ctr">
                    <a:solidFill>
                      <a:srgbClr val="E6F2F0"/>
                    </a:solidFill>
                  </a:tcPr>
                </a:tc>
                <a:tc>
                  <a:txBody>
                    <a:bodyPr/>
                    <a:lstStyle/>
                    <a:p>
                      <a:pPr algn="r"/>
                      <a:r>
                        <a:rPr sz="1250" b="0" i="0">
                          <a:solidFill>
                            <a:srgbClr val="1B2B3A"/>
                          </a:solidFill>
                          <a:latin typeface="Calibri"/>
                        </a:rPr>
                        <a:t>−0.096 → −0.127</a:t>
                      </a:r>
                    </a:p>
                  </a:txBody>
                  <a:tcPr marL="91440" marR="91440" marT="27432" marB="27432" anchor="ctr">
                    <a:solidFill>
                      <a:srgbClr val="E6F2F0"/>
                    </a:solidFill>
                  </a:tcPr>
                </a:tc>
                <a:tc>
                  <a:txBody>
                    <a:bodyPr/>
                    <a:lstStyle/>
                    <a:p>
                      <a:pPr algn="r"/>
                      <a:r>
                        <a:rPr sz="1250" b="0" i="0">
                          <a:solidFill>
                            <a:srgbClr val="1B2B3A"/>
                          </a:solidFill>
                          <a:latin typeface="Calibri"/>
                        </a:rPr>
                        <a:t>−0.010 → 0.016</a:t>
                      </a:r>
                    </a:p>
                  </a:txBody>
                  <a:tcPr marL="91440" marR="91440" marT="27432" marB="27432" anchor="ctr">
                    <a:solidFill>
                      <a:srgbClr val="E6F2F0"/>
                    </a:solidFill>
                  </a:tcPr>
                </a:tc>
              </a:tr>
              <a:tr h="420624">
                <a:tc>
                  <a:txBody>
                    <a:bodyPr/>
                    <a:lstStyle/>
                    <a:p>
                      <a:pPr algn="l"/>
                      <a:r>
                        <a:rPr sz="1250" b="1" i="0">
                          <a:solidFill>
                            <a:srgbClr val="1B2B3A"/>
                          </a:solidFill>
                          <a:latin typeface="Calibri"/>
                        </a:rPr>
                        <a:t>Abstention: precision</a:t>
                      </a:r>
                    </a:p>
                  </a:txBody>
                  <a:tcPr marL="91440" marR="91440" marT="27432" marB="27432" anchor="ctr">
                    <a:solidFill>
                      <a:srgbClr val="F1F5F8"/>
                    </a:solidFill>
                  </a:tcPr>
                </a:tc>
                <a:tc>
                  <a:txBody>
                    <a:bodyPr/>
                    <a:lstStyle/>
                    <a:p>
                      <a:pPr algn="r"/>
                      <a:r>
                        <a:rPr sz="1250" b="0" i="0">
                          <a:solidFill>
                            <a:srgbClr val="1B2B3A"/>
                          </a:solidFill>
                          <a:latin typeface="Calibri"/>
                        </a:rPr>
                        <a:t>0.822 → 0.846</a:t>
                      </a:r>
                    </a:p>
                  </a:txBody>
                  <a:tcPr marL="91440" marR="91440" marT="27432" marB="27432" anchor="ctr">
                    <a:solidFill>
                      <a:srgbClr val="F1F5F8"/>
                    </a:solidFill>
                  </a:tcPr>
                </a:tc>
                <a:tc>
                  <a:txBody>
                    <a:bodyPr/>
                    <a:lstStyle/>
                    <a:p>
                      <a:pPr algn="r"/>
                      <a:r>
                        <a:rPr sz="1250" b="0" i="0">
                          <a:solidFill>
                            <a:srgbClr val="1B2B3A"/>
                          </a:solidFill>
                          <a:latin typeface="Calibri"/>
                        </a:rPr>
                        <a:t>0.808 → 0.824</a:t>
                      </a:r>
                    </a:p>
                  </a:txBody>
                  <a:tcPr marL="91440" marR="91440" marT="27432" marB="27432" anchor="ctr">
                    <a:solidFill>
                      <a:srgbClr val="F1F5F8"/>
                    </a:solidFill>
                  </a:tcPr>
                </a:tc>
                <a:tc>
                  <a:txBody>
                    <a:bodyPr/>
                    <a:lstStyle/>
                    <a:p>
                      <a:pPr algn="r"/>
                      <a:r>
                        <a:rPr sz="1250" b="0" i="0">
                          <a:solidFill>
                            <a:srgbClr val="1B2B3A"/>
                          </a:solidFill>
                          <a:latin typeface="Calibri"/>
                        </a:rPr>
                        <a:t>0.828 → 0.850</a:t>
                      </a:r>
                    </a:p>
                  </a:txBody>
                  <a:tcPr marL="91440" marR="91440" marT="27432" marB="27432" anchor="ctr">
                    <a:solidFill>
                      <a:srgbClr val="F1F5F8"/>
                    </a:solidFill>
                  </a:tcPr>
                </a:tc>
                <a:tc>
                  <a:txBody>
                    <a:bodyPr/>
                    <a:lstStyle/>
                    <a:p>
                      <a:pPr algn="r"/>
                      <a:r>
                        <a:rPr sz="1250" b="0" i="0">
                          <a:solidFill>
                            <a:srgbClr val="1B2B3A"/>
                          </a:solidFill>
                          <a:latin typeface="Calibri"/>
                        </a:rPr>
                        <a:t>0.801 → 0.839</a:t>
                      </a:r>
                    </a:p>
                  </a:txBody>
                  <a:tcPr marL="91440" marR="91440" marT="27432" marB="27432" anchor="ctr">
                    <a:solidFill>
                      <a:srgbClr val="F1F5F8"/>
                    </a:solidFill>
                  </a:tcPr>
                </a:tc>
              </a:tr>
            </a:tbl>
          </a:graphicData>
        </a:graphic>
      </p:graphicFrame>
      <p:sp>
        <p:nvSpPr>
          <p:cNvPr id="7" name="TextBox 6"/>
          <p:cNvSpPr txBox="1"/>
          <p:nvPr/>
        </p:nvSpPr>
        <p:spPr>
          <a:xfrm>
            <a:off x="548640" y="4709160"/>
            <a:ext cx="11094415" cy="1188720"/>
          </a:xfrm>
          <a:prstGeom prst="rect">
            <a:avLst/>
          </a:prstGeom>
          <a:noFill/>
        </p:spPr>
        <p:txBody>
          <a:bodyPr wrap="square" anchor="t" lIns="0" rIns="0" tIns="0" bIns="0">
            <a:spAutoFit/>
          </a:bodyPr>
          <a:lstStyle/>
          <a:p>
            <a:pPr algn="l">
              <a:spcAft>
                <a:spcPts val="600"/>
              </a:spcAft>
            </a:pPr>
            <a:r>
              <a:rPr sz="1300" b="1" i="0">
                <a:solidFill>
                  <a:srgbClr val="1B2B3A"/>
                </a:solidFill>
                <a:latin typeface="Calibri"/>
              </a:rPr>
              <a:t>Without gang affiliation, abstention no longer widens the gender gap:</a:t>
            </a:r>
            <a:r>
              <a:rPr sz="1300" b="0" i="0">
                <a:solidFill>
                  <a:srgbClr val="1B2B3A"/>
                </a:solidFill>
                <a:latin typeface="Calibri"/>
              </a:rPr>
              <a:t> selected women and men sit at the margin equally often. Slide 18's asymmetry comes from the field that is never recorded for women.</a:t>
            </a:r>
          </a:p>
          <a:p>
            <a:pPr algn="l">
              <a:spcAft>
                <a:spcPts val="600"/>
              </a:spcAft>
            </a:pPr>
            <a:r>
              <a:rPr sz="1100" b="0" i="0">
                <a:solidFill>
                  <a:srgbClr val="5F6E7C"/>
                </a:solidFill>
                <a:latin typeface="Calibri"/>
              </a:rPr>
              <a:t>Same 8 resamples (seed 7) and model seed 42 as slide 17; with-gang logistic reproduces slides 17–18 exactly. XGBoost recomputed on CPU (third-decimal differences from the published run). FNR gaps: point estimates on a few hundred women, no CI.</a:t>
            </a:r>
          </a:p>
        </p:txBody>
      </p:sp>
      <p:sp>
        <p:nvSpPr>
          <p:cNvPr id="8" name="TextBox 7"/>
          <p:cNvSpPr txBox="1"/>
          <p:nvPr/>
        </p:nvSpPr>
        <p:spPr>
          <a:xfrm>
            <a:off x="548640" y="6144768"/>
            <a:ext cx="11094415" cy="228600"/>
          </a:xfrm>
          <a:prstGeom prst="rect">
            <a:avLst/>
          </a:prstGeom>
          <a:noFill/>
        </p:spPr>
        <p:txBody>
          <a:bodyPr wrap="square" anchor="t" lIns="0" rIns="0" tIns="0" bIns="0">
            <a:spAutoFit/>
          </a:bodyPr>
          <a:lstStyle/>
          <a:p>
            <a:pPr algn="l">
              <a:spcAft>
                <a:spcPts val="600"/>
              </a:spcAft>
            </a:pPr>
            <a:r>
              <a:rPr sz="950" b="0" i="0">
                <a:solidFill>
                  <a:srgbClr val="8795A2"/>
                </a:solidFill>
                <a:latin typeface="Calibri"/>
              </a:rPr>
              <a:t>Source: study results/no_gang_stability_summary.csv · no_gang_contested_by_gender.csv · no_gang_abstention_curve.csv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